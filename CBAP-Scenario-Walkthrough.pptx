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D928C-8D94-4386-AC7B-553F59AB7C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52215E4E-208B-05AF-0F7D-9031FC30B7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2A11AB49-14DA-9592-096C-42215282051C}"/>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ACB846A6-E1F2-97FD-1990-6DB3D94A2CF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F72E879-8ADE-ADD1-561C-922DD66B1C52}"/>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374340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62970-3FFA-672E-7BDF-8C39604467F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4668F12-6D7A-FAC0-A8EA-015157BBB2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D2B7A39-1E77-649D-B8DD-65A653DA92D8}"/>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487EC7D5-C430-E2C7-F316-38EA7DAF858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FCD7CAB-8C83-4E1B-163F-768A62ADF3F5}"/>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3680130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BB571-F905-106F-44AC-06D507B8DD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D7BDFC9-BB31-433B-931E-96E8AD41C5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4D8789-1EE8-4EB2-A8D6-1CF825AACF86}"/>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129447C1-5CE4-9F76-9084-1F256878BE6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8835E4-AFDF-C6D5-CD1B-FA44865F8829}"/>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3848442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E5372-E0A7-350D-2E33-AD05CD86502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95C14DD2-FD65-8F81-56D6-7CCCBFA303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ABC754D9-E8E7-1862-DAE2-BA3F6E1D03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7741819-1EBC-263E-53AD-63930D5195F2}"/>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6" name="Footer Placeholder 5">
            <a:extLst>
              <a:ext uri="{FF2B5EF4-FFF2-40B4-BE49-F238E27FC236}">
                <a16:creationId xmlns:a16="http://schemas.microsoft.com/office/drawing/2014/main" id="{35A1B7D8-7263-F629-5FCA-42BBA2DBEEF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F2436AB-10EF-5D96-2497-C60B56CD3D1C}"/>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1379494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EB8AB-C454-7B11-466F-81F851FE4EC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27CCE9B-8BCB-3DFD-87F6-AA5CEC25B4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705606-8CAC-4E3B-C6ED-4AC2B5B705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381D3C8-B3AC-1B3C-3004-08F40E1C04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9F8BD6-6962-8063-AE0A-5B84622373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BF2BB01-25A7-74DB-9D39-FF2497850D23}"/>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8" name="Footer Placeholder 7">
            <a:extLst>
              <a:ext uri="{FF2B5EF4-FFF2-40B4-BE49-F238E27FC236}">
                <a16:creationId xmlns:a16="http://schemas.microsoft.com/office/drawing/2014/main" id="{90EC8301-7807-EC5A-6186-22270AF9CE98}"/>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9D6DC6-AA52-6F5F-3085-E5804726737D}"/>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502518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BF212-4210-7349-A016-49E9913879BB}"/>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D14B7576-2346-127D-9DC5-8AED421B027E}"/>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4" name="Footer Placeholder 3">
            <a:extLst>
              <a:ext uri="{FF2B5EF4-FFF2-40B4-BE49-F238E27FC236}">
                <a16:creationId xmlns:a16="http://schemas.microsoft.com/office/drawing/2014/main" id="{1E14EFCF-868D-FC97-52FF-BCD0344C8ACF}"/>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861E5D5-7126-62BB-3AB3-D05572B6EB52}"/>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603273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D34B14-28BC-00E5-F4D8-4E0643C78024}"/>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3" name="Footer Placeholder 2">
            <a:extLst>
              <a:ext uri="{FF2B5EF4-FFF2-40B4-BE49-F238E27FC236}">
                <a16:creationId xmlns:a16="http://schemas.microsoft.com/office/drawing/2014/main" id="{5C9C7536-7B97-D84D-CDFB-8BC699DC5963}"/>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DE231F4-14C5-C859-F2BA-D048EEFAD9A9}"/>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847642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FE36B-C1A8-E713-D3B0-633FBD8113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41836CF-9976-29CE-68C5-9599264B35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B55AFBF0-4B3F-2EF1-8B31-26642E3D74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85EE40-43F3-7F72-C8F1-EDD0B50D1CD1}"/>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6" name="Footer Placeholder 5">
            <a:extLst>
              <a:ext uri="{FF2B5EF4-FFF2-40B4-BE49-F238E27FC236}">
                <a16:creationId xmlns:a16="http://schemas.microsoft.com/office/drawing/2014/main" id="{6932FD82-A9F1-3A8F-56B3-A1634315EDA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08D54F0-0539-7BA2-BE93-05305B89F9D4}"/>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3771265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F4329-14C2-BCD5-7B8B-83A0D2EAE5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A8780F7B-39E7-80A7-B597-95CE2CDC61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49E643D-14FF-D0FF-4AD7-CDCACEE3DF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EA30B3-6F69-EBB5-A077-12640378C511}"/>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6" name="Footer Placeholder 5">
            <a:extLst>
              <a:ext uri="{FF2B5EF4-FFF2-40B4-BE49-F238E27FC236}">
                <a16:creationId xmlns:a16="http://schemas.microsoft.com/office/drawing/2014/main" id="{33319E47-FC10-596B-6C48-03F211E1EB9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A804247-22B8-B7DE-3F1D-992336400D6D}"/>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1444579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66F2B-D3D5-6EA6-0020-9DECD2B7FB2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3EBA203-CF3F-8892-5650-4309825CF8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CF26AE2-84EA-FE78-2265-F6AFE0A19052}"/>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A8263697-1B9F-069E-2598-73789FDFF79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C0047D5-B882-D0F3-B993-DF9EDB203BBF}"/>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463429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84AB66-86D0-3D3E-E607-14155BE924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85B9329-08DA-011C-50F7-CAB8B821BE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665844B-E496-59B2-0A32-DFDAE7DADC89}"/>
              </a:ext>
            </a:extLst>
          </p:cNvPr>
          <p:cNvSpPr>
            <a:spLocks noGrp="1"/>
          </p:cNvSpPr>
          <p:nvPr>
            <p:ph type="dt" sz="half" idx="10"/>
          </p:nvPr>
        </p:nvSpPr>
        <p:spPr/>
        <p:txBody>
          <a:body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11810B4B-1C2F-C372-0353-8D20C000A8F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78BC671-93AA-3D60-4FE1-A1D5BCE4B9C0}"/>
              </a:ext>
            </a:extLst>
          </p:cNvPr>
          <p:cNvSpPr>
            <a:spLocks noGrp="1"/>
          </p:cNvSpPr>
          <p:nvPr>
            <p:ph type="sldNum" sz="quarter" idx="12"/>
          </p:nvPr>
        </p:nvSpPr>
        <p:spPr/>
        <p:txBody>
          <a:bodyPr/>
          <a:lstStyle/>
          <a:p>
            <a:fld id="{0B157FD1-BEE4-45E1-9795-C9137D5ACD0F}" type="slidenum">
              <a:rPr lang="en-AU" smtClean="0"/>
              <a:t>‹#›</a:t>
            </a:fld>
            <a:endParaRPr lang="en-AU"/>
          </a:p>
        </p:txBody>
      </p:sp>
    </p:spTree>
    <p:extLst>
      <p:ext uri="{BB962C8B-B14F-4D97-AF65-F5344CB8AC3E}">
        <p14:creationId xmlns:p14="http://schemas.microsoft.com/office/powerpoint/2010/main" val="207553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5F508C-2EF1-2B88-6F34-BC6267F7CE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A4579F1-5848-0D86-5D03-D45679A30A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F1C1FA1-D052-8D63-598C-3712975FFA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0684189-DCFA-48F5-AB2E-DFEFB54E95D2}" type="datetimeFigureOut">
              <a:rPr lang="en-AU" smtClean="0"/>
              <a:t>19/08/2026</a:t>
            </a:fld>
            <a:endParaRPr lang="en-AU"/>
          </a:p>
        </p:txBody>
      </p:sp>
      <p:sp>
        <p:nvSpPr>
          <p:cNvPr id="5" name="Footer Placeholder 4">
            <a:extLst>
              <a:ext uri="{FF2B5EF4-FFF2-40B4-BE49-F238E27FC236}">
                <a16:creationId xmlns:a16="http://schemas.microsoft.com/office/drawing/2014/main" id="{A7CCA5EC-E9C5-E397-BED3-64A79396DA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07041FC9-9C2B-BFFE-5BEC-9A8C04ED07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157FD1-BEE4-45E1-9795-C9137D5ACD0F}" type="slidenum">
              <a:rPr lang="en-AU" smtClean="0"/>
              <a:t>‹#›</a:t>
            </a:fld>
            <a:endParaRPr lang="en-AU"/>
          </a:p>
        </p:txBody>
      </p:sp>
    </p:spTree>
    <p:extLst>
      <p:ext uri="{BB962C8B-B14F-4D97-AF65-F5344CB8AC3E}">
        <p14:creationId xmlns:p14="http://schemas.microsoft.com/office/powerpoint/2010/main" val="14635038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2"/>
          <p:cNvSpPr/>
          <p:nvPr/>
        </p:nvSpPr>
        <p:spPr>
          <a:xfrm>
            <a:off x="0" y="0"/>
            <a:ext cx="12191695" cy="6858000"/>
          </a:xfrm>
          <a:prstGeom prst="rect">
            <a:avLst/>
          </a:prstGeom>
          <a:solidFill>
            <a:srgbClr val="F7F7F5"/>
          </a:solidFill>
          <a:ln>
            <a:noFill/>
          </a:ln>
        </p:spPr>
        <p:txBody>
          <a:bodyPr wrap="square" anchor="ctr" lIns="54864" rIns="54864" tIns="27432" bIns="27432"/>
          <a:lstStyle/>
          <a:p>
            <a:pPr algn="l"/>
            <a:endParaRPr lang="en-AU" sz="1100"/>
          </a:p>
        </p:txBody>
      </p:sp>
      <p:sp>
        <p:nvSpPr>
          <p:cNvPr id="3" name="shape3"/>
          <p:cNvSpPr/>
          <p:nvPr/>
        </p:nvSpPr>
        <p:spPr>
          <a:xfrm>
            <a:off x="1005840" y="1737360"/>
            <a:ext cx="10058400" cy="640080"/>
          </a:xfrm>
          <a:prstGeom prst="rect">
            <a:avLst/>
          </a:prstGeom>
          <a:noFill/>
          <a:ln>
            <a:noFill/>
          </a:ln>
        </p:spPr>
        <p:txBody>
          <a:bodyPr wrap="square" anchor="ctr" lIns="54864" rIns="54864" tIns="27432" bIns="27432"/>
          <a:lstStyle/>
          <a:p>
            <a:pPr algn="l"/>
            <a:r>
              <a:rPr lang="en-AU" sz="4000" b="1" dirty="0">
                <a:solidFill>
                  <a:srgbClr val="0B0B0B"/>
                </a:solidFill>
                <a:latin typeface="Aptos"/>
              </a:rPr>
              <a:t>One scenario, sixteen techniques</a:t>
            </a:r>
          </a:p>
        </p:txBody>
      </p:sp>
      <p:sp>
        <p:nvSpPr>
          <p:cNvPr id="4" name="shape4"/>
          <p:cNvSpPr/>
          <p:nvPr/>
        </p:nvSpPr>
        <p:spPr>
          <a:xfrm>
            <a:off x="1005840" y="2432304"/>
            <a:ext cx="10058400" cy="457200"/>
          </a:xfrm>
          <a:prstGeom prst="rect">
            <a:avLst/>
          </a:prstGeom>
          <a:noFill/>
          <a:ln>
            <a:noFill/>
          </a:ln>
        </p:spPr>
        <p:txBody>
          <a:bodyPr wrap="square" anchor="ctr" lIns="54864" rIns="54864" tIns="27432" bIns="27432"/>
          <a:lstStyle/>
          <a:p>
            <a:pPr algn="l"/>
            <a:r>
              <a:rPr lang="en-AU" sz="1700" dirty="0">
                <a:solidFill>
                  <a:srgbClr val="184F95"/>
                </a:solidFill>
                <a:latin typeface="Aptos"/>
              </a:rPr>
              <a:t>Fairgate Roads Authority — heavy vehicle access permits</a:t>
            </a:r>
          </a:p>
        </p:txBody>
      </p:sp>
      <p:cxnSp>
        <p:nvCxnSpPr>
          <p:cNvPr id="5" name="conn5"/>
          <p:cNvCxnSpPr/>
          <p:nvPr/>
        </p:nvCxnSpPr>
        <p:spPr>
          <a:xfrm>
            <a:off x="1005840" y="3017520"/>
            <a:ext cx="3749040" cy="1"/>
          </a:xfrm>
          <a:prstGeom prst="line">
            <a:avLst/>
          </a:prstGeom>
          <a:ln w="28575">
            <a:solidFill>
              <a:srgbClr val="2A78D6"/>
            </a:solidFill>
          </a:ln>
        </p:spPr>
      </p:cxnSp>
      <p:sp>
        <p:nvSpPr>
          <p:cNvPr id="6" name="shape6"/>
          <p:cNvSpPr/>
          <p:nvPr/>
        </p:nvSpPr>
        <p:spPr>
          <a:xfrm>
            <a:off x="1005840" y="3291840"/>
            <a:ext cx="9875520" cy="1463040"/>
          </a:xfrm>
          <a:prstGeom prst="rect">
            <a:avLst/>
          </a:prstGeom>
          <a:noFill/>
          <a:ln>
            <a:noFill/>
          </a:ln>
        </p:spPr>
        <p:txBody>
          <a:bodyPr wrap="square" anchor="t" lIns="0" rIns="0" tIns="27432" bIns="27432"/>
          <a:lstStyle/>
          <a:p>
            <a:pPr algn="l"/>
            <a:r>
              <a:rPr lang="en-AU" sz="1200" dirty="0">
                <a:solidFill>
                  <a:srgbClr val="0B0B0B"/>
                </a:solidFill>
                <a:latin typeface="Aptos"/>
              </a:rPr>
              <a:t>Fairgate issues about 12,000 heavy vehicle access permits a year. An operator applies for a route, an assessor checks it against mass and bridge limits, affected road managers consent, and a permit is issued. It currently takes about 40 days. A new national scheme obliges Fairgate to decide routine applications within 15 days from 1 July, and the authority has no idea whether that is achievable.</a:t>
            </a:r>
          </a:p>
        </p:txBody>
      </p:sp>
      <p:sp>
        <p:nvSpPr>
          <p:cNvPr id="7" name="shape7"/>
          <p:cNvSpPr/>
          <p:nvPr/>
        </p:nvSpPr>
        <p:spPr>
          <a:xfrm>
            <a:off x="1005840" y="5760720"/>
            <a:ext cx="10058400" cy="365760"/>
          </a:xfrm>
          <a:prstGeom prst="rect">
            <a:avLst/>
          </a:prstGeom>
          <a:noFill/>
          <a:ln>
            <a:noFill/>
          </a:ln>
        </p:spPr>
        <p:txBody>
          <a:bodyPr wrap="square" anchor="ctr" lIns="54864" rIns="54864" tIns="27432" bIns="27432"/>
          <a:lstStyle/>
          <a:p>
            <a:pPr algn="l"/>
            <a:r>
              <a:rPr lang="en-AU" sz="950" dirty="0">
                <a:solidFill>
                  <a:srgbClr val="6B6A66"/>
                </a:solidFill>
                <a:latin typeface="Aptos"/>
              </a:rPr>
              <a:t>business-analyst.services · generated from scenario.json · not affiliated with IIBA®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8"/>
          <p:cNvSpPr/>
          <p:nvPr/>
        </p:nvSpPr>
        <p:spPr>
          <a:xfrm>
            <a:off x="457200" y="365760"/>
            <a:ext cx="10058400" cy="457200"/>
          </a:xfrm>
          <a:prstGeom prst="rect">
            <a:avLst/>
          </a:prstGeom>
          <a:noFill/>
          <a:ln>
            <a:noFill/>
          </a:ln>
        </p:spPr>
        <p:txBody>
          <a:bodyPr wrap="square" anchor="ctr" lIns="54864" rIns="54864" tIns="27432" bIns="27432"/>
          <a:lstStyle/>
          <a:p>
            <a:pPr algn="l"/>
            <a:r>
              <a:rPr lang="en-AU" sz="2400" b="1" dirty="0">
                <a:solidFill>
                  <a:srgbClr val="0B0B0B"/>
                </a:solidFill>
                <a:latin typeface="Aptos"/>
              </a:rPr>
              <a:t>The chain</a:t>
            </a:r>
          </a:p>
        </p:txBody>
      </p:sp>
      <p:cxnSp>
        <p:nvCxnSpPr>
          <p:cNvPr id="9" name="conn9"/>
          <p:cNvCxnSpPr/>
          <p:nvPr/>
        </p:nvCxnSpPr>
        <p:spPr>
          <a:xfrm>
            <a:off x="457200" y="914400"/>
            <a:ext cx="11277295" cy="1"/>
          </a:xfrm>
          <a:prstGeom prst="line">
            <a:avLst/>
          </a:prstGeom>
          <a:ln w="12700">
            <a:solidFill>
              <a:srgbClr val="D9D8D0"/>
            </a:solidFill>
          </a:ln>
        </p:spPr>
      </p:cxnSp>
      <p:sp>
        <p:nvSpPr>
          <p:cNvPr id="10" name="shape10"/>
          <p:cNvSpPr/>
          <p:nvPr/>
        </p:nvSpPr>
        <p:spPr>
          <a:xfrm>
            <a:off x="457200" y="1097280"/>
            <a:ext cx="2695880" cy="1170432"/>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2A78D6"/>
                </a:solidFill>
                <a:latin typeface="Aptos"/>
              </a:rPr>
              <a:t>STEP 1</a:t>
            </a:r>
          </a:p>
          <a:p>
            <a:pPr algn="l"/>
            <a:r>
              <a:rPr lang="en-AU" sz="950" b="1" dirty="0">
                <a:solidFill>
                  <a:srgbClr val="0B0B0B"/>
                </a:solidFill>
                <a:latin typeface="Aptos"/>
              </a:rPr>
              <a:t>10.43 Stakeholder List, Map, or Personas</a:t>
            </a:r>
          </a:p>
          <a:p>
            <a:pPr algn="l"/>
            <a:r>
              <a:rPr lang="en-AU" sz="800" dirty="0">
                <a:solidFill>
                  <a:srgbClr val="6B6A66"/>
                </a:solidFill>
                <a:latin typeface="Aptos"/>
              </a:rPr>
              <a:t>→ Eight parties positioned by influence and interest. Road managers turn ou…</a:t>
            </a:r>
          </a:p>
        </p:txBody>
      </p:sp>
      <p:sp>
        <p:nvSpPr>
          <p:cNvPr id="11" name="shape11"/>
          <p:cNvSpPr/>
          <p:nvPr/>
        </p:nvSpPr>
        <p:spPr>
          <a:xfrm>
            <a:off x="3317672" y="1097280"/>
            <a:ext cx="2695880" cy="1170432"/>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2A78D6"/>
                </a:solidFill>
                <a:latin typeface="Aptos"/>
              </a:rPr>
              <a:t>STEP 2</a:t>
            </a:r>
          </a:p>
          <a:p>
            <a:pPr algn="l"/>
            <a:r>
              <a:rPr lang="en-AU" sz="950" b="1" dirty="0">
                <a:solidFill>
                  <a:srgbClr val="0B0B0B"/>
                </a:solidFill>
                <a:latin typeface="Aptos"/>
              </a:rPr>
              <a:t>10.18 Document Analysis</a:t>
            </a:r>
          </a:p>
          <a:p>
            <a:pPr algn="l"/>
            <a:r>
              <a:rPr lang="en-AU" sz="800" dirty="0">
                <a:solidFill>
                  <a:srgbClr val="6B6A66"/>
                </a:solidFill>
                <a:latin typeface="Aptos"/>
              </a:rPr>
              <a:t>→ What is already settled, and the three questions only a person can answer…</a:t>
            </a:r>
          </a:p>
        </p:txBody>
      </p:sp>
      <p:sp>
        <p:nvSpPr>
          <p:cNvPr id="12" name="shape12"/>
          <p:cNvSpPr/>
          <p:nvPr/>
        </p:nvSpPr>
        <p:spPr>
          <a:xfrm>
            <a:off x="6178144" y="1097280"/>
            <a:ext cx="2695880" cy="1170432"/>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2A78D6"/>
                </a:solidFill>
                <a:latin typeface="Aptos"/>
              </a:rPr>
              <a:t>STEP 3</a:t>
            </a:r>
          </a:p>
          <a:p>
            <a:pPr algn="l"/>
            <a:r>
              <a:rPr lang="en-AU" sz="950" b="1" dirty="0">
                <a:solidFill>
                  <a:srgbClr val="0B0B0B"/>
                </a:solidFill>
                <a:latin typeface="Aptos"/>
              </a:rPr>
              <a:t>10.31 Observation</a:t>
            </a:r>
          </a:p>
          <a:p>
            <a:pPr algn="l"/>
            <a:r>
              <a:rPr lang="en-AU" sz="800" dirty="0">
                <a:solidFill>
                  <a:srgbClr val="6B6A66"/>
                </a:solidFill>
                <a:latin typeface="Aptos"/>
              </a:rPr>
              <a:t>→ The real practice, including a shortcut nobody had documented. Feeds the…</a:t>
            </a:r>
          </a:p>
        </p:txBody>
      </p:sp>
      <p:sp>
        <p:nvSpPr>
          <p:cNvPr id="13" name="shape13"/>
          <p:cNvSpPr/>
          <p:nvPr/>
        </p:nvSpPr>
        <p:spPr>
          <a:xfrm>
            <a:off x="9038615" y="1097280"/>
            <a:ext cx="2695880" cy="1170432"/>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2A78D6"/>
                </a:solidFill>
                <a:latin typeface="Aptos"/>
              </a:rPr>
              <a:t>STEP 4</a:t>
            </a:r>
          </a:p>
          <a:p>
            <a:pPr algn="l"/>
            <a:r>
              <a:rPr lang="en-AU" sz="950" b="1" dirty="0">
                <a:solidFill>
                  <a:srgbClr val="0B0B0B"/>
                </a:solidFill>
                <a:latin typeface="Aptos"/>
              </a:rPr>
              <a:t>10.35 Process Modelling</a:t>
            </a:r>
          </a:p>
          <a:p>
            <a:pPr algn="l"/>
            <a:r>
              <a:rPr lang="en-AU" sz="800" dirty="0">
                <a:solidFill>
                  <a:srgbClr val="6B6A66"/>
                </a:solidFill>
                <a:latin typeface="Aptos"/>
              </a:rPr>
              <a:t>→ Four stages and the hand-offs between them. These four stage names are us…</a:t>
            </a:r>
          </a:p>
        </p:txBody>
      </p:sp>
      <p:sp>
        <p:nvSpPr>
          <p:cNvPr id="14" name="shape14"/>
          <p:cNvSpPr/>
          <p:nvPr/>
        </p:nvSpPr>
        <p:spPr>
          <a:xfrm>
            <a:off x="457200" y="2395728"/>
            <a:ext cx="2695880" cy="1170432"/>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2A78D6"/>
                </a:solidFill>
                <a:latin typeface="Aptos"/>
              </a:rPr>
              <a:t>STEP 5</a:t>
            </a:r>
          </a:p>
          <a:p>
            <a:pPr algn="l"/>
            <a:r>
              <a:rPr lang="en-AU" sz="950" b="1" dirty="0">
                <a:solidFill>
                  <a:srgbClr val="0B0B0B"/>
                </a:solidFill>
                <a:latin typeface="Aptos"/>
              </a:rPr>
              <a:t>10.34 Process Analysis</a:t>
            </a:r>
          </a:p>
          <a:p>
            <a:pPr algn="l"/>
            <a:r>
              <a:rPr lang="en-AU" sz="800" dirty="0">
                <a:solidFill>
                  <a:srgbClr val="6B6A66"/>
                </a:solidFill>
                <a:latin typeface="Aptos"/>
              </a:rPr>
              <a:t>→ Elapsed against touch time, and a cost to serve of $41 a permit. Both are…</a:t>
            </a:r>
          </a:p>
        </p:txBody>
      </p:sp>
      <p:sp>
        <p:nvSpPr>
          <p:cNvPr id="15" name="shape15"/>
          <p:cNvSpPr/>
          <p:nvPr/>
        </p:nvSpPr>
        <p:spPr>
          <a:xfrm>
            <a:off x="3317672" y="2395728"/>
            <a:ext cx="2695880" cy="1170432"/>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2A78D6"/>
                </a:solidFill>
                <a:latin typeface="Aptos"/>
              </a:rPr>
              <a:t>STEP 6</a:t>
            </a:r>
          </a:p>
          <a:p>
            <a:pPr algn="l"/>
            <a:r>
              <a:rPr lang="en-AU" sz="950" b="1" dirty="0">
                <a:solidFill>
                  <a:srgbClr val="0B0B0B"/>
                </a:solidFill>
                <a:latin typeface="Aptos"/>
              </a:rPr>
              <a:t>10.40 Root Cause Analysis</a:t>
            </a:r>
          </a:p>
          <a:p>
            <a:pPr algn="l"/>
            <a:r>
              <a:rPr lang="en-AU" sz="800" dirty="0">
                <a:solidFill>
                  <a:srgbClr val="6B6A66"/>
                </a:solidFill>
                <a:latin typeface="Aptos"/>
              </a:rPr>
              <a:t>→ A cause that is about data, not effort. That rules out the obvious option…</a:t>
            </a:r>
          </a:p>
        </p:txBody>
      </p:sp>
      <p:sp>
        <p:nvSpPr>
          <p:cNvPr id="16" name="shape16"/>
          <p:cNvSpPr/>
          <p:nvPr/>
        </p:nvSpPr>
        <p:spPr>
          <a:xfrm>
            <a:off x="6178144" y="2395728"/>
            <a:ext cx="2695880" cy="1170432"/>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2A78D6"/>
                </a:solidFill>
                <a:latin typeface="Aptos"/>
              </a:rPr>
              <a:t>STEP 7</a:t>
            </a:r>
          </a:p>
          <a:p>
            <a:pPr algn="l"/>
            <a:r>
              <a:rPr lang="en-AU" sz="950" b="1" dirty="0">
                <a:solidFill>
                  <a:srgbClr val="0B0B0B"/>
                </a:solidFill>
                <a:latin typeface="Aptos"/>
              </a:rPr>
              <a:t>10.20 Financial Analysis</a:t>
            </a:r>
          </a:p>
          <a:p>
            <a:pPr algn="l"/>
            <a:r>
              <a:rPr lang="en-AU" sz="800" dirty="0">
                <a:solidFill>
                  <a:srgbClr val="6B6A66"/>
                </a:solidFill>
                <a:latin typeface="Aptos"/>
              </a:rPr>
              <a:t>→ Three options valued over five years at 7%. B has the best NPV, C the fas…</a:t>
            </a:r>
          </a:p>
        </p:txBody>
      </p:sp>
      <p:sp>
        <p:nvSpPr>
          <p:cNvPr id="17" name="shape17"/>
          <p:cNvSpPr/>
          <p:nvPr/>
        </p:nvSpPr>
        <p:spPr>
          <a:xfrm>
            <a:off x="9038615" y="2395728"/>
            <a:ext cx="2695880" cy="1170432"/>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2A78D6"/>
                </a:solidFill>
                <a:latin typeface="Aptos"/>
              </a:rPr>
              <a:t>STEP 8</a:t>
            </a:r>
          </a:p>
          <a:p>
            <a:pPr algn="l"/>
            <a:r>
              <a:rPr lang="en-AU" sz="950" b="1" dirty="0">
                <a:solidFill>
                  <a:srgbClr val="0B0B0B"/>
                </a:solidFill>
                <a:latin typeface="Aptos"/>
              </a:rPr>
              <a:t>10.16 Decision Analysis</a:t>
            </a:r>
          </a:p>
          <a:p>
            <a:pPr algn="l"/>
            <a:r>
              <a:rPr lang="en-AU" sz="800" dirty="0">
                <a:solidFill>
                  <a:srgbClr val="6B6A66"/>
                </a:solidFill>
                <a:latin typeface="Aptos"/>
              </a:rPr>
              <a:t>→ A recommendation with the weighting visible, so the argument is about cri…</a:t>
            </a:r>
          </a:p>
        </p:txBody>
      </p:sp>
      <p:sp>
        <p:nvSpPr>
          <p:cNvPr id="18" name="shape18"/>
          <p:cNvSpPr/>
          <p:nvPr/>
        </p:nvSpPr>
        <p:spPr>
          <a:xfrm>
            <a:off x="457200" y="3694176"/>
            <a:ext cx="2695880" cy="1170432"/>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2A78D6"/>
                </a:solidFill>
                <a:latin typeface="Aptos"/>
              </a:rPr>
              <a:t>STEP 9</a:t>
            </a:r>
          </a:p>
          <a:p>
            <a:pPr algn="l"/>
            <a:r>
              <a:rPr lang="en-AU" sz="950" b="1" dirty="0">
                <a:solidFill>
                  <a:srgbClr val="0B0B0B"/>
                </a:solidFill>
                <a:latin typeface="Aptos"/>
              </a:rPr>
              <a:t>10.38 Risk Analysis and Management</a:t>
            </a:r>
          </a:p>
          <a:p>
            <a:pPr algn="l"/>
            <a:r>
              <a:rPr lang="en-AU" sz="800" dirty="0">
                <a:solidFill>
                  <a:srgbClr val="6B6A66"/>
                </a:solidFill>
                <a:latin typeface="Aptos"/>
              </a:rPr>
              <a:t>→ An expected monetary value of $196,000, which goes into the business case…</a:t>
            </a:r>
          </a:p>
        </p:txBody>
      </p:sp>
      <p:sp>
        <p:nvSpPr>
          <p:cNvPr id="19" name="shape19"/>
          <p:cNvSpPr/>
          <p:nvPr/>
        </p:nvSpPr>
        <p:spPr>
          <a:xfrm>
            <a:off x="3317672" y="3694176"/>
            <a:ext cx="2695880" cy="1170432"/>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2A78D6"/>
                </a:solidFill>
                <a:latin typeface="Aptos"/>
              </a:rPr>
              <a:t>STEP 10</a:t>
            </a:r>
          </a:p>
          <a:p>
            <a:pPr algn="l"/>
            <a:r>
              <a:rPr lang="en-AU" sz="950" b="1" dirty="0">
                <a:solidFill>
                  <a:srgbClr val="0B0B0B"/>
                </a:solidFill>
                <a:latin typeface="Aptos"/>
              </a:rPr>
              <a:t>10.7 Business Cases</a:t>
            </a:r>
          </a:p>
          <a:p>
            <a:pPr algn="l"/>
            <a:r>
              <a:rPr lang="en-AU" sz="800" dirty="0">
                <a:solidFill>
                  <a:srgbClr val="6B6A66"/>
                </a:solidFill>
                <a:latin typeface="Aptos"/>
              </a:rPr>
              <a:t>→ An approved change strategy. Nothing new is invented here; the case is an…</a:t>
            </a:r>
          </a:p>
        </p:txBody>
      </p:sp>
      <p:sp>
        <p:nvSpPr>
          <p:cNvPr id="20" name="shape20"/>
          <p:cNvSpPr/>
          <p:nvPr/>
        </p:nvSpPr>
        <p:spPr>
          <a:xfrm>
            <a:off x="6178144" y="3694176"/>
            <a:ext cx="2695880" cy="1170432"/>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2A78D6"/>
                </a:solidFill>
                <a:latin typeface="Aptos"/>
              </a:rPr>
              <a:t>STEP 11</a:t>
            </a:r>
          </a:p>
          <a:p>
            <a:pPr algn="l"/>
            <a:r>
              <a:rPr lang="en-AU" sz="950" b="1" dirty="0">
                <a:solidFill>
                  <a:srgbClr val="0B0B0B"/>
                </a:solidFill>
                <a:latin typeface="Aptos"/>
              </a:rPr>
              <a:t>10.41 Scope Modelling</a:t>
            </a:r>
          </a:p>
          <a:p>
            <a:pPr algn="l"/>
            <a:r>
              <a:rPr lang="en-AU" sz="800" dirty="0">
                <a:solidFill>
                  <a:srgbClr val="6B6A66"/>
                </a:solidFill>
                <a:latin typeface="Aptos"/>
              </a:rPr>
              <a:t>→ A boundary. The in-scope list becomes the top level of the decomposition,…</a:t>
            </a:r>
          </a:p>
        </p:txBody>
      </p:sp>
      <p:sp>
        <p:nvSpPr>
          <p:cNvPr id="21" name="shape21"/>
          <p:cNvSpPr/>
          <p:nvPr/>
        </p:nvSpPr>
        <p:spPr>
          <a:xfrm>
            <a:off x="9038615" y="3694176"/>
            <a:ext cx="2695880" cy="1170432"/>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2A78D6"/>
                </a:solidFill>
                <a:latin typeface="Aptos"/>
              </a:rPr>
              <a:t>STEP 12</a:t>
            </a:r>
          </a:p>
          <a:p>
            <a:pPr algn="l"/>
            <a:r>
              <a:rPr lang="en-AU" sz="950" b="1" dirty="0">
                <a:solidFill>
                  <a:srgbClr val="0B0B0B"/>
                </a:solidFill>
                <a:latin typeface="Aptos"/>
              </a:rPr>
              <a:t>10.22 Functional Decomposition</a:t>
            </a:r>
          </a:p>
          <a:p>
            <a:pPr algn="l"/>
            <a:r>
              <a:rPr lang="en-AU" sz="800" dirty="0">
                <a:solidFill>
                  <a:srgbClr val="6B6A66"/>
                </a:solidFill>
                <a:latin typeface="Aptos"/>
              </a:rPr>
              <a:t>→ Functions small enough to specify. 'Assess route' is where the rules and…</a:t>
            </a:r>
          </a:p>
        </p:txBody>
      </p:sp>
      <p:sp>
        <p:nvSpPr>
          <p:cNvPr id="22" name="shape22"/>
          <p:cNvSpPr/>
          <p:nvPr/>
        </p:nvSpPr>
        <p:spPr>
          <a:xfrm>
            <a:off x="457200" y="4992624"/>
            <a:ext cx="2695880" cy="1170432"/>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2A78D6"/>
                </a:solidFill>
                <a:latin typeface="Aptos"/>
              </a:rPr>
              <a:t>STEP 13</a:t>
            </a:r>
          </a:p>
          <a:p>
            <a:pPr algn="l"/>
            <a:r>
              <a:rPr lang="en-AU" sz="950" b="1" dirty="0">
                <a:solidFill>
                  <a:srgbClr val="0B0B0B"/>
                </a:solidFill>
                <a:latin typeface="Aptos"/>
              </a:rPr>
              <a:t>10.9 Business Rules Analysis</a:t>
            </a:r>
          </a:p>
          <a:p>
            <a:pPr algn="l"/>
            <a:r>
              <a:rPr lang="en-AU" sz="800" dirty="0">
                <a:solidFill>
                  <a:srgbClr val="6B6A66"/>
                </a:solidFill>
                <a:latin typeface="Aptos"/>
              </a:rPr>
              <a:t>→ Rules held apart from the process. Each names the data elements it needs,…</a:t>
            </a:r>
          </a:p>
        </p:txBody>
      </p:sp>
      <p:sp>
        <p:nvSpPr>
          <p:cNvPr id="23" name="shape23"/>
          <p:cNvSpPr/>
          <p:nvPr/>
        </p:nvSpPr>
        <p:spPr>
          <a:xfrm>
            <a:off x="3317672" y="4992624"/>
            <a:ext cx="2695880" cy="1170432"/>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2A78D6"/>
                </a:solidFill>
                <a:latin typeface="Aptos"/>
              </a:rPr>
              <a:t>STEP 14</a:t>
            </a:r>
          </a:p>
          <a:p>
            <a:pPr algn="l"/>
            <a:r>
              <a:rPr lang="en-AU" sz="950" b="1" dirty="0">
                <a:solidFill>
                  <a:srgbClr val="0B0B0B"/>
                </a:solidFill>
                <a:latin typeface="Aptos"/>
              </a:rPr>
              <a:t>10.12 Data Dictionary</a:t>
            </a:r>
          </a:p>
          <a:p>
            <a:pPr algn="l"/>
            <a:r>
              <a:rPr lang="en-AU" sz="800" dirty="0">
                <a:solidFill>
                  <a:srgbClr val="6B6A66"/>
                </a:solidFill>
                <a:latin typeface="Aptos"/>
              </a:rPr>
              <a:t>→ Element definitions precise enough to build and to migrate.</a:t>
            </a:r>
          </a:p>
        </p:txBody>
      </p:sp>
      <p:sp>
        <p:nvSpPr>
          <p:cNvPr id="24" name="shape24"/>
          <p:cNvSpPr/>
          <p:nvPr/>
        </p:nvSpPr>
        <p:spPr>
          <a:xfrm>
            <a:off x="6178144" y="4992624"/>
            <a:ext cx="2695880" cy="1170432"/>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2A78D6"/>
                </a:solidFill>
                <a:latin typeface="Aptos"/>
              </a:rPr>
              <a:t>STEP 15</a:t>
            </a:r>
          </a:p>
          <a:p>
            <a:pPr algn="l"/>
            <a:r>
              <a:rPr lang="en-AU" sz="950" b="1" dirty="0">
                <a:solidFill>
                  <a:srgbClr val="0B0B0B"/>
                </a:solidFill>
                <a:latin typeface="Aptos"/>
              </a:rPr>
              <a:t>10.44 State Modelling</a:t>
            </a:r>
          </a:p>
          <a:p>
            <a:pPr algn="l"/>
            <a:r>
              <a:rPr lang="en-AU" sz="800" dirty="0">
                <a:solidFill>
                  <a:srgbClr val="6B6A66"/>
                </a:solidFill>
                <a:latin typeface="Aptos"/>
              </a:rPr>
              <a:t>→ Permitted transitions, including two that must be forbidden.</a:t>
            </a:r>
          </a:p>
        </p:txBody>
      </p:sp>
      <p:sp>
        <p:nvSpPr>
          <p:cNvPr id="25" name="shape25"/>
          <p:cNvSpPr/>
          <p:nvPr/>
        </p:nvSpPr>
        <p:spPr>
          <a:xfrm>
            <a:off x="9038615" y="4992624"/>
            <a:ext cx="2695880" cy="1170432"/>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2A78D6"/>
                </a:solidFill>
                <a:latin typeface="Aptos"/>
              </a:rPr>
              <a:t>STEP 16</a:t>
            </a:r>
          </a:p>
          <a:p>
            <a:pPr algn="l"/>
            <a:r>
              <a:rPr lang="en-AU" sz="950" b="1" dirty="0">
                <a:solidFill>
                  <a:srgbClr val="0B0B0B"/>
                </a:solidFill>
                <a:latin typeface="Aptos"/>
              </a:rPr>
              <a:t>10.28 Metrics and Key Performance Indicators</a:t>
            </a:r>
          </a:p>
          <a:p>
            <a:pPr algn="l"/>
            <a:r>
              <a:rPr lang="en-AU" sz="800" dirty="0">
                <a:solidFill>
                  <a:srgbClr val="6B6A66"/>
                </a:solidFill>
                <a:latin typeface="Aptos"/>
              </a:rPr>
              <a:t>→ Measures with targets and the threshold at which someone must act. This 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hape26"/>
          <p:cNvSpPr/>
          <p:nvPr/>
        </p:nvSpPr>
        <p:spPr>
          <a:xfrm>
            <a:off x="457200" y="274320"/>
            <a:ext cx="914400" cy="40233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1000" b="1" dirty="0">
                <a:solidFill>
                  <a:srgbClr val="FFFFFF"/>
                </a:solidFill>
                <a:latin typeface="Aptos"/>
              </a:rPr>
              <a:t>STEP 1</a:t>
            </a:r>
          </a:p>
        </p:txBody>
      </p:sp>
      <p:sp>
        <p:nvSpPr>
          <p:cNvPr id="27" name="shape27"/>
          <p:cNvSpPr/>
          <p:nvPr/>
        </p:nvSpPr>
        <p:spPr>
          <a:xfrm>
            <a:off x="1499616" y="256032"/>
            <a:ext cx="8686800" cy="438912"/>
          </a:xfrm>
          <a:prstGeom prst="rect">
            <a:avLst/>
          </a:prstGeom>
          <a:noFill/>
          <a:ln>
            <a:noFill/>
          </a:ln>
        </p:spPr>
        <p:txBody>
          <a:bodyPr wrap="square" anchor="ctr" lIns="0" rIns="0" tIns="27432" bIns="27432"/>
          <a:lstStyle/>
          <a:p>
            <a:pPr algn="l"/>
            <a:r>
              <a:rPr lang="en-AU" sz="2000" b="1" dirty="0">
                <a:solidFill>
                  <a:srgbClr val="0B0B0B"/>
                </a:solidFill>
                <a:latin typeface="Aptos"/>
              </a:rPr>
              <a:t>10.43 Stakeholder List, Map, or Personas</a:t>
            </a:r>
          </a:p>
        </p:txBody>
      </p:sp>
      <p:sp>
        <p:nvSpPr>
          <p:cNvPr id="28" name="shape28"/>
          <p:cNvSpPr/>
          <p:nvPr/>
        </p:nvSpPr>
        <p:spPr>
          <a:xfrm>
            <a:off x="9357055" y="310896"/>
            <a:ext cx="2377440" cy="329184"/>
          </a:xfrm>
          <a:prstGeom prst="rect">
            <a:avLst/>
          </a:prstGeom>
          <a:noFill/>
          <a:ln>
            <a:noFill/>
          </a:ln>
        </p:spPr>
        <p:txBody>
          <a:bodyPr wrap="square" anchor="ctr" lIns="0" rIns="0" tIns="27432" bIns="27432"/>
          <a:lstStyle/>
          <a:p>
            <a:pPr algn="r"/>
            <a:r>
              <a:rPr lang="en-AU" sz="1000" dirty="0">
                <a:solidFill>
                  <a:srgbClr val="6B6A66"/>
                </a:solidFill>
                <a:latin typeface="Aptos"/>
              </a:rPr>
              <a:t>Planning, governance and tracking</a:t>
            </a:r>
          </a:p>
        </p:txBody>
      </p:sp>
      <p:sp>
        <p:nvSpPr>
          <p:cNvPr id="29" name="shape29"/>
          <p:cNvSpPr/>
          <p:nvPr/>
        </p:nvSpPr>
        <p:spPr>
          <a:xfrm>
            <a:off x="457200" y="731520"/>
            <a:ext cx="10515600" cy="310896"/>
          </a:xfrm>
          <a:prstGeom prst="rect">
            <a:avLst/>
          </a:prstGeom>
          <a:noFill/>
          <a:ln>
            <a:noFill/>
          </a:ln>
        </p:spPr>
        <p:txBody>
          <a:bodyPr wrap="square" anchor="ctr" lIns="0" rIns="0" tIns="27432" bIns="27432"/>
          <a:lstStyle/>
          <a:p>
            <a:pPr algn="l"/>
            <a:r>
              <a:rPr lang="en-AU" sz="1350" i="1" dirty="0">
                <a:solidFill>
                  <a:srgbClr val="184F95"/>
                </a:solidFill>
                <a:latin typeface="Aptos"/>
              </a:rPr>
              <a:t>Who is affected, and who actually decides?</a:t>
            </a:r>
          </a:p>
        </p:txBody>
      </p:sp>
      <p:cxnSp>
        <p:nvCxnSpPr>
          <p:cNvPr id="30" name="conn30"/>
          <p:cNvCxnSpPr/>
          <p:nvPr/>
        </p:nvCxnSpPr>
        <p:spPr>
          <a:xfrm>
            <a:off x="457200" y="1115568"/>
            <a:ext cx="11277295" cy="1"/>
          </a:xfrm>
          <a:prstGeom prst="line">
            <a:avLst/>
          </a:prstGeom>
          <a:ln w="12700">
            <a:solidFill>
              <a:srgbClr val="D9D8D0"/>
            </a:solidFill>
          </a:ln>
        </p:spPr>
      </p:cxnSp>
      <p:sp>
        <p:nvSpPr>
          <p:cNvPr id="31" name="shape31"/>
          <p:cNvSpPr/>
          <p:nvPr/>
        </p:nvSpPr>
        <p:spPr>
          <a:xfrm>
            <a:off x="457200"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TAKES</a:t>
            </a:r>
          </a:p>
          <a:p>
            <a:pPr algn="l"/>
            <a:r>
              <a:rPr lang="en-AU" sz="950" dirty="0">
                <a:solidFill>
                  <a:srgbClr val="0B0B0B"/>
                </a:solidFill>
                <a:latin typeface="Aptos"/>
              </a:rPr>
              <a:t>Nothing — this is the first pass.</a:t>
            </a:r>
          </a:p>
        </p:txBody>
      </p:sp>
      <p:sp>
        <p:nvSpPr>
          <p:cNvPr id="32" name="shape32"/>
          <p:cNvSpPr/>
          <p:nvPr/>
        </p:nvSpPr>
        <p:spPr>
          <a:xfrm>
            <a:off x="6187288"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GIVES</a:t>
            </a:r>
          </a:p>
          <a:p>
            <a:pPr algn="l"/>
            <a:r>
              <a:rPr lang="en-AU" sz="950" dirty="0">
                <a:solidFill>
                  <a:srgbClr val="0B0B0B"/>
                </a:solidFill>
                <a:latin typeface="Aptos"/>
              </a:rPr>
              <a:t>Eight parties positioned by influence and interest. Road managers turn out to hold a veto nobody had planned around.</a:t>
            </a:r>
          </a:p>
        </p:txBody>
      </p:sp>
      <p:sp>
        <p:nvSpPr>
          <p:cNvPr id="33" name="shape33"/>
          <p:cNvSpPr/>
          <p:nvPr/>
        </p:nvSpPr>
        <p:spPr>
          <a:xfrm>
            <a:off x="6187288" y="1225296"/>
            <a:ext cx="32004" cy="713232"/>
          </a:xfrm>
          <a:prstGeom prst="rect">
            <a:avLst/>
          </a:prstGeom>
          <a:solidFill>
            <a:srgbClr val="2A78D6"/>
          </a:solidFill>
          <a:ln>
            <a:noFill/>
          </a:ln>
        </p:spPr>
        <p:txBody>
          <a:bodyPr wrap="square" anchor="ctr" lIns="54864" rIns="54864" tIns="27432" bIns="27432"/>
          <a:lstStyle/>
          <a:p>
            <a:pPr algn="l"/>
            <a:endParaRPr lang="en-AU" sz="1100"/>
          </a:p>
        </p:txBody>
      </p:sp>
      <p:sp>
        <p:nvSpPr>
          <p:cNvPr id="34" name="shape34"/>
          <p:cNvSpPr/>
          <p:nvPr/>
        </p:nvSpPr>
        <p:spPr>
          <a:xfrm>
            <a:off x="457200" y="2048256"/>
            <a:ext cx="10515600" cy="237744"/>
          </a:xfrm>
          <a:prstGeom prst="rect">
            <a:avLst/>
          </a:prstGeom>
          <a:noFill/>
          <a:ln>
            <a:noFill/>
          </a:ln>
        </p:spPr>
        <p:txBody>
          <a:bodyPr wrap="square" anchor="b" lIns="0" rIns="0" tIns="27432" bIns="27432"/>
          <a:lstStyle/>
          <a:p>
            <a:pPr algn="l"/>
            <a:r>
              <a:rPr lang="en-AU" sz="1100" b="1" dirty="0">
                <a:solidFill>
                  <a:srgbClr val="184F95"/>
                </a:solidFill>
                <a:latin typeface="Aptos"/>
              </a:rPr>
              <a:t>Who matters, and how much</a:t>
            </a:r>
          </a:p>
        </p:txBody>
      </p:sp>
      <p:sp>
        <p:nvSpPr>
          <p:cNvPr id="35" name="shape35"/>
          <p:cNvSpPr/>
          <p:nvPr/>
        </p:nvSpPr>
        <p:spPr>
          <a:xfrm>
            <a:off x="1828800" y="2340864"/>
            <a:ext cx="990569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Interest →</a:t>
            </a:r>
          </a:p>
        </p:txBody>
      </p:sp>
      <p:sp>
        <p:nvSpPr>
          <p:cNvPr id="36" name="shape36"/>
          <p:cNvSpPr/>
          <p:nvPr/>
        </p:nvSpPr>
        <p:spPr>
          <a:xfrm>
            <a:off x="1828800" y="2578608"/>
            <a:ext cx="495284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Low</a:t>
            </a:r>
          </a:p>
        </p:txBody>
      </p:sp>
      <p:sp>
        <p:nvSpPr>
          <p:cNvPr id="37" name="shape37"/>
          <p:cNvSpPr/>
          <p:nvPr/>
        </p:nvSpPr>
        <p:spPr>
          <a:xfrm>
            <a:off x="6781648" y="2578608"/>
            <a:ext cx="495284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High</a:t>
            </a:r>
          </a:p>
        </p:txBody>
      </p:sp>
      <p:sp>
        <p:nvSpPr>
          <p:cNvPr id="38" name="shape38"/>
          <p:cNvSpPr/>
          <p:nvPr/>
        </p:nvSpPr>
        <p:spPr>
          <a:xfrm>
            <a:off x="457200" y="2843784"/>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High</a:t>
            </a:r>
          </a:p>
        </p:txBody>
      </p:sp>
      <p:sp>
        <p:nvSpPr>
          <p:cNvPr id="39" name="shape39"/>
          <p:cNvSpPr/>
          <p:nvPr/>
        </p:nvSpPr>
        <p:spPr>
          <a:xfrm>
            <a:off x="1865376" y="2843784"/>
            <a:ext cx="487969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KEEP SATISFIED</a:t>
            </a:r>
          </a:p>
          <a:p>
            <a:pPr algn="l"/>
            <a:r>
              <a:rPr lang="en-AU" sz="850" dirty="0">
                <a:solidFill>
                  <a:srgbClr val="0B0B0B"/>
                </a:solidFill>
                <a:latin typeface="Aptos"/>
              </a:rPr>
              <a:t>• Transport regulator</a:t>
            </a:r>
          </a:p>
          <a:p>
            <a:pPr algn="l"/>
            <a:r>
              <a:rPr lang="en-AU" sz="850" dirty="0">
                <a:solidFill>
                  <a:srgbClr val="0B0B0B"/>
                </a:solidFill>
                <a:latin typeface="Aptos"/>
              </a:rPr>
              <a:t>• Fairgate executive</a:t>
            </a:r>
          </a:p>
        </p:txBody>
      </p:sp>
      <p:sp>
        <p:nvSpPr>
          <p:cNvPr id="40" name="shape40"/>
          <p:cNvSpPr/>
          <p:nvPr/>
        </p:nvSpPr>
        <p:spPr>
          <a:xfrm>
            <a:off x="6818224" y="2843784"/>
            <a:ext cx="487969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MANAGE CLOSELY</a:t>
            </a:r>
          </a:p>
          <a:p>
            <a:pPr algn="l"/>
            <a:r>
              <a:rPr lang="en-AU" sz="850" dirty="0">
                <a:solidFill>
                  <a:srgbClr val="0B0B0B"/>
                </a:solidFill>
                <a:latin typeface="Aptos"/>
              </a:rPr>
              <a:t>• Road managers (11 councils)</a:t>
            </a:r>
          </a:p>
          <a:p>
            <a:pPr algn="l"/>
            <a:r>
              <a:rPr lang="en-AU" sz="850" dirty="0">
                <a:solidFill>
                  <a:srgbClr val="0B0B0B"/>
                </a:solidFill>
                <a:latin typeface="Aptos"/>
              </a:rPr>
              <a:t>• Permit assessors</a:t>
            </a:r>
          </a:p>
          <a:p>
            <a:pPr algn="l"/>
            <a:r>
              <a:rPr lang="en-AU" sz="850" dirty="0">
                <a:solidFill>
                  <a:srgbClr val="0B0B0B"/>
                </a:solidFill>
                <a:latin typeface="Aptos"/>
              </a:rPr>
              <a:t>• Freight operators</a:t>
            </a:r>
          </a:p>
        </p:txBody>
      </p:sp>
      <p:sp>
        <p:nvSpPr>
          <p:cNvPr id="41" name="shape41"/>
          <p:cNvSpPr/>
          <p:nvPr/>
        </p:nvSpPr>
        <p:spPr>
          <a:xfrm>
            <a:off x="457200" y="4215384"/>
            <a:ext cx="1280160" cy="1298448"/>
          </a:xfrm>
          <a:prstGeom prst="rect">
            <a:avLst/>
          </a:prstGeom>
          <a:noFill/>
          <a:ln>
            <a:noFill/>
          </a:ln>
        </p:spPr>
        <p:txBody>
          <a:bodyPr wrap="square" anchor="ctr" lIns="54864" rIns="54864" tIns="27432" bIns="27432"/>
          <a:lstStyle/>
          <a:p>
            <a:pPr algn="r"/>
            <a:r>
              <a:rPr lang="en-AU" sz="900" b="1" dirty="0">
                <a:solidFill>
                  <a:srgbClr val="6B6A66"/>
                </a:solidFill>
                <a:latin typeface="Aptos"/>
              </a:rPr>
              <a:t>Low</a:t>
            </a:r>
          </a:p>
        </p:txBody>
      </p:sp>
      <p:sp>
        <p:nvSpPr>
          <p:cNvPr id="42" name="shape42"/>
          <p:cNvSpPr/>
          <p:nvPr/>
        </p:nvSpPr>
        <p:spPr>
          <a:xfrm>
            <a:off x="1865376" y="4215384"/>
            <a:ext cx="487969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Finance</a:t>
            </a:r>
          </a:p>
        </p:txBody>
      </p:sp>
      <p:sp>
        <p:nvSpPr>
          <p:cNvPr id="43" name="shape43"/>
          <p:cNvSpPr/>
          <p:nvPr/>
        </p:nvSpPr>
        <p:spPr>
          <a:xfrm>
            <a:off x="6818224" y="4215384"/>
            <a:ext cx="4879696" cy="129844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KEEP INFORMED</a:t>
            </a:r>
          </a:p>
          <a:p>
            <a:pPr algn="l"/>
            <a:r>
              <a:rPr lang="en-AU" sz="850" dirty="0">
                <a:solidFill>
                  <a:srgbClr val="0B0B0B"/>
                </a:solidFill>
                <a:latin typeface="Aptos"/>
              </a:rPr>
              <a:t>• Police heavy vehicle unit</a:t>
            </a:r>
          </a:p>
          <a:p>
            <a:pPr algn="l"/>
            <a:r>
              <a:rPr lang="en-AU" sz="850" dirty="0">
                <a:solidFill>
                  <a:srgbClr val="0B0B0B"/>
                </a:solidFill>
                <a:latin typeface="Aptos"/>
              </a:rPr>
              <a:t>• Bridge engineering</a:t>
            </a:r>
          </a:p>
        </p:txBody>
      </p:sp>
      <p:sp>
        <p:nvSpPr>
          <p:cNvPr id="44" name="shape44"/>
          <p:cNvSpPr/>
          <p:nvPr/>
        </p:nvSpPr>
        <p:spPr>
          <a:xfrm>
            <a:off x="411480" y="2843784"/>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Influence</a:t>
            </a:r>
          </a:p>
        </p:txBody>
      </p:sp>
      <p:sp>
        <p:nvSpPr>
          <p:cNvPr id="45" name="shape45"/>
          <p:cNvSpPr/>
          <p:nvPr/>
        </p:nvSpPr>
        <p:spPr>
          <a:xfrm>
            <a:off x="457200" y="6071616"/>
            <a:ext cx="10515600" cy="384048"/>
          </a:xfrm>
          <a:prstGeom prst="rect">
            <a:avLst/>
          </a:prstGeom>
          <a:noFill/>
          <a:ln>
            <a:noFill/>
          </a:ln>
        </p:spPr>
        <p:txBody>
          <a:bodyPr wrap="square" anchor="t" lIns="0" rIns="0" tIns="27432" bIns="27432"/>
          <a:lstStyle/>
          <a:p>
            <a:pPr algn="l"/>
            <a:r>
              <a:rPr lang="en-AU" sz="850" dirty="0">
                <a:solidFill>
                  <a:srgbClr val="6B6A66"/>
                </a:solidFill>
                <a:latin typeface="Aptos"/>
              </a:rPr>
              <a:t>Road managers are external to Fairgate and consent individually. That is the first sign the 15-day obligation is not entirely within Fairgate's control.</a:t>
            </a:r>
          </a:p>
        </p:txBody>
      </p:sp>
      <p:sp>
        <p:nvSpPr>
          <p:cNvPr id="46" name="shape46"/>
          <p:cNvSpPr/>
          <p:nvPr/>
        </p:nvSpPr>
        <p:spPr>
          <a:xfrm>
            <a:off x="457200" y="6492240"/>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Fairgate Roads Authority — heavy vehicle access permits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shape47"/>
          <p:cNvSpPr/>
          <p:nvPr/>
        </p:nvSpPr>
        <p:spPr>
          <a:xfrm>
            <a:off x="457200" y="274320"/>
            <a:ext cx="914400" cy="40233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1000" b="1" dirty="0">
                <a:solidFill>
                  <a:srgbClr val="FFFFFF"/>
                </a:solidFill>
                <a:latin typeface="Aptos"/>
              </a:rPr>
              <a:t>STEP 2</a:t>
            </a:r>
          </a:p>
        </p:txBody>
      </p:sp>
      <p:sp>
        <p:nvSpPr>
          <p:cNvPr id="48" name="shape48"/>
          <p:cNvSpPr/>
          <p:nvPr/>
        </p:nvSpPr>
        <p:spPr>
          <a:xfrm>
            <a:off x="1499616" y="256032"/>
            <a:ext cx="8686800" cy="438912"/>
          </a:xfrm>
          <a:prstGeom prst="rect">
            <a:avLst/>
          </a:prstGeom>
          <a:noFill/>
          <a:ln>
            <a:noFill/>
          </a:ln>
        </p:spPr>
        <p:txBody>
          <a:bodyPr wrap="square" anchor="ctr" lIns="0" rIns="0" tIns="27432" bIns="27432"/>
          <a:lstStyle/>
          <a:p>
            <a:pPr algn="l"/>
            <a:r>
              <a:rPr lang="en-AU" sz="2000" b="1" dirty="0">
                <a:solidFill>
                  <a:srgbClr val="0B0B0B"/>
                </a:solidFill>
                <a:latin typeface="Aptos"/>
              </a:rPr>
              <a:t>10.18 Document Analysis</a:t>
            </a:r>
          </a:p>
        </p:txBody>
      </p:sp>
      <p:sp>
        <p:nvSpPr>
          <p:cNvPr id="49" name="shape49"/>
          <p:cNvSpPr/>
          <p:nvPr/>
        </p:nvSpPr>
        <p:spPr>
          <a:xfrm>
            <a:off x="9357055" y="310896"/>
            <a:ext cx="2377440" cy="329184"/>
          </a:xfrm>
          <a:prstGeom prst="rect">
            <a:avLst/>
          </a:prstGeom>
          <a:noFill/>
          <a:ln>
            <a:noFill/>
          </a:ln>
        </p:spPr>
        <p:txBody>
          <a:bodyPr wrap="square" anchor="ctr" lIns="0" rIns="0" tIns="27432" bIns="27432"/>
          <a:lstStyle/>
          <a:p>
            <a:pPr algn="r"/>
            <a:r>
              <a:rPr lang="en-AU" sz="1000" dirty="0">
                <a:solidFill>
                  <a:srgbClr val="6B6A66"/>
                </a:solidFill>
                <a:latin typeface="Aptos"/>
              </a:rPr>
              <a:t>Elicitation and collaboration</a:t>
            </a:r>
          </a:p>
        </p:txBody>
      </p:sp>
      <p:sp>
        <p:nvSpPr>
          <p:cNvPr id="50" name="shape50"/>
          <p:cNvSpPr/>
          <p:nvPr/>
        </p:nvSpPr>
        <p:spPr>
          <a:xfrm>
            <a:off x="457200" y="731520"/>
            <a:ext cx="10515600" cy="310896"/>
          </a:xfrm>
          <a:prstGeom prst="rect">
            <a:avLst/>
          </a:prstGeom>
          <a:noFill/>
          <a:ln>
            <a:noFill/>
          </a:ln>
        </p:spPr>
        <p:txBody>
          <a:bodyPr wrap="square" anchor="ctr" lIns="0" rIns="0" tIns="27432" bIns="27432"/>
          <a:lstStyle/>
          <a:p>
            <a:pPr algn="l"/>
            <a:r>
              <a:rPr lang="en-AU" sz="1350" i="1" dirty="0">
                <a:solidFill>
                  <a:srgbClr val="184F95"/>
                </a:solidFill>
                <a:latin typeface="Aptos"/>
              </a:rPr>
              <a:t>What do the existing artefacts already answer?</a:t>
            </a:r>
          </a:p>
        </p:txBody>
      </p:sp>
      <p:cxnSp>
        <p:nvCxnSpPr>
          <p:cNvPr id="51" name="conn51"/>
          <p:cNvCxnSpPr/>
          <p:nvPr/>
        </p:nvCxnSpPr>
        <p:spPr>
          <a:xfrm>
            <a:off x="457200" y="1115568"/>
            <a:ext cx="11277295" cy="1"/>
          </a:xfrm>
          <a:prstGeom prst="line">
            <a:avLst/>
          </a:prstGeom>
          <a:ln w="12700">
            <a:solidFill>
              <a:srgbClr val="D9D8D0"/>
            </a:solidFill>
          </a:ln>
        </p:spPr>
      </p:cxnSp>
      <p:sp>
        <p:nvSpPr>
          <p:cNvPr id="52" name="shape52"/>
          <p:cNvSpPr/>
          <p:nvPr/>
        </p:nvSpPr>
        <p:spPr>
          <a:xfrm>
            <a:off x="457200"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TAKES</a:t>
            </a:r>
          </a:p>
          <a:p>
            <a:pPr algn="l"/>
            <a:r>
              <a:rPr lang="en-AU" sz="950" dirty="0">
                <a:solidFill>
                  <a:srgbClr val="0B0B0B"/>
                </a:solidFill>
                <a:latin typeface="Aptos"/>
              </a:rPr>
              <a:t>The stakeholder list, which says who owns which document.</a:t>
            </a:r>
          </a:p>
        </p:txBody>
      </p:sp>
      <p:sp>
        <p:nvSpPr>
          <p:cNvPr id="53" name="shape53"/>
          <p:cNvSpPr/>
          <p:nvPr/>
        </p:nvSpPr>
        <p:spPr>
          <a:xfrm>
            <a:off x="6187288"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GIVES</a:t>
            </a:r>
          </a:p>
          <a:p>
            <a:pPr algn="l"/>
            <a:r>
              <a:rPr lang="en-AU" sz="950" dirty="0">
                <a:solidFill>
                  <a:srgbClr val="0B0B0B"/>
                </a:solidFill>
                <a:latin typeface="Aptos"/>
              </a:rPr>
              <a:t>What is already settled, and the three questions only a person can answer. Those become the interview guide.</a:t>
            </a:r>
          </a:p>
        </p:txBody>
      </p:sp>
      <p:sp>
        <p:nvSpPr>
          <p:cNvPr id="54" name="shape54"/>
          <p:cNvSpPr/>
          <p:nvPr/>
        </p:nvSpPr>
        <p:spPr>
          <a:xfrm>
            <a:off x="6187288" y="1225296"/>
            <a:ext cx="32004" cy="713232"/>
          </a:xfrm>
          <a:prstGeom prst="rect">
            <a:avLst/>
          </a:prstGeom>
          <a:solidFill>
            <a:srgbClr val="2A78D6"/>
          </a:solidFill>
          <a:ln>
            <a:noFill/>
          </a:ln>
        </p:spPr>
        <p:txBody>
          <a:bodyPr wrap="square" anchor="ctr" lIns="54864" rIns="54864" tIns="27432" bIns="27432"/>
          <a:lstStyle/>
          <a:p>
            <a:pPr algn="l"/>
            <a:endParaRPr lang="en-AU" sz="1100"/>
          </a:p>
        </p:txBody>
      </p:sp>
      <p:sp>
        <p:nvSpPr>
          <p:cNvPr id="55" name="shape55"/>
          <p:cNvSpPr/>
          <p:nvPr/>
        </p:nvSpPr>
        <p:spPr>
          <a:xfrm>
            <a:off x="457200" y="2048256"/>
            <a:ext cx="10515600" cy="237744"/>
          </a:xfrm>
          <a:prstGeom prst="rect">
            <a:avLst/>
          </a:prstGeom>
          <a:noFill/>
          <a:ln>
            <a:noFill/>
          </a:ln>
        </p:spPr>
        <p:txBody>
          <a:bodyPr wrap="square" anchor="b" lIns="0" rIns="0" tIns="27432" bIns="27432"/>
          <a:lstStyle/>
          <a:p>
            <a:pPr algn="l"/>
            <a:r>
              <a:rPr lang="en-AU" sz="1100" b="1" dirty="0">
                <a:solidFill>
                  <a:srgbClr val="184F95"/>
                </a:solidFill>
                <a:latin typeface="Aptos"/>
              </a:rPr>
              <a:t>Read before anyone's time is booked</a:t>
            </a:r>
          </a:p>
        </p:txBody>
      </p:sp>
      <p:graphicFrame>
        <p:nvGraphicFramePr>
          <p:cNvPr id="56" name="table56"/>
          <p:cNvGraphicFramePr>
            <a:graphicFrameLocks noGrp="1"/>
          </p:cNvGraphicFramePr>
          <p:nvPr/>
        </p:nvGraphicFramePr>
        <p:xfrm>
          <a:off x="457200" y="2340864"/>
          <a:ext cx="11277295" cy="1920240"/>
        </p:xfrm>
        <a:graphic>
          <a:graphicData uri="http://schemas.openxmlformats.org/drawingml/2006/table">
            <a:tbl>
              <a:tblPr firstRow="1" bandRow="1"/>
              <a:tblGrid>
                <a:gridCol w="2377440"/>
                <a:gridCol w="4449928"/>
                <a:gridCol w="4449928"/>
              </a:tblGrid>
              <a:tr h="384048">
                <a:tc>
                  <a:txBody>
                    <a:bodyPr wrap="square" anchor="ctr" lIns="64008" rIns="64008" tIns="27432" bIns="27432"/>
                    <a:lstStyle/>
                    <a:p>
                      <a:pPr algn="l"/>
                      <a:r>
                        <a:rPr lang="en-AU" sz="900" b="1" dirty="0">
                          <a:solidFill>
                            <a:srgbClr val="FFFFFF"/>
                          </a:solidFill>
                          <a:latin typeface="Aptos"/>
                        </a:rPr>
                        <a:t>Source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What it settled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What it could not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National scheme instrument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15 days, routine applications only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What counts as routine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Assessment procedure v4</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The 6 documented checks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Why 2 of them are skipped at volume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Consent deed, 11 councils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Each council has 10 business days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Whether that runs concurrently or in series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Permit system specification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Fields captured at lodgement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Whether route data is reliable enough to automate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
        <p:nvSpPr>
          <p:cNvPr id="57" name="shape57"/>
          <p:cNvSpPr/>
          <p:nvPr/>
        </p:nvSpPr>
        <p:spPr>
          <a:xfrm>
            <a:off x="457200" y="6071616"/>
            <a:ext cx="10515600" cy="384048"/>
          </a:xfrm>
          <a:prstGeom prst="rect">
            <a:avLst/>
          </a:prstGeom>
          <a:noFill/>
          <a:ln>
            <a:noFill/>
          </a:ln>
        </p:spPr>
        <p:txBody>
          <a:bodyPr wrap="square" anchor="t" lIns="0" rIns="0" tIns="27432" bIns="27432"/>
          <a:lstStyle/>
          <a:p>
            <a:pPr algn="l"/>
            <a:r>
              <a:rPr lang="en-AU" sz="850" dirty="0">
                <a:solidFill>
                  <a:srgbClr val="6B6A66"/>
                </a:solidFill>
                <a:latin typeface="Aptos"/>
              </a:rPr>
              <a:t>The consent question matters most: 11 councils at 10 days in series cannot fit inside 15 days at all.</a:t>
            </a:r>
          </a:p>
        </p:txBody>
      </p:sp>
      <p:sp>
        <p:nvSpPr>
          <p:cNvPr id="58" name="shape58"/>
          <p:cNvSpPr/>
          <p:nvPr/>
        </p:nvSpPr>
        <p:spPr>
          <a:xfrm>
            <a:off x="457200" y="6492240"/>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Fairgate Roads Authority — heavy vehicle access permits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shape59"/>
          <p:cNvSpPr/>
          <p:nvPr/>
        </p:nvSpPr>
        <p:spPr>
          <a:xfrm>
            <a:off x="457200" y="274320"/>
            <a:ext cx="914400" cy="40233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1000" b="1" dirty="0">
                <a:solidFill>
                  <a:srgbClr val="FFFFFF"/>
                </a:solidFill>
                <a:latin typeface="Aptos"/>
              </a:rPr>
              <a:t>STEP 3</a:t>
            </a:r>
          </a:p>
        </p:txBody>
      </p:sp>
      <p:sp>
        <p:nvSpPr>
          <p:cNvPr id="60" name="shape60"/>
          <p:cNvSpPr/>
          <p:nvPr/>
        </p:nvSpPr>
        <p:spPr>
          <a:xfrm>
            <a:off x="1499616" y="256032"/>
            <a:ext cx="8686800" cy="438912"/>
          </a:xfrm>
          <a:prstGeom prst="rect">
            <a:avLst/>
          </a:prstGeom>
          <a:noFill/>
          <a:ln>
            <a:noFill/>
          </a:ln>
        </p:spPr>
        <p:txBody>
          <a:bodyPr wrap="square" anchor="ctr" lIns="0" rIns="0" tIns="27432" bIns="27432"/>
          <a:lstStyle/>
          <a:p>
            <a:pPr algn="l"/>
            <a:r>
              <a:rPr lang="en-AU" sz="2000" b="1" dirty="0">
                <a:solidFill>
                  <a:srgbClr val="0B0B0B"/>
                </a:solidFill>
                <a:latin typeface="Aptos"/>
              </a:rPr>
              <a:t>10.31 Observation</a:t>
            </a:r>
          </a:p>
        </p:txBody>
      </p:sp>
      <p:sp>
        <p:nvSpPr>
          <p:cNvPr id="61" name="shape61"/>
          <p:cNvSpPr/>
          <p:nvPr/>
        </p:nvSpPr>
        <p:spPr>
          <a:xfrm>
            <a:off x="9357055" y="310896"/>
            <a:ext cx="2377440" cy="329184"/>
          </a:xfrm>
          <a:prstGeom prst="rect">
            <a:avLst/>
          </a:prstGeom>
          <a:noFill/>
          <a:ln>
            <a:noFill/>
          </a:ln>
        </p:spPr>
        <p:txBody>
          <a:bodyPr wrap="square" anchor="ctr" lIns="0" rIns="0" tIns="27432" bIns="27432"/>
          <a:lstStyle/>
          <a:p>
            <a:pPr algn="r"/>
            <a:r>
              <a:rPr lang="en-AU" sz="1000" dirty="0">
                <a:solidFill>
                  <a:srgbClr val="6B6A66"/>
                </a:solidFill>
                <a:latin typeface="Aptos"/>
              </a:rPr>
              <a:t>Elicitation and collaboration</a:t>
            </a:r>
          </a:p>
        </p:txBody>
      </p:sp>
      <p:sp>
        <p:nvSpPr>
          <p:cNvPr id="62" name="shape62"/>
          <p:cNvSpPr/>
          <p:nvPr/>
        </p:nvSpPr>
        <p:spPr>
          <a:xfrm>
            <a:off x="457200" y="731520"/>
            <a:ext cx="10515600" cy="310896"/>
          </a:xfrm>
          <a:prstGeom prst="rect">
            <a:avLst/>
          </a:prstGeom>
          <a:noFill/>
          <a:ln>
            <a:noFill/>
          </a:ln>
        </p:spPr>
        <p:txBody>
          <a:bodyPr wrap="square" anchor="ctr" lIns="0" rIns="0" tIns="27432" bIns="27432"/>
          <a:lstStyle/>
          <a:p>
            <a:pPr algn="l"/>
            <a:r>
              <a:rPr lang="en-AU" sz="1350" i="1" dirty="0">
                <a:solidFill>
                  <a:srgbClr val="184F95"/>
                </a:solidFill>
                <a:latin typeface="Aptos"/>
              </a:rPr>
              <a:t>What do assessors actually do, as opposed to what the procedure says?</a:t>
            </a:r>
          </a:p>
        </p:txBody>
      </p:sp>
      <p:cxnSp>
        <p:nvCxnSpPr>
          <p:cNvPr id="63" name="conn63"/>
          <p:cNvCxnSpPr/>
          <p:nvPr/>
        </p:nvCxnSpPr>
        <p:spPr>
          <a:xfrm>
            <a:off x="457200" y="1115568"/>
            <a:ext cx="11277295" cy="1"/>
          </a:xfrm>
          <a:prstGeom prst="line">
            <a:avLst/>
          </a:prstGeom>
          <a:ln w="12700">
            <a:solidFill>
              <a:srgbClr val="D9D8D0"/>
            </a:solidFill>
          </a:ln>
        </p:spPr>
      </p:cxnSp>
      <p:sp>
        <p:nvSpPr>
          <p:cNvPr id="64" name="shape64"/>
          <p:cNvSpPr/>
          <p:nvPr/>
        </p:nvSpPr>
        <p:spPr>
          <a:xfrm>
            <a:off x="457200"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TAKES</a:t>
            </a:r>
          </a:p>
          <a:p>
            <a:pPr algn="l"/>
            <a:r>
              <a:rPr lang="en-AU" sz="950" dirty="0">
                <a:solidFill>
                  <a:srgbClr val="0B0B0B"/>
                </a:solidFill>
                <a:latin typeface="Aptos"/>
              </a:rPr>
              <a:t>The two unexplained checks from the document analysis.</a:t>
            </a:r>
          </a:p>
        </p:txBody>
      </p:sp>
      <p:sp>
        <p:nvSpPr>
          <p:cNvPr id="65" name="shape65"/>
          <p:cNvSpPr/>
          <p:nvPr/>
        </p:nvSpPr>
        <p:spPr>
          <a:xfrm>
            <a:off x="6187288"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GIVES</a:t>
            </a:r>
          </a:p>
          <a:p>
            <a:pPr algn="l"/>
            <a:r>
              <a:rPr lang="en-AU" sz="950" dirty="0">
                <a:solidFill>
                  <a:srgbClr val="0B0B0B"/>
                </a:solidFill>
                <a:latin typeface="Aptos"/>
              </a:rPr>
              <a:t>The real practice, including a shortcut nobody had documented. Feeds the current-state process model.</a:t>
            </a:r>
          </a:p>
        </p:txBody>
      </p:sp>
      <p:sp>
        <p:nvSpPr>
          <p:cNvPr id="66" name="shape66"/>
          <p:cNvSpPr/>
          <p:nvPr/>
        </p:nvSpPr>
        <p:spPr>
          <a:xfrm>
            <a:off x="6187288" y="1225296"/>
            <a:ext cx="32004" cy="713232"/>
          </a:xfrm>
          <a:prstGeom prst="rect">
            <a:avLst/>
          </a:prstGeom>
          <a:solidFill>
            <a:srgbClr val="2A78D6"/>
          </a:solidFill>
          <a:ln>
            <a:noFill/>
          </a:ln>
        </p:spPr>
        <p:txBody>
          <a:bodyPr wrap="square" anchor="ctr" lIns="54864" rIns="54864" tIns="27432" bIns="27432"/>
          <a:lstStyle/>
          <a:p>
            <a:pPr algn="l"/>
            <a:endParaRPr lang="en-AU" sz="1100"/>
          </a:p>
        </p:txBody>
      </p:sp>
      <p:sp>
        <p:nvSpPr>
          <p:cNvPr id="67" name="shape67"/>
          <p:cNvSpPr/>
          <p:nvPr/>
        </p:nvSpPr>
        <p:spPr>
          <a:xfrm>
            <a:off x="457200" y="2048256"/>
            <a:ext cx="10515600" cy="237744"/>
          </a:xfrm>
          <a:prstGeom prst="rect">
            <a:avLst/>
          </a:prstGeom>
          <a:noFill/>
          <a:ln>
            <a:noFill/>
          </a:ln>
        </p:spPr>
        <p:txBody>
          <a:bodyPr wrap="square" anchor="b" lIns="0" rIns="0" tIns="27432" bIns="27432"/>
          <a:lstStyle/>
          <a:p>
            <a:pPr algn="l"/>
            <a:r>
              <a:rPr lang="en-AU" sz="1100" b="1" dirty="0">
                <a:solidFill>
                  <a:srgbClr val="184F95"/>
                </a:solidFill>
                <a:latin typeface="Aptos"/>
              </a:rPr>
              <a:t>Six documented checks, watched across nine applications</a:t>
            </a:r>
          </a:p>
        </p:txBody>
      </p:sp>
      <p:graphicFrame>
        <p:nvGraphicFramePr>
          <p:cNvPr id="68" name="table68"/>
          <p:cNvGraphicFramePr>
            <a:graphicFrameLocks noGrp="1"/>
          </p:cNvGraphicFramePr>
          <p:nvPr/>
        </p:nvGraphicFramePr>
        <p:xfrm>
          <a:off x="457200" y="2340864"/>
          <a:ext cx="11277295" cy="2688336"/>
        </p:xfrm>
        <a:graphic>
          <a:graphicData uri="http://schemas.openxmlformats.org/drawingml/2006/table">
            <a:tbl>
              <a:tblPr firstRow="1" bandRow="1"/>
              <a:tblGrid>
                <a:gridCol w="2377440"/>
                <a:gridCol w="4449928"/>
                <a:gridCol w="4449928"/>
              </a:tblGrid>
              <a:tr h="384048">
                <a:tc>
                  <a:txBody>
                    <a:bodyPr wrap="square" anchor="ctr" lIns="64008" rIns="64008" tIns="27432" bIns="27432"/>
                    <a:lstStyle/>
                    <a:p>
                      <a:pPr algn="l"/>
                      <a:r>
                        <a:rPr lang="en-AU" sz="900" b="1" dirty="0">
                          <a:solidFill>
                            <a:srgbClr val="FFFFFF"/>
                          </a:solidFill>
                          <a:latin typeface="Aptos"/>
                        </a:rPr>
                        <a:t>Documented check</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Observed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Gap</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1. Vehicle configuration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Done every time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None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2. Mass limits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Done every time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None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3. Bridge capacity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Skipped when the route is 'known'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'Known' is the assessor's memory, not a register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4. Road manager list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Done every time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None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5. Seasonal load restriction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Skipped in 7 of 9</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Restriction data sits in a separate system nobody opens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6. Prior refusal check</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Done every time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None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
        <p:nvSpPr>
          <p:cNvPr id="69" name="shape69"/>
          <p:cNvSpPr/>
          <p:nvPr/>
        </p:nvSpPr>
        <p:spPr>
          <a:xfrm>
            <a:off x="457200" y="6071616"/>
            <a:ext cx="10515600" cy="384048"/>
          </a:xfrm>
          <a:prstGeom prst="rect">
            <a:avLst/>
          </a:prstGeom>
          <a:noFill/>
          <a:ln>
            <a:noFill/>
          </a:ln>
        </p:spPr>
        <p:txBody>
          <a:bodyPr wrap="square" anchor="t" lIns="0" rIns="0" tIns="27432" bIns="27432"/>
          <a:lstStyle/>
          <a:p>
            <a:pPr algn="l"/>
            <a:r>
              <a:rPr lang="en-AU" sz="850" dirty="0">
                <a:solidFill>
                  <a:srgbClr val="6B6A66"/>
                </a:solidFill>
                <a:latin typeface="Aptos"/>
              </a:rPr>
              <a:t>Two of the six checks rely on recall rather than data. Both are the checks that generate rework when a road manager objects.</a:t>
            </a:r>
          </a:p>
        </p:txBody>
      </p:sp>
      <p:sp>
        <p:nvSpPr>
          <p:cNvPr id="70" name="shape70"/>
          <p:cNvSpPr/>
          <p:nvPr/>
        </p:nvSpPr>
        <p:spPr>
          <a:xfrm>
            <a:off x="457200" y="6492240"/>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Fairgate Roads Authority — heavy vehicle access permits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shape71"/>
          <p:cNvSpPr/>
          <p:nvPr/>
        </p:nvSpPr>
        <p:spPr>
          <a:xfrm>
            <a:off x="457200" y="274320"/>
            <a:ext cx="914400" cy="40233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1000" b="1" dirty="0">
                <a:solidFill>
                  <a:srgbClr val="FFFFFF"/>
                </a:solidFill>
                <a:latin typeface="Aptos"/>
              </a:rPr>
              <a:t>STEP 4</a:t>
            </a:r>
          </a:p>
        </p:txBody>
      </p:sp>
      <p:sp>
        <p:nvSpPr>
          <p:cNvPr id="72" name="shape72"/>
          <p:cNvSpPr/>
          <p:nvPr/>
        </p:nvSpPr>
        <p:spPr>
          <a:xfrm>
            <a:off x="1499616" y="256032"/>
            <a:ext cx="8686800" cy="438912"/>
          </a:xfrm>
          <a:prstGeom prst="rect">
            <a:avLst/>
          </a:prstGeom>
          <a:noFill/>
          <a:ln>
            <a:noFill/>
          </a:ln>
        </p:spPr>
        <p:txBody>
          <a:bodyPr wrap="square" anchor="ctr" lIns="0" rIns="0" tIns="27432" bIns="27432"/>
          <a:lstStyle/>
          <a:p>
            <a:pPr algn="l"/>
            <a:r>
              <a:rPr lang="en-AU" sz="2000" b="1" dirty="0">
                <a:solidFill>
                  <a:srgbClr val="0B0B0B"/>
                </a:solidFill>
                <a:latin typeface="Aptos"/>
              </a:rPr>
              <a:t>10.35 Process Modelling</a:t>
            </a:r>
          </a:p>
        </p:txBody>
      </p:sp>
      <p:sp>
        <p:nvSpPr>
          <p:cNvPr id="73" name="shape73"/>
          <p:cNvSpPr/>
          <p:nvPr/>
        </p:nvSpPr>
        <p:spPr>
          <a:xfrm>
            <a:off x="9357055" y="310896"/>
            <a:ext cx="2377440" cy="329184"/>
          </a:xfrm>
          <a:prstGeom prst="rect">
            <a:avLst/>
          </a:prstGeom>
          <a:noFill/>
          <a:ln>
            <a:noFill/>
          </a:ln>
        </p:spPr>
        <p:txBody>
          <a:bodyPr wrap="square" anchor="ctr" lIns="0" rIns="0" tIns="27432" bIns="27432"/>
          <a:lstStyle/>
          <a:p>
            <a:pPr algn="r"/>
            <a:r>
              <a:rPr lang="en-AU" sz="1000" dirty="0">
                <a:solidFill>
                  <a:srgbClr val="6B6A66"/>
                </a:solidFill>
                <a:latin typeface="Aptos"/>
              </a:rPr>
              <a:t>Modelling and specification</a:t>
            </a:r>
          </a:p>
        </p:txBody>
      </p:sp>
      <p:sp>
        <p:nvSpPr>
          <p:cNvPr id="74" name="shape74"/>
          <p:cNvSpPr/>
          <p:nvPr/>
        </p:nvSpPr>
        <p:spPr>
          <a:xfrm>
            <a:off x="457200" y="731520"/>
            <a:ext cx="10515600" cy="310896"/>
          </a:xfrm>
          <a:prstGeom prst="rect">
            <a:avLst/>
          </a:prstGeom>
          <a:noFill/>
          <a:ln>
            <a:noFill/>
          </a:ln>
        </p:spPr>
        <p:txBody>
          <a:bodyPr wrap="square" anchor="ctr" lIns="0" rIns="0" tIns="27432" bIns="27432"/>
          <a:lstStyle/>
          <a:p>
            <a:pPr algn="l"/>
            <a:r>
              <a:rPr lang="en-AU" sz="1350" i="1" dirty="0">
                <a:solidFill>
                  <a:srgbClr val="184F95"/>
                </a:solidFill>
                <a:latin typeface="Aptos"/>
              </a:rPr>
              <a:t>What is the end-to-end flow, and where does it change hands?</a:t>
            </a:r>
          </a:p>
        </p:txBody>
      </p:sp>
      <p:cxnSp>
        <p:nvCxnSpPr>
          <p:cNvPr id="75" name="conn75"/>
          <p:cNvCxnSpPr/>
          <p:nvPr/>
        </p:nvCxnSpPr>
        <p:spPr>
          <a:xfrm>
            <a:off x="457200" y="1115568"/>
            <a:ext cx="11277295" cy="1"/>
          </a:xfrm>
          <a:prstGeom prst="line">
            <a:avLst/>
          </a:prstGeom>
          <a:ln w="12700">
            <a:solidFill>
              <a:srgbClr val="D9D8D0"/>
            </a:solidFill>
          </a:ln>
        </p:spPr>
      </p:cxnSp>
      <p:sp>
        <p:nvSpPr>
          <p:cNvPr id="76" name="shape76"/>
          <p:cNvSpPr/>
          <p:nvPr/>
        </p:nvSpPr>
        <p:spPr>
          <a:xfrm>
            <a:off x="457200"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TAKES</a:t>
            </a:r>
          </a:p>
          <a:p>
            <a:pPr algn="l"/>
            <a:r>
              <a:rPr lang="en-AU" sz="950" dirty="0">
                <a:solidFill>
                  <a:srgbClr val="0B0B0B"/>
                </a:solidFill>
                <a:latin typeface="Aptos"/>
              </a:rPr>
              <a:t>The observed practice, not the documented procedure.</a:t>
            </a:r>
          </a:p>
        </p:txBody>
      </p:sp>
      <p:sp>
        <p:nvSpPr>
          <p:cNvPr id="77" name="shape77"/>
          <p:cNvSpPr/>
          <p:nvPr/>
        </p:nvSpPr>
        <p:spPr>
          <a:xfrm>
            <a:off x="6187288"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GIVES</a:t>
            </a:r>
          </a:p>
          <a:p>
            <a:pPr algn="l"/>
            <a:r>
              <a:rPr lang="en-AU" sz="950" dirty="0">
                <a:solidFill>
                  <a:srgbClr val="0B0B0B"/>
                </a:solidFill>
                <a:latin typeface="Aptos"/>
              </a:rPr>
              <a:t>Four stages and the hand-offs between them. These four stage names are used unchanged by every later step.</a:t>
            </a:r>
          </a:p>
        </p:txBody>
      </p:sp>
      <p:sp>
        <p:nvSpPr>
          <p:cNvPr id="78" name="shape78"/>
          <p:cNvSpPr/>
          <p:nvPr/>
        </p:nvSpPr>
        <p:spPr>
          <a:xfrm>
            <a:off x="6187288" y="1225296"/>
            <a:ext cx="32004" cy="713232"/>
          </a:xfrm>
          <a:prstGeom prst="rect">
            <a:avLst/>
          </a:prstGeom>
          <a:solidFill>
            <a:srgbClr val="2A78D6"/>
          </a:solidFill>
          <a:ln>
            <a:noFill/>
          </a:ln>
        </p:spPr>
        <p:txBody>
          <a:bodyPr wrap="square" anchor="ctr" lIns="54864" rIns="54864" tIns="27432" bIns="27432"/>
          <a:lstStyle/>
          <a:p>
            <a:pPr algn="l"/>
            <a:endParaRPr lang="en-AU" sz="1100"/>
          </a:p>
        </p:txBody>
      </p:sp>
      <p:sp>
        <p:nvSpPr>
          <p:cNvPr id="79" name="shape79"/>
          <p:cNvSpPr/>
          <p:nvPr/>
        </p:nvSpPr>
        <p:spPr>
          <a:xfrm>
            <a:off x="457200" y="2048256"/>
            <a:ext cx="10515600" cy="237744"/>
          </a:xfrm>
          <a:prstGeom prst="rect">
            <a:avLst/>
          </a:prstGeom>
          <a:noFill/>
          <a:ln>
            <a:noFill/>
          </a:ln>
        </p:spPr>
        <p:txBody>
          <a:bodyPr wrap="square" anchor="b" lIns="0" rIns="0" tIns="27432" bIns="27432"/>
          <a:lstStyle/>
          <a:p>
            <a:pPr algn="l"/>
            <a:r>
              <a:rPr lang="en-AU" sz="1100" b="1" dirty="0">
                <a:solidFill>
                  <a:srgbClr val="184F95"/>
                </a:solidFill>
                <a:latin typeface="Aptos"/>
              </a:rPr>
              <a:t>Current state — application to permit</a:t>
            </a:r>
          </a:p>
        </p:txBody>
      </p:sp>
      <p:sp>
        <p:nvSpPr>
          <p:cNvPr id="80" name="shape80"/>
          <p:cNvSpPr/>
          <p:nvPr/>
        </p:nvSpPr>
        <p:spPr>
          <a:xfrm>
            <a:off x="457200" y="2340864"/>
            <a:ext cx="11277295" cy="800100"/>
          </a:xfrm>
          <a:prstGeom prst="rect">
            <a:avLst/>
          </a:prstGeom>
          <a:solidFill>
            <a:srgbClr val="FBFBF9"/>
          </a:solidFill>
          <a:ln w="9525">
            <a:solidFill>
              <a:srgbClr val="D9D8D0"/>
            </a:solidFill>
          </a:ln>
        </p:spPr>
        <p:txBody>
          <a:bodyPr wrap="square" anchor="ctr" lIns="54864" rIns="54864" tIns="27432" bIns="27432"/>
          <a:lstStyle/>
          <a:p>
            <a:pPr algn="l"/>
            <a:endParaRPr lang="en-AU" sz="1100"/>
          </a:p>
        </p:txBody>
      </p:sp>
      <p:sp>
        <p:nvSpPr>
          <p:cNvPr id="81" name="shape81"/>
          <p:cNvSpPr/>
          <p:nvPr/>
        </p:nvSpPr>
        <p:spPr>
          <a:xfrm>
            <a:off x="493776" y="2340864"/>
            <a:ext cx="1024128" cy="800100"/>
          </a:xfrm>
          <a:prstGeom prst="rect">
            <a:avLst/>
          </a:prstGeom>
          <a:noFill/>
          <a:ln>
            <a:noFill/>
          </a:ln>
        </p:spPr>
        <p:txBody>
          <a:bodyPr wrap="square" anchor="ctr" lIns="54864" rIns="54864" tIns="27432" bIns="27432"/>
          <a:lstStyle/>
          <a:p>
            <a:pPr algn="l"/>
            <a:r>
              <a:rPr lang="en-AU" sz="850" b="1" dirty="0">
                <a:solidFill>
                  <a:srgbClr val="6B6A66"/>
                </a:solidFill>
                <a:latin typeface="Aptos"/>
              </a:rPr>
              <a:t>Operator</a:t>
            </a:r>
          </a:p>
        </p:txBody>
      </p:sp>
      <p:sp>
        <p:nvSpPr>
          <p:cNvPr id="82" name="shape82"/>
          <p:cNvSpPr/>
          <p:nvPr/>
        </p:nvSpPr>
        <p:spPr>
          <a:xfrm>
            <a:off x="457200" y="3140964"/>
            <a:ext cx="11277295" cy="800100"/>
          </a:xfrm>
          <a:prstGeom prst="rect">
            <a:avLst/>
          </a:prstGeom>
          <a:solidFill>
            <a:srgbClr val="FFFFFF"/>
          </a:solidFill>
          <a:ln w="9525">
            <a:solidFill>
              <a:srgbClr val="D9D8D0"/>
            </a:solidFill>
          </a:ln>
        </p:spPr>
        <p:txBody>
          <a:bodyPr wrap="square" anchor="ctr" lIns="54864" rIns="54864" tIns="27432" bIns="27432"/>
          <a:lstStyle/>
          <a:p>
            <a:pPr algn="l"/>
            <a:endParaRPr lang="en-AU" sz="1100"/>
          </a:p>
        </p:txBody>
      </p:sp>
      <p:sp>
        <p:nvSpPr>
          <p:cNvPr id="83" name="shape83"/>
          <p:cNvSpPr/>
          <p:nvPr/>
        </p:nvSpPr>
        <p:spPr>
          <a:xfrm>
            <a:off x="493776" y="3140964"/>
            <a:ext cx="1024128" cy="800100"/>
          </a:xfrm>
          <a:prstGeom prst="rect">
            <a:avLst/>
          </a:prstGeom>
          <a:noFill/>
          <a:ln>
            <a:noFill/>
          </a:ln>
        </p:spPr>
        <p:txBody>
          <a:bodyPr wrap="square" anchor="ctr" lIns="54864" rIns="54864" tIns="27432" bIns="27432"/>
          <a:lstStyle/>
          <a:p>
            <a:pPr algn="l"/>
            <a:r>
              <a:rPr lang="en-AU" sz="850" b="1" dirty="0">
                <a:solidFill>
                  <a:srgbClr val="6B6A66"/>
                </a:solidFill>
                <a:latin typeface="Aptos"/>
              </a:rPr>
              <a:t>Assessor</a:t>
            </a:r>
          </a:p>
        </p:txBody>
      </p:sp>
      <p:sp>
        <p:nvSpPr>
          <p:cNvPr id="84" name="shape84"/>
          <p:cNvSpPr/>
          <p:nvPr/>
        </p:nvSpPr>
        <p:spPr>
          <a:xfrm>
            <a:off x="457200" y="3941064"/>
            <a:ext cx="11277295" cy="800100"/>
          </a:xfrm>
          <a:prstGeom prst="rect">
            <a:avLst/>
          </a:prstGeom>
          <a:solidFill>
            <a:srgbClr val="FBFBF9"/>
          </a:solidFill>
          <a:ln w="9525">
            <a:solidFill>
              <a:srgbClr val="D9D8D0"/>
            </a:solidFill>
          </a:ln>
        </p:spPr>
        <p:txBody>
          <a:bodyPr wrap="square" anchor="ctr" lIns="54864" rIns="54864" tIns="27432" bIns="27432"/>
          <a:lstStyle/>
          <a:p>
            <a:pPr algn="l"/>
            <a:endParaRPr lang="en-AU" sz="1100"/>
          </a:p>
        </p:txBody>
      </p:sp>
      <p:sp>
        <p:nvSpPr>
          <p:cNvPr id="85" name="shape85"/>
          <p:cNvSpPr/>
          <p:nvPr/>
        </p:nvSpPr>
        <p:spPr>
          <a:xfrm>
            <a:off x="493776" y="3941064"/>
            <a:ext cx="1024128" cy="800100"/>
          </a:xfrm>
          <a:prstGeom prst="rect">
            <a:avLst/>
          </a:prstGeom>
          <a:noFill/>
          <a:ln>
            <a:noFill/>
          </a:ln>
        </p:spPr>
        <p:txBody>
          <a:bodyPr wrap="square" anchor="ctr" lIns="54864" rIns="54864" tIns="27432" bIns="27432"/>
          <a:lstStyle/>
          <a:p>
            <a:pPr algn="l"/>
            <a:r>
              <a:rPr lang="en-AU" sz="850" b="1" dirty="0">
                <a:solidFill>
                  <a:srgbClr val="6B6A66"/>
                </a:solidFill>
                <a:latin typeface="Aptos"/>
              </a:rPr>
              <a:t>Road managers</a:t>
            </a:r>
          </a:p>
        </p:txBody>
      </p:sp>
      <p:sp>
        <p:nvSpPr>
          <p:cNvPr id="86" name="shape86"/>
          <p:cNvSpPr/>
          <p:nvPr/>
        </p:nvSpPr>
        <p:spPr>
          <a:xfrm>
            <a:off x="457200" y="4741164"/>
            <a:ext cx="11277295" cy="800100"/>
          </a:xfrm>
          <a:prstGeom prst="rect">
            <a:avLst/>
          </a:prstGeom>
          <a:solidFill>
            <a:srgbClr val="FFFFFF"/>
          </a:solidFill>
          <a:ln w="9525">
            <a:solidFill>
              <a:srgbClr val="D9D8D0"/>
            </a:solidFill>
          </a:ln>
        </p:spPr>
        <p:txBody>
          <a:bodyPr wrap="square" anchor="ctr" lIns="54864" rIns="54864" tIns="27432" bIns="27432"/>
          <a:lstStyle/>
          <a:p>
            <a:pPr algn="l"/>
            <a:endParaRPr lang="en-AU" sz="1100"/>
          </a:p>
        </p:txBody>
      </p:sp>
      <p:sp>
        <p:nvSpPr>
          <p:cNvPr id="87" name="shape87"/>
          <p:cNvSpPr/>
          <p:nvPr/>
        </p:nvSpPr>
        <p:spPr>
          <a:xfrm>
            <a:off x="493776" y="4741164"/>
            <a:ext cx="1024128" cy="800100"/>
          </a:xfrm>
          <a:prstGeom prst="rect">
            <a:avLst/>
          </a:prstGeom>
          <a:noFill/>
          <a:ln>
            <a:noFill/>
          </a:ln>
        </p:spPr>
        <p:txBody>
          <a:bodyPr wrap="square" anchor="ctr" lIns="54864" rIns="54864" tIns="27432" bIns="27432"/>
          <a:lstStyle/>
          <a:p>
            <a:pPr algn="l"/>
            <a:r>
              <a:rPr lang="en-AU" sz="850" b="1" dirty="0">
                <a:solidFill>
                  <a:srgbClr val="6B6A66"/>
                </a:solidFill>
                <a:latin typeface="Aptos"/>
              </a:rPr>
              <a:t>Registry</a:t>
            </a:r>
          </a:p>
        </p:txBody>
      </p:sp>
      <p:cxnSp>
        <p:nvCxnSpPr>
          <p:cNvPr id="88" name="conn88"/>
          <p:cNvCxnSpPr/>
          <p:nvPr/>
        </p:nvCxnSpPr>
        <p:spPr>
          <a:xfrm>
            <a:off x="3189702" y="2740914"/>
            <a:ext cx="400782" cy="1"/>
          </a:xfrm>
          <a:prstGeom prst="line">
            <a:avLst/>
          </a:prstGeom>
          <a:ln w="12700">
            <a:solidFill>
              <a:srgbClr val="C3C2B7"/>
            </a:solidFill>
          </a:ln>
        </p:spPr>
      </p:cxnSp>
      <p:cxnSp>
        <p:nvCxnSpPr>
          <p:cNvPr id="89" name="conn89"/>
          <p:cNvCxnSpPr/>
          <p:nvPr/>
        </p:nvCxnSpPr>
        <p:spPr>
          <a:xfrm>
            <a:off x="3590483" y="2740914"/>
            <a:ext cx="1" cy="800100"/>
          </a:xfrm>
          <a:prstGeom prst="line">
            <a:avLst/>
          </a:prstGeom>
          <a:ln w="12700">
            <a:solidFill>
              <a:srgbClr val="C3C2B7"/>
            </a:solidFill>
          </a:ln>
        </p:spPr>
      </p:cxnSp>
      <p:cxnSp>
        <p:nvCxnSpPr>
          <p:cNvPr id="90" name="conn90"/>
          <p:cNvCxnSpPr/>
          <p:nvPr/>
        </p:nvCxnSpPr>
        <p:spPr>
          <a:xfrm>
            <a:off x="3590483" y="3541014"/>
            <a:ext cx="400782" cy="1"/>
          </a:xfrm>
          <a:prstGeom prst="line">
            <a:avLst/>
          </a:prstGeom>
          <a:ln w="12700">
            <a:solidFill>
              <a:srgbClr val="C3C2B7"/>
            </a:solidFill>
            <a:tailEnd type="triangle" w="med" len="med"/>
          </a:ln>
        </p:spPr>
      </p:cxnSp>
      <p:cxnSp>
        <p:nvCxnSpPr>
          <p:cNvPr id="91" name="conn91"/>
          <p:cNvCxnSpPr/>
          <p:nvPr/>
        </p:nvCxnSpPr>
        <p:spPr>
          <a:xfrm>
            <a:off x="5225705" y="3541014"/>
            <a:ext cx="801563" cy="1"/>
          </a:xfrm>
          <a:prstGeom prst="line">
            <a:avLst/>
          </a:prstGeom>
          <a:ln w="12700">
            <a:solidFill>
              <a:srgbClr val="C3C2B7"/>
            </a:solidFill>
            <a:tailEnd type="triangle" w="med" len="med"/>
          </a:ln>
        </p:spPr>
      </p:cxnSp>
      <p:cxnSp>
        <p:nvCxnSpPr>
          <p:cNvPr id="92" name="conn92"/>
          <p:cNvCxnSpPr/>
          <p:nvPr/>
        </p:nvCxnSpPr>
        <p:spPr>
          <a:xfrm>
            <a:off x="7261708" y="3541014"/>
            <a:ext cx="400782" cy="1"/>
          </a:xfrm>
          <a:prstGeom prst="line">
            <a:avLst/>
          </a:prstGeom>
          <a:ln w="12700">
            <a:solidFill>
              <a:srgbClr val="C3C2B7"/>
            </a:solidFill>
          </a:ln>
        </p:spPr>
      </p:cxnSp>
      <p:cxnSp>
        <p:nvCxnSpPr>
          <p:cNvPr id="93" name="conn93"/>
          <p:cNvCxnSpPr/>
          <p:nvPr/>
        </p:nvCxnSpPr>
        <p:spPr>
          <a:xfrm>
            <a:off x="7662489" y="3541014"/>
            <a:ext cx="1" cy="800100"/>
          </a:xfrm>
          <a:prstGeom prst="line">
            <a:avLst/>
          </a:prstGeom>
          <a:ln w="12700">
            <a:solidFill>
              <a:srgbClr val="C3C2B7"/>
            </a:solidFill>
          </a:ln>
        </p:spPr>
      </p:cxnSp>
      <p:cxnSp>
        <p:nvCxnSpPr>
          <p:cNvPr id="94" name="conn94"/>
          <p:cNvCxnSpPr/>
          <p:nvPr/>
        </p:nvCxnSpPr>
        <p:spPr>
          <a:xfrm>
            <a:off x="7662489" y="4341114"/>
            <a:ext cx="400782" cy="1"/>
          </a:xfrm>
          <a:prstGeom prst="line">
            <a:avLst/>
          </a:prstGeom>
          <a:ln w="12700">
            <a:solidFill>
              <a:srgbClr val="C3C2B7"/>
            </a:solidFill>
            <a:tailEnd type="triangle" w="med" len="med"/>
          </a:ln>
        </p:spPr>
      </p:cxnSp>
      <p:cxnSp>
        <p:nvCxnSpPr>
          <p:cNvPr id="95" name="conn95"/>
          <p:cNvCxnSpPr/>
          <p:nvPr/>
        </p:nvCxnSpPr>
        <p:spPr>
          <a:xfrm>
            <a:off x="9297711" y="4341114"/>
            <a:ext cx="400782" cy="1"/>
          </a:xfrm>
          <a:prstGeom prst="line">
            <a:avLst/>
          </a:prstGeom>
          <a:ln w="12700">
            <a:solidFill>
              <a:srgbClr val="C3C2B7"/>
            </a:solidFill>
          </a:ln>
        </p:spPr>
      </p:cxnSp>
      <p:cxnSp>
        <p:nvCxnSpPr>
          <p:cNvPr id="96" name="conn96"/>
          <p:cNvCxnSpPr/>
          <p:nvPr/>
        </p:nvCxnSpPr>
        <p:spPr>
          <a:xfrm>
            <a:off x="9698492" y="4341114"/>
            <a:ext cx="1" cy="800100"/>
          </a:xfrm>
          <a:prstGeom prst="line">
            <a:avLst/>
          </a:prstGeom>
          <a:ln w="12700">
            <a:solidFill>
              <a:srgbClr val="C3C2B7"/>
            </a:solidFill>
          </a:ln>
        </p:spPr>
      </p:cxnSp>
      <p:cxnSp>
        <p:nvCxnSpPr>
          <p:cNvPr id="97" name="conn97"/>
          <p:cNvCxnSpPr/>
          <p:nvPr/>
        </p:nvCxnSpPr>
        <p:spPr>
          <a:xfrm>
            <a:off x="9698492" y="5141214"/>
            <a:ext cx="400782" cy="1"/>
          </a:xfrm>
          <a:prstGeom prst="line">
            <a:avLst/>
          </a:prstGeom>
          <a:ln w="12700">
            <a:solidFill>
              <a:srgbClr val="C3C2B7"/>
            </a:solidFill>
            <a:tailEnd type="triangle" w="med" len="med"/>
          </a:ln>
        </p:spPr>
      </p:cxnSp>
      <p:sp>
        <p:nvSpPr>
          <p:cNvPr id="98" name="shape98"/>
          <p:cNvSpPr/>
          <p:nvPr/>
        </p:nvSpPr>
        <p:spPr>
          <a:xfrm>
            <a:off x="1955262" y="2503170"/>
            <a:ext cx="1234440"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Lodge application</a:t>
            </a:r>
          </a:p>
        </p:txBody>
      </p:sp>
      <p:sp>
        <p:nvSpPr>
          <p:cNvPr id="99" name="shape99"/>
          <p:cNvSpPr/>
          <p:nvPr/>
        </p:nvSpPr>
        <p:spPr>
          <a:xfrm>
            <a:off x="3991265" y="3303270"/>
            <a:ext cx="1234440"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Lodgement check</a:t>
            </a:r>
          </a:p>
        </p:txBody>
      </p:sp>
      <p:sp>
        <p:nvSpPr>
          <p:cNvPr id="100" name="shape100"/>
          <p:cNvSpPr/>
          <p:nvPr/>
        </p:nvSpPr>
        <p:spPr>
          <a:xfrm>
            <a:off x="6027268" y="3303270"/>
            <a:ext cx="1234440"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Route assessment</a:t>
            </a:r>
          </a:p>
        </p:txBody>
      </p:sp>
      <p:sp>
        <p:nvSpPr>
          <p:cNvPr id="101" name="shape101"/>
          <p:cNvSpPr/>
          <p:nvPr/>
        </p:nvSpPr>
        <p:spPr>
          <a:xfrm>
            <a:off x="8063271" y="4103370"/>
            <a:ext cx="1234440"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Road manager consent</a:t>
            </a:r>
          </a:p>
        </p:txBody>
      </p:sp>
      <p:sp>
        <p:nvSpPr>
          <p:cNvPr id="102" name="shape102"/>
          <p:cNvSpPr/>
          <p:nvPr/>
        </p:nvSpPr>
        <p:spPr>
          <a:xfrm>
            <a:off x="10099274" y="4903470"/>
            <a:ext cx="1234440" cy="475488"/>
          </a:xfrm>
          <a:prstGeom prst="roundRect">
            <a:avLst>
              <a:gd name="adj" fmla="val 8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Permit issue</a:t>
            </a:r>
          </a:p>
        </p:txBody>
      </p:sp>
      <p:sp>
        <p:nvSpPr>
          <p:cNvPr id="103" name="shape103"/>
          <p:cNvSpPr/>
          <p:nvPr/>
        </p:nvSpPr>
        <p:spPr>
          <a:xfrm>
            <a:off x="457200" y="5596128"/>
            <a:ext cx="11277295" cy="219456"/>
          </a:xfrm>
          <a:prstGeom prst="rect">
            <a:avLst/>
          </a:prstGeom>
          <a:noFill/>
          <a:ln>
            <a:noFill/>
          </a:ln>
        </p:spPr>
        <p:txBody>
          <a:bodyPr wrap="square" anchor="ctr" lIns="0" rIns="0" tIns="27432" bIns="27432"/>
          <a:lstStyle/>
          <a:p>
            <a:pPr algn="l"/>
            <a:r>
              <a:rPr lang="en-AU" sz="850" dirty="0">
                <a:solidFill>
                  <a:srgbClr val="D03B3B"/>
                </a:solidFill>
                <a:latin typeface="Aptos"/>
              </a:rPr>
              <a:t>↳ objection — reassess, and the clock restarts</a:t>
            </a:r>
          </a:p>
        </p:txBody>
      </p:sp>
      <p:sp>
        <p:nvSpPr>
          <p:cNvPr id="104" name="shape104"/>
          <p:cNvSpPr/>
          <p:nvPr/>
        </p:nvSpPr>
        <p:spPr>
          <a:xfrm>
            <a:off x="457200" y="5833872"/>
            <a:ext cx="11277295" cy="219456"/>
          </a:xfrm>
          <a:prstGeom prst="rect">
            <a:avLst/>
          </a:prstGeom>
          <a:noFill/>
          <a:ln>
            <a:noFill/>
          </a:ln>
        </p:spPr>
        <p:txBody>
          <a:bodyPr wrap="square" anchor="ctr" lIns="0" rIns="0" tIns="27432" bIns="27432"/>
          <a:lstStyle/>
          <a:p>
            <a:pPr algn="l"/>
            <a:r>
              <a:rPr lang="en-AU" sz="850" dirty="0">
                <a:solidFill>
                  <a:srgbClr val="D03B3B"/>
                </a:solidFill>
                <a:latin typeface="Aptos"/>
              </a:rPr>
              <a:t>↳ incomplete — returned to operator</a:t>
            </a:r>
          </a:p>
        </p:txBody>
      </p:sp>
      <p:sp>
        <p:nvSpPr>
          <p:cNvPr id="105" name="shape105"/>
          <p:cNvSpPr/>
          <p:nvPr/>
        </p:nvSpPr>
        <p:spPr>
          <a:xfrm>
            <a:off x="457200" y="6071616"/>
            <a:ext cx="10515600" cy="384048"/>
          </a:xfrm>
          <a:prstGeom prst="rect">
            <a:avLst/>
          </a:prstGeom>
          <a:noFill/>
          <a:ln>
            <a:noFill/>
          </a:ln>
        </p:spPr>
        <p:txBody>
          <a:bodyPr wrap="square" anchor="t" lIns="0" rIns="0" tIns="27432" bIns="27432"/>
          <a:lstStyle/>
          <a:p>
            <a:pPr algn="l"/>
            <a:r>
              <a:rPr lang="en-AU" sz="850" dirty="0">
                <a:solidFill>
                  <a:srgbClr val="6B6A66"/>
                </a:solidFill>
                <a:latin typeface="Aptos"/>
              </a:rPr>
              <a:t>Consent sits in a lane Fairgate does not own. Every objection returns the file to assessment and restarts the elapsed clock.</a:t>
            </a:r>
          </a:p>
        </p:txBody>
      </p:sp>
      <p:sp>
        <p:nvSpPr>
          <p:cNvPr id="106" name="shape106"/>
          <p:cNvSpPr/>
          <p:nvPr/>
        </p:nvSpPr>
        <p:spPr>
          <a:xfrm>
            <a:off x="457200" y="6492240"/>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Fairgate Roads Authority — heavy vehicle access permits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shape107"/>
          <p:cNvSpPr/>
          <p:nvPr/>
        </p:nvSpPr>
        <p:spPr>
          <a:xfrm>
            <a:off x="457200" y="274320"/>
            <a:ext cx="914400" cy="40233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1000" b="1" dirty="0">
                <a:solidFill>
                  <a:srgbClr val="FFFFFF"/>
                </a:solidFill>
                <a:latin typeface="Aptos"/>
              </a:rPr>
              <a:t>STEP 5</a:t>
            </a:r>
          </a:p>
        </p:txBody>
      </p:sp>
      <p:sp>
        <p:nvSpPr>
          <p:cNvPr id="108" name="shape108"/>
          <p:cNvSpPr/>
          <p:nvPr/>
        </p:nvSpPr>
        <p:spPr>
          <a:xfrm>
            <a:off x="1499616" y="256032"/>
            <a:ext cx="8686800" cy="438912"/>
          </a:xfrm>
          <a:prstGeom prst="rect">
            <a:avLst/>
          </a:prstGeom>
          <a:noFill/>
          <a:ln>
            <a:noFill/>
          </a:ln>
        </p:spPr>
        <p:txBody>
          <a:bodyPr wrap="square" anchor="ctr" lIns="0" rIns="0" tIns="27432" bIns="27432"/>
          <a:lstStyle/>
          <a:p>
            <a:pPr algn="l"/>
            <a:r>
              <a:rPr lang="en-AU" sz="2000" b="1" dirty="0">
                <a:solidFill>
                  <a:srgbClr val="0B0B0B"/>
                </a:solidFill>
                <a:latin typeface="Aptos"/>
              </a:rPr>
              <a:t>10.34 Process Analysis</a:t>
            </a:r>
          </a:p>
        </p:txBody>
      </p:sp>
      <p:sp>
        <p:nvSpPr>
          <p:cNvPr id="109" name="shape109"/>
          <p:cNvSpPr/>
          <p:nvPr/>
        </p:nvSpPr>
        <p:spPr>
          <a:xfrm>
            <a:off x="9357055" y="310896"/>
            <a:ext cx="2377440" cy="329184"/>
          </a:xfrm>
          <a:prstGeom prst="rect">
            <a:avLst/>
          </a:prstGeom>
          <a:noFill/>
          <a:ln>
            <a:noFill/>
          </a:ln>
        </p:spPr>
        <p:txBody>
          <a:bodyPr wrap="square" anchor="ctr" lIns="0" rIns="0" tIns="27432" bIns="27432"/>
          <a:lstStyle/>
          <a:p>
            <a:pPr algn="r"/>
            <a:r>
              <a:rPr lang="en-AU" sz="1000" dirty="0">
                <a:solidFill>
                  <a:srgbClr val="6B6A66"/>
                </a:solidFill>
                <a:latin typeface="Aptos"/>
              </a:rPr>
              <a:t>Strategy and discovery</a:t>
            </a:r>
          </a:p>
        </p:txBody>
      </p:sp>
      <p:sp>
        <p:nvSpPr>
          <p:cNvPr id="110" name="shape110"/>
          <p:cNvSpPr/>
          <p:nvPr/>
        </p:nvSpPr>
        <p:spPr>
          <a:xfrm>
            <a:off x="457200" y="731520"/>
            <a:ext cx="10515600" cy="310896"/>
          </a:xfrm>
          <a:prstGeom prst="rect">
            <a:avLst/>
          </a:prstGeom>
          <a:noFill/>
          <a:ln>
            <a:noFill/>
          </a:ln>
        </p:spPr>
        <p:txBody>
          <a:bodyPr wrap="square" anchor="ctr" lIns="0" rIns="0" tIns="27432" bIns="27432"/>
          <a:lstStyle/>
          <a:p>
            <a:pPr algn="l"/>
            <a:r>
              <a:rPr lang="en-AU" sz="1350" i="1" dirty="0">
                <a:solidFill>
                  <a:srgbClr val="184F95"/>
                </a:solidFill>
                <a:latin typeface="Aptos"/>
              </a:rPr>
              <a:t>Where do the 40 days actually go?</a:t>
            </a:r>
          </a:p>
        </p:txBody>
      </p:sp>
      <p:cxnSp>
        <p:nvCxnSpPr>
          <p:cNvPr id="111" name="conn111"/>
          <p:cNvCxnSpPr/>
          <p:nvPr/>
        </p:nvCxnSpPr>
        <p:spPr>
          <a:xfrm>
            <a:off x="457200" y="1115568"/>
            <a:ext cx="11277295" cy="1"/>
          </a:xfrm>
          <a:prstGeom prst="line">
            <a:avLst/>
          </a:prstGeom>
          <a:ln w="12700">
            <a:solidFill>
              <a:srgbClr val="D9D8D0"/>
            </a:solidFill>
          </a:ln>
        </p:spPr>
      </p:cxnSp>
      <p:sp>
        <p:nvSpPr>
          <p:cNvPr id="112" name="shape112"/>
          <p:cNvSpPr/>
          <p:nvPr/>
        </p:nvSpPr>
        <p:spPr>
          <a:xfrm>
            <a:off x="457200"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TAKES</a:t>
            </a:r>
          </a:p>
          <a:p>
            <a:pPr algn="l"/>
            <a:r>
              <a:rPr lang="en-AU" sz="950" dirty="0">
                <a:solidFill>
                  <a:srgbClr val="0B0B0B"/>
                </a:solidFill>
                <a:latin typeface="Aptos"/>
              </a:rPr>
              <a:t>The four stages from the process model, by the same names.</a:t>
            </a:r>
          </a:p>
        </p:txBody>
      </p:sp>
      <p:sp>
        <p:nvSpPr>
          <p:cNvPr id="113" name="shape113"/>
          <p:cNvSpPr/>
          <p:nvPr/>
        </p:nvSpPr>
        <p:spPr>
          <a:xfrm>
            <a:off x="6187288"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GIVES</a:t>
            </a:r>
          </a:p>
          <a:p>
            <a:pPr algn="l"/>
            <a:r>
              <a:rPr lang="en-AU" sz="950" dirty="0">
                <a:solidFill>
                  <a:srgbClr val="0B0B0B"/>
                </a:solidFill>
                <a:latin typeface="Aptos"/>
              </a:rPr>
              <a:t>Elapsed against touch time, and a cost to serve of $41 a permit. Both are consumed by the business case.</a:t>
            </a:r>
          </a:p>
        </p:txBody>
      </p:sp>
      <p:sp>
        <p:nvSpPr>
          <p:cNvPr id="114" name="shape114"/>
          <p:cNvSpPr/>
          <p:nvPr/>
        </p:nvSpPr>
        <p:spPr>
          <a:xfrm>
            <a:off x="6187288" y="1225296"/>
            <a:ext cx="32004" cy="713232"/>
          </a:xfrm>
          <a:prstGeom prst="rect">
            <a:avLst/>
          </a:prstGeom>
          <a:solidFill>
            <a:srgbClr val="2A78D6"/>
          </a:solidFill>
          <a:ln>
            <a:noFill/>
          </a:ln>
        </p:spPr>
        <p:txBody>
          <a:bodyPr wrap="square" anchor="ctr" lIns="54864" rIns="54864" tIns="27432" bIns="27432"/>
          <a:lstStyle/>
          <a:p>
            <a:pPr algn="l"/>
            <a:endParaRPr lang="en-AU" sz="1100"/>
          </a:p>
        </p:txBody>
      </p:sp>
      <p:sp>
        <p:nvSpPr>
          <p:cNvPr id="115" name="shape115"/>
          <p:cNvSpPr/>
          <p:nvPr/>
        </p:nvSpPr>
        <p:spPr>
          <a:xfrm>
            <a:off x="457200" y="2048256"/>
            <a:ext cx="10515600" cy="237744"/>
          </a:xfrm>
          <a:prstGeom prst="rect">
            <a:avLst/>
          </a:prstGeom>
          <a:noFill/>
          <a:ln>
            <a:noFill/>
          </a:ln>
        </p:spPr>
        <p:txBody>
          <a:bodyPr wrap="square" anchor="b" lIns="0" rIns="0" tIns="27432" bIns="27432"/>
          <a:lstStyle/>
          <a:p>
            <a:pPr algn="l"/>
            <a:r>
              <a:rPr lang="en-AU" sz="1100" b="1" dirty="0">
                <a:solidFill>
                  <a:srgbClr val="184F95"/>
                </a:solidFill>
                <a:latin typeface="Aptos"/>
              </a:rPr>
              <a:t>40 days elapsed, 3.2 hours of work</a:t>
            </a:r>
          </a:p>
        </p:txBody>
      </p:sp>
      <p:graphicFrame>
        <p:nvGraphicFramePr>
          <p:cNvPr id="116" name="table116"/>
          <p:cNvGraphicFramePr>
            <a:graphicFrameLocks noGrp="1"/>
          </p:cNvGraphicFramePr>
          <p:nvPr/>
        </p:nvGraphicFramePr>
        <p:xfrm>
          <a:off x="457200" y="2340864"/>
          <a:ext cx="11277295" cy="2304288"/>
        </p:xfrm>
        <a:graphic>
          <a:graphicData uri="http://schemas.openxmlformats.org/drawingml/2006/table">
            <a:tbl>
              <a:tblPr firstRow="1" bandRow="1"/>
              <a:tblGrid>
                <a:gridCol w="2377440"/>
                <a:gridCol w="2966618"/>
                <a:gridCol w="2966618"/>
                <a:gridCol w="2966618"/>
              </a:tblGrid>
              <a:tr h="384048">
                <a:tc>
                  <a:txBody>
                    <a:bodyPr wrap="square" anchor="ctr" lIns="64008" rIns="64008" tIns="27432" bIns="27432"/>
                    <a:lstStyle/>
                    <a:p>
                      <a:pPr algn="l"/>
                      <a:r>
                        <a:rPr lang="en-AU" sz="900" b="1" dirty="0">
                          <a:solidFill>
                            <a:srgbClr val="FFFFFF"/>
                          </a:solidFill>
                          <a:latin typeface="Aptos"/>
                        </a:rPr>
                        <a:t>Stage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Elapsed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Touch time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Verdict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Lodgement check</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4 days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0.3 h</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Queue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Route assessment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19 days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2.1 h</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Queue, plus rework from objections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Road manager consent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14 days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0.4 h</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Outside Fairgate, 11 councils in series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Permit issue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3 days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0.4 h</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Queue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Total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40 days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3.2 h</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Touch time is 1.1% of elapsed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
        <p:nvSpPr>
          <p:cNvPr id="117" name="shape117"/>
          <p:cNvSpPr/>
          <p:nvPr/>
        </p:nvSpPr>
        <p:spPr>
          <a:xfrm>
            <a:off x="457200" y="6071616"/>
            <a:ext cx="10515600" cy="384048"/>
          </a:xfrm>
          <a:prstGeom prst="rect">
            <a:avLst/>
          </a:prstGeom>
          <a:noFill/>
          <a:ln>
            <a:noFill/>
          </a:ln>
        </p:spPr>
        <p:txBody>
          <a:bodyPr wrap="square" anchor="t" lIns="0" rIns="0" tIns="27432" bIns="27432"/>
          <a:lstStyle/>
          <a:p>
            <a:pPr algn="l"/>
            <a:r>
              <a:rPr lang="en-AU" sz="850" dirty="0">
                <a:solidFill>
                  <a:srgbClr val="6B6A66"/>
                </a:solidFill>
                <a:latin typeface="Aptos"/>
              </a:rPr>
              <a:t>Cost to serve is $41 a permit across 12,000 permits, so $492,000 a year. Adding assessors buys touch time, which is 1.1% of the problem.</a:t>
            </a:r>
          </a:p>
        </p:txBody>
      </p:sp>
      <p:sp>
        <p:nvSpPr>
          <p:cNvPr id="118" name="shape118"/>
          <p:cNvSpPr/>
          <p:nvPr/>
        </p:nvSpPr>
        <p:spPr>
          <a:xfrm>
            <a:off x="457200" y="6492240"/>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Fairgate Roads Authority — heavy vehicle access permits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shape119"/>
          <p:cNvSpPr/>
          <p:nvPr/>
        </p:nvSpPr>
        <p:spPr>
          <a:xfrm>
            <a:off x="457200" y="274320"/>
            <a:ext cx="914400" cy="40233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1000" b="1" dirty="0">
                <a:solidFill>
                  <a:srgbClr val="FFFFFF"/>
                </a:solidFill>
                <a:latin typeface="Aptos"/>
              </a:rPr>
              <a:t>STEP 6</a:t>
            </a:r>
          </a:p>
        </p:txBody>
      </p:sp>
      <p:sp>
        <p:nvSpPr>
          <p:cNvPr id="120" name="shape120"/>
          <p:cNvSpPr/>
          <p:nvPr/>
        </p:nvSpPr>
        <p:spPr>
          <a:xfrm>
            <a:off x="1499616" y="256032"/>
            <a:ext cx="8686800" cy="438912"/>
          </a:xfrm>
          <a:prstGeom prst="rect">
            <a:avLst/>
          </a:prstGeom>
          <a:noFill/>
          <a:ln>
            <a:noFill/>
          </a:ln>
        </p:spPr>
        <p:txBody>
          <a:bodyPr wrap="square" anchor="ctr" lIns="0" rIns="0" tIns="27432" bIns="27432"/>
          <a:lstStyle/>
          <a:p>
            <a:pPr algn="l"/>
            <a:r>
              <a:rPr lang="en-AU" sz="2000" b="1" dirty="0">
                <a:solidFill>
                  <a:srgbClr val="0B0B0B"/>
                </a:solidFill>
                <a:latin typeface="Aptos"/>
              </a:rPr>
              <a:t>10.40 Root Cause Analysis</a:t>
            </a:r>
          </a:p>
        </p:txBody>
      </p:sp>
      <p:sp>
        <p:nvSpPr>
          <p:cNvPr id="121" name="shape121"/>
          <p:cNvSpPr/>
          <p:nvPr/>
        </p:nvSpPr>
        <p:spPr>
          <a:xfrm>
            <a:off x="9357055" y="310896"/>
            <a:ext cx="2377440" cy="329184"/>
          </a:xfrm>
          <a:prstGeom prst="rect">
            <a:avLst/>
          </a:prstGeom>
          <a:noFill/>
          <a:ln>
            <a:noFill/>
          </a:ln>
        </p:spPr>
        <p:txBody>
          <a:bodyPr wrap="square" anchor="ctr" lIns="0" rIns="0" tIns="27432" bIns="27432"/>
          <a:lstStyle/>
          <a:p>
            <a:pPr algn="r"/>
            <a:r>
              <a:rPr lang="en-AU" sz="1000" dirty="0">
                <a:solidFill>
                  <a:srgbClr val="6B6A66"/>
                </a:solidFill>
                <a:latin typeface="Aptos"/>
              </a:rPr>
              <a:t>Strategy and discovery</a:t>
            </a:r>
          </a:p>
        </p:txBody>
      </p:sp>
      <p:sp>
        <p:nvSpPr>
          <p:cNvPr id="122" name="shape122"/>
          <p:cNvSpPr/>
          <p:nvPr/>
        </p:nvSpPr>
        <p:spPr>
          <a:xfrm>
            <a:off x="457200" y="731520"/>
            <a:ext cx="10515600" cy="310896"/>
          </a:xfrm>
          <a:prstGeom prst="rect">
            <a:avLst/>
          </a:prstGeom>
          <a:noFill/>
          <a:ln>
            <a:noFill/>
          </a:ln>
        </p:spPr>
        <p:txBody>
          <a:bodyPr wrap="square" anchor="ctr" lIns="0" rIns="0" tIns="27432" bIns="27432"/>
          <a:lstStyle/>
          <a:p>
            <a:pPr algn="l"/>
            <a:r>
              <a:rPr lang="en-AU" sz="1350" i="1" dirty="0">
                <a:solidFill>
                  <a:srgbClr val="184F95"/>
                </a:solidFill>
                <a:latin typeface="Aptos"/>
              </a:rPr>
              <a:t>Why does route assessment take 19 days to do 2.1 hours of work?</a:t>
            </a:r>
          </a:p>
        </p:txBody>
      </p:sp>
      <p:cxnSp>
        <p:nvCxnSpPr>
          <p:cNvPr id="123" name="conn123"/>
          <p:cNvCxnSpPr/>
          <p:nvPr/>
        </p:nvCxnSpPr>
        <p:spPr>
          <a:xfrm>
            <a:off x="457200" y="1115568"/>
            <a:ext cx="11277295" cy="1"/>
          </a:xfrm>
          <a:prstGeom prst="line">
            <a:avLst/>
          </a:prstGeom>
          <a:ln w="12700">
            <a:solidFill>
              <a:srgbClr val="D9D8D0"/>
            </a:solidFill>
          </a:ln>
        </p:spPr>
      </p:cxnSp>
      <p:sp>
        <p:nvSpPr>
          <p:cNvPr id="124" name="shape124"/>
          <p:cNvSpPr/>
          <p:nvPr/>
        </p:nvSpPr>
        <p:spPr>
          <a:xfrm>
            <a:off x="457200"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TAKES</a:t>
            </a:r>
          </a:p>
          <a:p>
            <a:pPr algn="l"/>
            <a:r>
              <a:rPr lang="en-AU" sz="950" dirty="0">
                <a:solidFill>
                  <a:srgbClr val="0B0B0B"/>
                </a:solidFill>
                <a:latin typeface="Aptos"/>
              </a:rPr>
              <a:t>The worst row of the process analysis.</a:t>
            </a:r>
          </a:p>
        </p:txBody>
      </p:sp>
      <p:sp>
        <p:nvSpPr>
          <p:cNvPr id="125" name="shape125"/>
          <p:cNvSpPr/>
          <p:nvPr/>
        </p:nvSpPr>
        <p:spPr>
          <a:xfrm>
            <a:off x="6187288"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GIVES</a:t>
            </a:r>
          </a:p>
          <a:p>
            <a:pPr algn="l"/>
            <a:r>
              <a:rPr lang="en-AU" sz="950" dirty="0">
                <a:solidFill>
                  <a:srgbClr val="0B0B0B"/>
                </a:solidFill>
                <a:latin typeface="Aptos"/>
              </a:rPr>
              <a:t>A cause that is about data, not effort. That rules out the obvious option before it is costed.</a:t>
            </a:r>
          </a:p>
        </p:txBody>
      </p:sp>
      <p:sp>
        <p:nvSpPr>
          <p:cNvPr id="126" name="shape126"/>
          <p:cNvSpPr/>
          <p:nvPr/>
        </p:nvSpPr>
        <p:spPr>
          <a:xfrm>
            <a:off x="6187288" y="1225296"/>
            <a:ext cx="32004" cy="713232"/>
          </a:xfrm>
          <a:prstGeom prst="rect">
            <a:avLst/>
          </a:prstGeom>
          <a:solidFill>
            <a:srgbClr val="2A78D6"/>
          </a:solidFill>
          <a:ln>
            <a:noFill/>
          </a:ln>
        </p:spPr>
        <p:txBody>
          <a:bodyPr wrap="square" anchor="ctr" lIns="54864" rIns="54864" tIns="27432" bIns="27432"/>
          <a:lstStyle/>
          <a:p>
            <a:pPr algn="l"/>
            <a:endParaRPr lang="en-AU" sz="1100"/>
          </a:p>
        </p:txBody>
      </p:sp>
      <p:sp>
        <p:nvSpPr>
          <p:cNvPr id="127" name="shape127"/>
          <p:cNvSpPr/>
          <p:nvPr/>
        </p:nvSpPr>
        <p:spPr>
          <a:xfrm>
            <a:off x="457200" y="2048256"/>
            <a:ext cx="10515600" cy="237744"/>
          </a:xfrm>
          <a:prstGeom prst="rect">
            <a:avLst/>
          </a:prstGeom>
          <a:noFill/>
          <a:ln>
            <a:noFill/>
          </a:ln>
        </p:spPr>
        <p:txBody>
          <a:bodyPr wrap="square" anchor="b" lIns="0" rIns="0" tIns="27432" bIns="27432"/>
          <a:lstStyle/>
          <a:p>
            <a:pPr algn="l"/>
            <a:r>
              <a:rPr lang="en-AU" sz="1100" b="1" dirty="0">
                <a:solidFill>
                  <a:srgbClr val="184F95"/>
                </a:solidFill>
                <a:latin typeface="Aptos"/>
              </a:rPr>
              <a:t>Why route assessment runs to 19 days</a:t>
            </a:r>
          </a:p>
        </p:txBody>
      </p:sp>
      <p:sp>
        <p:nvSpPr>
          <p:cNvPr id="128" name="shape128"/>
          <p:cNvSpPr/>
          <p:nvPr/>
        </p:nvSpPr>
        <p:spPr>
          <a:xfrm>
            <a:off x="457200" y="2121408"/>
            <a:ext cx="1127729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Symptom    2. Why    3. Why again    4. Root cause</a:t>
            </a:r>
          </a:p>
        </p:txBody>
      </p:sp>
      <p:sp>
        <p:nvSpPr>
          <p:cNvPr id="129" name="shape129"/>
          <p:cNvSpPr/>
          <p:nvPr/>
        </p:nvSpPr>
        <p:spPr>
          <a:xfrm>
            <a:off x="457200" y="2340864"/>
            <a:ext cx="11277295" cy="338328"/>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Route assessment takes 19 days for 2.1 hours of work</a:t>
            </a:r>
          </a:p>
        </p:txBody>
      </p:sp>
      <p:sp>
        <p:nvSpPr>
          <p:cNvPr id="130" name="shape130"/>
          <p:cNvSpPr/>
          <p:nvPr/>
        </p:nvSpPr>
        <p:spPr>
          <a:xfrm>
            <a:off x="841248" y="2724912"/>
            <a:ext cx="1089324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Why? Files wait to be reworked after objections</a:t>
            </a:r>
          </a:p>
        </p:txBody>
      </p:sp>
      <p:cxnSp>
        <p:nvCxnSpPr>
          <p:cNvPr id="131" name="conn131"/>
          <p:cNvCxnSpPr/>
          <p:nvPr/>
        </p:nvCxnSpPr>
        <p:spPr>
          <a:xfrm>
            <a:off x="713232" y="2894076"/>
            <a:ext cx="128016" cy="1"/>
          </a:xfrm>
          <a:prstGeom prst="line">
            <a:avLst/>
          </a:prstGeom>
          <a:ln w="6350">
            <a:solidFill>
              <a:srgbClr val="C3C2B7"/>
            </a:solidFill>
          </a:ln>
        </p:spPr>
      </p:cxnSp>
      <p:sp>
        <p:nvSpPr>
          <p:cNvPr id="132" name="shape132"/>
          <p:cNvSpPr/>
          <p:nvPr/>
        </p:nvSpPr>
        <p:spPr>
          <a:xfrm>
            <a:off x="1225296" y="3108960"/>
            <a:ext cx="1050919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Why? Road managers object to routes already assessed</a:t>
            </a:r>
          </a:p>
        </p:txBody>
      </p:sp>
      <p:cxnSp>
        <p:nvCxnSpPr>
          <p:cNvPr id="133" name="conn133"/>
          <p:cNvCxnSpPr/>
          <p:nvPr/>
        </p:nvCxnSpPr>
        <p:spPr>
          <a:xfrm>
            <a:off x="1097280" y="3278124"/>
            <a:ext cx="128016" cy="1"/>
          </a:xfrm>
          <a:prstGeom prst="line">
            <a:avLst/>
          </a:prstGeom>
          <a:ln w="6350">
            <a:solidFill>
              <a:srgbClr val="C3C2B7"/>
            </a:solidFill>
          </a:ln>
        </p:spPr>
      </p:cxnSp>
      <p:sp>
        <p:nvSpPr>
          <p:cNvPr id="134" name="shape134"/>
          <p:cNvSpPr/>
          <p:nvPr/>
        </p:nvSpPr>
        <p:spPr>
          <a:xfrm>
            <a:off x="1609344" y="3493008"/>
            <a:ext cx="10125151"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Bridge and seasonal restriction data is not on the assessor's screen</a:t>
            </a:r>
          </a:p>
        </p:txBody>
      </p:sp>
      <p:cxnSp>
        <p:nvCxnSpPr>
          <p:cNvPr id="135" name="conn135"/>
          <p:cNvCxnSpPr/>
          <p:nvPr/>
        </p:nvCxnSpPr>
        <p:spPr>
          <a:xfrm>
            <a:off x="1481328" y="3662172"/>
            <a:ext cx="128016" cy="1"/>
          </a:xfrm>
          <a:prstGeom prst="line">
            <a:avLst/>
          </a:prstGeom>
          <a:ln w="6350">
            <a:solidFill>
              <a:srgbClr val="C3C2B7"/>
            </a:solidFill>
          </a:ln>
        </p:spPr>
      </p:cxnSp>
      <p:sp>
        <p:nvSpPr>
          <p:cNvPr id="136" name="shape136"/>
          <p:cNvSpPr/>
          <p:nvPr/>
        </p:nvSpPr>
        <p:spPr>
          <a:xfrm>
            <a:off x="841248" y="3877056"/>
            <a:ext cx="10893247"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Why? Assessors batch work to avoid switching systems</a:t>
            </a:r>
          </a:p>
        </p:txBody>
      </p:sp>
      <p:cxnSp>
        <p:nvCxnSpPr>
          <p:cNvPr id="137" name="conn137"/>
          <p:cNvCxnSpPr/>
          <p:nvPr/>
        </p:nvCxnSpPr>
        <p:spPr>
          <a:xfrm>
            <a:off x="713232" y="4046220"/>
            <a:ext cx="128016" cy="1"/>
          </a:xfrm>
          <a:prstGeom prst="line">
            <a:avLst/>
          </a:prstGeom>
          <a:ln w="6350">
            <a:solidFill>
              <a:srgbClr val="C3C2B7"/>
            </a:solidFill>
          </a:ln>
        </p:spPr>
      </p:cxnSp>
      <p:sp>
        <p:nvSpPr>
          <p:cNvPr id="138" name="shape138"/>
          <p:cNvSpPr/>
          <p:nvPr/>
        </p:nvSpPr>
        <p:spPr>
          <a:xfrm>
            <a:off x="1225296" y="4261104"/>
            <a:ext cx="10509199"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Why? Restriction data lives in a second system</a:t>
            </a:r>
          </a:p>
        </p:txBody>
      </p:sp>
      <p:cxnSp>
        <p:nvCxnSpPr>
          <p:cNvPr id="139" name="conn139"/>
          <p:cNvCxnSpPr/>
          <p:nvPr/>
        </p:nvCxnSpPr>
        <p:spPr>
          <a:xfrm>
            <a:off x="1097280" y="4430268"/>
            <a:ext cx="128016" cy="1"/>
          </a:xfrm>
          <a:prstGeom prst="line">
            <a:avLst/>
          </a:prstGeom>
          <a:ln w="6350">
            <a:solidFill>
              <a:srgbClr val="C3C2B7"/>
            </a:solidFill>
          </a:ln>
        </p:spPr>
      </p:cxnSp>
      <p:sp>
        <p:nvSpPr>
          <p:cNvPr id="140" name="shape140"/>
          <p:cNvSpPr/>
          <p:nvPr/>
        </p:nvSpPr>
        <p:spPr>
          <a:xfrm>
            <a:off x="1609344" y="4645152"/>
            <a:ext cx="10125151" cy="338328"/>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The same root: the data an assessment needs is not where the assessment happens</a:t>
            </a:r>
          </a:p>
        </p:txBody>
      </p:sp>
      <p:cxnSp>
        <p:nvCxnSpPr>
          <p:cNvPr id="141" name="conn141"/>
          <p:cNvCxnSpPr/>
          <p:nvPr/>
        </p:nvCxnSpPr>
        <p:spPr>
          <a:xfrm>
            <a:off x="1481328" y="4814316"/>
            <a:ext cx="128016" cy="1"/>
          </a:xfrm>
          <a:prstGeom prst="line">
            <a:avLst/>
          </a:prstGeom>
          <a:ln w="6350">
            <a:solidFill>
              <a:srgbClr val="C3C2B7"/>
            </a:solidFill>
          </a:ln>
        </p:spPr>
      </p:cxnSp>
      <p:sp>
        <p:nvSpPr>
          <p:cNvPr id="142" name="shape142"/>
          <p:cNvSpPr/>
          <p:nvPr/>
        </p:nvSpPr>
        <p:spPr>
          <a:xfrm>
            <a:off x="457200" y="6071616"/>
            <a:ext cx="10515600" cy="384048"/>
          </a:xfrm>
          <a:prstGeom prst="rect">
            <a:avLst/>
          </a:prstGeom>
          <a:noFill/>
          <a:ln>
            <a:noFill/>
          </a:ln>
        </p:spPr>
        <p:txBody>
          <a:bodyPr wrap="square" anchor="t" lIns="0" rIns="0" tIns="27432" bIns="27432"/>
          <a:lstStyle/>
          <a:p>
            <a:pPr algn="l"/>
            <a:r>
              <a:rPr lang="en-AU" sz="850" dirty="0">
                <a:solidFill>
                  <a:srgbClr val="6B6A66"/>
                </a:solidFill>
                <a:latin typeface="Aptos"/>
              </a:rPr>
              <a:t>Both branches end in the same place, which is what makes it a root cause rather than two problems.</a:t>
            </a:r>
          </a:p>
        </p:txBody>
      </p:sp>
      <p:sp>
        <p:nvSpPr>
          <p:cNvPr id="143" name="shape143"/>
          <p:cNvSpPr/>
          <p:nvPr/>
        </p:nvSpPr>
        <p:spPr>
          <a:xfrm>
            <a:off x="457200" y="6492240"/>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Fairgate Roads Authority — heavy vehicle access permits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shape144"/>
          <p:cNvSpPr/>
          <p:nvPr/>
        </p:nvSpPr>
        <p:spPr>
          <a:xfrm>
            <a:off x="457200" y="274320"/>
            <a:ext cx="914400" cy="40233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1000" b="1" dirty="0">
                <a:solidFill>
                  <a:srgbClr val="FFFFFF"/>
                </a:solidFill>
                <a:latin typeface="Aptos"/>
              </a:rPr>
              <a:t>STEP 7</a:t>
            </a:r>
          </a:p>
        </p:txBody>
      </p:sp>
      <p:sp>
        <p:nvSpPr>
          <p:cNvPr id="145" name="shape145"/>
          <p:cNvSpPr/>
          <p:nvPr/>
        </p:nvSpPr>
        <p:spPr>
          <a:xfrm>
            <a:off x="1499616" y="256032"/>
            <a:ext cx="8686800" cy="438912"/>
          </a:xfrm>
          <a:prstGeom prst="rect">
            <a:avLst/>
          </a:prstGeom>
          <a:noFill/>
          <a:ln>
            <a:noFill/>
          </a:ln>
        </p:spPr>
        <p:txBody>
          <a:bodyPr wrap="square" anchor="ctr" lIns="0" rIns="0" tIns="27432" bIns="27432"/>
          <a:lstStyle/>
          <a:p>
            <a:pPr algn="l"/>
            <a:r>
              <a:rPr lang="en-AU" sz="2000" b="1" dirty="0">
                <a:solidFill>
                  <a:srgbClr val="0B0B0B"/>
                </a:solidFill>
                <a:latin typeface="Aptos"/>
              </a:rPr>
              <a:t>10.20 Financial Analysis</a:t>
            </a:r>
          </a:p>
        </p:txBody>
      </p:sp>
      <p:sp>
        <p:nvSpPr>
          <p:cNvPr id="146" name="shape146"/>
          <p:cNvSpPr/>
          <p:nvPr/>
        </p:nvSpPr>
        <p:spPr>
          <a:xfrm>
            <a:off x="9357055" y="310896"/>
            <a:ext cx="2377440" cy="329184"/>
          </a:xfrm>
          <a:prstGeom prst="rect">
            <a:avLst/>
          </a:prstGeom>
          <a:noFill/>
          <a:ln>
            <a:noFill/>
          </a:ln>
        </p:spPr>
        <p:txBody>
          <a:bodyPr wrap="square" anchor="ctr" lIns="0" rIns="0" tIns="27432" bIns="27432"/>
          <a:lstStyle/>
          <a:p>
            <a:pPr algn="r"/>
            <a:r>
              <a:rPr lang="en-AU" sz="1000" dirty="0">
                <a:solidFill>
                  <a:srgbClr val="6B6A66"/>
                </a:solidFill>
                <a:latin typeface="Aptos"/>
              </a:rPr>
              <a:t>Valuation and decision</a:t>
            </a:r>
          </a:p>
        </p:txBody>
      </p:sp>
      <p:sp>
        <p:nvSpPr>
          <p:cNvPr id="147" name="shape147"/>
          <p:cNvSpPr/>
          <p:nvPr/>
        </p:nvSpPr>
        <p:spPr>
          <a:xfrm>
            <a:off x="457200" y="731520"/>
            <a:ext cx="10515600" cy="310896"/>
          </a:xfrm>
          <a:prstGeom prst="rect">
            <a:avLst/>
          </a:prstGeom>
          <a:noFill/>
          <a:ln>
            <a:noFill/>
          </a:ln>
        </p:spPr>
        <p:txBody>
          <a:bodyPr wrap="square" anchor="ctr" lIns="0" rIns="0" tIns="27432" bIns="27432"/>
          <a:lstStyle/>
          <a:p>
            <a:pPr algn="l"/>
            <a:r>
              <a:rPr lang="en-AU" sz="1350" i="1" dirty="0">
                <a:solidFill>
                  <a:srgbClr val="184F95"/>
                </a:solidFill>
                <a:latin typeface="Aptos"/>
              </a:rPr>
              <a:t>What is each option worth?</a:t>
            </a:r>
          </a:p>
        </p:txBody>
      </p:sp>
      <p:cxnSp>
        <p:nvCxnSpPr>
          <p:cNvPr id="148" name="conn148"/>
          <p:cNvCxnSpPr/>
          <p:nvPr/>
        </p:nvCxnSpPr>
        <p:spPr>
          <a:xfrm>
            <a:off x="457200" y="1115568"/>
            <a:ext cx="11277295" cy="1"/>
          </a:xfrm>
          <a:prstGeom prst="line">
            <a:avLst/>
          </a:prstGeom>
          <a:ln w="12700">
            <a:solidFill>
              <a:srgbClr val="D9D8D0"/>
            </a:solidFill>
          </a:ln>
        </p:spPr>
      </p:cxnSp>
      <p:sp>
        <p:nvSpPr>
          <p:cNvPr id="149" name="shape149"/>
          <p:cNvSpPr/>
          <p:nvPr/>
        </p:nvSpPr>
        <p:spPr>
          <a:xfrm>
            <a:off x="457200"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TAKES</a:t>
            </a:r>
          </a:p>
          <a:p>
            <a:pPr algn="l"/>
            <a:r>
              <a:rPr lang="en-AU" sz="950" dirty="0">
                <a:solidFill>
                  <a:srgbClr val="0B0B0B"/>
                </a:solidFill>
                <a:latin typeface="Aptos"/>
              </a:rPr>
              <a:t>The $41 cost to serve, and the root cause that says more assessors will not help.</a:t>
            </a:r>
          </a:p>
        </p:txBody>
      </p:sp>
      <p:sp>
        <p:nvSpPr>
          <p:cNvPr id="150" name="shape150"/>
          <p:cNvSpPr/>
          <p:nvPr/>
        </p:nvSpPr>
        <p:spPr>
          <a:xfrm>
            <a:off x="6187288"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GIVES</a:t>
            </a:r>
          </a:p>
          <a:p>
            <a:pPr algn="l"/>
            <a:r>
              <a:rPr lang="en-AU" sz="950" dirty="0">
                <a:solidFill>
                  <a:srgbClr val="0B0B0B"/>
                </a:solidFill>
                <a:latin typeface="Aptos"/>
              </a:rPr>
              <a:t>Three options valued over five years at 7%. B has the best NPV, C the fastest payback.</a:t>
            </a:r>
          </a:p>
        </p:txBody>
      </p:sp>
      <p:sp>
        <p:nvSpPr>
          <p:cNvPr id="151" name="shape151"/>
          <p:cNvSpPr/>
          <p:nvPr/>
        </p:nvSpPr>
        <p:spPr>
          <a:xfrm>
            <a:off x="6187288" y="1225296"/>
            <a:ext cx="32004" cy="713232"/>
          </a:xfrm>
          <a:prstGeom prst="rect">
            <a:avLst/>
          </a:prstGeom>
          <a:solidFill>
            <a:srgbClr val="2A78D6"/>
          </a:solidFill>
          <a:ln>
            <a:noFill/>
          </a:ln>
        </p:spPr>
        <p:txBody>
          <a:bodyPr wrap="square" anchor="ctr" lIns="54864" rIns="54864" tIns="27432" bIns="27432"/>
          <a:lstStyle/>
          <a:p>
            <a:pPr algn="l"/>
            <a:endParaRPr lang="en-AU" sz="1100"/>
          </a:p>
        </p:txBody>
      </p:sp>
      <p:sp>
        <p:nvSpPr>
          <p:cNvPr id="152" name="shape152"/>
          <p:cNvSpPr/>
          <p:nvPr/>
        </p:nvSpPr>
        <p:spPr>
          <a:xfrm>
            <a:off x="457200" y="2048256"/>
            <a:ext cx="10515600" cy="237744"/>
          </a:xfrm>
          <a:prstGeom prst="rect">
            <a:avLst/>
          </a:prstGeom>
          <a:noFill/>
          <a:ln>
            <a:noFill/>
          </a:ln>
        </p:spPr>
        <p:txBody>
          <a:bodyPr wrap="square" anchor="b" lIns="0" rIns="0" tIns="27432" bIns="27432"/>
          <a:lstStyle/>
          <a:p>
            <a:pPr algn="l"/>
            <a:r>
              <a:rPr lang="en-AU" sz="1100" b="1" dirty="0">
                <a:solidFill>
                  <a:srgbClr val="184F95"/>
                </a:solidFill>
                <a:latin typeface="Aptos"/>
              </a:rPr>
              <a:t>Three options, five years, discounted at 7%</a:t>
            </a:r>
          </a:p>
        </p:txBody>
      </p:sp>
      <p:graphicFrame>
        <p:nvGraphicFramePr>
          <p:cNvPr id="153" name="table153"/>
          <p:cNvGraphicFramePr>
            <a:graphicFrameLocks noGrp="1"/>
          </p:cNvGraphicFramePr>
          <p:nvPr/>
        </p:nvGraphicFramePr>
        <p:xfrm>
          <a:off x="457200" y="2340864"/>
          <a:ext cx="11277295" cy="1536192"/>
        </p:xfrm>
        <a:graphic>
          <a:graphicData uri="http://schemas.openxmlformats.org/drawingml/2006/table">
            <a:tbl>
              <a:tblPr firstRow="1" bandRow="1"/>
              <a:tblGrid>
                <a:gridCol w="2377440"/>
                <a:gridCol w="1779971"/>
                <a:gridCol w="1779971"/>
                <a:gridCol w="1779971"/>
                <a:gridCol w="1779971"/>
                <a:gridCol w="1779971"/>
              </a:tblGrid>
              <a:tr h="384048">
                <a:tc>
                  <a:txBody>
                    <a:bodyPr wrap="square" anchor="ctr" lIns="64008" rIns="64008" tIns="27432" bIns="27432"/>
                    <a:lstStyle/>
                    <a:p>
                      <a:pPr algn="l"/>
                      <a:r>
                        <a:rPr lang="en-AU" sz="900" b="1" dirty="0">
                          <a:solidFill>
                            <a:srgbClr val="FFFFFF"/>
                          </a:solidFill>
                          <a:latin typeface="Aptos"/>
                        </a:rPr>
                        <a:t>Option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Cost per permit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Annual saving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Investment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NPV</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Payback</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A  More assessors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$41</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($180,000)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$120,000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($858,036)</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never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B  Rules engine and self-service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$19</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$264,000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$700,000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$382,452</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2.65 yrs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C  Outsource assessment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$31</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$120,000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$250,000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$242,024</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2.08 yrs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
        <p:nvSpPr>
          <p:cNvPr id="154" name="shape154"/>
          <p:cNvSpPr/>
          <p:nvPr/>
        </p:nvSpPr>
        <p:spPr>
          <a:xfrm>
            <a:off x="457200" y="6071616"/>
            <a:ext cx="10515600" cy="384048"/>
          </a:xfrm>
          <a:prstGeom prst="rect">
            <a:avLst/>
          </a:prstGeom>
          <a:noFill/>
          <a:ln>
            <a:noFill/>
          </a:ln>
        </p:spPr>
        <p:txBody>
          <a:bodyPr wrap="square" anchor="t" lIns="0" rIns="0" tIns="27432" bIns="27432"/>
          <a:lstStyle/>
          <a:p>
            <a:pPr algn="l"/>
            <a:r>
              <a:rPr lang="en-AU" sz="850" dirty="0">
                <a:solidFill>
                  <a:srgbClr val="6B6A66"/>
                </a:solidFill>
                <a:latin typeface="Aptos"/>
              </a:rPr>
              <a:t>Option A is the one the executive asked for. It adds touch-time capacity to a queue problem and returns a negative NPV, which is exactly what the root cause predicted.</a:t>
            </a:r>
          </a:p>
        </p:txBody>
      </p:sp>
      <p:sp>
        <p:nvSpPr>
          <p:cNvPr id="155" name="shape155"/>
          <p:cNvSpPr/>
          <p:nvPr/>
        </p:nvSpPr>
        <p:spPr>
          <a:xfrm>
            <a:off x="457200" y="6492240"/>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Fairgate Roads Authority — heavy vehicle access permits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shape156"/>
          <p:cNvSpPr/>
          <p:nvPr/>
        </p:nvSpPr>
        <p:spPr>
          <a:xfrm>
            <a:off x="457200" y="274320"/>
            <a:ext cx="914400" cy="40233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1000" b="1" dirty="0">
                <a:solidFill>
                  <a:srgbClr val="FFFFFF"/>
                </a:solidFill>
                <a:latin typeface="Aptos"/>
              </a:rPr>
              <a:t>STEP 8</a:t>
            </a:r>
          </a:p>
        </p:txBody>
      </p:sp>
      <p:sp>
        <p:nvSpPr>
          <p:cNvPr id="157" name="shape157"/>
          <p:cNvSpPr/>
          <p:nvPr/>
        </p:nvSpPr>
        <p:spPr>
          <a:xfrm>
            <a:off x="1499616" y="256032"/>
            <a:ext cx="8686800" cy="438912"/>
          </a:xfrm>
          <a:prstGeom prst="rect">
            <a:avLst/>
          </a:prstGeom>
          <a:noFill/>
          <a:ln>
            <a:noFill/>
          </a:ln>
        </p:spPr>
        <p:txBody>
          <a:bodyPr wrap="square" anchor="ctr" lIns="0" rIns="0" tIns="27432" bIns="27432"/>
          <a:lstStyle/>
          <a:p>
            <a:pPr algn="l"/>
            <a:r>
              <a:rPr lang="en-AU" sz="2000" b="1" dirty="0">
                <a:solidFill>
                  <a:srgbClr val="0B0B0B"/>
                </a:solidFill>
                <a:latin typeface="Aptos"/>
              </a:rPr>
              <a:t>10.16 Decision Analysis</a:t>
            </a:r>
          </a:p>
        </p:txBody>
      </p:sp>
      <p:sp>
        <p:nvSpPr>
          <p:cNvPr id="158" name="shape158"/>
          <p:cNvSpPr/>
          <p:nvPr/>
        </p:nvSpPr>
        <p:spPr>
          <a:xfrm>
            <a:off x="9357055" y="310896"/>
            <a:ext cx="2377440" cy="329184"/>
          </a:xfrm>
          <a:prstGeom prst="rect">
            <a:avLst/>
          </a:prstGeom>
          <a:noFill/>
          <a:ln>
            <a:noFill/>
          </a:ln>
        </p:spPr>
        <p:txBody>
          <a:bodyPr wrap="square" anchor="ctr" lIns="0" rIns="0" tIns="27432" bIns="27432"/>
          <a:lstStyle/>
          <a:p>
            <a:pPr algn="r"/>
            <a:r>
              <a:rPr lang="en-AU" sz="1000" dirty="0">
                <a:solidFill>
                  <a:srgbClr val="6B6A66"/>
                </a:solidFill>
                <a:latin typeface="Aptos"/>
              </a:rPr>
              <a:t>Valuation and decision</a:t>
            </a:r>
          </a:p>
        </p:txBody>
      </p:sp>
      <p:sp>
        <p:nvSpPr>
          <p:cNvPr id="159" name="shape159"/>
          <p:cNvSpPr/>
          <p:nvPr/>
        </p:nvSpPr>
        <p:spPr>
          <a:xfrm>
            <a:off x="457200" y="731520"/>
            <a:ext cx="10515600" cy="310896"/>
          </a:xfrm>
          <a:prstGeom prst="rect">
            <a:avLst/>
          </a:prstGeom>
          <a:noFill/>
          <a:ln>
            <a:noFill/>
          </a:ln>
        </p:spPr>
        <p:txBody>
          <a:bodyPr wrap="square" anchor="ctr" lIns="0" rIns="0" tIns="27432" bIns="27432"/>
          <a:lstStyle/>
          <a:p>
            <a:pPr algn="l"/>
            <a:r>
              <a:rPr lang="en-AU" sz="1350" i="1" dirty="0">
                <a:solidFill>
                  <a:srgbClr val="184F95"/>
                </a:solidFill>
                <a:latin typeface="Aptos"/>
              </a:rPr>
              <a:t>B has the better return and C pays back sooner. Which?</a:t>
            </a:r>
          </a:p>
        </p:txBody>
      </p:sp>
      <p:cxnSp>
        <p:nvCxnSpPr>
          <p:cNvPr id="160" name="conn160"/>
          <p:cNvCxnSpPr/>
          <p:nvPr/>
        </p:nvCxnSpPr>
        <p:spPr>
          <a:xfrm>
            <a:off x="457200" y="1115568"/>
            <a:ext cx="11277295" cy="1"/>
          </a:xfrm>
          <a:prstGeom prst="line">
            <a:avLst/>
          </a:prstGeom>
          <a:ln w="12700">
            <a:solidFill>
              <a:srgbClr val="D9D8D0"/>
            </a:solidFill>
          </a:ln>
        </p:spPr>
      </p:cxnSp>
      <p:sp>
        <p:nvSpPr>
          <p:cNvPr id="161" name="shape161"/>
          <p:cNvSpPr/>
          <p:nvPr/>
        </p:nvSpPr>
        <p:spPr>
          <a:xfrm>
            <a:off x="457200"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TAKES</a:t>
            </a:r>
          </a:p>
          <a:p>
            <a:pPr algn="l"/>
            <a:r>
              <a:rPr lang="en-AU" sz="950" dirty="0">
                <a:solidFill>
                  <a:srgbClr val="0B0B0B"/>
                </a:solidFill>
                <a:latin typeface="Aptos"/>
              </a:rPr>
              <a:t>The NPV and payback figures, unchanged.</a:t>
            </a:r>
          </a:p>
        </p:txBody>
      </p:sp>
      <p:sp>
        <p:nvSpPr>
          <p:cNvPr id="162" name="shape162"/>
          <p:cNvSpPr/>
          <p:nvPr/>
        </p:nvSpPr>
        <p:spPr>
          <a:xfrm>
            <a:off x="6187288"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GIVES</a:t>
            </a:r>
          </a:p>
          <a:p>
            <a:pPr algn="l"/>
            <a:r>
              <a:rPr lang="en-AU" sz="950" dirty="0">
                <a:solidFill>
                  <a:srgbClr val="0B0B0B"/>
                </a:solidFill>
                <a:latin typeface="Aptos"/>
              </a:rPr>
              <a:t>A recommendation with the weighting visible, so the argument is about criteria rather than preference.</a:t>
            </a:r>
          </a:p>
        </p:txBody>
      </p:sp>
      <p:sp>
        <p:nvSpPr>
          <p:cNvPr id="163" name="shape163"/>
          <p:cNvSpPr/>
          <p:nvPr/>
        </p:nvSpPr>
        <p:spPr>
          <a:xfrm>
            <a:off x="6187288" y="1225296"/>
            <a:ext cx="32004" cy="713232"/>
          </a:xfrm>
          <a:prstGeom prst="rect">
            <a:avLst/>
          </a:prstGeom>
          <a:solidFill>
            <a:srgbClr val="2A78D6"/>
          </a:solidFill>
          <a:ln>
            <a:noFill/>
          </a:ln>
        </p:spPr>
        <p:txBody>
          <a:bodyPr wrap="square" anchor="ctr" lIns="54864" rIns="54864" tIns="27432" bIns="27432"/>
          <a:lstStyle/>
          <a:p>
            <a:pPr algn="l"/>
            <a:endParaRPr lang="en-AU" sz="1100"/>
          </a:p>
        </p:txBody>
      </p:sp>
      <p:sp>
        <p:nvSpPr>
          <p:cNvPr id="164" name="shape164"/>
          <p:cNvSpPr/>
          <p:nvPr/>
        </p:nvSpPr>
        <p:spPr>
          <a:xfrm>
            <a:off x="457200" y="2048256"/>
            <a:ext cx="10515600" cy="237744"/>
          </a:xfrm>
          <a:prstGeom prst="rect">
            <a:avLst/>
          </a:prstGeom>
          <a:noFill/>
          <a:ln>
            <a:noFill/>
          </a:ln>
        </p:spPr>
        <p:txBody>
          <a:bodyPr wrap="square" anchor="b" lIns="0" rIns="0" tIns="27432" bIns="27432"/>
          <a:lstStyle/>
          <a:p>
            <a:pPr algn="l"/>
            <a:r>
              <a:rPr lang="en-AU" sz="1100" b="1" dirty="0">
                <a:solidFill>
                  <a:srgbClr val="184F95"/>
                </a:solidFill>
                <a:latin typeface="Aptos"/>
              </a:rPr>
              <a:t>Weighted against criteria agreed before scoring</a:t>
            </a:r>
          </a:p>
        </p:txBody>
      </p:sp>
      <p:graphicFrame>
        <p:nvGraphicFramePr>
          <p:cNvPr id="165" name="table165"/>
          <p:cNvGraphicFramePr>
            <a:graphicFrameLocks noGrp="1"/>
          </p:cNvGraphicFramePr>
          <p:nvPr/>
        </p:nvGraphicFramePr>
        <p:xfrm>
          <a:off x="457200" y="2340864"/>
          <a:ext cx="11277295" cy="2304288"/>
        </p:xfrm>
        <a:graphic>
          <a:graphicData uri="http://schemas.openxmlformats.org/drawingml/2006/table">
            <a:tbl>
              <a:tblPr firstRow="1" bandRow="1"/>
              <a:tblGrid>
                <a:gridCol w="2377440"/>
                <a:gridCol w="2224964"/>
                <a:gridCol w="2224964"/>
                <a:gridCol w="2224964"/>
                <a:gridCol w="2224964"/>
              </a:tblGrid>
              <a:tr h="384048">
                <a:tc>
                  <a:txBody>
                    <a:bodyPr wrap="square" anchor="ctr" lIns="64008" rIns="64008" tIns="27432" bIns="27432"/>
                    <a:lstStyle/>
                    <a:p>
                      <a:pPr algn="l"/>
                      <a:r>
                        <a:rPr lang="en-AU" sz="900" b="1" dirty="0">
                          <a:solidFill>
                            <a:srgbClr val="FFFFFF"/>
                          </a:solidFill>
                          <a:latin typeface="Aptos"/>
                        </a:rPr>
                        <a:t>Criterion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Weight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A</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B</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C</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Meets the 15-day obligation</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40%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3</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Five-year value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25%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1</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4</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Cash exposure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4</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2</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4</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Keeps assessment capability in house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20%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r"/>
                      <a:r>
                        <a:rPr lang="en-AU" sz="900" dirty="0">
                          <a:solidFill>
                            <a:srgbClr val="0B0B0B"/>
                          </a:solidFill>
                          <a:latin typeface="Aptos"/>
                        </a:rPr>
                        <a:t>1</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Weighted total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100%</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2.25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4.55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r"/>
                      <a:r>
                        <a:rPr lang="en-AU" sz="900" dirty="0">
                          <a:solidFill>
                            <a:srgbClr val="0B0B0B"/>
                          </a:solidFill>
                          <a:latin typeface="Aptos"/>
                        </a:rPr>
                        <a:t>2.95</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bl>
          </a:graphicData>
        </a:graphic>
      </p:graphicFrame>
      <p:sp>
        <p:nvSpPr>
          <p:cNvPr id="166" name="shape166"/>
          <p:cNvSpPr/>
          <p:nvPr/>
        </p:nvSpPr>
        <p:spPr>
          <a:xfrm>
            <a:off x="457200" y="6071616"/>
            <a:ext cx="10515600" cy="384048"/>
          </a:xfrm>
          <a:prstGeom prst="rect">
            <a:avLst/>
          </a:prstGeom>
          <a:noFill/>
          <a:ln>
            <a:noFill/>
          </a:ln>
        </p:spPr>
        <p:txBody>
          <a:bodyPr wrap="square" anchor="t" lIns="0" rIns="0" tIns="27432" bIns="27432"/>
          <a:lstStyle/>
          <a:p>
            <a:pPr algn="l"/>
            <a:r>
              <a:rPr lang="en-AU" sz="850" dirty="0">
                <a:solidFill>
                  <a:srgbClr val="6B6A66"/>
                </a:solidFill>
                <a:latin typeface="Aptos"/>
              </a:rPr>
              <a:t>C pays back faster and still loses, because payback carries 15% of the decision and the statutory obligation carries 40%. Naming the weights first is what stops that being an argument about opinions.</a:t>
            </a:r>
          </a:p>
        </p:txBody>
      </p:sp>
      <p:sp>
        <p:nvSpPr>
          <p:cNvPr id="167" name="shape167"/>
          <p:cNvSpPr/>
          <p:nvPr/>
        </p:nvSpPr>
        <p:spPr>
          <a:xfrm>
            <a:off x="457200" y="6492240"/>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Fairgate Roads Authority — heavy vehicle access permits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shape168"/>
          <p:cNvSpPr/>
          <p:nvPr/>
        </p:nvSpPr>
        <p:spPr>
          <a:xfrm>
            <a:off x="457200" y="274320"/>
            <a:ext cx="914400" cy="40233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1000" b="1" dirty="0">
                <a:solidFill>
                  <a:srgbClr val="FFFFFF"/>
                </a:solidFill>
                <a:latin typeface="Aptos"/>
              </a:rPr>
              <a:t>STEP 9</a:t>
            </a:r>
          </a:p>
        </p:txBody>
      </p:sp>
      <p:sp>
        <p:nvSpPr>
          <p:cNvPr id="169" name="shape169"/>
          <p:cNvSpPr/>
          <p:nvPr/>
        </p:nvSpPr>
        <p:spPr>
          <a:xfrm>
            <a:off x="1499616" y="256032"/>
            <a:ext cx="8686800" cy="438912"/>
          </a:xfrm>
          <a:prstGeom prst="rect">
            <a:avLst/>
          </a:prstGeom>
          <a:noFill/>
          <a:ln>
            <a:noFill/>
          </a:ln>
        </p:spPr>
        <p:txBody>
          <a:bodyPr wrap="square" anchor="ctr" lIns="0" rIns="0" tIns="27432" bIns="27432"/>
          <a:lstStyle/>
          <a:p>
            <a:pPr algn="l"/>
            <a:r>
              <a:rPr lang="en-AU" sz="2000" b="1" dirty="0">
                <a:solidFill>
                  <a:srgbClr val="0B0B0B"/>
                </a:solidFill>
                <a:latin typeface="Aptos"/>
              </a:rPr>
              <a:t>10.38 Risk Analysis and Management</a:t>
            </a:r>
          </a:p>
        </p:txBody>
      </p:sp>
      <p:sp>
        <p:nvSpPr>
          <p:cNvPr id="170" name="shape170"/>
          <p:cNvSpPr/>
          <p:nvPr/>
        </p:nvSpPr>
        <p:spPr>
          <a:xfrm>
            <a:off x="9357055" y="310896"/>
            <a:ext cx="2377440" cy="329184"/>
          </a:xfrm>
          <a:prstGeom prst="rect">
            <a:avLst/>
          </a:prstGeom>
          <a:noFill/>
          <a:ln>
            <a:noFill/>
          </a:ln>
        </p:spPr>
        <p:txBody>
          <a:bodyPr wrap="square" anchor="ctr" lIns="0" rIns="0" tIns="27432" bIns="27432"/>
          <a:lstStyle/>
          <a:p>
            <a:pPr algn="r"/>
            <a:r>
              <a:rPr lang="en-AU" sz="1000" dirty="0">
                <a:solidFill>
                  <a:srgbClr val="6B6A66"/>
                </a:solidFill>
                <a:latin typeface="Aptos"/>
              </a:rPr>
              <a:t>Valuation and decision</a:t>
            </a:r>
          </a:p>
        </p:txBody>
      </p:sp>
      <p:sp>
        <p:nvSpPr>
          <p:cNvPr id="171" name="shape171"/>
          <p:cNvSpPr/>
          <p:nvPr/>
        </p:nvSpPr>
        <p:spPr>
          <a:xfrm>
            <a:off x="457200" y="731520"/>
            <a:ext cx="10515600" cy="310896"/>
          </a:xfrm>
          <a:prstGeom prst="rect">
            <a:avLst/>
          </a:prstGeom>
          <a:noFill/>
          <a:ln>
            <a:noFill/>
          </a:ln>
        </p:spPr>
        <p:txBody>
          <a:bodyPr wrap="square" anchor="ctr" lIns="0" rIns="0" tIns="27432" bIns="27432"/>
          <a:lstStyle/>
          <a:p>
            <a:pPr algn="l"/>
            <a:r>
              <a:rPr lang="en-AU" sz="1350" i="1" dirty="0">
                <a:solidFill>
                  <a:srgbClr val="184F95"/>
                </a:solidFill>
                <a:latin typeface="Aptos"/>
              </a:rPr>
              <a:t>What could stop option B working?</a:t>
            </a:r>
          </a:p>
        </p:txBody>
      </p:sp>
      <p:cxnSp>
        <p:nvCxnSpPr>
          <p:cNvPr id="172" name="conn172"/>
          <p:cNvCxnSpPr/>
          <p:nvPr/>
        </p:nvCxnSpPr>
        <p:spPr>
          <a:xfrm>
            <a:off x="457200" y="1115568"/>
            <a:ext cx="11277295" cy="1"/>
          </a:xfrm>
          <a:prstGeom prst="line">
            <a:avLst/>
          </a:prstGeom>
          <a:ln w="12700">
            <a:solidFill>
              <a:srgbClr val="D9D8D0"/>
            </a:solidFill>
          </a:ln>
        </p:spPr>
      </p:cxnSp>
      <p:sp>
        <p:nvSpPr>
          <p:cNvPr id="173" name="shape173"/>
          <p:cNvSpPr/>
          <p:nvPr/>
        </p:nvSpPr>
        <p:spPr>
          <a:xfrm>
            <a:off x="457200"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TAKES</a:t>
            </a:r>
          </a:p>
          <a:p>
            <a:pPr algn="l"/>
            <a:r>
              <a:rPr lang="en-AU" sz="950" dirty="0">
                <a:solidFill>
                  <a:srgbClr val="0B0B0B"/>
                </a:solidFill>
                <a:latin typeface="Aptos"/>
              </a:rPr>
              <a:t>The recommended option, and the road manager veto from the stakeholder map.</a:t>
            </a:r>
          </a:p>
        </p:txBody>
      </p:sp>
      <p:sp>
        <p:nvSpPr>
          <p:cNvPr id="174" name="shape174"/>
          <p:cNvSpPr/>
          <p:nvPr/>
        </p:nvSpPr>
        <p:spPr>
          <a:xfrm>
            <a:off x="6187288"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GIVES</a:t>
            </a:r>
          </a:p>
          <a:p>
            <a:pPr algn="l"/>
            <a:r>
              <a:rPr lang="en-AU" sz="950" dirty="0">
                <a:solidFill>
                  <a:srgbClr val="0B0B0B"/>
                </a:solidFill>
                <a:latin typeface="Aptos"/>
              </a:rPr>
              <a:t>An expected monetary value of $196,000, which goes into the business case beside the benefit.</a:t>
            </a:r>
          </a:p>
        </p:txBody>
      </p:sp>
      <p:sp>
        <p:nvSpPr>
          <p:cNvPr id="175" name="shape175"/>
          <p:cNvSpPr/>
          <p:nvPr/>
        </p:nvSpPr>
        <p:spPr>
          <a:xfrm>
            <a:off x="6187288" y="1225296"/>
            <a:ext cx="32004" cy="713232"/>
          </a:xfrm>
          <a:prstGeom prst="rect">
            <a:avLst/>
          </a:prstGeom>
          <a:solidFill>
            <a:srgbClr val="2A78D6"/>
          </a:solidFill>
          <a:ln>
            <a:noFill/>
          </a:ln>
        </p:spPr>
        <p:txBody>
          <a:bodyPr wrap="square" anchor="ctr" lIns="54864" rIns="54864" tIns="27432" bIns="27432"/>
          <a:lstStyle/>
          <a:p>
            <a:pPr algn="l"/>
            <a:endParaRPr lang="en-AU" sz="1100"/>
          </a:p>
        </p:txBody>
      </p:sp>
      <p:sp>
        <p:nvSpPr>
          <p:cNvPr id="176" name="shape176"/>
          <p:cNvSpPr/>
          <p:nvPr/>
        </p:nvSpPr>
        <p:spPr>
          <a:xfrm>
            <a:off x="457200" y="2048256"/>
            <a:ext cx="10515600" cy="237744"/>
          </a:xfrm>
          <a:prstGeom prst="rect">
            <a:avLst/>
          </a:prstGeom>
          <a:noFill/>
          <a:ln>
            <a:noFill/>
          </a:ln>
        </p:spPr>
        <p:txBody>
          <a:bodyPr wrap="square" anchor="b" lIns="0" rIns="0" tIns="27432" bIns="27432"/>
          <a:lstStyle/>
          <a:p>
            <a:pPr algn="l"/>
            <a:r>
              <a:rPr lang="en-AU" sz="1100" b="1" dirty="0">
                <a:solidFill>
                  <a:srgbClr val="184F95"/>
                </a:solidFill>
                <a:latin typeface="Aptos"/>
              </a:rPr>
              <a:t>Option B risks, post-mitigation</a:t>
            </a:r>
          </a:p>
        </p:txBody>
      </p:sp>
      <p:sp>
        <p:nvSpPr>
          <p:cNvPr id="177" name="shape177"/>
          <p:cNvSpPr/>
          <p:nvPr/>
        </p:nvSpPr>
        <p:spPr>
          <a:xfrm>
            <a:off x="1828800" y="2340864"/>
            <a:ext cx="9905695" cy="237744"/>
          </a:xfrm>
          <a:prstGeom prst="rect">
            <a:avLst/>
          </a:prstGeom>
          <a:noFill/>
          <a:ln>
            <a:noFill/>
          </a:ln>
        </p:spPr>
        <p:txBody>
          <a:bodyPr wrap="square" anchor="ctr" lIns="54864" rIns="54864" tIns="27432" bIns="27432"/>
          <a:lstStyle/>
          <a:p>
            <a:pPr algn="ctr"/>
            <a:r>
              <a:rPr lang="en-AU" sz="900" dirty="0">
                <a:solidFill>
                  <a:srgbClr val="6B6A66"/>
                </a:solidFill>
                <a:latin typeface="Aptos"/>
              </a:rPr>
              <a:t>Impact →</a:t>
            </a:r>
          </a:p>
        </p:txBody>
      </p:sp>
      <p:sp>
        <p:nvSpPr>
          <p:cNvPr id="178" name="shape178"/>
          <p:cNvSpPr/>
          <p:nvPr/>
        </p:nvSpPr>
        <p:spPr>
          <a:xfrm>
            <a:off x="1828800" y="2578608"/>
            <a:ext cx="330189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Moderate</a:t>
            </a:r>
          </a:p>
        </p:txBody>
      </p:sp>
      <p:sp>
        <p:nvSpPr>
          <p:cNvPr id="179" name="shape179"/>
          <p:cNvSpPr/>
          <p:nvPr/>
        </p:nvSpPr>
        <p:spPr>
          <a:xfrm>
            <a:off x="5130698" y="2578608"/>
            <a:ext cx="330189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Major</a:t>
            </a:r>
          </a:p>
        </p:txBody>
      </p:sp>
      <p:sp>
        <p:nvSpPr>
          <p:cNvPr id="180" name="shape180"/>
          <p:cNvSpPr/>
          <p:nvPr/>
        </p:nvSpPr>
        <p:spPr>
          <a:xfrm>
            <a:off x="8432597" y="2578608"/>
            <a:ext cx="3301898" cy="237744"/>
          </a:xfrm>
          <a:prstGeom prst="rect">
            <a:avLst/>
          </a:prstGeom>
          <a:noFill/>
          <a:ln>
            <a:noFill/>
          </a:ln>
        </p:spPr>
        <p:txBody>
          <a:bodyPr wrap="square" anchor="ctr" lIns="54864" rIns="54864" tIns="27432" bIns="27432"/>
          <a:lstStyle/>
          <a:p>
            <a:pPr algn="ctr"/>
            <a:r>
              <a:rPr lang="en-AU" sz="900" b="1" dirty="0">
                <a:solidFill>
                  <a:srgbClr val="6B6A66"/>
                </a:solidFill>
                <a:latin typeface="Aptos"/>
              </a:rPr>
              <a:t>Severe</a:t>
            </a:r>
          </a:p>
        </p:txBody>
      </p:sp>
      <p:sp>
        <p:nvSpPr>
          <p:cNvPr id="181" name="shape181"/>
          <p:cNvSpPr/>
          <p:nvPr/>
        </p:nvSpPr>
        <p:spPr>
          <a:xfrm>
            <a:off x="457200" y="2843784"/>
            <a:ext cx="1280160" cy="1024128"/>
          </a:xfrm>
          <a:prstGeom prst="rect">
            <a:avLst/>
          </a:prstGeom>
          <a:noFill/>
          <a:ln>
            <a:noFill/>
          </a:ln>
        </p:spPr>
        <p:txBody>
          <a:bodyPr wrap="square" anchor="ctr" lIns="54864" rIns="54864" tIns="27432" bIns="27432"/>
          <a:lstStyle/>
          <a:p>
            <a:pPr algn="r"/>
            <a:r>
              <a:rPr lang="en-AU" sz="900" b="1" dirty="0">
                <a:solidFill>
                  <a:srgbClr val="6B6A66"/>
                </a:solidFill>
                <a:latin typeface="Aptos"/>
              </a:rPr>
              <a:t>Likely</a:t>
            </a:r>
          </a:p>
        </p:txBody>
      </p:sp>
      <p:sp>
        <p:nvSpPr>
          <p:cNvPr id="182" name="shape182"/>
          <p:cNvSpPr/>
          <p:nvPr/>
        </p:nvSpPr>
        <p:spPr>
          <a:xfrm>
            <a:off x="1865376" y="2843784"/>
            <a:ext cx="3228746" cy="102412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Assessor adoption</a:t>
            </a:r>
          </a:p>
        </p:txBody>
      </p:sp>
      <p:sp>
        <p:nvSpPr>
          <p:cNvPr id="183" name="shape183"/>
          <p:cNvSpPr/>
          <p:nvPr/>
        </p:nvSpPr>
        <p:spPr>
          <a:xfrm>
            <a:off x="5167274" y="2843784"/>
            <a:ext cx="3228746" cy="102412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84" name="shape184"/>
          <p:cNvSpPr/>
          <p:nvPr/>
        </p:nvSpPr>
        <p:spPr>
          <a:xfrm>
            <a:off x="8469173" y="2843784"/>
            <a:ext cx="3228746" cy="102412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85" name="shape185"/>
          <p:cNvSpPr/>
          <p:nvPr/>
        </p:nvSpPr>
        <p:spPr>
          <a:xfrm>
            <a:off x="457200" y="3941064"/>
            <a:ext cx="1280160" cy="1024128"/>
          </a:xfrm>
          <a:prstGeom prst="rect">
            <a:avLst/>
          </a:prstGeom>
          <a:noFill/>
          <a:ln>
            <a:noFill/>
          </a:ln>
        </p:spPr>
        <p:txBody>
          <a:bodyPr wrap="square" anchor="ctr" lIns="54864" rIns="54864" tIns="27432" bIns="27432"/>
          <a:lstStyle/>
          <a:p>
            <a:pPr algn="r"/>
            <a:r>
              <a:rPr lang="en-AU" sz="900" b="1" dirty="0">
                <a:solidFill>
                  <a:srgbClr val="6B6A66"/>
                </a:solidFill>
                <a:latin typeface="Aptos"/>
              </a:rPr>
              <a:t>Possible</a:t>
            </a:r>
          </a:p>
        </p:txBody>
      </p:sp>
      <p:sp>
        <p:nvSpPr>
          <p:cNvPr id="186" name="shape186"/>
          <p:cNvSpPr/>
          <p:nvPr/>
        </p:nvSpPr>
        <p:spPr>
          <a:xfrm>
            <a:off x="1865376" y="3941064"/>
            <a:ext cx="3228746" cy="102412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50" dirty="0">
                <a:solidFill>
                  <a:srgbClr val="0B0B0B"/>
                </a:solidFill>
                <a:latin typeface="Aptos"/>
              </a:rPr>
              <a:t>• Restriction data quality</a:t>
            </a:r>
          </a:p>
        </p:txBody>
      </p:sp>
      <p:sp>
        <p:nvSpPr>
          <p:cNvPr id="187" name="shape187"/>
          <p:cNvSpPr/>
          <p:nvPr/>
        </p:nvSpPr>
        <p:spPr>
          <a:xfrm>
            <a:off x="5167274" y="3941064"/>
            <a:ext cx="3228746" cy="102412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EMV $126,000</a:t>
            </a:r>
          </a:p>
          <a:p>
            <a:pPr algn="l"/>
            <a:r>
              <a:rPr lang="en-AU" sz="850" dirty="0">
                <a:solidFill>
                  <a:srgbClr val="0B0B0B"/>
                </a:solidFill>
                <a:latin typeface="Aptos"/>
              </a:rPr>
              <a:t>• Councils decline to consent digitally</a:t>
            </a:r>
          </a:p>
        </p:txBody>
      </p:sp>
      <p:sp>
        <p:nvSpPr>
          <p:cNvPr id="188" name="shape188"/>
          <p:cNvSpPr/>
          <p:nvPr/>
        </p:nvSpPr>
        <p:spPr>
          <a:xfrm>
            <a:off x="8469173" y="3941064"/>
            <a:ext cx="3228746" cy="102412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89" name="shape189"/>
          <p:cNvSpPr/>
          <p:nvPr/>
        </p:nvSpPr>
        <p:spPr>
          <a:xfrm>
            <a:off x="457200" y="5038344"/>
            <a:ext cx="1280160" cy="1024128"/>
          </a:xfrm>
          <a:prstGeom prst="rect">
            <a:avLst/>
          </a:prstGeom>
          <a:noFill/>
          <a:ln>
            <a:noFill/>
          </a:ln>
        </p:spPr>
        <p:txBody>
          <a:bodyPr wrap="square" anchor="ctr" lIns="54864" rIns="54864" tIns="27432" bIns="27432"/>
          <a:lstStyle/>
          <a:p>
            <a:pPr algn="r"/>
            <a:r>
              <a:rPr lang="en-AU" sz="900" b="1" dirty="0">
                <a:solidFill>
                  <a:srgbClr val="6B6A66"/>
                </a:solidFill>
                <a:latin typeface="Aptos"/>
              </a:rPr>
              <a:t>Unlikely</a:t>
            </a:r>
          </a:p>
        </p:txBody>
      </p:sp>
      <p:sp>
        <p:nvSpPr>
          <p:cNvPr id="190" name="shape190"/>
          <p:cNvSpPr/>
          <p:nvPr/>
        </p:nvSpPr>
        <p:spPr>
          <a:xfrm>
            <a:off x="1865376" y="5038344"/>
            <a:ext cx="3228746" cy="102412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91" name="shape191"/>
          <p:cNvSpPr/>
          <p:nvPr/>
        </p:nvSpPr>
        <p:spPr>
          <a:xfrm>
            <a:off x="5167274" y="5038344"/>
            <a:ext cx="3228746" cy="102412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EMV $70,000</a:t>
            </a:r>
          </a:p>
          <a:p>
            <a:pPr algn="l"/>
            <a:r>
              <a:rPr lang="en-AU" sz="850" dirty="0">
                <a:solidFill>
                  <a:srgbClr val="0B0B0B"/>
                </a:solidFill>
                <a:latin typeface="Aptos"/>
              </a:rPr>
              <a:t>• Scheme rules change before go-live</a:t>
            </a:r>
          </a:p>
        </p:txBody>
      </p:sp>
      <p:sp>
        <p:nvSpPr>
          <p:cNvPr id="192" name="shape192"/>
          <p:cNvSpPr/>
          <p:nvPr/>
        </p:nvSpPr>
        <p:spPr>
          <a:xfrm>
            <a:off x="8469173" y="5038344"/>
            <a:ext cx="3228746" cy="1024128"/>
          </a:xfrm>
          <a:prstGeom prst="roundRect">
            <a:avLst>
              <a:gd name="adj" fmla="val 6000"/>
            </a:avLst>
          </a:prstGeom>
          <a:solidFill>
            <a:srgbClr val="FFFFFF"/>
          </a:solidFill>
          <a:ln w="9525">
            <a:solidFill>
              <a:srgbClr val="C3C2B7"/>
            </a:solidFill>
          </a:ln>
        </p:spPr>
        <p:txBody>
          <a:bodyPr wrap="square" anchor="t" lIns="73152" rIns="73152" tIns="27432" bIns="27432"/>
          <a:lstStyle/>
          <a:p>
            <a:pPr algn="l"/>
            <a:endParaRPr lang="en-AU" sz="1100"/>
          </a:p>
        </p:txBody>
      </p:sp>
      <p:sp>
        <p:nvSpPr>
          <p:cNvPr id="193" name="shape193"/>
          <p:cNvSpPr/>
          <p:nvPr/>
        </p:nvSpPr>
        <p:spPr>
          <a:xfrm>
            <a:off x="411480" y="2843784"/>
            <a:ext cx="1280160" cy="219456"/>
          </a:xfrm>
          <a:prstGeom prst="rect">
            <a:avLst/>
          </a:prstGeom>
          <a:noFill/>
          <a:ln>
            <a:noFill/>
          </a:ln>
        </p:spPr>
        <p:txBody>
          <a:bodyPr wrap="square" anchor="ctr" lIns="54864" rIns="54864" tIns="27432" bIns="27432"/>
          <a:lstStyle/>
          <a:p>
            <a:pPr algn="l"/>
            <a:r>
              <a:rPr lang="en-AU" sz="850" dirty="0">
                <a:solidFill>
                  <a:srgbClr val="6B6A66"/>
                </a:solidFill>
                <a:latin typeface="Aptos"/>
              </a:rPr>
              <a:t>↑ Likelihood</a:t>
            </a:r>
          </a:p>
        </p:txBody>
      </p:sp>
      <p:sp>
        <p:nvSpPr>
          <p:cNvPr id="194" name="shape194"/>
          <p:cNvSpPr/>
          <p:nvPr/>
        </p:nvSpPr>
        <p:spPr>
          <a:xfrm>
            <a:off x="457200" y="6071616"/>
            <a:ext cx="10515600" cy="384048"/>
          </a:xfrm>
          <a:prstGeom prst="rect">
            <a:avLst/>
          </a:prstGeom>
          <a:noFill/>
          <a:ln>
            <a:noFill/>
          </a:ln>
        </p:spPr>
        <p:txBody>
          <a:bodyPr wrap="square" anchor="t" lIns="0" rIns="0" tIns="27432" bIns="27432"/>
          <a:lstStyle/>
          <a:p>
            <a:pPr algn="l"/>
            <a:r>
              <a:rPr lang="en-AU" sz="850" dirty="0">
                <a:solidFill>
                  <a:srgbClr val="6B6A66"/>
                </a:solidFill>
                <a:latin typeface="Aptos"/>
              </a:rPr>
              <a:t>Expected monetary value across all outcomes is $196,000. That figure enters the business case; the severe cases stay here.</a:t>
            </a:r>
          </a:p>
        </p:txBody>
      </p:sp>
      <p:sp>
        <p:nvSpPr>
          <p:cNvPr id="195" name="shape195"/>
          <p:cNvSpPr/>
          <p:nvPr/>
        </p:nvSpPr>
        <p:spPr>
          <a:xfrm>
            <a:off x="457200" y="6492240"/>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Fairgate Roads Authority — heavy vehicle access permits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shape196"/>
          <p:cNvSpPr/>
          <p:nvPr/>
        </p:nvSpPr>
        <p:spPr>
          <a:xfrm>
            <a:off x="457200" y="274320"/>
            <a:ext cx="914400" cy="40233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1000" b="1" dirty="0">
                <a:solidFill>
                  <a:srgbClr val="FFFFFF"/>
                </a:solidFill>
                <a:latin typeface="Aptos"/>
              </a:rPr>
              <a:t>STEP 10</a:t>
            </a:r>
          </a:p>
        </p:txBody>
      </p:sp>
      <p:sp>
        <p:nvSpPr>
          <p:cNvPr id="197" name="shape197"/>
          <p:cNvSpPr/>
          <p:nvPr/>
        </p:nvSpPr>
        <p:spPr>
          <a:xfrm>
            <a:off x="1499616" y="256032"/>
            <a:ext cx="8686800" cy="438912"/>
          </a:xfrm>
          <a:prstGeom prst="rect">
            <a:avLst/>
          </a:prstGeom>
          <a:noFill/>
          <a:ln>
            <a:noFill/>
          </a:ln>
        </p:spPr>
        <p:txBody>
          <a:bodyPr wrap="square" anchor="ctr" lIns="0" rIns="0" tIns="27432" bIns="27432"/>
          <a:lstStyle/>
          <a:p>
            <a:pPr algn="l"/>
            <a:r>
              <a:rPr lang="en-AU" sz="2000" b="1" dirty="0">
                <a:solidFill>
                  <a:srgbClr val="0B0B0B"/>
                </a:solidFill>
                <a:latin typeface="Aptos"/>
              </a:rPr>
              <a:t>10.7 Business Cases</a:t>
            </a:r>
          </a:p>
        </p:txBody>
      </p:sp>
      <p:sp>
        <p:nvSpPr>
          <p:cNvPr id="198" name="shape198"/>
          <p:cNvSpPr/>
          <p:nvPr/>
        </p:nvSpPr>
        <p:spPr>
          <a:xfrm>
            <a:off x="9357055" y="310896"/>
            <a:ext cx="2377440" cy="329184"/>
          </a:xfrm>
          <a:prstGeom prst="rect">
            <a:avLst/>
          </a:prstGeom>
          <a:noFill/>
          <a:ln>
            <a:noFill/>
          </a:ln>
        </p:spPr>
        <p:txBody>
          <a:bodyPr wrap="square" anchor="ctr" lIns="0" rIns="0" tIns="27432" bIns="27432"/>
          <a:lstStyle/>
          <a:p>
            <a:pPr algn="r"/>
            <a:r>
              <a:rPr lang="en-AU" sz="1000" dirty="0">
                <a:solidFill>
                  <a:srgbClr val="6B6A66"/>
                </a:solidFill>
                <a:latin typeface="Aptos"/>
              </a:rPr>
              <a:t>Valuation and decision</a:t>
            </a:r>
          </a:p>
        </p:txBody>
      </p:sp>
      <p:sp>
        <p:nvSpPr>
          <p:cNvPr id="199" name="shape199"/>
          <p:cNvSpPr/>
          <p:nvPr/>
        </p:nvSpPr>
        <p:spPr>
          <a:xfrm>
            <a:off x="457200" y="731520"/>
            <a:ext cx="10515600" cy="310896"/>
          </a:xfrm>
          <a:prstGeom prst="rect">
            <a:avLst/>
          </a:prstGeom>
          <a:noFill/>
          <a:ln>
            <a:noFill/>
          </a:ln>
        </p:spPr>
        <p:txBody>
          <a:bodyPr wrap="square" anchor="ctr" lIns="0" rIns="0" tIns="27432" bIns="27432"/>
          <a:lstStyle/>
          <a:p>
            <a:pPr algn="l"/>
            <a:r>
              <a:rPr lang="en-AU" sz="1350" i="1" dirty="0">
                <a:solidFill>
                  <a:srgbClr val="184F95"/>
                </a:solidFill>
                <a:latin typeface="Aptos"/>
              </a:rPr>
              <a:t>Is the change justified, and on what?</a:t>
            </a:r>
          </a:p>
        </p:txBody>
      </p:sp>
      <p:cxnSp>
        <p:nvCxnSpPr>
          <p:cNvPr id="200" name="conn200"/>
          <p:cNvCxnSpPr/>
          <p:nvPr/>
        </p:nvCxnSpPr>
        <p:spPr>
          <a:xfrm>
            <a:off x="457200" y="1115568"/>
            <a:ext cx="11277295" cy="1"/>
          </a:xfrm>
          <a:prstGeom prst="line">
            <a:avLst/>
          </a:prstGeom>
          <a:ln w="12700">
            <a:solidFill>
              <a:srgbClr val="D9D8D0"/>
            </a:solidFill>
          </a:ln>
        </p:spPr>
      </p:cxnSp>
      <p:sp>
        <p:nvSpPr>
          <p:cNvPr id="201" name="shape201"/>
          <p:cNvSpPr/>
          <p:nvPr/>
        </p:nvSpPr>
        <p:spPr>
          <a:xfrm>
            <a:off x="457200"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TAKES</a:t>
            </a:r>
          </a:p>
          <a:p>
            <a:pPr algn="l"/>
            <a:r>
              <a:rPr lang="en-AU" sz="950" dirty="0">
                <a:solidFill>
                  <a:srgbClr val="0B0B0B"/>
                </a:solidFill>
                <a:latin typeface="Aptos"/>
              </a:rPr>
              <a:t>Need, options, value, risk — each already produced by a step above.</a:t>
            </a:r>
          </a:p>
        </p:txBody>
      </p:sp>
      <p:sp>
        <p:nvSpPr>
          <p:cNvPr id="202" name="shape202"/>
          <p:cNvSpPr/>
          <p:nvPr/>
        </p:nvSpPr>
        <p:spPr>
          <a:xfrm>
            <a:off x="6187288"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GIVES</a:t>
            </a:r>
          </a:p>
          <a:p>
            <a:pPr algn="l"/>
            <a:r>
              <a:rPr lang="en-AU" sz="950" dirty="0">
                <a:solidFill>
                  <a:srgbClr val="0B0B0B"/>
                </a:solidFill>
                <a:latin typeface="Aptos"/>
              </a:rPr>
              <a:t>An approved change strategy. Nothing new is invented here; the case is an assembly.</a:t>
            </a:r>
          </a:p>
        </p:txBody>
      </p:sp>
      <p:sp>
        <p:nvSpPr>
          <p:cNvPr id="203" name="shape203"/>
          <p:cNvSpPr/>
          <p:nvPr/>
        </p:nvSpPr>
        <p:spPr>
          <a:xfrm>
            <a:off x="6187288" y="1225296"/>
            <a:ext cx="32004" cy="713232"/>
          </a:xfrm>
          <a:prstGeom prst="rect">
            <a:avLst/>
          </a:prstGeom>
          <a:solidFill>
            <a:srgbClr val="2A78D6"/>
          </a:solidFill>
          <a:ln>
            <a:noFill/>
          </a:ln>
        </p:spPr>
        <p:txBody>
          <a:bodyPr wrap="square" anchor="ctr" lIns="54864" rIns="54864" tIns="27432" bIns="27432"/>
          <a:lstStyle/>
          <a:p>
            <a:pPr algn="l"/>
            <a:endParaRPr lang="en-AU" sz="1100"/>
          </a:p>
        </p:txBody>
      </p:sp>
      <p:sp>
        <p:nvSpPr>
          <p:cNvPr id="204" name="shape204"/>
          <p:cNvSpPr/>
          <p:nvPr/>
        </p:nvSpPr>
        <p:spPr>
          <a:xfrm>
            <a:off x="457200" y="2048256"/>
            <a:ext cx="10515600" cy="237744"/>
          </a:xfrm>
          <a:prstGeom prst="rect">
            <a:avLst/>
          </a:prstGeom>
          <a:noFill/>
          <a:ln>
            <a:noFill/>
          </a:ln>
        </p:spPr>
        <p:txBody>
          <a:bodyPr wrap="square" anchor="b" lIns="0" rIns="0" tIns="27432" bIns="27432"/>
          <a:lstStyle/>
          <a:p>
            <a:pPr algn="l"/>
            <a:r>
              <a:rPr lang="en-AU" sz="1100" b="1" dirty="0">
                <a:solidFill>
                  <a:srgbClr val="184F95"/>
                </a:solidFill>
                <a:latin typeface="Aptos"/>
              </a:rPr>
              <a:t>The case for option B</a:t>
            </a:r>
          </a:p>
        </p:txBody>
      </p:sp>
      <p:sp>
        <p:nvSpPr>
          <p:cNvPr id="205" name="shape205"/>
          <p:cNvSpPr/>
          <p:nvPr/>
        </p:nvSpPr>
        <p:spPr>
          <a:xfrm>
            <a:off x="484632" y="2368296"/>
            <a:ext cx="5583784" cy="116433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NEED</a:t>
            </a:r>
          </a:p>
          <a:p>
            <a:pPr algn="l"/>
            <a:r>
              <a:rPr lang="en-AU" sz="800" dirty="0">
                <a:solidFill>
                  <a:srgbClr val="0B0B0B"/>
                </a:solidFill>
                <a:latin typeface="Aptos"/>
              </a:rPr>
              <a:t>• 15-day statutory obligation from 1 July</a:t>
            </a:r>
          </a:p>
          <a:p>
            <a:pPr algn="l"/>
            <a:r>
              <a:rPr lang="en-AU" sz="800" dirty="0">
                <a:solidFill>
                  <a:srgbClr val="0B0B0B"/>
                </a:solidFill>
                <a:latin typeface="Aptos"/>
              </a:rPr>
              <a:t>• 40 days today, 1.1% of it working time</a:t>
            </a:r>
          </a:p>
          <a:p>
            <a:pPr algn="l"/>
            <a:r>
              <a:rPr lang="en-AU" sz="800" dirty="0">
                <a:solidFill>
                  <a:srgbClr val="0B0B0B"/>
                </a:solidFill>
                <a:latin typeface="Aptos"/>
              </a:rPr>
              <a:t>• $492,000 a year to serve</a:t>
            </a:r>
          </a:p>
        </p:txBody>
      </p:sp>
      <p:sp>
        <p:nvSpPr>
          <p:cNvPr id="206" name="shape206"/>
          <p:cNvSpPr/>
          <p:nvPr/>
        </p:nvSpPr>
        <p:spPr>
          <a:xfrm>
            <a:off x="6123280" y="2368296"/>
            <a:ext cx="5583784" cy="116433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OPTIONS CONSIDERED</a:t>
            </a:r>
          </a:p>
          <a:p>
            <a:pPr algn="l"/>
            <a:r>
              <a:rPr lang="en-AU" sz="800" dirty="0">
                <a:solidFill>
                  <a:srgbClr val="0B0B0B"/>
                </a:solidFill>
                <a:latin typeface="Aptos"/>
              </a:rPr>
              <a:t>• A more assessors — negative NPV</a:t>
            </a:r>
          </a:p>
          <a:p>
            <a:pPr algn="l"/>
            <a:r>
              <a:rPr lang="en-AU" sz="800" dirty="0">
                <a:solidFill>
                  <a:srgbClr val="0B0B0B"/>
                </a:solidFill>
                <a:latin typeface="Aptos"/>
              </a:rPr>
              <a:t>• C outsource — faster payback, loses capabil…</a:t>
            </a:r>
          </a:p>
          <a:p>
            <a:pPr algn="l"/>
            <a:r>
              <a:rPr lang="en-AU" sz="800" dirty="0">
                <a:solidFill>
                  <a:srgbClr val="0B0B0B"/>
                </a:solidFill>
                <a:latin typeface="Aptos"/>
              </a:rPr>
              <a:t>• B rules engine and self-service — recommend…</a:t>
            </a:r>
          </a:p>
          <a:p>
            <a:pPr algn="l"/>
            <a:r>
              <a:rPr lang="en-AU" sz="800" dirty="0">
                <a:solidFill>
                  <a:srgbClr val="0B0B0B"/>
                </a:solidFill>
                <a:latin typeface="Aptos"/>
              </a:rPr>
              <a:t>• Do nothing — non-compliant</a:t>
            </a:r>
          </a:p>
        </p:txBody>
      </p:sp>
      <p:sp>
        <p:nvSpPr>
          <p:cNvPr id="207" name="shape207"/>
          <p:cNvSpPr/>
          <p:nvPr/>
        </p:nvSpPr>
        <p:spPr>
          <a:xfrm>
            <a:off x="484632" y="3587496"/>
            <a:ext cx="5583784" cy="116433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VALUE</a:t>
            </a:r>
          </a:p>
          <a:p>
            <a:pPr algn="l"/>
            <a:r>
              <a:rPr lang="en-AU" sz="800" dirty="0">
                <a:solidFill>
                  <a:srgbClr val="0B0B0B"/>
                </a:solidFill>
                <a:latin typeface="Aptos"/>
              </a:rPr>
              <a:t>• $264,000 a year saved</a:t>
            </a:r>
          </a:p>
          <a:p>
            <a:pPr algn="l"/>
            <a:r>
              <a:rPr lang="en-AU" sz="800" dirty="0">
                <a:solidFill>
                  <a:srgbClr val="0B0B0B"/>
                </a:solidFill>
                <a:latin typeface="Aptos"/>
              </a:rPr>
              <a:t>• $382,452 NPV over five years</a:t>
            </a:r>
          </a:p>
          <a:p>
            <a:pPr algn="l"/>
            <a:r>
              <a:rPr lang="en-AU" sz="800" dirty="0">
                <a:solidFill>
                  <a:srgbClr val="0B0B0B"/>
                </a:solidFill>
                <a:latin typeface="Aptos"/>
              </a:rPr>
              <a:t>• Cost per permit $41 to $19</a:t>
            </a:r>
          </a:p>
        </p:txBody>
      </p:sp>
      <p:sp>
        <p:nvSpPr>
          <p:cNvPr id="208" name="shape208"/>
          <p:cNvSpPr/>
          <p:nvPr/>
        </p:nvSpPr>
        <p:spPr>
          <a:xfrm>
            <a:off x="6123280" y="3587496"/>
            <a:ext cx="5583784" cy="116433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RISK</a:t>
            </a:r>
          </a:p>
          <a:p>
            <a:pPr algn="l"/>
            <a:r>
              <a:rPr lang="en-AU" sz="800" dirty="0">
                <a:solidFill>
                  <a:srgbClr val="0B0B0B"/>
                </a:solidFill>
                <a:latin typeface="Aptos"/>
              </a:rPr>
              <a:t>• Expected monetary value $196,000</a:t>
            </a:r>
          </a:p>
          <a:p>
            <a:pPr algn="l"/>
            <a:r>
              <a:rPr lang="en-AU" sz="800" dirty="0">
                <a:solidFill>
                  <a:srgbClr val="0B0B0B"/>
                </a:solidFill>
                <a:latin typeface="Aptos"/>
              </a:rPr>
              <a:t>• Largest: councils declining digital consent</a:t>
            </a:r>
          </a:p>
        </p:txBody>
      </p:sp>
      <p:sp>
        <p:nvSpPr>
          <p:cNvPr id="209" name="shape209"/>
          <p:cNvSpPr/>
          <p:nvPr/>
        </p:nvSpPr>
        <p:spPr>
          <a:xfrm>
            <a:off x="484632" y="4806696"/>
            <a:ext cx="5583784" cy="116433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TIMING</a:t>
            </a:r>
          </a:p>
          <a:p>
            <a:pPr algn="l"/>
            <a:r>
              <a:rPr lang="en-AU" sz="800" dirty="0">
                <a:solidFill>
                  <a:srgbClr val="0B0B0B"/>
                </a:solidFill>
                <a:latin typeface="Aptos"/>
              </a:rPr>
              <a:t>• Must be live before 1 July</a:t>
            </a:r>
          </a:p>
          <a:p>
            <a:pPr algn="l"/>
            <a:r>
              <a:rPr lang="en-AU" sz="800" dirty="0">
                <a:solidFill>
                  <a:srgbClr val="0B0B0B"/>
                </a:solidFill>
                <a:latin typeface="Aptos"/>
              </a:rPr>
              <a:t>• Consent redesign is on the critical path</a:t>
            </a:r>
          </a:p>
        </p:txBody>
      </p:sp>
      <p:sp>
        <p:nvSpPr>
          <p:cNvPr id="210" name="shape210"/>
          <p:cNvSpPr/>
          <p:nvPr/>
        </p:nvSpPr>
        <p:spPr>
          <a:xfrm>
            <a:off x="6123280" y="4806696"/>
            <a:ext cx="5583784" cy="116433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WHAT SUCCESS LOOKS LIKE</a:t>
            </a:r>
          </a:p>
          <a:p>
            <a:pPr algn="l"/>
            <a:r>
              <a:rPr lang="en-AU" sz="800" dirty="0">
                <a:solidFill>
                  <a:srgbClr val="0B0B0B"/>
                </a:solidFill>
                <a:latin typeface="Aptos"/>
              </a:rPr>
              <a:t>• Routine permits decided in 15 days</a:t>
            </a:r>
          </a:p>
          <a:p>
            <a:pPr algn="l"/>
            <a:r>
              <a:rPr lang="en-AU" sz="800" dirty="0">
                <a:solidFill>
                  <a:srgbClr val="0B0B0B"/>
                </a:solidFill>
                <a:latin typeface="Aptos"/>
              </a:rPr>
              <a:t>• Measured, not asserted — see step 16</a:t>
            </a:r>
          </a:p>
        </p:txBody>
      </p:sp>
      <p:sp>
        <p:nvSpPr>
          <p:cNvPr id="211" name="shape211"/>
          <p:cNvSpPr/>
          <p:nvPr/>
        </p:nvSpPr>
        <p:spPr>
          <a:xfrm>
            <a:off x="457200" y="6492240"/>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Fairgate Roads Authority — heavy vehicle access permits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shape212"/>
          <p:cNvSpPr/>
          <p:nvPr/>
        </p:nvSpPr>
        <p:spPr>
          <a:xfrm>
            <a:off x="457200" y="274320"/>
            <a:ext cx="914400" cy="40233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1000" b="1" dirty="0">
                <a:solidFill>
                  <a:srgbClr val="FFFFFF"/>
                </a:solidFill>
                <a:latin typeface="Aptos"/>
              </a:rPr>
              <a:t>STEP 11</a:t>
            </a:r>
          </a:p>
        </p:txBody>
      </p:sp>
      <p:sp>
        <p:nvSpPr>
          <p:cNvPr id="213" name="shape213"/>
          <p:cNvSpPr/>
          <p:nvPr/>
        </p:nvSpPr>
        <p:spPr>
          <a:xfrm>
            <a:off x="1499616" y="256032"/>
            <a:ext cx="8686800" cy="438912"/>
          </a:xfrm>
          <a:prstGeom prst="rect">
            <a:avLst/>
          </a:prstGeom>
          <a:noFill/>
          <a:ln>
            <a:noFill/>
          </a:ln>
        </p:spPr>
        <p:txBody>
          <a:bodyPr wrap="square" anchor="ctr" lIns="0" rIns="0" tIns="27432" bIns="27432"/>
          <a:lstStyle/>
          <a:p>
            <a:pPr algn="l"/>
            <a:r>
              <a:rPr lang="en-AU" sz="2000" b="1" dirty="0">
                <a:solidFill>
                  <a:srgbClr val="0B0B0B"/>
                </a:solidFill>
                <a:latin typeface="Aptos"/>
              </a:rPr>
              <a:t>10.41 Scope Modelling</a:t>
            </a:r>
          </a:p>
        </p:txBody>
      </p:sp>
      <p:sp>
        <p:nvSpPr>
          <p:cNvPr id="214" name="shape214"/>
          <p:cNvSpPr/>
          <p:nvPr/>
        </p:nvSpPr>
        <p:spPr>
          <a:xfrm>
            <a:off x="9357055" y="310896"/>
            <a:ext cx="2377440" cy="329184"/>
          </a:xfrm>
          <a:prstGeom prst="rect">
            <a:avLst/>
          </a:prstGeom>
          <a:noFill/>
          <a:ln>
            <a:noFill/>
          </a:ln>
        </p:spPr>
        <p:txBody>
          <a:bodyPr wrap="square" anchor="ctr" lIns="0" rIns="0" tIns="27432" bIns="27432"/>
          <a:lstStyle/>
          <a:p>
            <a:pPr algn="r"/>
            <a:r>
              <a:rPr lang="en-AU" sz="1000" dirty="0">
                <a:solidFill>
                  <a:srgbClr val="6B6A66"/>
                </a:solidFill>
                <a:latin typeface="Aptos"/>
              </a:rPr>
              <a:t>Modelling and specification</a:t>
            </a:r>
          </a:p>
        </p:txBody>
      </p:sp>
      <p:sp>
        <p:nvSpPr>
          <p:cNvPr id="215" name="shape215"/>
          <p:cNvSpPr/>
          <p:nvPr/>
        </p:nvSpPr>
        <p:spPr>
          <a:xfrm>
            <a:off x="457200" y="731520"/>
            <a:ext cx="10515600" cy="310896"/>
          </a:xfrm>
          <a:prstGeom prst="rect">
            <a:avLst/>
          </a:prstGeom>
          <a:noFill/>
          <a:ln>
            <a:noFill/>
          </a:ln>
        </p:spPr>
        <p:txBody>
          <a:bodyPr wrap="square" anchor="ctr" lIns="0" rIns="0" tIns="27432" bIns="27432"/>
          <a:lstStyle/>
          <a:p>
            <a:pPr algn="l"/>
            <a:r>
              <a:rPr lang="en-AU" sz="1350" i="1" dirty="0">
                <a:solidFill>
                  <a:srgbClr val="184F95"/>
                </a:solidFill>
                <a:latin typeface="Aptos"/>
              </a:rPr>
              <a:t>What is in, what is out, and what will try to creep in?</a:t>
            </a:r>
          </a:p>
        </p:txBody>
      </p:sp>
      <p:cxnSp>
        <p:nvCxnSpPr>
          <p:cNvPr id="216" name="conn216"/>
          <p:cNvCxnSpPr/>
          <p:nvPr/>
        </p:nvCxnSpPr>
        <p:spPr>
          <a:xfrm>
            <a:off x="457200" y="1115568"/>
            <a:ext cx="11277295" cy="1"/>
          </a:xfrm>
          <a:prstGeom prst="line">
            <a:avLst/>
          </a:prstGeom>
          <a:ln w="12700">
            <a:solidFill>
              <a:srgbClr val="D9D8D0"/>
            </a:solidFill>
          </a:ln>
        </p:spPr>
      </p:cxnSp>
      <p:sp>
        <p:nvSpPr>
          <p:cNvPr id="217" name="shape217"/>
          <p:cNvSpPr/>
          <p:nvPr/>
        </p:nvSpPr>
        <p:spPr>
          <a:xfrm>
            <a:off x="457200"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TAKES</a:t>
            </a:r>
          </a:p>
          <a:p>
            <a:pPr algn="l"/>
            <a:r>
              <a:rPr lang="en-AU" sz="950" dirty="0">
                <a:solidFill>
                  <a:srgbClr val="0B0B0B"/>
                </a:solidFill>
                <a:latin typeface="Aptos"/>
              </a:rPr>
              <a:t>The approved change strategy.</a:t>
            </a:r>
          </a:p>
        </p:txBody>
      </p:sp>
      <p:sp>
        <p:nvSpPr>
          <p:cNvPr id="218" name="shape218"/>
          <p:cNvSpPr/>
          <p:nvPr/>
        </p:nvSpPr>
        <p:spPr>
          <a:xfrm>
            <a:off x="6187288"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GIVES</a:t>
            </a:r>
          </a:p>
          <a:p>
            <a:pPr algn="l"/>
            <a:r>
              <a:rPr lang="en-AU" sz="950" dirty="0">
                <a:solidFill>
                  <a:srgbClr val="0B0B0B"/>
                </a:solidFill>
                <a:latin typeface="Aptos"/>
              </a:rPr>
              <a:t>A boundary. The in-scope list becomes the top level of the decomposition, unchanged.</a:t>
            </a:r>
          </a:p>
        </p:txBody>
      </p:sp>
      <p:sp>
        <p:nvSpPr>
          <p:cNvPr id="219" name="shape219"/>
          <p:cNvSpPr/>
          <p:nvPr/>
        </p:nvSpPr>
        <p:spPr>
          <a:xfrm>
            <a:off x="6187288" y="1225296"/>
            <a:ext cx="32004" cy="713232"/>
          </a:xfrm>
          <a:prstGeom prst="rect">
            <a:avLst/>
          </a:prstGeom>
          <a:solidFill>
            <a:srgbClr val="2A78D6"/>
          </a:solidFill>
          <a:ln>
            <a:noFill/>
          </a:ln>
        </p:spPr>
        <p:txBody>
          <a:bodyPr wrap="square" anchor="ctr" lIns="54864" rIns="54864" tIns="27432" bIns="27432"/>
          <a:lstStyle/>
          <a:p>
            <a:pPr algn="l"/>
            <a:endParaRPr lang="en-AU" sz="1100"/>
          </a:p>
        </p:txBody>
      </p:sp>
      <p:sp>
        <p:nvSpPr>
          <p:cNvPr id="220" name="shape220"/>
          <p:cNvSpPr/>
          <p:nvPr/>
        </p:nvSpPr>
        <p:spPr>
          <a:xfrm>
            <a:off x="457200" y="2048256"/>
            <a:ext cx="10515600" cy="237744"/>
          </a:xfrm>
          <a:prstGeom prst="rect">
            <a:avLst/>
          </a:prstGeom>
          <a:noFill/>
          <a:ln>
            <a:noFill/>
          </a:ln>
        </p:spPr>
        <p:txBody>
          <a:bodyPr wrap="square" anchor="b" lIns="0" rIns="0" tIns="27432" bIns="27432"/>
          <a:lstStyle/>
          <a:p>
            <a:pPr algn="l"/>
            <a:r>
              <a:rPr lang="en-AU" sz="1100" b="1" dirty="0">
                <a:solidFill>
                  <a:srgbClr val="184F95"/>
                </a:solidFill>
                <a:latin typeface="Aptos"/>
              </a:rPr>
              <a:t>Boundary for the permit service change</a:t>
            </a:r>
          </a:p>
        </p:txBody>
      </p:sp>
      <p:sp>
        <p:nvSpPr>
          <p:cNvPr id="221" name="shape221"/>
          <p:cNvSpPr/>
          <p:nvPr/>
        </p:nvSpPr>
        <p:spPr>
          <a:xfrm>
            <a:off x="484632" y="2368296"/>
            <a:ext cx="370423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IN SCOPE</a:t>
            </a:r>
          </a:p>
          <a:p>
            <a:pPr algn="l"/>
            <a:r>
              <a:rPr lang="en-AU" sz="800" dirty="0">
                <a:solidFill>
                  <a:srgbClr val="0B0B0B"/>
                </a:solidFill>
                <a:latin typeface="Aptos"/>
              </a:rPr>
              <a:t>• Application lodgement</a:t>
            </a:r>
          </a:p>
          <a:p>
            <a:pPr algn="l"/>
            <a:r>
              <a:rPr lang="en-AU" sz="800" dirty="0">
                <a:solidFill>
                  <a:srgbClr val="0B0B0B"/>
                </a:solidFill>
                <a:latin typeface="Aptos"/>
              </a:rPr>
              <a:t>• Route assessment</a:t>
            </a:r>
          </a:p>
          <a:p>
            <a:pPr algn="l"/>
            <a:r>
              <a:rPr lang="en-AU" sz="800" dirty="0">
                <a:solidFill>
                  <a:srgbClr val="0B0B0B"/>
                </a:solidFill>
                <a:latin typeface="Aptos"/>
              </a:rPr>
              <a:t>• Road manager consent</a:t>
            </a:r>
          </a:p>
          <a:p>
            <a:pPr algn="l"/>
            <a:r>
              <a:rPr lang="en-AU" sz="800" dirty="0">
                <a:solidFill>
                  <a:srgbClr val="0B0B0B"/>
                </a:solidFill>
                <a:latin typeface="Aptos"/>
              </a:rPr>
              <a:t>• Permit issue and variation</a:t>
            </a:r>
          </a:p>
        </p:txBody>
      </p:sp>
      <p:sp>
        <p:nvSpPr>
          <p:cNvPr id="222" name="shape222"/>
          <p:cNvSpPr/>
          <p:nvPr/>
        </p:nvSpPr>
        <p:spPr>
          <a:xfrm>
            <a:off x="4243730" y="2368296"/>
            <a:ext cx="370423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OUT OF SCOPE</a:t>
            </a:r>
          </a:p>
          <a:p>
            <a:pPr algn="l"/>
            <a:r>
              <a:rPr lang="en-AU" sz="800" dirty="0">
                <a:solidFill>
                  <a:srgbClr val="0B0B0B"/>
                </a:solidFill>
                <a:latin typeface="Aptos"/>
              </a:rPr>
              <a:t>• Enforcement and infringements</a:t>
            </a:r>
          </a:p>
          <a:p>
            <a:pPr algn="l"/>
            <a:r>
              <a:rPr lang="en-AU" sz="800" dirty="0">
                <a:solidFill>
                  <a:srgbClr val="0B0B0B"/>
                </a:solidFill>
                <a:latin typeface="Aptos"/>
              </a:rPr>
              <a:t>• Bridge asset management</a:t>
            </a:r>
          </a:p>
          <a:p>
            <a:pPr algn="l"/>
            <a:r>
              <a:rPr lang="en-AU" sz="800" dirty="0">
                <a:solidFill>
                  <a:srgbClr val="0B0B0B"/>
                </a:solidFill>
                <a:latin typeface="Aptos"/>
              </a:rPr>
              <a:t>• Operator accreditation</a:t>
            </a:r>
          </a:p>
          <a:p>
            <a:pPr algn="l"/>
            <a:r>
              <a:rPr lang="en-AU" sz="800" dirty="0">
                <a:solidFill>
                  <a:srgbClr val="0B0B0B"/>
                </a:solidFill>
                <a:latin typeface="Aptos"/>
              </a:rPr>
              <a:t>• Fee setting</a:t>
            </a:r>
          </a:p>
        </p:txBody>
      </p:sp>
      <p:sp>
        <p:nvSpPr>
          <p:cNvPr id="223" name="shape223"/>
          <p:cNvSpPr/>
          <p:nvPr/>
        </p:nvSpPr>
        <p:spPr>
          <a:xfrm>
            <a:off x="8002829" y="2368296"/>
            <a:ext cx="3704234" cy="1499616"/>
          </a:xfrm>
          <a:prstGeom prst="rect">
            <a:avLst/>
          </a:prstGeom>
          <a:solidFill>
            <a:srgbClr val="FFFFFF"/>
          </a:solidFill>
          <a:ln w="9525">
            <a:solidFill>
              <a:srgbClr val="C3C2B7"/>
            </a:solidFill>
          </a:ln>
        </p:spPr>
        <p:txBody>
          <a:bodyPr wrap="square" anchor="t" lIns="73152" rIns="73152" tIns="27432" bIns="27432"/>
          <a:lstStyle/>
          <a:p>
            <a:pPr algn="l"/>
            <a:r>
              <a:rPr lang="en-AU" sz="800" b="1" dirty="0">
                <a:solidFill>
                  <a:srgbClr val="184F95"/>
                </a:solidFill>
                <a:latin typeface="Aptos"/>
              </a:rPr>
              <a:t>ADJACENT — DECIDE BEFORE IT DRIFTS</a:t>
            </a:r>
          </a:p>
          <a:p>
            <a:pPr algn="l"/>
            <a:r>
              <a:rPr lang="en-AU" sz="800" dirty="0">
                <a:solidFill>
                  <a:srgbClr val="0B0B0B"/>
                </a:solidFill>
                <a:latin typeface="Aptos"/>
              </a:rPr>
              <a:t>• Restriction data mastering</a:t>
            </a:r>
          </a:p>
          <a:p>
            <a:pPr algn="l"/>
            <a:r>
              <a:rPr lang="en-AU" sz="800" dirty="0">
                <a:solidFill>
                  <a:srgbClr val="0B0B0B"/>
                </a:solidFill>
                <a:latin typeface="Aptos"/>
              </a:rPr>
              <a:t>• Council consent portal</a:t>
            </a:r>
          </a:p>
          <a:p>
            <a:pPr algn="l"/>
            <a:r>
              <a:rPr lang="en-AU" sz="800" dirty="0">
                <a:solidFill>
                  <a:srgbClr val="0B0B0B"/>
                </a:solidFill>
                <a:latin typeface="Aptos"/>
              </a:rPr>
              <a:t>• Registry identity</a:t>
            </a:r>
          </a:p>
        </p:txBody>
      </p:sp>
      <p:sp>
        <p:nvSpPr>
          <p:cNvPr id="224" name="shape224"/>
          <p:cNvSpPr/>
          <p:nvPr/>
        </p:nvSpPr>
        <p:spPr>
          <a:xfrm>
            <a:off x="457200" y="6071616"/>
            <a:ext cx="10515600" cy="384048"/>
          </a:xfrm>
          <a:prstGeom prst="rect">
            <a:avLst/>
          </a:prstGeom>
          <a:noFill/>
          <a:ln>
            <a:noFill/>
          </a:ln>
        </p:spPr>
        <p:txBody>
          <a:bodyPr wrap="square" anchor="t" lIns="0" rIns="0" tIns="27432" bIns="27432"/>
          <a:lstStyle/>
          <a:p>
            <a:pPr algn="l"/>
            <a:r>
              <a:rPr lang="en-AU" sz="850" dirty="0">
                <a:solidFill>
                  <a:srgbClr val="6B6A66"/>
                </a:solidFill>
                <a:latin typeface="Aptos"/>
              </a:rPr>
              <a:t>Restriction data is adjacent and unavoidable: the root cause sits in it. Naming it here forces the decision rather than absorbing it silently.</a:t>
            </a:r>
          </a:p>
        </p:txBody>
      </p:sp>
      <p:sp>
        <p:nvSpPr>
          <p:cNvPr id="225" name="shape225"/>
          <p:cNvSpPr/>
          <p:nvPr/>
        </p:nvSpPr>
        <p:spPr>
          <a:xfrm>
            <a:off x="457200" y="6492240"/>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Fairgate Roads Authority — heavy vehicle access permits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shape226"/>
          <p:cNvSpPr/>
          <p:nvPr/>
        </p:nvSpPr>
        <p:spPr>
          <a:xfrm>
            <a:off x="457200" y="274320"/>
            <a:ext cx="914400" cy="40233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1000" b="1" dirty="0">
                <a:solidFill>
                  <a:srgbClr val="FFFFFF"/>
                </a:solidFill>
                <a:latin typeface="Aptos"/>
              </a:rPr>
              <a:t>STEP 12</a:t>
            </a:r>
          </a:p>
        </p:txBody>
      </p:sp>
      <p:sp>
        <p:nvSpPr>
          <p:cNvPr id="227" name="shape227"/>
          <p:cNvSpPr/>
          <p:nvPr/>
        </p:nvSpPr>
        <p:spPr>
          <a:xfrm>
            <a:off x="1499616" y="256032"/>
            <a:ext cx="8686800" cy="438912"/>
          </a:xfrm>
          <a:prstGeom prst="rect">
            <a:avLst/>
          </a:prstGeom>
          <a:noFill/>
          <a:ln>
            <a:noFill/>
          </a:ln>
        </p:spPr>
        <p:txBody>
          <a:bodyPr wrap="square" anchor="ctr" lIns="0" rIns="0" tIns="27432" bIns="27432"/>
          <a:lstStyle/>
          <a:p>
            <a:pPr algn="l"/>
            <a:r>
              <a:rPr lang="en-AU" sz="2000" b="1" dirty="0">
                <a:solidFill>
                  <a:srgbClr val="0B0B0B"/>
                </a:solidFill>
                <a:latin typeface="Aptos"/>
              </a:rPr>
              <a:t>10.22 Functional Decomposition</a:t>
            </a:r>
          </a:p>
        </p:txBody>
      </p:sp>
      <p:sp>
        <p:nvSpPr>
          <p:cNvPr id="228" name="shape228"/>
          <p:cNvSpPr/>
          <p:nvPr/>
        </p:nvSpPr>
        <p:spPr>
          <a:xfrm>
            <a:off x="9357055" y="310896"/>
            <a:ext cx="2377440" cy="329184"/>
          </a:xfrm>
          <a:prstGeom prst="rect">
            <a:avLst/>
          </a:prstGeom>
          <a:noFill/>
          <a:ln>
            <a:noFill/>
          </a:ln>
        </p:spPr>
        <p:txBody>
          <a:bodyPr wrap="square" anchor="ctr" lIns="0" rIns="0" tIns="27432" bIns="27432"/>
          <a:lstStyle/>
          <a:p>
            <a:pPr algn="r"/>
            <a:r>
              <a:rPr lang="en-AU" sz="1000" dirty="0">
                <a:solidFill>
                  <a:srgbClr val="6B6A66"/>
                </a:solidFill>
                <a:latin typeface="Aptos"/>
              </a:rPr>
              <a:t>Modelling and specification</a:t>
            </a:r>
          </a:p>
        </p:txBody>
      </p:sp>
      <p:sp>
        <p:nvSpPr>
          <p:cNvPr id="229" name="shape229"/>
          <p:cNvSpPr/>
          <p:nvPr/>
        </p:nvSpPr>
        <p:spPr>
          <a:xfrm>
            <a:off x="457200" y="731520"/>
            <a:ext cx="10515600" cy="310896"/>
          </a:xfrm>
          <a:prstGeom prst="rect">
            <a:avLst/>
          </a:prstGeom>
          <a:noFill/>
          <a:ln>
            <a:noFill/>
          </a:ln>
        </p:spPr>
        <p:txBody>
          <a:bodyPr wrap="square" anchor="ctr" lIns="0" rIns="0" tIns="27432" bIns="27432"/>
          <a:lstStyle/>
          <a:p>
            <a:pPr algn="l"/>
            <a:r>
              <a:rPr lang="en-AU" sz="1350" i="1" dirty="0">
                <a:solidFill>
                  <a:srgbClr val="184F95"/>
                </a:solidFill>
                <a:latin typeface="Aptos"/>
              </a:rPr>
              <a:t>What does the in-scope work break into?</a:t>
            </a:r>
          </a:p>
        </p:txBody>
      </p:sp>
      <p:cxnSp>
        <p:nvCxnSpPr>
          <p:cNvPr id="230" name="conn230"/>
          <p:cNvCxnSpPr/>
          <p:nvPr/>
        </p:nvCxnSpPr>
        <p:spPr>
          <a:xfrm>
            <a:off x="457200" y="1115568"/>
            <a:ext cx="11277295" cy="1"/>
          </a:xfrm>
          <a:prstGeom prst="line">
            <a:avLst/>
          </a:prstGeom>
          <a:ln w="12700">
            <a:solidFill>
              <a:srgbClr val="D9D8D0"/>
            </a:solidFill>
          </a:ln>
        </p:spPr>
      </p:cxnSp>
      <p:sp>
        <p:nvSpPr>
          <p:cNvPr id="231" name="shape231"/>
          <p:cNvSpPr/>
          <p:nvPr/>
        </p:nvSpPr>
        <p:spPr>
          <a:xfrm>
            <a:off x="457200"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TAKES</a:t>
            </a:r>
          </a:p>
          <a:p>
            <a:pPr algn="l"/>
            <a:r>
              <a:rPr lang="en-AU" sz="950" dirty="0">
                <a:solidFill>
                  <a:srgbClr val="0B0B0B"/>
                </a:solidFill>
                <a:latin typeface="Aptos"/>
              </a:rPr>
              <a:t>The four in-scope items, as the top level.</a:t>
            </a:r>
          </a:p>
        </p:txBody>
      </p:sp>
      <p:sp>
        <p:nvSpPr>
          <p:cNvPr id="232" name="shape232"/>
          <p:cNvSpPr/>
          <p:nvPr/>
        </p:nvSpPr>
        <p:spPr>
          <a:xfrm>
            <a:off x="6187288"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GIVES</a:t>
            </a:r>
          </a:p>
          <a:p>
            <a:pPr algn="l"/>
            <a:r>
              <a:rPr lang="en-AU" sz="950" dirty="0">
                <a:solidFill>
                  <a:srgbClr val="0B0B0B"/>
                </a:solidFill>
                <a:latin typeface="Aptos"/>
              </a:rPr>
              <a:t>Functions small enough to specify. 'Assess route' is where the rules and the data live.</a:t>
            </a:r>
          </a:p>
        </p:txBody>
      </p:sp>
      <p:sp>
        <p:nvSpPr>
          <p:cNvPr id="233" name="shape233"/>
          <p:cNvSpPr/>
          <p:nvPr/>
        </p:nvSpPr>
        <p:spPr>
          <a:xfrm>
            <a:off x="6187288" y="1225296"/>
            <a:ext cx="32004" cy="713232"/>
          </a:xfrm>
          <a:prstGeom prst="rect">
            <a:avLst/>
          </a:prstGeom>
          <a:solidFill>
            <a:srgbClr val="2A78D6"/>
          </a:solidFill>
          <a:ln>
            <a:noFill/>
          </a:ln>
        </p:spPr>
        <p:txBody>
          <a:bodyPr wrap="square" anchor="ctr" lIns="54864" rIns="54864" tIns="27432" bIns="27432"/>
          <a:lstStyle/>
          <a:p>
            <a:pPr algn="l"/>
            <a:endParaRPr lang="en-AU" sz="1100"/>
          </a:p>
        </p:txBody>
      </p:sp>
      <p:sp>
        <p:nvSpPr>
          <p:cNvPr id="234" name="shape234"/>
          <p:cNvSpPr/>
          <p:nvPr/>
        </p:nvSpPr>
        <p:spPr>
          <a:xfrm>
            <a:off x="457200" y="2048256"/>
            <a:ext cx="10515600" cy="237744"/>
          </a:xfrm>
          <a:prstGeom prst="rect">
            <a:avLst/>
          </a:prstGeom>
          <a:noFill/>
          <a:ln>
            <a:noFill/>
          </a:ln>
        </p:spPr>
        <p:txBody>
          <a:bodyPr wrap="square" anchor="b" lIns="0" rIns="0" tIns="27432" bIns="27432"/>
          <a:lstStyle/>
          <a:p>
            <a:pPr algn="l"/>
            <a:r>
              <a:rPr lang="en-AU" sz="1100" b="1" dirty="0">
                <a:solidFill>
                  <a:srgbClr val="184F95"/>
                </a:solidFill>
                <a:latin typeface="Aptos"/>
              </a:rPr>
              <a:t>The permit service, broken down far enough to specify</a:t>
            </a:r>
          </a:p>
        </p:txBody>
      </p:sp>
      <p:sp>
        <p:nvSpPr>
          <p:cNvPr id="235" name="shape235"/>
          <p:cNvSpPr/>
          <p:nvPr/>
        </p:nvSpPr>
        <p:spPr>
          <a:xfrm>
            <a:off x="457200" y="2121408"/>
            <a:ext cx="1127729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Service    2. Function    3. Sub-function</a:t>
            </a:r>
          </a:p>
        </p:txBody>
      </p:sp>
      <p:sp>
        <p:nvSpPr>
          <p:cNvPr id="236" name="shape236"/>
          <p:cNvSpPr/>
          <p:nvPr/>
        </p:nvSpPr>
        <p:spPr>
          <a:xfrm>
            <a:off x="457200" y="2340864"/>
            <a:ext cx="11277295" cy="195943"/>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Issue a heavy vehicle access permit</a:t>
            </a:r>
          </a:p>
        </p:txBody>
      </p:sp>
      <p:sp>
        <p:nvSpPr>
          <p:cNvPr id="237" name="shape237"/>
          <p:cNvSpPr/>
          <p:nvPr/>
        </p:nvSpPr>
        <p:spPr>
          <a:xfrm>
            <a:off x="841248" y="2582527"/>
            <a:ext cx="10893247" cy="195943"/>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Lodge application</a:t>
            </a:r>
          </a:p>
        </p:txBody>
      </p:sp>
      <p:cxnSp>
        <p:nvCxnSpPr>
          <p:cNvPr id="238" name="conn238"/>
          <p:cNvCxnSpPr/>
          <p:nvPr/>
        </p:nvCxnSpPr>
        <p:spPr>
          <a:xfrm>
            <a:off x="713232" y="2680498"/>
            <a:ext cx="128016" cy="1"/>
          </a:xfrm>
          <a:prstGeom prst="line">
            <a:avLst/>
          </a:prstGeom>
          <a:ln w="6350">
            <a:solidFill>
              <a:srgbClr val="C3C2B7"/>
            </a:solidFill>
          </a:ln>
        </p:spPr>
      </p:cxnSp>
      <p:sp>
        <p:nvSpPr>
          <p:cNvPr id="239" name="shape239"/>
          <p:cNvSpPr/>
          <p:nvPr/>
        </p:nvSpPr>
        <p:spPr>
          <a:xfrm>
            <a:off x="1225296" y="2824190"/>
            <a:ext cx="10509199" cy="195943"/>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Capture vehicle configuration</a:t>
            </a:r>
          </a:p>
        </p:txBody>
      </p:sp>
      <p:cxnSp>
        <p:nvCxnSpPr>
          <p:cNvPr id="240" name="conn240"/>
          <p:cNvCxnSpPr/>
          <p:nvPr/>
        </p:nvCxnSpPr>
        <p:spPr>
          <a:xfrm>
            <a:off x="1097280" y="2922161"/>
            <a:ext cx="128016" cy="1"/>
          </a:xfrm>
          <a:prstGeom prst="line">
            <a:avLst/>
          </a:prstGeom>
          <a:ln w="6350">
            <a:solidFill>
              <a:srgbClr val="C3C2B7"/>
            </a:solidFill>
          </a:ln>
        </p:spPr>
      </p:cxnSp>
      <p:sp>
        <p:nvSpPr>
          <p:cNvPr id="241" name="shape241"/>
          <p:cNvSpPr/>
          <p:nvPr/>
        </p:nvSpPr>
        <p:spPr>
          <a:xfrm>
            <a:off x="1225296" y="3065853"/>
            <a:ext cx="10509199" cy="195943"/>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Capture proposed route</a:t>
            </a:r>
          </a:p>
        </p:txBody>
      </p:sp>
      <p:cxnSp>
        <p:nvCxnSpPr>
          <p:cNvPr id="242" name="conn242"/>
          <p:cNvCxnSpPr/>
          <p:nvPr/>
        </p:nvCxnSpPr>
        <p:spPr>
          <a:xfrm>
            <a:off x="1097280" y="3163824"/>
            <a:ext cx="128016" cy="1"/>
          </a:xfrm>
          <a:prstGeom prst="line">
            <a:avLst/>
          </a:prstGeom>
          <a:ln w="6350">
            <a:solidFill>
              <a:srgbClr val="C3C2B7"/>
            </a:solidFill>
          </a:ln>
        </p:spPr>
      </p:cxnSp>
      <p:sp>
        <p:nvSpPr>
          <p:cNvPr id="243" name="shape243"/>
          <p:cNvSpPr/>
          <p:nvPr/>
        </p:nvSpPr>
        <p:spPr>
          <a:xfrm>
            <a:off x="841248" y="3307515"/>
            <a:ext cx="10893247" cy="195943"/>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Assess route</a:t>
            </a:r>
          </a:p>
        </p:txBody>
      </p:sp>
      <p:cxnSp>
        <p:nvCxnSpPr>
          <p:cNvPr id="244" name="conn244"/>
          <p:cNvCxnSpPr/>
          <p:nvPr/>
        </p:nvCxnSpPr>
        <p:spPr>
          <a:xfrm>
            <a:off x="713232" y="3405487"/>
            <a:ext cx="128016" cy="1"/>
          </a:xfrm>
          <a:prstGeom prst="line">
            <a:avLst/>
          </a:prstGeom>
          <a:ln w="6350">
            <a:solidFill>
              <a:srgbClr val="C3C2B7"/>
            </a:solidFill>
          </a:ln>
        </p:spPr>
      </p:cxnSp>
      <p:sp>
        <p:nvSpPr>
          <p:cNvPr id="245" name="shape245"/>
          <p:cNvSpPr/>
          <p:nvPr/>
        </p:nvSpPr>
        <p:spPr>
          <a:xfrm>
            <a:off x="1225296" y="3549178"/>
            <a:ext cx="10509199" cy="195943"/>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Check mass and bridge limits</a:t>
            </a:r>
          </a:p>
        </p:txBody>
      </p:sp>
      <p:cxnSp>
        <p:nvCxnSpPr>
          <p:cNvPr id="246" name="conn246"/>
          <p:cNvCxnSpPr/>
          <p:nvPr/>
        </p:nvCxnSpPr>
        <p:spPr>
          <a:xfrm>
            <a:off x="1097280" y="3647150"/>
            <a:ext cx="128016" cy="1"/>
          </a:xfrm>
          <a:prstGeom prst="line">
            <a:avLst/>
          </a:prstGeom>
          <a:ln w="6350">
            <a:solidFill>
              <a:srgbClr val="C3C2B7"/>
            </a:solidFill>
          </a:ln>
        </p:spPr>
      </p:cxnSp>
      <p:sp>
        <p:nvSpPr>
          <p:cNvPr id="247" name="shape247"/>
          <p:cNvSpPr/>
          <p:nvPr/>
        </p:nvSpPr>
        <p:spPr>
          <a:xfrm>
            <a:off x="1225296" y="3790841"/>
            <a:ext cx="10509199" cy="195943"/>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Check seasonal restrictions</a:t>
            </a:r>
          </a:p>
        </p:txBody>
      </p:sp>
      <p:cxnSp>
        <p:nvCxnSpPr>
          <p:cNvPr id="248" name="conn248"/>
          <p:cNvCxnSpPr/>
          <p:nvPr/>
        </p:nvCxnSpPr>
        <p:spPr>
          <a:xfrm>
            <a:off x="1097280" y="3888813"/>
            <a:ext cx="128016" cy="1"/>
          </a:xfrm>
          <a:prstGeom prst="line">
            <a:avLst/>
          </a:prstGeom>
          <a:ln w="6350">
            <a:solidFill>
              <a:srgbClr val="C3C2B7"/>
            </a:solidFill>
          </a:ln>
        </p:spPr>
      </p:cxnSp>
      <p:sp>
        <p:nvSpPr>
          <p:cNvPr id="249" name="shape249"/>
          <p:cNvSpPr/>
          <p:nvPr/>
        </p:nvSpPr>
        <p:spPr>
          <a:xfrm>
            <a:off x="1225296" y="4032504"/>
            <a:ext cx="10509199" cy="195943"/>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Determine affected road managers</a:t>
            </a:r>
          </a:p>
        </p:txBody>
      </p:sp>
      <p:cxnSp>
        <p:nvCxnSpPr>
          <p:cNvPr id="250" name="conn250"/>
          <p:cNvCxnSpPr/>
          <p:nvPr/>
        </p:nvCxnSpPr>
        <p:spPr>
          <a:xfrm>
            <a:off x="1097280" y="4130475"/>
            <a:ext cx="128016" cy="1"/>
          </a:xfrm>
          <a:prstGeom prst="line">
            <a:avLst/>
          </a:prstGeom>
          <a:ln w="6350">
            <a:solidFill>
              <a:srgbClr val="C3C2B7"/>
            </a:solidFill>
          </a:ln>
        </p:spPr>
      </p:cxnSp>
      <p:sp>
        <p:nvSpPr>
          <p:cNvPr id="251" name="shape251"/>
          <p:cNvSpPr/>
          <p:nvPr/>
        </p:nvSpPr>
        <p:spPr>
          <a:xfrm>
            <a:off x="841248" y="4274167"/>
            <a:ext cx="10893247" cy="195943"/>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Obtain consent</a:t>
            </a:r>
          </a:p>
        </p:txBody>
      </p:sp>
      <p:cxnSp>
        <p:nvCxnSpPr>
          <p:cNvPr id="252" name="conn252"/>
          <p:cNvCxnSpPr/>
          <p:nvPr/>
        </p:nvCxnSpPr>
        <p:spPr>
          <a:xfrm>
            <a:off x="713232" y="4372138"/>
            <a:ext cx="128016" cy="1"/>
          </a:xfrm>
          <a:prstGeom prst="line">
            <a:avLst/>
          </a:prstGeom>
          <a:ln w="6350">
            <a:solidFill>
              <a:srgbClr val="C3C2B7"/>
            </a:solidFill>
          </a:ln>
        </p:spPr>
      </p:cxnSp>
      <p:sp>
        <p:nvSpPr>
          <p:cNvPr id="253" name="shape253"/>
          <p:cNvSpPr/>
          <p:nvPr/>
        </p:nvSpPr>
        <p:spPr>
          <a:xfrm>
            <a:off x="1225296" y="4515830"/>
            <a:ext cx="10509199" cy="195943"/>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Request consent</a:t>
            </a:r>
          </a:p>
        </p:txBody>
      </p:sp>
      <p:cxnSp>
        <p:nvCxnSpPr>
          <p:cNvPr id="254" name="conn254"/>
          <p:cNvCxnSpPr/>
          <p:nvPr/>
        </p:nvCxnSpPr>
        <p:spPr>
          <a:xfrm>
            <a:off x="1097280" y="4613801"/>
            <a:ext cx="128016" cy="1"/>
          </a:xfrm>
          <a:prstGeom prst="line">
            <a:avLst/>
          </a:prstGeom>
          <a:ln w="6350">
            <a:solidFill>
              <a:srgbClr val="C3C2B7"/>
            </a:solidFill>
          </a:ln>
        </p:spPr>
      </p:cxnSp>
      <p:sp>
        <p:nvSpPr>
          <p:cNvPr id="255" name="shape255"/>
          <p:cNvSpPr/>
          <p:nvPr/>
        </p:nvSpPr>
        <p:spPr>
          <a:xfrm>
            <a:off x="1225296" y="4757493"/>
            <a:ext cx="10509199" cy="195943"/>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Track and escalate</a:t>
            </a:r>
          </a:p>
        </p:txBody>
      </p:sp>
      <p:cxnSp>
        <p:nvCxnSpPr>
          <p:cNvPr id="256" name="conn256"/>
          <p:cNvCxnSpPr/>
          <p:nvPr/>
        </p:nvCxnSpPr>
        <p:spPr>
          <a:xfrm>
            <a:off x="1097280" y="4855464"/>
            <a:ext cx="128016" cy="1"/>
          </a:xfrm>
          <a:prstGeom prst="line">
            <a:avLst/>
          </a:prstGeom>
          <a:ln w="6350">
            <a:solidFill>
              <a:srgbClr val="C3C2B7"/>
            </a:solidFill>
          </a:ln>
        </p:spPr>
      </p:cxnSp>
      <p:sp>
        <p:nvSpPr>
          <p:cNvPr id="257" name="shape257"/>
          <p:cNvSpPr/>
          <p:nvPr/>
        </p:nvSpPr>
        <p:spPr>
          <a:xfrm>
            <a:off x="841248" y="4999155"/>
            <a:ext cx="10893247" cy="195943"/>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Issue and vary</a:t>
            </a:r>
          </a:p>
        </p:txBody>
      </p:sp>
      <p:cxnSp>
        <p:nvCxnSpPr>
          <p:cNvPr id="258" name="conn258"/>
          <p:cNvCxnSpPr/>
          <p:nvPr/>
        </p:nvCxnSpPr>
        <p:spPr>
          <a:xfrm>
            <a:off x="713232" y="5097127"/>
            <a:ext cx="128016" cy="1"/>
          </a:xfrm>
          <a:prstGeom prst="line">
            <a:avLst/>
          </a:prstGeom>
          <a:ln w="6350">
            <a:solidFill>
              <a:srgbClr val="C3C2B7"/>
            </a:solidFill>
          </a:ln>
        </p:spPr>
      </p:cxnSp>
      <p:sp>
        <p:nvSpPr>
          <p:cNvPr id="259" name="shape259"/>
          <p:cNvSpPr/>
          <p:nvPr/>
        </p:nvSpPr>
        <p:spPr>
          <a:xfrm>
            <a:off x="1225296" y="5240818"/>
            <a:ext cx="10509199" cy="195943"/>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Issue permit</a:t>
            </a:r>
          </a:p>
        </p:txBody>
      </p:sp>
      <p:cxnSp>
        <p:nvCxnSpPr>
          <p:cNvPr id="260" name="conn260"/>
          <p:cNvCxnSpPr/>
          <p:nvPr/>
        </p:nvCxnSpPr>
        <p:spPr>
          <a:xfrm>
            <a:off x="1097280" y="5338790"/>
            <a:ext cx="128016" cy="1"/>
          </a:xfrm>
          <a:prstGeom prst="line">
            <a:avLst/>
          </a:prstGeom>
          <a:ln w="6350">
            <a:solidFill>
              <a:srgbClr val="C3C2B7"/>
            </a:solidFill>
          </a:ln>
        </p:spPr>
      </p:cxnSp>
      <p:sp>
        <p:nvSpPr>
          <p:cNvPr id="261" name="shape261"/>
          <p:cNvSpPr/>
          <p:nvPr/>
        </p:nvSpPr>
        <p:spPr>
          <a:xfrm>
            <a:off x="1225296" y="5482481"/>
            <a:ext cx="10509199" cy="195943"/>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Vary or revoke</a:t>
            </a:r>
          </a:p>
        </p:txBody>
      </p:sp>
      <p:cxnSp>
        <p:nvCxnSpPr>
          <p:cNvPr id="262" name="conn262"/>
          <p:cNvCxnSpPr/>
          <p:nvPr/>
        </p:nvCxnSpPr>
        <p:spPr>
          <a:xfrm>
            <a:off x="1097280" y="5580453"/>
            <a:ext cx="128016" cy="1"/>
          </a:xfrm>
          <a:prstGeom prst="line">
            <a:avLst/>
          </a:prstGeom>
          <a:ln w="6350">
            <a:solidFill>
              <a:srgbClr val="C3C2B7"/>
            </a:solidFill>
          </a:ln>
        </p:spPr>
      </p:cxnSp>
      <p:sp>
        <p:nvSpPr>
          <p:cNvPr id="263" name="shape263"/>
          <p:cNvSpPr/>
          <p:nvPr/>
        </p:nvSpPr>
        <p:spPr>
          <a:xfrm>
            <a:off x="457200" y="6492240"/>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Fairgate Roads Authority — heavy vehicle access permits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shape264"/>
          <p:cNvSpPr/>
          <p:nvPr/>
        </p:nvSpPr>
        <p:spPr>
          <a:xfrm>
            <a:off x="457200" y="274320"/>
            <a:ext cx="914400" cy="40233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1000" b="1" dirty="0">
                <a:solidFill>
                  <a:srgbClr val="FFFFFF"/>
                </a:solidFill>
                <a:latin typeface="Aptos"/>
              </a:rPr>
              <a:t>STEP 13</a:t>
            </a:r>
          </a:p>
        </p:txBody>
      </p:sp>
      <p:sp>
        <p:nvSpPr>
          <p:cNvPr id="265" name="shape265"/>
          <p:cNvSpPr/>
          <p:nvPr/>
        </p:nvSpPr>
        <p:spPr>
          <a:xfrm>
            <a:off x="1499616" y="256032"/>
            <a:ext cx="8686800" cy="438912"/>
          </a:xfrm>
          <a:prstGeom prst="rect">
            <a:avLst/>
          </a:prstGeom>
          <a:noFill/>
          <a:ln>
            <a:noFill/>
          </a:ln>
        </p:spPr>
        <p:txBody>
          <a:bodyPr wrap="square" anchor="ctr" lIns="0" rIns="0" tIns="27432" bIns="27432"/>
          <a:lstStyle/>
          <a:p>
            <a:pPr algn="l"/>
            <a:r>
              <a:rPr lang="en-AU" sz="2000" b="1" dirty="0">
                <a:solidFill>
                  <a:srgbClr val="0B0B0B"/>
                </a:solidFill>
                <a:latin typeface="Aptos"/>
              </a:rPr>
              <a:t>10.9 Business Rules Analysis</a:t>
            </a:r>
          </a:p>
        </p:txBody>
      </p:sp>
      <p:sp>
        <p:nvSpPr>
          <p:cNvPr id="266" name="shape266"/>
          <p:cNvSpPr/>
          <p:nvPr/>
        </p:nvSpPr>
        <p:spPr>
          <a:xfrm>
            <a:off x="9357055" y="310896"/>
            <a:ext cx="2377440" cy="329184"/>
          </a:xfrm>
          <a:prstGeom prst="rect">
            <a:avLst/>
          </a:prstGeom>
          <a:noFill/>
          <a:ln>
            <a:noFill/>
          </a:ln>
        </p:spPr>
        <p:txBody>
          <a:bodyPr wrap="square" anchor="ctr" lIns="0" rIns="0" tIns="27432" bIns="27432"/>
          <a:lstStyle/>
          <a:p>
            <a:pPr algn="r"/>
            <a:r>
              <a:rPr lang="en-AU" sz="1000" dirty="0">
                <a:solidFill>
                  <a:srgbClr val="6B6A66"/>
                </a:solidFill>
                <a:latin typeface="Aptos"/>
              </a:rPr>
              <a:t>Modelling and specification</a:t>
            </a:r>
          </a:p>
        </p:txBody>
      </p:sp>
      <p:sp>
        <p:nvSpPr>
          <p:cNvPr id="267" name="shape267"/>
          <p:cNvSpPr/>
          <p:nvPr/>
        </p:nvSpPr>
        <p:spPr>
          <a:xfrm>
            <a:off x="457200" y="731520"/>
            <a:ext cx="10515600" cy="310896"/>
          </a:xfrm>
          <a:prstGeom prst="rect">
            <a:avLst/>
          </a:prstGeom>
          <a:noFill/>
          <a:ln>
            <a:noFill/>
          </a:ln>
        </p:spPr>
        <p:txBody>
          <a:bodyPr wrap="square" anchor="ctr" lIns="0" rIns="0" tIns="27432" bIns="27432"/>
          <a:lstStyle/>
          <a:p>
            <a:pPr algn="l"/>
            <a:r>
              <a:rPr lang="en-AU" sz="1350" i="1" dirty="0">
                <a:solidFill>
                  <a:srgbClr val="184F95"/>
                </a:solidFill>
                <a:latin typeface="Aptos"/>
              </a:rPr>
              <a:t>What governs an assessment, and how often will it change?</a:t>
            </a:r>
          </a:p>
        </p:txBody>
      </p:sp>
      <p:cxnSp>
        <p:nvCxnSpPr>
          <p:cNvPr id="268" name="conn268"/>
          <p:cNvCxnSpPr/>
          <p:nvPr/>
        </p:nvCxnSpPr>
        <p:spPr>
          <a:xfrm>
            <a:off x="457200" y="1115568"/>
            <a:ext cx="11277295" cy="1"/>
          </a:xfrm>
          <a:prstGeom prst="line">
            <a:avLst/>
          </a:prstGeom>
          <a:ln w="12700">
            <a:solidFill>
              <a:srgbClr val="D9D8D0"/>
            </a:solidFill>
          </a:ln>
        </p:spPr>
      </p:cxnSp>
      <p:sp>
        <p:nvSpPr>
          <p:cNvPr id="269" name="shape269"/>
          <p:cNvSpPr/>
          <p:nvPr/>
        </p:nvSpPr>
        <p:spPr>
          <a:xfrm>
            <a:off x="457200"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TAKES</a:t>
            </a:r>
          </a:p>
          <a:p>
            <a:pPr algn="l"/>
            <a:r>
              <a:rPr lang="en-AU" sz="950" dirty="0">
                <a:solidFill>
                  <a:srgbClr val="0B0B0B"/>
                </a:solidFill>
                <a:latin typeface="Aptos"/>
              </a:rPr>
              <a:t>The 'Assess route' function.</a:t>
            </a:r>
          </a:p>
        </p:txBody>
      </p:sp>
      <p:sp>
        <p:nvSpPr>
          <p:cNvPr id="270" name="shape270"/>
          <p:cNvSpPr/>
          <p:nvPr/>
        </p:nvSpPr>
        <p:spPr>
          <a:xfrm>
            <a:off x="6187288"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GIVES</a:t>
            </a:r>
          </a:p>
          <a:p>
            <a:pPr algn="l"/>
            <a:r>
              <a:rPr lang="en-AU" sz="950" dirty="0">
                <a:solidFill>
                  <a:srgbClr val="0B0B0B"/>
                </a:solidFill>
                <a:latin typeface="Aptos"/>
              </a:rPr>
              <a:t>Rules held apart from the process. Each names the data elements it needs, which sets the dictionary.</a:t>
            </a:r>
          </a:p>
        </p:txBody>
      </p:sp>
      <p:sp>
        <p:nvSpPr>
          <p:cNvPr id="271" name="shape271"/>
          <p:cNvSpPr/>
          <p:nvPr/>
        </p:nvSpPr>
        <p:spPr>
          <a:xfrm>
            <a:off x="6187288" y="1225296"/>
            <a:ext cx="32004" cy="713232"/>
          </a:xfrm>
          <a:prstGeom prst="rect">
            <a:avLst/>
          </a:prstGeom>
          <a:solidFill>
            <a:srgbClr val="2A78D6"/>
          </a:solidFill>
          <a:ln>
            <a:noFill/>
          </a:ln>
        </p:spPr>
        <p:txBody>
          <a:bodyPr wrap="square" anchor="ctr" lIns="54864" rIns="54864" tIns="27432" bIns="27432"/>
          <a:lstStyle/>
          <a:p>
            <a:pPr algn="l"/>
            <a:endParaRPr lang="en-AU" sz="1100"/>
          </a:p>
        </p:txBody>
      </p:sp>
      <p:sp>
        <p:nvSpPr>
          <p:cNvPr id="272" name="shape272"/>
          <p:cNvSpPr/>
          <p:nvPr/>
        </p:nvSpPr>
        <p:spPr>
          <a:xfrm>
            <a:off x="457200" y="2048256"/>
            <a:ext cx="10515600" cy="237744"/>
          </a:xfrm>
          <a:prstGeom prst="rect">
            <a:avLst/>
          </a:prstGeom>
          <a:noFill/>
          <a:ln>
            <a:noFill/>
          </a:ln>
        </p:spPr>
        <p:txBody>
          <a:bodyPr wrap="square" anchor="b" lIns="0" rIns="0" tIns="27432" bIns="27432"/>
          <a:lstStyle/>
          <a:p>
            <a:pPr algn="l"/>
            <a:r>
              <a:rPr lang="en-AU" sz="1100" b="1" dirty="0">
                <a:solidFill>
                  <a:srgbClr val="184F95"/>
                </a:solidFill>
                <a:latin typeface="Aptos"/>
              </a:rPr>
              <a:t>Assessment rules, governed separately from the workflow</a:t>
            </a:r>
          </a:p>
        </p:txBody>
      </p:sp>
      <p:graphicFrame>
        <p:nvGraphicFramePr>
          <p:cNvPr id="273" name="table273"/>
          <p:cNvGraphicFramePr>
            <a:graphicFrameLocks noGrp="1"/>
          </p:cNvGraphicFramePr>
          <p:nvPr/>
        </p:nvGraphicFramePr>
        <p:xfrm>
          <a:off x="457200" y="2340864"/>
          <a:ext cx="11277295" cy="1920240"/>
        </p:xfrm>
        <a:graphic>
          <a:graphicData uri="http://schemas.openxmlformats.org/drawingml/2006/table">
            <a:tbl>
              <a:tblPr firstRow="1" bandRow="1"/>
              <a:tblGrid>
                <a:gridCol w="2377440"/>
                <a:gridCol w="2966618"/>
                <a:gridCol w="2966618"/>
                <a:gridCol w="2966618"/>
              </a:tblGrid>
              <a:tr h="384048">
                <a:tc>
                  <a:txBody>
                    <a:bodyPr wrap="square" anchor="ctr" lIns="64008" rIns="64008" tIns="27432" bIns="27432"/>
                    <a:lstStyle/>
                    <a:p>
                      <a:pPr algn="l"/>
                      <a:r>
                        <a:rPr lang="en-AU" sz="900" b="1" dirty="0">
                          <a:solidFill>
                            <a:srgbClr val="FFFFFF"/>
                          </a:solidFill>
                          <a:latin typeface="Aptos"/>
                        </a:rPr>
                        <a:t>Rule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Statement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Data it needs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Owner</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ASR-01</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A route crossing a bridge below the vehicle's gross mass is refused.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bridge_capacity_t, gross_mass_t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Bridge engineering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ASR-02</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A route under a seasonal restriction is refused for the restricted dates.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restriction_from, restriction_to</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Road managers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ASR-03</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An application matching a refusal within 12 months goes to panel.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prior_refusal_date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Policy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ASR-04</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Consent is required from every road manager on the route.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road_manager_id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Policy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
        <p:nvSpPr>
          <p:cNvPr id="274" name="shape274"/>
          <p:cNvSpPr/>
          <p:nvPr/>
        </p:nvSpPr>
        <p:spPr>
          <a:xfrm>
            <a:off x="457200" y="6071616"/>
            <a:ext cx="10515600" cy="384048"/>
          </a:xfrm>
          <a:prstGeom prst="rect">
            <a:avLst/>
          </a:prstGeom>
          <a:noFill/>
          <a:ln>
            <a:noFill/>
          </a:ln>
        </p:spPr>
        <p:txBody>
          <a:bodyPr wrap="square" anchor="t" lIns="0" rIns="0" tIns="27432" bIns="27432"/>
          <a:lstStyle/>
          <a:p>
            <a:pPr algn="l"/>
            <a:r>
              <a:rPr lang="en-AU" sz="850" dirty="0">
                <a:solidFill>
                  <a:srgbClr val="6B6A66"/>
                </a:solidFill>
                <a:latin typeface="Aptos"/>
              </a:rPr>
              <a:t>The scheme rules changed twice last year. Held in workflow code each change is a release; held here each change is a rule version.</a:t>
            </a:r>
          </a:p>
        </p:txBody>
      </p:sp>
      <p:sp>
        <p:nvSpPr>
          <p:cNvPr id="275" name="shape275"/>
          <p:cNvSpPr/>
          <p:nvPr/>
        </p:nvSpPr>
        <p:spPr>
          <a:xfrm>
            <a:off x="457200" y="6492240"/>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Fairgate Roads Authority — heavy vehicle access permits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shape276"/>
          <p:cNvSpPr/>
          <p:nvPr/>
        </p:nvSpPr>
        <p:spPr>
          <a:xfrm>
            <a:off x="457200" y="274320"/>
            <a:ext cx="914400" cy="40233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1000" b="1" dirty="0">
                <a:solidFill>
                  <a:srgbClr val="FFFFFF"/>
                </a:solidFill>
                <a:latin typeface="Aptos"/>
              </a:rPr>
              <a:t>STEP 14</a:t>
            </a:r>
          </a:p>
        </p:txBody>
      </p:sp>
      <p:sp>
        <p:nvSpPr>
          <p:cNvPr id="277" name="shape277"/>
          <p:cNvSpPr/>
          <p:nvPr/>
        </p:nvSpPr>
        <p:spPr>
          <a:xfrm>
            <a:off x="1499616" y="256032"/>
            <a:ext cx="8686800" cy="438912"/>
          </a:xfrm>
          <a:prstGeom prst="rect">
            <a:avLst/>
          </a:prstGeom>
          <a:noFill/>
          <a:ln>
            <a:noFill/>
          </a:ln>
        </p:spPr>
        <p:txBody>
          <a:bodyPr wrap="square" anchor="ctr" lIns="0" rIns="0" tIns="27432" bIns="27432"/>
          <a:lstStyle/>
          <a:p>
            <a:pPr algn="l"/>
            <a:r>
              <a:rPr lang="en-AU" sz="2000" b="1" dirty="0">
                <a:solidFill>
                  <a:srgbClr val="0B0B0B"/>
                </a:solidFill>
                <a:latin typeface="Aptos"/>
              </a:rPr>
              <a:t>10.12 Data Dictionary</a:t>
            </a:r>
          </a:p>
        </p:txBody>
      </p:sp>
      <p:sp>
        <p:nvSpPr>
          <p:cNvPr id="278" name="shape278"/>
          <p:cNvSpPr/>
          <p:nvPr/>
        </p:nvSpPr>
        <p:spPr>
          <a:xfrm>
            <a:off x="9357055" y="310896"/>
            <a:ext cx="2377440" cy="329184"/>
          </a:xfrm>
          <a:prstGeom prst="rect">
            <a:avLst/>
          </a:prstGeom>
          <a:noFill/>
          <a:ln>
            <a:noFill/>
          </a:ln>
        </p:spPr>
        <p:txBody>
          <a:bodyPr wrap="square" anchor="ctr" lIns="0" rIns="0" tIns="27432" bIns="27432"/>
          <a:lstStyle/>
          <a:p>
            <a:pPr algn="r"/>
            <a:r>
              <a:rPr lang="en-AU" sz="1000" dirty="0">
                <a:solidFill>
                  <a:srgbClr val="6B6A66"/>
                </a:solidFill>
                <a:latin typeface="Aptos"/>
              </a:rPr>
              <a:t>Modelling and specification</a:t>
            </a:r>
          </a:p>
        </p:txBody>
      </p:sp>
      <p:sp>
        <p:nvSpPr>
          <p:cNvPr id="279" name="shape279"/>
          <p:cNvSpPr/>
          <p:nvPr/>
        </p:nvSpPr>
        <p:spPr>
          <a:xfrm>
            <a:off x="457200" y="731520"/>
            <a:ext cx="10515600" cy="310896"/>
          </a:xfrm>
          <a:prstGeom prst="rect">
            <a:avLst/>
          </a:prstGeom>
          <a:noFill/>
          <a:ln>
            <a:noFill/>
          </a:ln>
        </p:spPr>
        <p:txBody>
          <a:bodyPr wrap="square" anchor="ctr" lIns="0" rIns="0" tIns="27432" bIns="27432"/>
          <a:lstStyle/>
          <a:p>
            <a:pPr algn="l"/>
            <a:r>
              <a:rPr lang="en-AU" sz="1350" i="1" dirty="0">
                <a:solidFill>
                  <a:srgbClr val="184F95"/>
                </a:solidFill>
                <a:latin typeface="Aptos"/>
              </a:rPr>
              <a:t>What exactly are the elements those rules depend on?</a:t>
            </a:r>
          </a:p>
        </p:txBody>
      </p:sp>
      <p:cxnSp>
        <p:nvCxnSpPr>
          <p:cNvPr id="280" name="conn280"/>
          <p:cNvCxnSpPr/>
          <p:nvPr/>
        </p:nvCxnSpPr>
        <p:spPr>
          <a:xfrm>
            <a:off x="457200" y="1115568"/>
            <a:ext cx="11277295" cy="1"/>
          </a:xfrm>
          <a:prstGeom prst="line">
            <a:avLst/>
          </a:prstGeom>
          <a:ln w="12700">
            <a:solidFill>
              <a:srgbClr val="D9D8D0"/>
            </a:solidFill>
          </a:ln>
        </p:spPr>
      </p:cxnSp>
      <p:sp>
        <p:nvSpPr>
          <p:cNvPr id="281" name="shape281"/>
          <p:cNvSpPr/>
          <p:nvPr/>
        </p:nvSpPr>
        <p:spPr>
          <a:xfrm>
            <a:off x="457200"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TAKES</a:t>
            </a:r>
          </a:p>
          <a:p>
            <a:pPr algn="l"/>
            <a:r>
              <a:rPr lang="en-AU" sz="950" dirty="0">
                <a:solidFill>
                  <a:srgbClr val="0B0B0B"/>
                </a:solidFill>
                <a:latin typeface="Aptos"/>
              </a:rPr>
              <a:t>The data column of the rules table.</a:t>
            </a:r>
          </a:p>
        </p:txBody>
      </p:sp>
      <p:sp>
        <p:nvSpPr>
          <p:cNvPr id="282" name="shape282"/>
          <p:cNvSpPr/>
          <p:nvPr/>
        </p:nvSpPr>
        <p:spPr>
          <a:xfrm>
            <a:off x="6187288"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GIVES</a:t>
            </a:r>
          </a:p>
          <a:p>
            <a:pPr algn="l"/>
            <a:r>
              <a:rPr lang="en-AU" sz="950" dirty="0">
                <a:solidFill>
                  <a:srgbClr val="0B0B0B"/>
                </a:solidFill>
                <a:latin typeface="Aptos"/>
              </a:rPr>
              <a:t>Element definitions precise enough to build and to migrate.</a:t>
            </a:r>
          </a:p>
        </p:txBody>
      </p:sp>
      <p:sp>
        <p:nvSpPr>
          <p:cNvPr id="283" name="shape283"/>
          <p:cNvSpPr/>
          <p:nvPr/>
        </p:nvSpPr>
        <p:spPr>
          <a:xfrm>
            <a:off x="6187288" y="1225296"/>
            <a:ext cx="32004" cy="713232"/>
          </a:xfrm>
          <a:prstGeom prst="rect">
            <a:avLst/>
          </a:prstGeom>
          <a:solidFill>
            <a:srgbClr val="2A78D6"/>
          </a:solidFill>
          <a:ln>
            <a:noFill/>
          </a:ln>
        </p:spPr>
        <p:txBody>
          <a:bodyPr wrap="square" anchor="ctr" lIns="54864" rIns="54864" tIns="27432" bIns="27432"/>
          <a:lstStyle/>
          <a:p>
            <a:pPr algn="l"/>
            <a:endParaRPr lang="en-AU" sz="1100"/>
          </a:p>
        </p:txBody>
      </p:sp>
      <p:sp>
        <p:nvSpPr>
          <p:cNvPr id="284" name="shape284"/>
          <p:cNvSpPr/>
          <p:nvPr/>
        </p:nvSpPr>
        <p:spPr>
          <a:xfrm>
            <a:off x="457200" y="2048256"/>
            <a:ext cx="10515600" cy="237744"/>
          </a:xfrm>
          <a:prstGeom prst="rect">
            <a:avLst/>
          </a:prstGeom>
          <a:noFill/>
          <a:ln>
            <a:noFill/>
          </a:ln>
        </p:spPr>
        <p:txBody>
          <a:bodyPr wrap="square" anchor="b" lIns="0" rIns="0" tIns="27432" bIns="27432"/>
          <a:lstStyle/>
          <a:p>
            <a:pPr algn="l"/>
            <a:r>
              <a:rPr lang="en-AU" sz="1100" b="1" dirty="0">
                <a:solidFill>
                  <a:srgbClr val="184F95"/>
                </a:solidFill>
                <a:latin typeface="Aptos"/>
              </a:rPr>
              <a:t>Elements the assessment rules depend on</a:t>
            </a:r>
          </a:p>
        </p:txBody>
      </p:sp>
      <p:graphicFrame>
        <p:nvGraphicFramePr>
          <p:cNvPr id="285" name="table285"/>
          <p:cNvGraphicFramePr>
            <a:graphicFrameLocks noGrp="1"/>
          </p:cNvGraphicFramePr>
          <p:nvPr/>
        </p:nvGraphicFramePr>
        <p:xfrm>
          <a:off x="457200" y="2340864"/>
          <a:ext cx="11277295" cy="2688336"/>
        </p:xfrm>
        <a:graphic>
          <a:graphicData uri="http://schemas.openxmlformats.org/drawingml/2006/table">
            <a:tbl>
              <a:tblPr firstRow="1" bandRow="1"/>
              <a:tblGrid>
                <a:gridCol w="2377440"/>
                <a:gridCol w="2224964"/>
                <a:gridCol w="2224964"/>
                <a:gridCol w="2224964"/>
                <a:gridCol w="2224964"/>
              </a:tblGrid>
              <a:tr h="384048">
                <a:tc>
                  <a:txBody>
                    <a:bodyPr wrap="square" anchor="ctr" lIns="64008" rIns="64008" tIns="27432" bIns="27432"/>
                    <a:lstStyle/>
                    <a:p>
                      <a:pPr algn="l"/>
                      <a:r>
                        <a:rPr lang="en-AU" sz="900" b="1" dirty="0">
                          <a:solidFill>
                            <a:srgbClr val="FFFFFF"/>
                          </a:solidFill>
                          <a:latin typeface="Aptos"/>
                        </a:rPr>
                        <a:t>Element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Meaning</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Type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Permitted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c>
                  <a:txBody>
                    <a:bodyPr wrap="square" anchor="ctr" lIns="64008" rIns="64008" tIns="27432" bIns="27432"/>
                    <a:lstStyle/>
                    <a:p>
                      <a:pPr algn="l"/>
                      <a:r>
                        <a:rPr lang="en-AU" sz="900" b="1" dirty="0">
                          <a:solidFill>
                            <a:srgbClr val="FFFFFF"/>
                          </a:solidFill>
                          <a:latin typeface="Aptos"/>
                        </a:rPr>
                        <a:t>Mandatory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2A78D6"/>
                    </a:solidFill>
                  </a:tcPr>
                </a:tc>
              </a:tr>
              <a:tr h="384048">
                <a:tc>
                  <a:txBody>
                    <a:bodyPr wrap="square" anchor="ctr" lIns="64008" rIns="64008" tIns="27432" bIns="27432"/>
                    <a:lstStyle/>
                    <a:p>
                      <a:pPr algn="l"/>
                      <a:r>
                        <a:rPr lang="en-AU" sz="900" dirty="0">
                          <a:solidFill>
                            <a:srgbClr val="0B0B0B"/>
                          </a:solidFill>
                          <a:latin typeface="Aptos"/>
                        </a:rPr>
                        <a:t>gross_mass_t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Total mass of vehicle and load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Decimal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&gt; 0, one decimal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Yes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bridge_capacity_t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Rated capacity of a structure on the route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Decimal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&gt; 0, one decimal</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Yes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restriction_from</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First day a seasonal restriction applies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Date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Not before today</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No</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restriction_to</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Last day it applies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Date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 restriction_from</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No</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r h="384048">
                <a:tc>
                  <a:txBody>
                    <a:bodyPr wrap="square" anchor="ctr" lIns="64008" rIns="64008" tIns="27432" bIns="27432"/>
                    <a:lstStyle/>
                    <a:p>
                      <a:pPr algn="l"/>
                      <a:r>
                        <a:rPr lang="en-AU" sz="900" dirty="0">
                          <a:solidFill>
                            <a:srgbClr val="0B0B0B"/>
                          </a:solidFill>
                          <a:latin typeface="Aptos"/>
                        </a:rPr>
                        <a:t>road_manager_id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The council or authority controlling a road segment</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Reference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One of 11</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c>
                  <a:txBody>
                    <a:bodyPr wrap="square" anchor="ctr" lIns="64008" rIns="64008" tIns="27432" bIns="27432"/>
                    <a:lstStyle/>
                    <a:p>
                      <a:pPr algn="l"/>
                      <a:r>
                        <a:rPr lang="en-AU" sz="900" dirty="0">
                          <a:solidFill>
                            <a:srgbClr val="0B0B0B"/>
                          </a:solidFill>
                          <a:latin typeface="Aptos"/>
                        </a:rPr>
                        <a:t>Yes</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FFFFF"/>
                    </a:solidFill>
                  </a:tcPr>
                </a:tc>
              </a:tr>
              <a:tr h="384048">
                <a:tc>
                  <a:txBody>
                    <a:bodyPr wrap="square" anchor="ctr" lIns="64008" rIns="64008" tIns="27432" bIns="27432"/>
                    <a:lstStyle/>
                    <a:p>
                      <a:pPr algn="l"/>
                      <a:r>
                        <a:rPr lang="en-AU" sz="900" dirty="0">
                          <a:solidFill>
                            <a:srgbClr val="0B0B0B"/>
                          </a:solidFill>
                          <a:latin typeface="Aptos"/>
                        </a:rPr>
                        <a:t>prior_refusal_date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Date of the most recent refusal for this operator and route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Date</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Not future-dated</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c>
                  <a:txBody>
                    <a:bodyPr wrap="square" anchor="ctr" lIns="64008" rIns="64008" tIns="27432" bIns="27432"/>
                    <a:lstStyle/>
                    <a:p>
                      <a:pPr algn="l"/>
                      <a:r>
                        <a:rPr lang="en-AU" sz="900" dirty="0">
                          <a:solidFill>
                            <a:srgbClr val="0B0B0B"/>
                          </a:solidFill>
                          <a:latin typeface="Aptos"/>
                        </a:rPr>
                        <a:t>No</a:t>
                      </a:r>
                    </a:p>
                  </a:txBody>
                  <a:tcPr marL="54864" marR="54864" marT="27432" marB="27432" anchor="ctr">
                    <a:lnL w="6350">
                      <a:solidFill>
                        <a:srgbClr val="D9D8D0"/>
                      </a:solidFill>
                    </a:lnL>
                    <a:lnR w="6350">
                      <a:solidFill>
                        <a:srgbClr val="D9D8D0"/>
                      </a:solidFill>
                    </a:lnR>
                    <a:lnT w="6350">
                      <a:solidFill>
                        <a:srgbClr val="D9D8D0"/>
                      </a:solidFill>
                    </a:lnT>
                    <a:lnB w="6350">
                      <a:solidFill>
                        <a:srgbClr val="D9D8D0"/>
                      </a:solidFill>
                    </a:lnB>
                    <a:solidFill>
                      <a:srgbClr val="FAFAF8"/>
                    </a:solidFill>
                  </a:tcPr>
                </a:tc>
              </a:tr>
            </a:tbl>
          </a:graphicData>
        </a:graphic>
      </p:graphicFrame>
      <p:sp>
        <p:nvSpPr>
          <p:cNvPr id="286" name="shape286"/>
          <p:cNvSpPr/>
          <p:nvPr/>
        </p:nvSpPr>
        <p:spPr>
          <a:xfrm>
            <a:off x="457200" y="6071616"/>
            <a:ext cx="10515600" cy="384048"/>
          </a:xfrm>
          <a:prstGeom prst="rect">
            <a:avLst/>
          </a:prstGeom>
          <a:noFill/>
          <a:ln>
            <a:noFill/>
          </a:ln>
        </p:spPr>
        <p:txBody>
          <a:bodyPr wrap="square" anchor="t" lIns="0" rIns="0" tIns="27432" bIns="27432"/>
          <a:lstStyle/>
          <a:p>
            <a:pPr algn="l"/>
            <a:r>
              <a:rPr lang="en-AU" sz="850" dirty="0">
                <a:solidFill>
                  <a:srgbClr val="6B6A66"/>
                </a:solidFill>
                <a:latin typeface="Aptos"/>
              </a:rPr>
              <a:t>restriction_from and restriction_to are the elements the observed shortcut skipped. Defining them is what moves the check from memory to data.</a:t>
            </a:r>
          </a:p>
        </p:txBody>
      </p:sp>
      <p:sp>
        <p:nvSpPr>
          <p:cNvPr id="287" name="shape287"/>
          <p:cNvSpPr/>
          <p:nvPr/>
        </p:nvSpPr>
        <p:spPr>
          <a:xfrm>
            <a:off x="457200" y="6492240"/>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Fairgate Roads Authority — heavy vehicle access permits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shape288"/>
          <p:cNvSpPr/>
          <p:nvPr/>
        </p:nvSpPr>
        <p:spPr>
          <a:xfrm>
            <a:off x="457200" y="274320"/>
            <a:ext cx="914400" cy="40233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1000" b="1" dirty="0">
                <a:solidFill>
                  <a:srgbClr val="FFFFFF"/>
                </a:solidFill>
                <a:latin typeface="Aptos"/>
              </a:rPr>
              <a:t>STEP 15</a:t>
            </a:r>
          </a:p>
        </p:txBody>
      </p:sp>
      <p:sp>
        <p:nvSpPr>
          <p:cNvPr id="289" name="shape289"/>
          <p:cNvSpPr/>
          <p:nvPr/>
        </p:nvSpPr>
        <p:spPr>
          <a:xfrm>
            <a:off x="1499616" y="256032"/>
            <a:ext cx="8686800" cy="438912"/>
          </a:xfrm>
          <a:prstGeom prst="rect">
            <a:avLst/>
          </a:prstGeom>
          <a:noFill/>
          <a:ln>
            <a:noFill/>
          </a:ln>
        </p:spPr>
        <p:txBody>
          <a:bodyPr wrap="square" anchor="ctr" lIns="0" rIns="0" tIns="27432" bIns="27432"/>
          <a:lstStyle/>
          <a:p>
            <a:pPr algn="l"/>
            <a:r>
              <a:rPr lang="en-AU" sz="2000" b="1" dirty="0">
                <a:solidFill>
                  <a:srgbClr val="0B0B0B"/>
                </a:solidFill>
                <a:latin typeface="Aptos"/>
              </a:rPr>
              <a:t>10.44 State Modelling</a:t>
            </a:r>
          </a:p>
        </p:txBody>
      </p:sp>
      <p:sp>
        <p:nvSpPr>
          <p:cNvPr id="290" name="shape290"/>
          <p:cNvSpPr/>
          <p:nvPr/>
        </p:nvSpPr>
        <p:spPr>
          <a:xfrm>
            <a:off x="9357055" y="310896"/>
            <a:ext cx="2377440" cy="329184"/>
          </a:xfrm>
          <a:prstGeom prst="rect">
            <a:avLst/>
          </a:prstGeom>
          <a:noFill/>
          <a:ln>
            <a:noFill/>
          </a:ln>
        </p:spPr>
        <p:txBody>
          <a:bodyPr wrap="square" anchor="ctr" lIns="0" rIns="0" tIns="27432" bIns="27432"/>
          <a:lstStyle/>
          <a:p>
            <a:pPr algn="r"/>
            <a:r>
              <a:rPr lang="en-AU" sz="1000" dirty="0">
                <a:solidFill>
                  <a:srgbClr val="6B6A66"/>
                </a:solidFill>
                <a:latin typeface="Aptos"/>
              </a:rPr>
              <a:t>Modelling and specification</a:t>
            </a:r>
          </a:p>
        </p:txBody>
      </p:sp>
      <p:sp>
        <p:nvSpPr>
          <p:cNvPr id="291" name="shape291"/>
          <p:cNvSpPr/>
          <p:nvPr/>
        </p:nvSpPr>
        <p:spPr>
          <a:xfrm>
            <a:off x="457200" y="731520"/>
            <a:ext cx="10515600" cy="310896"/>
          </a:xfrm>
          <a:prstGeom prst="rect">
            <a:avLst/>
          </a:prstGeom>
          <a:noFill/>
          <a:ln>
            <a:noFill/>
          </a:ln>
        </p:spPr>
        <p:txBody>
          <a:bodyPr wrap="square" anchor="ctr" lIns="0" rIns="0" tIns="27432" bIns="27432"/>
          <a:lstStyle/>
          <a:p>
            <a:pPr algn="l"/>
            <a:r>
              <a:rPr lang="en-AU" sz="1350" i="1" dirty="0">
                <a:solidFill>
                  <a:srgbClr val="184F95"/>
                </a:solidFill>
                <a:latin typeface="Aptos"/>
              </a:rPr>
              <a:t>What may a permit become, and from where?</a:t>
            </a:r>
          </a:p>
        </p:txBody>
      </p:sp>
      <p:cxnSp>
        <p:nvCxnSpPr>
          <p:cNvPr id="292" name="conn292"/>
          <p:cNvCxnSpPr/>
          <p:nvPr/>
        </p:nvCxnSpPr>
        <p:spPr>
          <a:xfrm>
            <a:off x="457200" y="1115568"/>
            <a:ext cx="11277295" cy="1"/>
          </a:xfrm>
          <a:prstGeom prst="line">
            <a:avLst/>
          </a:prstGeom>
          <a:ln w="12700">
            <a:solidFill>
              <a:srgbClr val="D9D8D0"/>
            </a:solidFill>
          </a:ln>
        </p:spPr>
      </p:cxnSp>
      <p:sp>
        <p:nvSpPr>
          <p:cNvPr id="293" name="shape293"/>
          <p:cNvSpPr/>
          <p:nvPr/>
        </p:nvSpPr>
        <p:spPr>
          <a:xfrm>
            <a:off x="457200"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TAKES</a:t>
            </a:r>
          </a:p>
          <a:p>
            <a:pPr algn="l"/>
            <a:r>
              <a:rPr lang="en-AU" sz="950" dirty="0">
                <a:solidFill>
                  <a:srgbClr val="0B0B0B"/>
                </a:solidFill>
                <a:latin typeface="Aptos"/>
              </a:rPr>
              <a:t>The process stages and the refusal rule.</a:t>
            </a:r>
          </a:p>
        </p:txBody>
      </p:sp>
      <p:sp>
        <p:nvSpPr>
          <p:cNvPr id="294" name="shape294"/>
          <p:cNvSpPr/>
          <p:nvPr/>
        </p:nvSpPr>
        <p:spPr>
          <a:xfrm>
            <a:off x="6187288"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GIVES</a:t>
            </a:r>
          </a:p>
          <a:p>
            <a:pPr algn="l"/>
            <a:r>
              <a:rPr lang="en-AU" sz="950" dirty="0">
                <a:solidFill>
                  <a:srgbClr val="0B0B0B"/>
                </a:solidFill>
                <a:latin typeface="Aptos"/>
              </a:rPr>
              <a:t>Permitted transitions, including two that must be forbidden.</a:t>
            </a:r>
          </a:p>
        </p:txBody>
      </p:sp>
      <p:sp>
        <p:nvSpPr>
          <p:cNvPr id="295" name="shape295"/>
          <p:cNvSpPr/>
          <p:nvPr/>
        </p:nvSpPr>
        <p:spPr>
          <a:xfrm>
            <a:off x="6187288" y="1225296"/>
            <a:ext cx="32004" cy="713232"/>
          </a:xfrm>
          <a:prstGeom prst="rect">
            <a:avLst/>
          </a:prstGeom>
          <a:solidFill>
            <a:srgbClr val="2A78D6"/>
          </a:solidFill>
          <a:ln>
            <a:noFill/>
          </a:ln>
        </p:spPr>
        <p:txBody>
          <a:bodyPr wrap="square" anchor="ctr" lIns="54864" rIns="54864" tIns="27432" bIns="27432"/>
          <a:lstStyle/>
          <a:p>
            <a:pPr algn="l"/>
            <a:endParaRPr lang="en-AU" sz="1100"/>
          </a:p>
        </p:txBody>
      </p:sp>
      <p:sp>
        <p:nvSpPr>
          <p:cNvPr id="296" name="shape296"/>
          <p:cNvSpPr/>
          <p:nvPr/>
        </p:nvSpPr>
        <p:spPr>
          <a:xfrm>
            <a:off x="457200" y="2048256"/>
            <a:ext cx="10515600" cy="237744"/>
          </a:xfrm>
          <a:prstGeom prst="rect">
            <a:avLst/>
          </a:prstGeom>
          <a:noFill/>
          <a:ln>
            <a:noFill/>
          </a:ln>
        </p:spPr>
        <p:txBody>
          <a:bodyPr wrap="square" anchor="b" lIns="0" rIns="0" tIns="27432" bIns="27432"/>
          <a:lstStyle/>
          <a:p>
            <a:pPr algn="l"/>
            <a:r>
              <a:rPr lang="en-AU" sz="1100" b="1" dirty="0">
                <a:solidFill>
                  <a:srgbClr val="184F95"/>
                </a:solidFill>
                <a:latin typeface="Aptos"/>
              </a:rPr>
              <a:t>Permit lifecycle</a:t>
            </a:r>
          </a:p>
        </p:txBody>
      </p:sp>
      <p:cxnSp>
        <p:nvCxnSpPr>
          <p:cNvPr id="297" name="conn297"/>
          <p:cNvCxnSpPr/>
          <p:nvPr/>
        </p:nvCxnSpPr>
        <p:spPr>
          <a:xfrm>
            <a:off x="1940509" y="2569464"/>
            <a:ext cx="475488" cy="1"/>
          </a:xfrm>
          <a:prstGeom prst="line">
            <a:avLst/>
          </a:prstGeom>
          <a:ln w="12700">
            <a:solidFill>
              <a:srgbClr val="C3C2B7"/>
            </a:solidFill>
            <a:tailEnd type="triangle" w="med" len="med"/>
          </a:ln>
        </p:spPr>
      </p:cxnSp>
      <p:sp>
        <p:nvSpPr>
          <p:cNvPr id="298" name="shape298"/>
          <p:cNvSpPr/>
          <p:nvPr/>
        </p:nvSpPr>
        <p:spPr>
          <a:xfrm>
            <a:off x="1812493" y="2258568"/>
            <a:ext cx="731520" cy="219456"/>
          </a:xfrm>
          <a:prstGeom prst="rect">
            <a:avLst/>
          </a:prstGeom>
          <a:noFill/>
          <a:ln>
            <a:noFill/>
          </a:ln>
        </p:spPr>
        <p:txBody>
          <a:bodyPr wrap="square" anchor="ctr" lIns="54864" rIns="54864" tIns="27432" bIns="27432"/>
          <a:lstStyle/>
          <a:p>
            <a:pPr algn="ctr"/>
            <a:r>
              <a:rPr lang="en-AU" sz="750" dirty="0">
                <a:solidFill>
                  <a:srgbClr val="6B6A66"/>
                </a:solidFill>
                <a:latin typeface="Aptos"/>
              </a:rPr>
              <a:t>assessed</a:t>
            </a:r>
          </a:p>
        </p:txBody>
      </p:sp>
      <p:cxnSp>
        <p:nvCxnSpPr>
          <p:cNvPr id="299" name="conn299"/>
          <p:cNvCxnSpPr/>
          <p:nvPr/>
        </p:nvCxnSpPr>
        <p:spPr>
          <a:xfrm>
            <a:off x="3899306" y="2569464"/>
            <a:ext cx="475488" cy="1"/>
          </a:xfrm>
          <a:prstGeom prst="line">
            <a:avLst/>
          </a:prstGeom>
          <a:ln w="12700">
            <a:solidFill>
              <a:srgbClr val="C3C2B7"/>
            </a:solidFill>
            <a:tailEnd type="triangle" w="med" len="med"/>
          </a:ln>
        </p:spPr>
      </p:cxnSp>
      <p:sp>
        <p:nvSpPr>
          <p:cNvPr id="300" name="shape300"/>
          <p:cNvSpPr/>
          <p:nvPr/>
        </p:nvSpPr>
        <p:spPr>
          <a:xfrm>
            <a:off x="3771290" y="2258568"/>
            <a:ext cx="731520" cy="219456"/>
          </a:xfrm>
          <a:prstGeom prst="rect">
            <a:avLst/>
          </a:prstGeom>
          <a:noFill/>
          <a:ln>
            <a:noFill/>
          </a:ln>
        </p:spPr>
        <p:txBody>
          <a:bodyPr wrap="square" anchor="ctr" lIns="54864" rIns="54864" tIns="27432" bIns="27432"/>
          <a:lstStyle/>
          <a:p>
            <a:pPr algn="ctr"/>
            <a:r>
              <a:rPr lang="en-AU" sz="750" dirty="0">
                <a:solidFill>
                  <a:srgbClr val="6B6A66"/>
                </a:solidFill>
                <a:latin typeface="Aptos"/>
              </a:rPr>
              <a:t>consent sought</a:t>
            </a:r>
          </a:p>
        </p:txBody>
      </p:sp>
      <p:cxnSp>
        <p:nvCxnSpPr>
          <p:cNvPr id="301" name="conn301"/>
          <p:cNvCxnSpPr/>
          <p:nvPr/>
        </p:nvCxnSpPr>
        <p:spPr>
          <a:xfrm>
            <a:off x="5858104" y="2569464"/>
            <a:ext cx="475488" cy="1"/>
          </a:xfrm>
          <a:prstGeom prst="line">
            <a:avLst/>
          </a:prstGeom>
          <a:ln w="12700">
            <a:solidFill>
              <a:srgbClr val="C3C2B7"/>
            </a:solidFill>
            <a:tailEnd type="triangle" w="med" len="med"/>
          </a:ln>
        </p:spPr>
      </p:cxnSp>
      <p:sp>
        <p:nvSpPr>
          <p:cNvPr id="302" name="shape302"/>
          <p:cNvSpPr/>
          <p:nvPr/>
        </p:nvSpPr>
        <p:spPr>
          <a:xfrm>
            <a:off x="5730088" y="2258568"/>
            <a:ext cx="731520" cy="219456"/>
          </a:xfrm>
          <a:prstGeom prst="rect">
            <a:avLst/>
          </a:prstGeom>
          <a:noFill/>
          <a:ln>
            <a:noFill/>
          </a:ln>
        </p:spPr>
        <p:txBody>
          <a:bodyPr wrap="square" anchor="ctr" lIns="54864" rIns="54864" tIns="27432" bIns="27432"/>
          <a:lstStyle/>
          <a:p>
            <a:pPr algn="ctr"/>
            <a:r>
              <a:rPr lang="en-AU" sz="750" dirty="0">
                <a:solidFill>
                  <a:srgbClr val="6B6A66"/>
                </a:solidFill>
                <a:latin typeface="Aptos"/>
              </a:rPr>
              <a:t>all consents in</a:t>
            </a:r>
          </a:p>
        </p:txBody>
      </p:sp>
      <p:sp>
        <p:nvSpPr>
          <p:cNvPr id="303" name="shape303"/>
          <p:cNvSpPr/>
          <p:nvPr/>
        </p:nvSpPr>
        <p:spPr>
          <a:xfrm>
            <a:off x="457200" y="2340864"/>
            <a:ext cx="1483309" cy="457200"/>
          </a:xfrm>
          <a:prstGeom prst="roundRect">
            <a:avLst>
              <a:gd name="adj" fmla="val 45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Lodged</a:t>
            </a:r>
          </a:p>
        </p:txBody>
      </p:sp>
      <p:sp>
        <p:nvSpPr>
          <p:cNvPr id="304" name="shape304"/>
          <p:cNvSpPr/>
          <p:nvPr/>
        </p:nvSpPr>
        <p:spPr>
          <a:xfrm>
            <a:off x="2415997" y="2340864"/>
            <a:ext cx="1483309" cy="457200"/>
          </a:xfrm>
          <a:prstGeom prst="roundRect">
            <a:avLst>
              <a:gd name="adj" fmla="val 45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Assessed</a:t>
            </a:r>
          </a:p>
        </p:txBody>
      </p:sp>
      <p:sp>
        <p:nvSpPr>
          <p:cNvPr id="305" name="shape305"/>
          <p:cNvSpPr/>
          <p:nvPr/>
        </p:nvSpPr>
        <p:spPr>
          <a:xfrm>
            <a:off x="4374794" y="2340864"/>
            <a:ext cx="1483309" cy="457200"/>
          </a:xfrm>
          <a:prstGeom prst="roundRect">
            <a:avLst>
              <a:gd name="adj" fmla="val 45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Consent pending</a:t>
            </a:r>
          </a:p>
        </p:txBody>
      </p:sp>
      <p:sp>
        <p:nvSpPr>
          <p:cNvPr id="306" name="shape306"/>
          <p:cNvSpPr/>
          <p:nvPr/>
        </p:nvSpPr>
        <p:spPr>
          <a:xfrm>
            <a:off x="6333592" y="2340864"/>
            <a:ext cx="1483309" cy="457200"/>
          </a:xfrm>
          <a:prstGeom prst="roundRect">
            <a:avLst>
              <a:gd name="adj" fmla="val 45000"/>
            </a:avLst>
          </a:prstGeom>
          <a:solidFill>
            <a:srgbClr val="FFFFFF"/>
          </a:solidFill>
          <a:ln w="9525">
            <a:solidFill>
              <a:srgbClr val="C3C2B7"/>
            </a:solidFill>
          </a:ln>
        </p:spPr>
        <p:txBody>
          <a:bodyPr wrap="square" anchor="ctr" lIns="54864" rIns="54864" tIns="27432" bIns="27432"/>
          <a:lstStyle/>
          <a:p>
            <a:pPr algn="ctr"/>
            <a:r>
              <a:rPr lang="en-AU" sz="850" dirty="0">
                <a:solidFill>
                  <a:srgbClr val="0B0B0B"/>
                </a:solidFill>
                <a:latin typeface="Aptos"/>
              </a:rPr>
              <a:t>Issued</a:t>
            </a:r>
          </a:p>
        </p:txBody>
      </p:sp>
      <p:sp>
        <p:nvSpPr>
          <p:cNvPr id="307" name="shape307"/>
          <p:cNvSpPr/>
          <p:nvPr/>
        </p:nvSpPr>
        <p:spPr>
          <a:xfrm>
            <a:off x="8292389" y="2340864"/>
            <a:ext cx="1483309" cy="457200"/>
          </a:xfrm>
          <a:prstGeom prst="roundRect">
            <a:avLst>
              <a:gd name="adj" fmla="val 45000"/>
            </a:avLst>
          </a:prstGeom>
          <a:solidFill>
            <a:srgbClr val="FFFFFF"/>
          </a:solidFill>
          <a:ln w="19050">
            <a:solidFill>
              <a:srgbClr val="0B0B0B"/>
            </a:solidFill>
          </a:ln>
        </p:spPr>
        <p:txBody>
          <a:bodyPr wrap="square" anchor="ctr" lIns="54864" rIns="54864" tIns="27432" bIns="27432"/>
          <a:lstStyle/>
          <a:p>
            <a:pPr algn="ctr"/>
            <a:r>
              <a:rPr lang="en-AU" sz="850" dirty="0">
                <a:solidFill>
                  <a:srgbClr val="0B0B0B"/>
                </a:solidFill>
                <a:latin typeface="Aptos"/>
              </a:rPr>
              <a:t>Refused</a:t>
            </a:r>
          </a:p>
        </p:txBody>
      </p:sp>
      <p:sp>
        <p:nvSpPr>
          <p:cNvPr id="308" name="shape308"/>
          <p:cNvSpPr/>
          <p:nvPr/>
        </p:nvSpPr>
        <p:spPr>
          <a:xfrm>
            <a:off x="10251186" y="2340864"/>
            <a:ext cx="1483309" cy="457200"/>
          </a:xfrm>
          <a:prstGeom prst="roundRect">
            <a:avLst>
              <a:gd name="adj" fmla="val 45000"/>
            </a:avLst>
          </a:prstGeom>
          <a:solidFill>
            <a:srgbClr val="FFFFFF"/>
          </a:solidFill>
          <a:ln w="19050">
            <a:solidFill>
              <a:srgbClr val="0B0B0B"/>
            </a:solidFill>
          </a:ln>
        </p:spPr>
        <p:txBody>
          <a:bodyPr wrap="square" anchor="ctr" lIns="54864" rIns="54864" tIns="27432" bIns="27432"/>
          <a:lstStyle/>
          <a:p>
            <a:pPr algn="ctr"/>
            <a:r>
              <a:rPr lang="en-AU" sz="850" dirty="0">
                <a:solidFill>
                  <a:srgbClr val="0B0B0B"/>
                </a:solidFill>
                <a:latin typeface="Aptos"/>
              </a:rPr>
              <a:t>Revoked</a:t>
            </a:r>
          </a:p>
        </p:txBody>
      </p:sp>
      <p:sp>
        <p:nvSpPr>
          <p:cNvPr id="309" name="shape309"/>
          <p:cNvSpPr/>
          <p:nvPr/>
        </p:nvSpPr>
        <p:spPr>
          <a:xfrm>
            <a:off x="457200" y="3410712"/>
            <a:ext cx="11277295" cy="219456"/>
          </a:xfrm>
          <a:prstGeom prst="rect">
            <a:avLst/>
          </a:prstGeom>
          <a:noFill/>
          <a:ln>
            <a:noFill/>
          </a:ln>
        </p:spPr>
        <p:txBody>
          <a:bodyPr wrap="square" anchor="ctr" lIns="0" rIns="0" tIns="27432" bIns="27432"/>
          <a:lstStyle/>
          <a:p>
            <a:pPr algn="l"/>
            <a:r>
              <a:rPr lang="en-AU" sz="850" dirty="0">
                <a:solidFill>
                  <a:srgbClr val="6B6A66"/>
                </a:solidFill>
                <a:latin typeface="Aptos"/>
              </a:rPr>
              <a:t>↳ Assessed → Refused   refused</a:t>
            </a:r>
          </a:p>
        </p:txBody>
      </p:sp>
      <p:sp>
        <p:nvSpPr>
          <p:cNvPr id="310" name="shape310"/>
          <p:cNvSpPr/>
          <p:nvPr/>
        </p:nvSpPr>
        <p:spPr>
          <a:xfrm>
            <a:off x="457200" y="3648456"/>
            <a:ext cx="11277295" cy="219456"/>
          </a:xfrm>
          <a:prstGeom prst="rect">
            <a:avLst/>
          </a:prstGeom>
          <a:noFill/>
          <a:ln>
            <a:noFill/>
          </a:ln>
        </p:spPr>
        <p:txBody>
          <a:bodyPr wrap="square" anchor="ctr" lIns="0" rIns="0" tIns="27432" bIns="27432"/>
          <a:lstStyle/>
          <a:p>
            <a:pPr algn="l"/>
            <a:r>
              <a:rPr lang="en-AU" sz="850" dirty="0">
                <a:solidFill>
                  <a:srgbClr val="6B6A66"/>
                </a:solidFill>
                <a:latin typeface="Aptos"/>
              </a:rPr>
              <a:t>↳ Issued → Revoked   revoked</a:t>
            </a:r>
          </a:p>
        </p:txBody>
      </p:sp>
      <p:sp>
        <p:nvSpPr>
          <p:cNvPr id="311" name="shape311"/>
          <p:cNvSpPr/>
          <p:nvPr/>
        </p:nvSpPr>
        <p:spPr>
          <a:xfrm>
            <a:off x="457200" y="3886200"/>
            <a:ext cx="11277295" cy="219456"/>
          </a:xfrm>
          <a:prstGeom prst="rect">
            <a:avLst/>
          </a:prstGeom>
          <a:noFill/>
          <a:ln>
            <a:noFill/>
          </a:ln>
        </p:spPr>
        <p:txBody>
          <a:bodyPr wrap="square" anchor="ctr" lIns="0" rIns="0" tIns="27432" bIns="27432"/>
          <a:lstStyle/>
          <a:p>
            <a:pPr algn="l"/>
            <a:r>
              <a:rPr lang="en-AU" sz="850" dirty="0">
                <a:solidFill>
                  <a:srgbClr val="6B6A66"/>
                </a:solidFill>
                <a:latin typeface="Aptos"/>
              </a:rPr>
              <a:t>↳ Consent pending → Assessed   objection, reassess</a:t>
            </a:r>
          </a:p>
        </p:txBody>
      </p:sp>
      <p:sp>
        <p:nvSpPr>
          <p:cNvPr id="312" name="shape312"/>
          <p:cNvSpPr/>
          <p:nvPr/>
        </p:nvSpPr>
        <p:spPr>
          <a:xfrm>
            <a:off x="457200" y="4123944"/>
            <a:ext cx="11277295" cy="219456"/>
          </a:xfrm>
          <a:prstGeom prst="rect">
            <a:avLst/>
          </a:prstGeom>
          <a:noFill/>
          <a:ln>
            <a:noFill/>
          </a:ln>
        </p:spPr>
        <p:txBody>
          <a:bodyPr wrap="square" anchor="ctr" lIns="0" rIns="0" tIns="27432" bIns="27432"/>
          <a:lstStyle/>
          <a:p>
            <a:pPr algn="l"/>
            <a:r>
              <a:rPr lang="en-AU" sz="850" dirty="0">
                <a:solidFill>
                  <a:srgbClr val="D03B3B"/>
                </a:solidFill>
                <a:latin typeface="Aptos"/>
              </a:rPr>
              <a:t>✕ Refused → Issued   issued after refusal</a:t>
            </a:r>
          </a:p>
        </p:txBody>
      </p:sp>
      <p:sp>
        <p:nvSpPr>
          <p:cNvPr id="313" name="shape313"/>
          <p:cNvSpPr/>
          <p:nvPr/>
        </p:nvSpPr>
        <p:spPr>
          <a:xfrm>
            <a:off x="457200" y="4361688"/>
            <a:ext cx="11277295" cy="219456"/>
          </a:xfrm>
          <a:prstGeom prst="rect">
            <a:avLst/>
          </a:prstGeom>
          <a:noFill/>
          <a:ln>
            <a:noFill/>
          </a:ln>
        </p:spPr>
        <p:txBody>
          <a:bodyPr wrap="square" anchor="ctr" lIns="0" rIns="0" tIns="27432" bIns="27432"/>
          <a:lstStyle/>
          <a:p>
            <a:pPr algn="l"/>
            <a:r>
              <a:rPr lang="en-AU" sz="850" dirty="0">
                <a:solidFill>
                  <a:srgbClr val="D03B3B"/>
                </a:solidFill>
                <a:latin typeface="Aptos"/>
              </a:rPr>
              <a:t>✕ Revoked → Issued   reinstated after revocation</a:t>
            </a:r>
          </a:p>
        </p:txBody>
      </p:sp>
      <p:sp>
        <p:nvSpPr>
          <p:cNvPr id="314" name="shape314"/>
          <p:cNvSpPr/>
          <p:nvPr/>
        </p:nvSpPr>
        <p:spPr>
          <a:xfrm>
            <a:off x="457200" y="6071616"/>
            <a:ext cx="10515600" cy="384048"/>
          </a:xfrm>
          <a:prstGeom prst="rect">
            <a:avLst/>
          </a:prstGeom>
          <a:noFill/>
          <a:ln>
            <a:noFill/>
          </a:ln>
        </p:spPr>
        <p:txBody>
          <a:bodyPr wrap="square" anchor="t" lIns="0" rIns="0" tIns="27432" bIns="27432"/>
          <a:lstStyle/>
          <a:p>
            <a:pPr algn="l"/>
            <a:r>
              <a:rPr lang="en-AU" sz="850" dirty="0">
                <a:solidFill>
                  <a:srgbClr val="6B6A66"/>
                </a:solidFill>
                <a:latin typeface="Aptos"/>
              </a:rPr>
              <a:t>The objection loop back to Assessed is the one the process model showed restarting the clock. It is legal, and it is the thing the 15-day obligation cannot absorb twice.</a:t>
            </a:r>
          </a:p>
        </p:txBody>
      </p:sp>
      <p:sp>
        <p:nvSpPr>
          <p:cNvPr id="315" name="shape315"/>
          <p:cNvSpPr/>
          <p:nvPr/>
        </p:nvSpPr>
        <p:spPr>
          <a:xfrm>
            <a:off x="457200" y="6492240"/>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Fairgate Roads Authority — heavy vehicle access permits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shape316"/>
          <p:cNvSpPr/>
          <p:nvPr/>
        </p:nvSpPr>
        <p:spPr>
          <a:xfrm>
            <a:off x="457200" y="274320"/>
            <a:ext cx="914400" cy="402336"/>
          </a:xfrm>
          <a:prstGeom prst="roundRect">
            <a:avLst>
              <a:gd name="adj" fmla="val 20000"/>
            </a:avLst>
          </a:prstGeom>
          <a:solidFill>
            <a:srgbClr val="2A78D6"/>
          </a:solidFill>
          <a:ln w="9525">
            <a:solidFill>
              <a:srgbClr val="2A78D6"/>
            </a:solidFill>
          </a:ln>
        </p:spPr>
        <p:txBody>
          <a:bodyPr wrap="square" anchor="ctr" lIns="54864" rIns="54864" tIns="27432" bIns="27432"/>
          <a:lstStyle/>
          <a:p>
            <a:pPr algn="ctr"/>
            <a:r>
              <a:rPr lang="en-AU" sz="1000" b="1" dirty="0">
                <a:solidFill>
                  <a:srgbClr val="FFFFFF"/>
                </a:solidFill>
                <a:latin typeface="Aptos"/>
              </a:rPr>
              <a:t>STEP 16</a:t>
            </a:r>
          </a:p>
        </p:txBody>
      </p:sp>
      <p:sp>
        <p:nvSpPr>
          <p:cNvPr id="317" name="shape317"/>
          <p:cNvSpPr/>
          <p:nvPr/>
        </p:nvSpPr>
        <p:spPr>
          <a:xfrm>
            <a:off x="1499616" y="256032"/>
            <a:ext cx="8686800" cy="438912"/>
          </a:xfrm>
          <a:prstGeom prst="rect">
            <a:avLst/>
          </a:prstGeom>
          <a:noFill/>
          <a:ln>
            <a:noFill/>
          </a:ln>
        </p:spPr>
        <p:txBody>
          <a:bodyPr wrap="square" anchor="ctr" lIns="0" rIns="0" tIns="27432" bIns="27432"/>
          <a:lstStyle/>
          <a:p>
            <a:pPr algn="l"/>
            <a:r>
              <a:rPr lang="en-AU" sz="2000" b="1" dirty="0">
                <a:solidFill>
                  <a:srgbClr val="0B0B0B"/>
                </a:solidFill>
                <a:latin typeface="Aptos"/>
              </a:rPr>
              <a:t>10.28 Metrics and Key Performance Indicators</a:t>
            </a:r>
          </a:p>
        </p:txBody>
      </p:sp>
      <p:sp>
        <p:nvSpPr>
          <p:cNvPr id="318" name="shape318"/>
          <p:cNvSpPr/>
          <p:nvPr/>
        </p:nvSpPr>
        <p:spPr>
          <a:xfrm>
            <a:off x="9357055" y="310896"/>
            <a:ext cx="2377440" cy="329184"/>
          </a:xfrm>
          <a:prstGeom prst="rect">
            <a:avLst/>
          </a:prstGeom>
          <a:noFill/>
          <a:ln>
            <a:noFill/>
          </a:ln>
        </p:spPr>
        <p:txBody>
          <a:bodyPr wrap="square" anchor="ctr" lIns="0" rIns="0" tIns="27432" bIns="27432"/>
          <a:lstStyle/>
          <a:p>
            <a:pPr algn="r"/>
            <a:r>
              <a:rPr lang="en-AU" sz="1000" dirty="0">
                <a:solidFill>
                  <a:srgbClr val="6B6A66"/>
                </a:solidFill>
                <a:latin typeface="Aptos"/>
              </a:rPr>
              <a:t>Measurement and evaluation</a:t>
            </a:r>
          </a:p>
        </p:txBody>
      </p:sp>
      <p:sp>
        <p:nvSpPr>
          <p:cNvPr id="319" name="shape319"/>
          <p:cNvSpPr/>
          <p:nvPr/>
        </p:nvSpPr>
        <p:spPr>
          <a:xfrm>
            <a:off x="457200" y="731520"/>
            <a:ext cx="10515600" cy="310896"/>
          </a:xfrm>
          <a:prstGeom prst="rect">
            <a:avLst/>
          </a:prstGeom>
          <a:noFill/>
          <a:ln>
            <a:noFill/>
          </a:ln>
        </p:spPr>
        <p:txBody>
          <a:bodyPr wrap="square" anchor="ctr" lIns="0" rIns="0" tIns="27432" bIns="27432"/>
          <a:lstStyle/>
          <a:p>
            <a:pPr algn="l"/>
            <a:r>
              <a:rPr lang="en-AU" sz="1350" i="1" dirty="0">
                <a:solidFill>
                  <a:srgbClr val="184F95"/>
                </a:solidFill>
                <a:latin typeface="Aptos"/>
              </a:rPr>
              <a:t>How will anyone know whether it worked?</a:t>
            </a:r>
          </a:p>
        </p:txBody>
      </p:sp>
      <p:cxnSp>
        <p:nvCxnSpPr>
          <p:cNvPr id="320" name="conn320"/>
          <p:cNvCxnSpPr/>
          <p:nvPr/>
        </p:nvCxnSpPr>
        <p:spPr>
          <a:xfrm>
            <a:off x="457200" y="1115568"/>
            <a:ext cx="11277295" cy="1"/>
          </a:xfrm>
          <a:prstGeom prst="line">
            <a:avLst/>
          </a:prstGeom>
          <a:ln w="12700">
            <a:solidFill>
              <a:srgbClr val="D9D8D0"/>
            </a:solidFill>
          </a:ln>
        </p:spPr>
      </p:cxnSp>
      <p:sp>
        <p:nvSpPr>
          <p:cNvPr id="321" name="shape321"/>
          <p:cNvSpPr/>
          <p:nvPr/>
        </p:nvSpPr>
        <p:spPr>
          <a:xfrm>
            <a:off x="457200"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TAKES</a:t>
            </a:r>
          </a:p>
          <a:p>
            <a:pPr algn="l"/>
            <a:r>
              <a:rPr lang="en-AU" sz="950" dirty="0">
                <a:solidFill>
                  <a:srgbClr val="0B0B0B"/>
                </a:solidFill>
                <a:latin typeface="Aptos"/>
              </a:rPr>
              <a:t>The benefits claimed in the business case, and the states just defined.</a:t>
            </a:r>
          </a:p>
        </p:txBody>
      </p:sp>
      <p:sp>
        <p:nvSpPr>
          <p:cNvPr id="322" name="shape322"/>
          <p:cNvSpPr/>
          <p:nvPr/>
        </p:nvSpPr>
        <p:spPr>
          <a:xfrm>
            <a:off x="6187288" y="1225296"/>
            <a:ext cx="5547208" cy="713232"/>
          </a:xfrm>
          <a:prstGeom prst="rect">
            <a:avLst/>
          </a:prstGeom>
          <a:solidFill>
            <a:srgbClr val="F7F7F5"/>
          </a:solidFill>
          <a:ln>
            <a:noFill/>
          </a:ln>
        </p:spPr>
        <p:txBody>
          <a:bodyPr wrap="square" anchor="t" lIns="91440" rIns="91440" tIns="27432" bIns="27432"/>
          <a:lstStyle/>
          <a:p>
            <a:pPr algn="l"/>
            <a:r>
              <a:rPr lang="en-AU" sz="800" b="1" dirty="0">
                <a:solidFill>
                  <a:srgbClr val="6B6A66"/>
                </a:solidFill>
                <a:latin typeface="Aptos"/>
              </a:rPr>
              <a:t>GIVES</a:t>
            </a:r>
          </a:p>
          <a:p>
            <a:pPr algn="l"/>
            <a:r>
              <a:rPr lang="en-AU" sz="950" dirty="0">
                <a:solidFill>
                  <a:srgbClr val="0B0B0B"/>
                </a:solidFill>
                <a:latin typeface="Aptos"/>
              </a:rPr>
              <a:t>Measures with targets and the threshold at which someone must act. This is what closes the loop back to step 5.</a:t>
            </a:r>
          </a:p>
        </p:txBody>
      </p:sp>
      <p:sp>
        <p:nvSpPr>
          <p:cNvPr id="323" name="shape323"/>
          <p:cNvSpPr/>
          <p:nvPr/>
        </p:nvSpPr>
        <p:spPr>
          <a:xfrm>
            <a:off x="6187288" y="1225296"/>
            <a:ext cx="32004" cy="713232"/>
          </a:xfrm>
          <a:prstGeom prst="rect">
            <a:avLst/>
          </a:prstGeom>
          <a:solidFill>
            <a:srgbClr val="2A78D6"/>
          </a:solidFill>
          <a:ln>
            <a:noFill/>
          </a:ln>
        </p:spPr>
        <p:txBody>
          <a:bodyPr wrap="square" anchor="ctr" lIns="54864" rIns="54864" tIns="27432" bIns="27432"/>
          <a:lstStyle/>
          <a:p>
            <a:pPr algn="l"/>
            <a:endParaRPr lang="en-AU" sz="1100"/>
          </a:p>
        </p:txBody>
      </p:sp>
      <p:sp>
        <p:nvSpPr>
          <p:cNvPr id="324" name="shape324"/>
          <p:cNvSpPr/>
          <p:nvPr/>
        </p:nvSpPr>
        <p:spPr>
          <a:xfrm>
            <a:off x="457200" y="2048256"/>
            <a:ext cx="10515600" cy="237744"/>
          </a:xfrm>
          <a:prstGeom prst="rect">
            <a:avLst/>
          </a:prstGeom>
          <a:noFill/>
          <a:ln>
            <a:noFill/>
          </a:ln>
        </p:spPr>
        <p:txBody>
          <a:bodyPr wrap="square" anchor="b" lIns="0" rIns="0" tIns="27432" bIns="27432"/>
          <a:lstStyle/>
          <a:p>
            <a:pPr algn="l"/>
            <a:r>
              <a:rPr lang="en-AU" sz="1100" b="1" dirty="0">
                <a:solidFill>
                  <a:srgbClr val="184F95"/>
                </a:solidFill>
                <a:latin typeface="Aptos"/>
              </a:rPr>
              <a:t>From the obligation down to the indicator someone acts on</a:t>
            </a:r>
          </a:p>
        </p:txBody>
      </p:sp>
      <p:sp>
        <p:nvSpPr>
          <p:cNvPr id="325" name="shape325"/>
          <p:cNvSpPr/>
          <p:nvPr/>
        </p:nvSpPr>
        <p:spPr>
          <a:xfrm>
            <a:off x="457200" y="2121408"/>
            <a:ext cx="11277295" cy="201168"/>
          </a:xfrm>
          <a:prstGeom prst="rect">
            <a:avLst/>
          </a:prstGeom>
          <a:noFill/>
          <a:ln>
            <a:noFill/>
          </a:ln>
        </p:spPr>
        <p:txBody>
          <a:bodyPr wrap="square" anchor="ctr" lIns="54864" rIns="54864" tIns="27432" bIns="27432"/>
          <a:lstStyle/>
          <a:p>
            <a:pPr algn="l"/>
            <a:r>
              <a:rPr lang="en-AU" sz="850" dirty="0">
                <a:solidFill>
                  <a:srgbClr val="6B6A66"/>
                </a:solidFill>
                <a:latin typeface="Aptos"/>
              </a:rPr>
              <a:t>1. Objective    2. Strategy    3. Tactic    4. KPI</a:t>
            </a:r>
          </a:p>
        </p:txBody>
      </p:sp>
      <p:sp>
        <p:nvSpPr>
          <p:cNvPr id="326" name="shape326"/>
          <p:cNvSpPr/>
          <p:nvPr/>
        </p:nvSpPr>
        <p:spPr>
          <a:xfrm>
            <a:off x="457200" y="2340864"/>
            <a:ext cx="11277295" cy="330200"/>
          </a:xfrm>
          <a:prstGeom prst="roundRect">
            <a:avLst>
              <a:gd name="adj" fmla="val 8000"/>
            </a:avLst>
          </a:prstGeom>
          <a:solidFill>
            <a:srgbClr val="E9F1FD"/>
          </a:solidFill>
          <a:ln w="9525">
            <a:solidFill>
              <a:srgbClr val="2A78D6"/>
            </a:solidFill>
          </a:ln>
        </p:spPr>
        <p:txBody>
          <a:bodyPr wrap="square" anchor="ctr" lIns="82296" rIns="82296" tIns="27432" bIns="27432"/>
          <a:lstStyle/>
          <a:p>
            <a:pPr algn="l"/>
            <a:r>
              <a:rPr lang="en-AU" sz="950" b="1" dirty="0">
                <a:solidFill>
                  <a:srgbClr val="0B0B0B"/>
                </a:solidFill>
                <a:latin typeface="Aptos"/>
              </a:rPr>
              <a:t>Decide routine permits within 15 days at $19 a permit</a:t>
            </a:r>
          </a:p>
        </p:txBody>
      </p:sp>
      <p:sp>
        <p:nvSpPr>
          <p:cNvPr id="327" name="shape327"/>
          <p:cNvSpPr/>
          <p:nvPr/>
        </p:nvSpPr>
        <p:spPr>
          <a:xfrm>
            <a:off x="841248" y="2716784"/>
            <a:ext cx="10893247" cy="330200"/>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Remove the queue in assessment</a:t>
            </a:r>
          </a:p>
        </p:txBody>
      </p:sp>
      <p:cxnSp>
        <p:nvCxnSpPr>
          <p:cNvPr id="328" name="conn328"/>
          <p:cNvCxnSpPr/>
          <p:nvPr/>
        </p:nvCxnSpPr>
        <p:spPr>
          <a:xfrm>
            <a:off x="713232" y="2881884"/>
            <a:ext cx="128016" cy="1"/>
          </a:xfrm>
          <a:prstGeom prst="line">
            <a:avLst/>
          </a:prstGeom>
          <a:ln w="6350">
            <a:solidFill>
              <a:srgbClr val="C3C2B7"/>
            </a:solidFill>
          </a:ln>
        </p:spPr>
      </p:cxnSp>
      <p:sp>
        <p:nvSpPr>
          <p:cNvPr id="329" name="shape329"/>
          <p:cNvSpPr/>
          <p:nvPr/>
        </p:nvSpPr>
        <p:spPr>
          <a:xfrm>
            <a:off x="1225296" y="3092704"/>
            <a:ext cx="10509199" cy="330200"/>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Put restriction and bridge data on the assessment screen</a:t>
            </a:r>
          </a:p>
        </p:txBody>
      </p:sp>
      <p:cxnSp>
        <p:nvCxnSpPr>
          <p:cNvPr id="330" name="conn330"/>
          <p:cNvCxnSpPr/>
          <p:nvPr/>
        </p:nvCxnSpPr>
        <p:spPr>
          <a:xfrm>
            <a:off x="1097280" y="3257804"/>
            <a:ext cx="128016" cy="1"/>
          </a:xfrm>
          <a:prstGeom prst="line">
            <a:avLst/>
          </a:prstGeom>
          <a:ln w="6350">
            <a:solidFill>
              <a:srgbClr val="C3C2B7"/>
            </a:solidFill>
          </a:ln>
        </p:spPr>
      </p:cxnSp>
      <p:sp>
        <p:nvSpPr>
          <p:cNvPr id="331" name="shape331"/>
          <p:cNvSpPr/>
          <p:nvPr/>
        </p:nvSpPr>
        <p:spPr>
          <a:xfrm>
            <a:off x="1609344" y="3468624"/>
            <a:ext cx="10125151" cy="330200"/>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Median days Lodged to Issued — target ≤ 15, act above 13  (lagging)</a:t>
            </a:r>
          </a:p>
        </p:txBody>
      </p:sp>
      <p:cxnSp>
        <p:nvCxnSpPr>
          <p:cNvPr id="332" name="conn332"/>
          <p:cNvCxnSpPr/>
          <p:nvPr/>
        </p:nvCxnSpPr>
        <p:spPr>
          <a:xfrm>
            <a:off x="1481328" y="3633724"/>
            <a:ext cx="128016" cy="1"/>
          </a:xfrm>
          <a:prstGeom prst="line">
            <a:avLst/>
          </a:prstGeom>
          <a:ln w="6350">
            <a:solidFill>
              <a:srgbClr val="C3C2B7"/>
            </a:solidFill>
          </a:ln>
        </p:spPr>
      </p:cxnSp>
      <p:sp>
        <p:nvSpPr>
          <p:cNvPr id="333" name="shape333"/>
          <p:cNvSpPr/>
          <p:nvPr/>
        </p:nvSpPr>
        <p:spPr>
          <a:xfrm>
            <a:off x="1609344" y="3844544"/>
            <a:ext cx="10125151" cy="330200"/>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Objection rate — target ≤ 6%, act above 9%  (leading)</a:t>
            </a:r>
          </a:p>
        </p:txBody>
      </p:sp>
      <p:cxnSp>
        <p:nvCxnSpPr>
          <p:cNvPr id="334" name="conn334"/>
          <p:cNvCxnSpPr/>
          <p:nvPr/>
        </p:nvCxnSpPr>
        <p:spPr>
          <a:xfrm>
            <a:off x="1481328" y="4009644"/>
            <a:ext cx="128016" cy="1"/>
          </a:xfrm>
          <a:prstGeom prst="line">
            <a:avLst/>
          </a:prstGeom>
          <a:ln w="6350">
            <a:solidFill>
              <a:srgbClr val="C3C2B7"/>
            </a:solidFill>
          </a:ln>
        </p:spPr>
      </p:cxnSp>
      <p:sp>
        <p:nvSpPr>
          <p:cNvPr id="335" name="shape335"/>
          <p:cNvSpPr/>
          <p:nvPr/>
        </p:nvSpPr>
        <p:spPr>
          <a:xfrm>
            <a:off x="841248" y="4220464"/>
            <a:ext cx="10893247" cy="330200"/>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Shorten consent</a:t>
            </a:r>
          </a:p>
        </p:txBody>
      </p:sp>
      <p:cxnSp>
        <p:nvCxnSpPr>
          <p:cNvPr id="336" name="conn336"/>
          <p:cNvCxnSpPr/>
          <p:nvPr/>
        </p:nvCxnSpPr>
        <p:spPr>
          <a:xfrm>
            <a:off x="713232" y="4385564"/>
            <a:ext cx="128016" cy="1"/>
          </a:xfrm>
          <a:prstGeom prst="line">
            <a:avLst/>
          </a:prstGeom>
          <a:ln w="6350">
            <a:solidFill>
              <a:srgbClr val="C3C2B7"/>
            </a:solidFill>
          </a:ln>
        </p:spPr>
      </p:cxnSp>
      <p:sp>
        <p:nvSpPr>
          <p:cNvPr id="337" name="shape337"/>
          <p:cNvSpPr/>
          <p:nvPr/>
        </p:nvSpPr>
        <p:spPr>
          <a:xfrm>
            <a:off x="1225296" y="4596384"/>
            <a:ext cx="10509199" cy="330200"/>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Seek consent from all road managers at once</a:t>
            </a:r>
          </a:p>
        </p:txBody>
      </p:sp>
      <p:cxnSp>
        <p:nvCxnSpPr>
          <p:cNvPr id="338" name="conn338"/>
          <p:cNvCxnSpPr/>
          <p:nvPr/>
        </p:nvCxnSpPr>
        <p:spPr>
          <a:xfrm>
            <a:off x="1097280" y="4761484"/>
            <a:ext cx="128016" cy="1"/>
          </a:xfrm>
          <a:prstGeom prst="line">
            <a:avLst/>
          </a:prstGeom>
          <a:ln w="6350">
            <a:solidFill>
              <a:srgbClr val="C3C2B7"/>
            </a:solidFill>
          </a:ln>
        </p:spPr>
      </p:cxnSp>
      <p:sp>
        <p:nvSpPr>
          <p:cNvPr id="339" name="shape339"/>
          <p:cNvSpPr/>
          <p:nvPr/>
        </p:nvSpPr>
        <p:spPr>
          <a:xfrm>
            <a:off x="1609344" y="4972304"/>
            <a:ext cx="10125151" cy="330200"/>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Median consent days — target ≤ 7, act above 9  (lagging)</a:t>
            </a:r>
          </a:p>
        </p:txBody>
      </p:sp>
      <p:cxnSp>
        <p:nvCxnSpPr>
          <p:cNvPr id="340" name="conn340"/>
          <p:cNvCxnSpPr/>
          <p:nvPr/>
        </p:nvCxnSpPr>
        <p:spPr>
          <a:xfrm>
            <a:off x="1481328" y="5137404"/>
            <a:ext cx="128016" cy="1"/>
          </a:xfrm>
          <a:prstGeom prst="line">
            <a:avLst/>
          </a:prstGeom>
          <a:ln w="6350">
            <a:solidFill>
              <a:srgbClr val="C3C2B7"/>
            </a:solidFill>
          </a:ln>
        </p:spPr>
      </p:cxnSp>
      <p:sp>
        <p:nvSpPr>
          <p:cNvPr id="341" name="shape341"/>
          <p:cNvSpPr/>
          <p:nvPr/>
        </p:nvSpPr>
        <p:spPr>
          <a:xfrm>
            <a:off x="1609344" y="5348224"/>
            <a:ext cx="10125151" cy="330200"/>
          </a:xfrm>
          <a:prstGeom prst="roundRect">
            <a:avLst>
              <a:gd name="adj" fmla="val 8000"/>
            </a:avLst>
          </a:prstGeom>
          <a:solidFill>
            <a:srgbClr val="FFFFFF"/>
          </a:solidFill>
          <a:ln w="9525">
            <a:solidFill>
              <a:srgbClr val="C3C2B7"/>
            </a:solidFill>
          </a:ln>
        </p:spPr>
        <p:txBody>
          <a:bodyPr wrap="square" anchor="ctr" lIns="82296" rIns="82296" tIns="27432" bIns="27432"/>
          <a:lstStyle/>
          <a:p>
            <a:pPr algn="l"/>
            <a:r>
              <a:rPr lang="en-AU" sz="900" dirty="0">
                <a:solidFill>
                  <a:srgbClr val="0B0B0B"/>
                </a:solidFill>
                <a:latin typeface="Aptos"/>
              </a:rPr>
              <a:t>Councils consenting digitally — target ≥ 9 of 11, act below 7  (leading)</a:t>
            </a:r>
          </a:p>
        </p:txBody>
      </p:sp>
      <p:cxnSp>
        <p:nvCxnSpPr>
          <p:cNvPr id="342" name="conn342"/>
          <p:cNvCxnSpPr/>
          <p:nvPr/>
        </p:nvCxnSpPr>
        <p:spPr>
          <a:xfrm>
            <a:off x="1481328" y="5513324"/>
            <a:ext cx="128016" cy="1"/>
          </a:xfrm>
          <a:prstGeom prst="line">
            <a:avLst/>
          </a:prstGeom>
          <a:ln w="6350">
            <a:solidFill>
              <a:srgbClr val="C3C2B7"/>
            </a:solidFill>
          </a:ln>
        </p:spPr>
      </p:cxnSp>
      <p:sp>
        <p:nvSpPr>
          <p:cNvPr id="343" name="shape343"/>
          <p:cNvSpPr/>
          <p:nvPr/>
        </p:nvSpPr>
        <p:spPr>
          <a:xfrm>
            <a:off x="457200" y="6071616"/>
            <a:ext cx="10515600" cy="384048"/>
          </a:xfrm>
          <a:prstGeom prst="rect">
            <a:avLst/>
          </a:prstGeom>
          <a:noFill/>
          <a:ln>
            <a:noFill/>
          </a:ln>
        </p:spPr>
        <p:txBody>
          <a:bodyPr wrap="square" anchor="t" lIns="0" rIns="0" tIns="27432" bIns="27432"/>
          <a:lstStyle/>
          <a:p>
            <a:pPr algn="l"/>
            <a:r>
              <a:rPr lang="en-AU" sz="850" dirty="0">
                <a:solidFill>
                  <a:srgbClr val="6B6A66"/>
                </a:solidFill>
                <a:latin typeface="Aptos"/>
              </a:rPr>
              <a:t>Baseline is step 5: 40 days, $41 a permit. Without that row there is no improvement to claim, only an assertion.</a:t>
            </a:r>
          </a:p>
        </p:txBody>
      </p:sp>
      <p:sp>
        <p:nvSpPr>
          <p:cNvPr id="344" name="shape344"/>
          <p:cNvSpPr/>
          <p:nvPr/>
        </p:nvSpPr>
        <p:spPr>
          <a:xfrm>
            <a:off x="457200" y="6492240"/>
            <a:ext cx="8229600" cy="219456"/>
          </a:xfrm>
          <a:prstGeom prst="rect">
            <a:avLst/>
          </a:prstGeom>
          <a:noFill/>
          <a:ln>
            <a:noFill/>
          </a:ln>
        </p:spPr>
        <p:txBody>
          <a:bodyPr wrap="square" anchor="ctr" lIns="0" rIns="0" tIns="27432" bIns="27432"/>
          <a:lstStyle/>
          <a:p>
            <a:pPr algn="l"/>
            <a:r>
              <a:rPr lang="en-AU" sz="800" dirty="0">
                <a:solidFill>
                  <a:srgbClr val="6B6A66"/>
                </a:solidFill>
                <a:latin typeface="Aptos"/>
              </a:rPr>
              <a:t>Fairgate Roads Authority — heavy vehicle access permits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shape345"/>
          <p:cNvSpPr/>
          <p:nvPr/>
        </p:nvSpPr>
        <p:spPr>
          <a:xfrm>
            <a:off x="1005840" y="2194560"/>
            <a:ext cx="10058400" cy="548640"/>
          </a:xfrm>
          <a:prstGeom prst="rect">
            <a:avLst/>
          </a:prstGeom>
          <a:noFill/>
          <a:ln>
            <a:noFill/>
          </a:ln>
        </p:spPr>
        <p:txBody>
          <a:bodyPr wrap="square" anchor="ctr" lIns="54864" rIns="54864" tIns="27432" bIns="27432"/>
          <a:lstStyle/>
          <a:p>
            <a:pPr algn="l"/>
            <a:r>
              <a:rPr lang="en-AU" sz="3000" b="1" dirty="0">
                <a:solidFill>
                  <a:srgbClr val="0B0B0B"/>
                </a:solidFill>
                <a:latin typeface="Aptos"/>
              </a:rPr>
              <a:t>Why the chain matters</a:t>
            </a:r>
          </a:p>
        </p:txBody>
      </p:sp>
      <p:sp>
        <p:nvSpPr>
          <p:cNvPr id="346" name="shape346"/>
          <p:cNvSpPr/>
          <p:nvPr/>
        </p:nvSpPr>
        <p:spPr>
          <a:xfrm>
            <a:off x="1005840" y="2926080"/>
            <a:ext cx="9875520" cy="2011680"/>
          </a:xfrm>
          <a:prstGeom prst="rect">
            <a:avLst/>
          </a:prstGeom>
          <a:noFill/>
          <a:ln>
            <a:noFill/>
          </a:ln>
        </p:spPr>
        <p:txBody>
          <a:bodyPr wrap="square" anchor="t" lIns="0" rIns="0" tIns="27432" bIns="27432"/>
          <a:lstStyle/>
          <a:p>
            <a:pPr algn="l"/>
            <a:r>
              <a:rPr lang="en-AU" sz="1300" dirty="0">
                <a:solidFill>
                  <a:srgbClr val="0B0B0B"/>
                </a:solidFill>
                <a:latin typeface="Aptos"/>
              </a:rPr>
              <a:t>Sixteen techniques, each taking something the one before it produced. Nothing here is a fresh start: the process model becomes the analysis rows, the worst row becomes the root cause, the cost to serve becomes the business case, the scope becomes the functions, the functions become the rules and the use cases, and the benefit becomes the KPI. That chain is what makes a technique useful — on its own each is a drawing, in sequence they are an argument.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Slides>19</Slides>
</Properties>
</file>

<file path=docProps/core.xml><?xml version="1.0" encoding="utf-8"?>
<cp:coreProperties xmlns:cp="http://schemas.openxmlformats.org/package/2006/metadata/core-properties" xmlns:dc="http://purl.org/dc/elements/1.1/" xmlns:dcterms="http://purl.org/dc/terms/" xmlns:xsi="http://www.w3.org/2001/XMLSchema-instance">
  <dc:title>CBAP Scenario Walkthrough</dc:title>
  <dc:creator>Business Analyst Services</dc:creator>
  <cp:lastModifiedBy>Business Analyst Services</cp:lastModifiedBy>
</cp:coreProperties>
</file>