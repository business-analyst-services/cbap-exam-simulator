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23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10.5  Brainstorming</a:t>
            </a:r>
          </a:p>
        </p:txBody>
      </p:sp>
      <p:sp>
        <p:nvSpPr>
          <p:cNvPr id="24" name="shape24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Elicitation and collaboration</a:t>
            </a:r>
          </a:p>
        </p:txBody>
      </p:sp>
      <p:sp>
        <p:nvSpPr>
          <p:cNvPr id="25" name="shape25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26" name="conn26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27" name="shape27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28" name="shape28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10.5</a:t>
            </a:r>
          </a:p>
        </p:txBody>
      </p:sp>
      <p:sp>
        <p:nvSpPr>
          <p:cNvPr id="29" name="shape29"/>
          <p:cNvSpPr/>
          <p:nvPr/>
        </p:nvSpPr>
        <p:spPr>
          <a:xfrm>
            <a:off x="457200" y="120700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250" b="1" dirty="0">
                <a:solidFill>
                  <a:srgbClr val="184F95"/>
                </a:solidFill>
                <a:latin typeface="Aptos"/>
              </a:rPr>
              <a:t>Brainstorming — blank template</a:t>
            </a:r>
          </a:p>
        </p:txBody>
      </p:sp>
      <p:sp>
        <p:nvSpPr>
          <p:cNvPr id="30" name="shape30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Record what can go wrong at each step underneath, not only the path where everything works.</a:t>
            </a:r>
          </a:p>
        </p:txBody>
      </p:sp>
      <p:sp>
        <p:nvSpPr>
          <p:cNvPr id="31" name="shape31"/>
          <p:cNvSpPr/>
          <p:nvPr/>
        </p:nvSpPr>
        <p:spPr>
          <a:xfrm>
            <a:off x="457200" y="1700784"/>
            <a:ext cx="3624986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750" b="1" dirty="0">
                <a:solidFill>
                  <a:srgbClr val="184F95"/>
                </a:solidFill>
                <a:latin typeface="Aptos"/>
              </a:rPr>
              <a:t>ROUND 1</a:t>
            </a:r>
          </a:p>
          <a:p>
            <a:pPr algn="l"/>
            <a:r>
              <a:rPr lang="en-AU" sz="950" b="1" dirty="0">
                <a:solidFill>
                  <a:srgbClr val="0B0B0B"/>
                </a:solidFill>
                <a:latin typeface="Aptos"/>
              </a:rPr>
              <a:t>Step 1</a:t>
            </a:r>
          </a:p>
        </p:txBody>
      </p:sp>
      <p:cxnSp>
        <p:nvCxnSpPr>
          <p:cNvPr id="32" name="conn32"/>
          <p:cNvCxnSpPr/>
          <p:nvPr/>
        </p:nvCxnSpPr>
        <p:spPr>
          <a:xfrm>
            <a:off x="4100474" y="2386584"/>
            <a:ext cx="164592" cy="1"/>
          </a:xfrm>
          <a:prstGeom prst="line">
            <a:avLst/>
          </a:prstGeom>
          <a:ln w="12700">
            <a:solidFill>
              <a:srgbClr val="C3C2B7"/>
            </a:solidFill>
            <a:tailEnd type="triangle" w="med" len="med"/>
          </a:ln>
        </p:spPr>
      </p:cxnSp>
      <p:sp>
        <p:nvSpPr>
          <p:cNvPr id="33" name="shape33"/>
          <p:cNvSpPr/>
          <p:nvPr/>
        </p:nvSpPr>
        <p:spPr>
          <a:xfrm>
            <a:off x="4283354" y="1700784"/>
            <a:ext cx="3624986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750" b="1" dirty="0">
                <a:solidFill>
                  <a:srgbClr val="184F95"/>
                </a:solidFill>
                <a:latin typeface="Aptos"/>
              </a:rPr>
              <a:t>ROUND 2</a:t>
            </a:r>
          </a:p>
          <a:p>
            <a:pPr algn="l"/>
            <a:r>
              <a:rPr lang="en-AU" sz="950" b="1" dirty="0">
                <a:solidFill>
                  <a:srgbClr val="0B0B0B"/>
                </a:solidFill>
                <a:latin typeface="Aptos"/>
              </a:rPr>
              <a:t>Step 2</a:t>
            </a:r>
          </a:p>
        </p:txBody>
      </p:sp>
      <p:cxnSp>
        <p:nvCxnSpPr>
          <p:cNvPr id="34" name="conn34"/>
          <p:cNvCxnSpPr/>
          <p:nvPr/>
        </p:nvCxnSpPr>
        <p:spPr>
          <a:xfrm>
            <a:off x="7926629" y="2386584"/>
            <a:ext cx="164592" cy="1"/>
          </a:xfrm>
          <a:prstGeom prst="line">
            <a:avLst/>
          </a:prstGeom>
          <a:ln w="12700">
            <a:solidFill>
              <a:srgbClr val="C3C2B7"/>
            </a:solidFill>
            <a:tailEnd type="triangle" w="med" len="med"/>
          </a:ln>
        </p:spPr>
      </p:cxnSp>
      <p:sp>
        <p:nvSpPr>
          <p:cNvPr id="35" name="shape35"/>
          <p:cNvSpPr/>
          <p:nvPr/>
        </p:nvSpPr>
        <p:spPr>
          <a:xfrm>
            <a:off x="8109509" y="1700784"/>
            <a:ext cx="3624986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t" lIns="73152" rIns="73152" tIns="27432" bIns="27432"/>
          <a:lstStyle/>
          <a:p>
            <a:pPr algn="l"/>
            <a:r>
              <a:rPr lang="en-AU" sz="750" b="1" dirty="0">
                <a:solidFill>
                  <a:srgbClr val="184F95"/>
                </a:solidFill>
                <a:latin typeface="Aptos"/>
              </a:rPr>
              <a:t>ROUND 3</a:t>
            </a:r>
          </a:p>
          <a:p>
            <a:pPr algn="l"/>
            <a:r>
              <a:rPr lang="en-AU" sz="950" b="1" dirty="0">
                <a:solidFill>
                  <a:srgbClr val="0B0B0B"/>
                </a:solidFill>
                <a:latin typeface="Aptos"/>
              </a:rPr>
              <a:t>Step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10.5 Brainstorming — blank template</dc:title>
  <dc:creator>Business Analyst Services</dc:creator>
  <cp:lastModifiedBy>Business Analyst Services</cp:lastModifiedBy>
</cp:coreProperties>
</file>