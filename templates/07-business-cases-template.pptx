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0"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928C-8D94-4386-AC7B-553F59AB7C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2215E4E-208B-05AF-0F7D-9031FC30B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A11AB49-14DA-9592-096C-42215282051C}"/>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CB846A6-E1F2-97FD-1990-6DB3D94A2CF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F72E879-8ADE-ADD1-561C-922DD66B1C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374340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2970-3FFA-672E-7BDF-8C39604467F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4668F12-6D7A-FAC0-A8EA-015157BBB2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D2B7A39-1E77-649D-B8DD-65A653DA92D8}"/>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487EC7D5-C430-E2C7-F316-38EA7DAF858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FCD7CAB-8C83-4E1B-163F-768A62ADF3F5}"/>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680130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B571-F905-106F-44AC-06D507B8DD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D7BDFC9-BB31-433B-931E-96E8AD41C5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4D8789-1EE8-4EB2-A8D6-1CF825AACF86}"/>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29447C1-5CE4-9F76-9084-1F256878BE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8835E4-AFDF-C6D5-CD1B-FA44865F882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84844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E5372-E0A7-350D-2E33-AD05CD86502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5C14DD2-FD65-8F81-56D6-7CCCBFA303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ABC754D9-E8E7-1862-DAE2-BA3F6E1D03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7741819-1EBC-263E-53AD-63930D5195F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5A1B7D8-7263-F629-5FCA-42BBA2DBEEF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F2436AB-10EF-5D96-2497-C60B56CD3D1C}"/>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379494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EB8AB-C454-7B11-466F-81F851FE4EC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27CCE9B-8BCB-3DFD-87F6-AA5CEC25B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05606-8CAC-4E3B-C6ED-4AC2B5B705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381D3C8-B3AC-1B3C-3004-08F40E1C0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9F8BD6-6962-8063-AE0A-5B84622373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BF2BB01-25A7-74DB-9D39-FF2497850D23}"/>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8" name="Footer Placeholder 7">
            <a:extLst>
              <a:ext uri="{FF2B5EF4-FFF2-40B4-BE49-F238E27FC236}">
                <a16:creationId xmlns:a16="http://schemas.microsoft.com/office/drawing/2014/main" id="{90EC8301-7807-EC5A-6186-22270AF9CE9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9D6DC6-AA52-6F5F-3085-E5804726737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502518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BF212-4210-7349-A016-49E9913879B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14B7576-2346-127D-9DC5-8AED421B027E}"/>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4" name="Footer Placeholder 3">
            <a:extLst>
              <a:ext uri="{FF2B5EF4-FFF2-40B4-BE49-F238E27FC236}">
                <a16:creationId xmlns:a16="http://schemas.microsoft.com/office/drawing/2014/main" id="{1E14EFCF-868D-FC97-52FF-BCD0344C8AC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861E5D5-7126-62BB-3AB3-D05572B6EB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603273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D34B14-28BC-00E5-F4D8-4E0643C78024}"/>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3" name="Footer Placeholder 2">
            <a:extLst>
              <a:ext uri="{FF2B5EF4-FFF2-40B4-BE49-F238E27FC236}">
                <a16:creationId xmlns:a16="http://schemas.microsoft.com/office/drawing/2014/main" id="{5C9C7536-7B97-D84D-CDFB-8BC699DC596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DE231F4-14C5-C859-F2BA-D048EEFAD9A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847642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FE36B-C1A8-E713-D3B0-633FBD8113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41836CF-9976-29CE-68C5-9599264B35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55AFBF0-4B3F-2EF1-8B31-26642E3D7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85EE40-43F3-7F72-C8F1-EDD0B50D1CD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6932FD82-A9F1-3A8F-56B3-A1634315EDA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08D54F0-0539-7BA2-BE93-05305B89F9D4}"/>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771265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4329-14C2-BCD5-7B8B-83A0D2EAE5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8780F7B-39E7-80A7-B597-95CE2CDC61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49E643D-14FF-D0FF-4AD7-CDCACEE3DF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EA30B3-6F69-EBB5-A077-12640378C51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3319E47-FC10-596B-6C48-03F211E1EB9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A804247-22B8-B7DE-3F1D-992336400D6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444579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6F2B-D3D5-6EA6-0020-9DECD2B7FB2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3EBA203-CF3F-8892-5650-4309825CF8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CF26AE2-84EA-FE78-2265-F6AFE0A1905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8263697-1B9F-069E-2598-73789FDFF79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0047D5-B882-D0F3-B993-DF9EDB203BBF}"/>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463429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AB66-86D0-3D3E-E607-14155BE924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85B9329-08DA-011C-50F7-CAB8B821BE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665844B-E496-59B2-0A32-DFDAE7DADC89}"/>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1810B4B-1C2F-C372-0353-8D20C000A8F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78BC671-93AA-3D60-4FE1-A1D5BCE4B9C0}"/>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07553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5F508C-2EF1-2B88-6F34-BC6267F7CE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A4579F1-5848-0D86-5D03-D45679A30A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F1C1FA1-D052-8D63-598C-3712975FF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7CCA5EC-E9C5-E397-BED3-64A79396DA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7041FC9-9C2B-BFFE-5BEC-9A8C04ED07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157FD1-BEE4-45E1-9795-C9137D5ACD0F}" type="slidenum">
              <a:rPr lang="en-AU" smtClean="0"/>
              <a:t>‹#›</a:t>
            </a:fld>
            <a:endParaRPr lang="en-AU"/>
          </a:p>
        </p:txBody>
      </p:sp>
    </p:spTree>
    <p:extLst>
      <p:ext uri="{BB962C8B-B14F-4D97-AF65-F5344CB8AC3E}">
        <p14:creationId xmlns:p14="http://schemas.microsoft.com/office/powerpoint/2010/main" val="1463503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23"/>
          <p:cNvSpPr/>
          <p:nvPr/>
        </p:nvSpPr>
        <p:spPr>
          <a:xfrm>
            <a:off x="457200" y="310896"/>
            <a:ext cx="7498080" cy="475488"/>
          </a:xfrm>
          <a:prstGeom prst="rect">
            <a:avLst/>
          </a:prstGeom>
          <a:noFill/>
          <a:ln>
            <a:noFill/>
          </a:ln>
        </p:spPr>
        <p:txBody>
          <a:bodyPr wrap="square" anchor="b" lIns="0" rIns="0" tIns="27432" bIns="27432"/>
          <a:lstStyle/>
          <a:p>
            <a:pPr algn="l"/>
            <a:r>
              <a:rPr lang="en-AU" sz="2200" b="1" dirty="0">
                <a:solidFill>
                  <a:srgbClr val="0B0B0B"/>
                </a:solidFill>
                <a:latin typeface="Aptos"/>
              </a:rPr>
              <a:t>10.7  Business Cases</a:t>
            </a:r>
          </a:p>
        </p:txBody>
      </p:sp>
      <p:sp>
        <p:nvSpPr>
          <p:cNvPr id="24" name="shape24"/>
          <p:cNvSpPr/>
          <p:nvPr/>
        </p:nvSpPr>
        <p:spPr>
          <a:xfrm>
            <a:off x="457200" y="786384"/>
            <a:ext cx="7498080" cy="256032"/>
          </a:xfrm>
          <a:prstGeom prst="rect">
            <a:avLst/>
          </a:prstGeom>
          <a:noFill/>
          <a:ln>
            <a:noFill/>
          </a:ln>
        </p:spPr>
        <p:txBody>
          <a:bodyPr wrap="square" anchor="t" lIns="0" rIns="0" tIns="27432" bIns="27432"/>
          <a:lstStyle/>
          <a:p>
            <a:pPr algn="l"/>
            <a:r>
              <a:rPr lang="en-AU" sz="1050" dirty="0">
                <a:solidFill>
                  <a:srgbClr val="6B6A66"/>
                </a:solidFill>
                <a:latin typeface="Aptos"/>
              </a:rPr>
              <a:t>Valuation and decision</a:t>
            </a:r>
          </a:p>
        </p:txBody>
      </p:sp>
      <p:sp>
        <p:nvSpPr>
          <p:cNvPr id="25" name="shape25"/>
          <p:cNvSpPr/>
          <p:nvPr/>
        </p:nvSpPr>
        <p:spPr>
          <a:xfrm>
            <a:off x="9677095" y="384048"/>
            <a:ext cx="2057400" cy="310896"/>
          </a:xfrm>
          <a:prstGeom prst="roundRect">
            <a:avLst>
              <a:gd name="adj" fmla="val 20000"/>
            </a:avLst>
          </a:prstGeom>
          <a:solidFill>
            <a:srgbClr val="FFFFFF"/>
          </a:solidFill>
          <a:ln w="9525">
            <a:solidFill>
              <a:srgbClr val="2A78D6"/>
            </a:solidFill>
          </a:ln>
        </p:spPr>
        <p:txBody>
          <a:bodyPr wrap="square" anchor="ctr" lIns="54864" rIns="54864" tIns="27432" bIns="27432"/>
          <a:lstStyle/>
          <a:p>
            <a:pPr algn="ctr"/>
            <a:r>
              <a:rPr lang="en-AU" sz="950" b="1" dirty="0">
                <a:solidFill>
                  <a:srgbClr val="2A78D6"/>
                </a:solidFill>
                <a:latin typeface="Aptos"/>
              </a:rPr>
              <a:t>BLANK TEMPLATE</a:t>
            </a:r>
          </a:p>
        </p:txBody>
      </p:sp>
      <p:cxnSp>
        <p:nvCxnSpPr>
          <p:cNvPr id="26" name="conn26"/>
          <p:cNvCxnSpPr/>
          <p:nvPr/>
        </p:nvCxnSpPr>
        <p:spPr>
          <a:xfrm>
            <a:off x="457200" y="1078992"/>
            <a:ext cx="11277295" cy="1"/>
          </a:xfrm>
          <a:prstGeom prst="line">
            <a:avLst/>
          </a:prstGeom>
          <a:ln w="9525">
            <a:solidFill>
              <a:srgbClr val="D9D8D0"/>
            </a:solidFill>
          </a:ln>
        </p:spPr>
      </p:cxnSp>
      <p:sp>
        <p:nvSpPr>
          <p:cNvPr id="27" name="shape27"/>
          <p:cNvSpPr/>
          <p:nvPr/>
        </p:nvSpPr>
        <p:spPr>
          <a:xfrm>
            <a:off x="457200" y="6473952"/>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CBAP® Technique Pack · BABOK® Guide v3 · business-analyst.services</a:t>
            </a:r>
          </a:p>
        </p:txBody>
      </p:sp>
      <p:sp>
        <p:nvSpPr>
          <p:cNvPr id="28" name="shape28"/>
          <p:cNvSpPr/>
          <p:nvPr/>
        </p:nvSpPr>
        <p:spPr>
          <a:xfrm>
            <a:off x="10637215" y="6473952"/>
            <a:ext cx="1097280" cy="219456"/>
          </a:xfrm>
          <a:prstGeom prst="rect">
            <a:avLst/>
          </a:prstGeom>
          <a:noFill/>
          <a:ln>
            <a:noFill/>
          </a:ln>
        </p:spPr>
        <p:txBody>
          <a:bodyPr wrap="square" anchor="ctr" lIns="0" rIns="0" tIns="27432" bIns="27432"/>
          <a:lstStyle/>
          <a:p>
            <a:pPr algn="r"/>
            <a:r>
              <a:rPr lang="en-AU" sz="800" dirty="0">
                <a:solidFill>
                  <a:srgbClr val="6B6A66"/>
                </a:solidFill>
                <a:latin typeface="Aptos"/>
              </a:rPr>
              <a:t>10.7</a:t>
            </a:r>
          </a:p>
        </p:txBody>
      </p:sp>
      <p:sp>
        <p:nvSpPr>
          <p:cNvPr id="29" name="shape29"/>
          <p:cNvSpPr/>
          <p:nvPr/>
        </p:nvSpPr>
        <p:spPr>
          <a:xfrm>
            <a:off x="457200" y="1207008"/>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HOW TO FILL IT IN</a:t>
            </a:r>
          </a:p>
        </p:txBody>
      </p:sp>
      <p:sp>
        <p:nvSpPr>
          <p:cNvPr id="30" name="shape30"/>
          <p:cNvSpPr/>
          <p:nvPr/>
        </p:nvSpPr>
        <p:spPr>
          <a:xfrm>
            <a:off x="457200" y="1408176"/>
            <a:ext cx="2743200" cy="914400"/>
          </a:xfrm>
          <a:prstGeom prst="rect">
            <a:avLst/>
          </a:prstGeom>
          <a:noFill/>
          <a:ln>
            <a:noFill/>
          </a:ln>
        </p:spPr>
        <p:txBody>
          <a:bodyPr wrap="square" anchor="t" lIns="0" rIns="0" tIns="27432" bIns="27432"/>
          <a:lstStyle/>
          <a:p>
            <a:pPr algn="l"/>
            <a:r>
              <a:rPr lang="en-AU" sz="950" dirty="0">
                <a:solidFill>
                  <a:srgbClr val="0B0B0B"/>
                </a:solidFill>
                <a:latin typeface="Aptos"/>
              </a:rPr>
              <a:t>Panels are fixed. An empty panel is a finding, not an omission.</a:t>
            </a:r>
          </a:p>
        </p:txBody>
      </p:sp>
      <p:sp>
        <p:nvSpPr>
          <p:cNvPr id="31" name="shape31"/>
          <p:cNvSpPr/>
          <p:nvPr/>
        </p:nvSpPr>
        <p:spPr>
          <a:xfrm>
            <a:off x="457200" y="2414016"/>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WHAT IT IS FOR</a:t>
            </a:r>
          </a:p>
        </p:txBody>
      </p:sp>
      <p:sp>
        <p:nvSpPr>
          <p:cNvPr id="32" name="shape32"/>
          <p:cNvSpPr/>
          <p:nvPr/>
        </p:nvSpPr>
        <p:spPr>
          <a:xfrm>
            <a:off x="457200" y="2615184"/>
            <a:ext cx="2743200" cy="731520"/>
          </a:xfrm>
          <a:prstGeom prst="rect">
            <a:avLst/>
          </a:prstGeom>
          <a:noFill/>
          <a:ln>
            <a:noFill/>
          </a:ln>
        </p:spPr>
        <p:txBody>
          <a:bodyPr wrap="square" anchor="t" lIns="0" rIns="0" tIns="27432" bIns="27432"/>
          <a:lstStyle/>
          <a:p>
            <a:pPr algn="l"/>
            <a:r>
              <a:rPr lang="en-AU" sz="950" dirty="0">
                <a:solidFill>
                  <a:srgbClr val="0B0B0B"/>
                </a:solidFill>
                <a:latin typeface="Aptos"/>
              </a:rPr>
              <a:t>Assembles the justification for a change: the need, the options considered, the recommended option and what it is expected to be worth.</a:t>
            </a:r>
          </a:p>
        </p:txBody>
      </p:sp>
      <p:sp>
        <p:nvSpPr>
          <p:cNvPr id="33" name="shape33"/>
          <p:cNvSpPr/>
          <p:nvPr/>
        </p:nvSpPr>
        <p:spPr>
          <a:xfrm>
            <a:off x="457200" y="3438144"/>
            <a:ext cx="2743200" cy="182880"/>
          </a:xfrm>
          <a:prstGeom prst="rect">
            <a:avLst/>
          </a:prstGeom>
          <a:noFill/>
          <a:ln>
            <a:noFill/>
          </a:ln>
        </p:spPr>
        <p:txBody>
          <a:bodyPr wrap="square" anchor="b" lIns="0" rIns="0" tIns="27432" bIns="27432"/>
          <a:lstStyle/>
          <a:p>
            <a:pPr algn="l"/>
            <a:r>
              <a:rPr lang="en-AU" sz="800" b="1" dirty="0">
                <a:solidFill>
                  <a:srgbClr val="6B6A66"/>
                </a:solidFill>
                <a:latin typeface="Aptos"/>
              </a:rPr>
              <a:t>MOST OFTEN CONFUSED WITH</a:t>
            </a:r>
          </a:p>
        </p:txBody>
      </p:sp>
      <p:sp>
        <p:nvSpPr>
          <p:cNvPr id="34" name="shape34"/>
          <p:cNvSpPr/>
          <p:nvPr/>
        </p:nvSpPr>
        <p:spPr>
          <a:xfrm>
            <a:off x="457200" y="3639312"/>
            <a:ext cx="2743200" cy="1737360"/>
          </a:xfrm>
          <a:prstGeom prst="rect">
            <a:avLst/>
          </a:prstGeom>
          <a:solidFill>
            <a:srgbClr val="F7F7F5"/>
          </a:solidFill>
          <a:ln>
            <a:noFill/>
          </a:ln>
        </p:spPr>
        <p:txBody>
          <a:bodyPr wrap="square" anchor="t" lIns="91440" rIns="91440" tIns="27432" bIns="27432"/>
          <a:lstStyle/>
          <a:p>
            <a:pPr algn="l"/>
            <a:r>
              <a:rPr lang="en-AU" sz="900" dirty="0">
                <a:solidFill>
                  <a:srgbClr val="0B0B0B"/>
                </a:solidFill>
                <a:latin typeface="Aptos"/>
              </a:rPr>
              <a:t>The business case is the container; financial analysis is one of its contents. An item that turns on how the return was calculated is financial analysis, while one that turns on whether the recommendation was justified at all is the business case.</a:t>
            </a:r>
          </a:p>
        </p:txBody>
      </p:sp>
      <p:sp>
        <p:nvSpPr>
          <p:cNvPr id="35" name="shape35"/>
          <p:cNvSpPr/>
          <p:nvPr/>
        </p:nvSpPr>
        <p:spPr>
          <a:xfrm>
            <a:off x="457200" y="3639312"/>
            <a:ext cx="32004" cy="1737360"/>
          </a:xfrm>
          <a:prstGeom prst="rect">
            <a:avLst/>
          </a:prstGeom>
          <a:solidFill>
            <a:srgbClr val="FAB219"/>
          </a:solidFill>
          <a:ln>
            <a:noFill/>
          </a:ln>
        </p:spPr>
        <p:txBody>
          <a:bodyPr wrap="square" anchor="ctr" lIns="54864" rIns="54864" tIns="27432" bIns="27432"/>
          <a:lstStyle/>
          <a:p>
            <a:pPr algn="l"/>
            <a:endParaRPr lang="en-AU" sz="1100"/>
          </a:p>
        </p:txBody>
      </p:sp>
      <p:sp>
        <p:nvSpPr>
          <p:cNvPr id="36" name="shape36"/>
          <p:cNvSpPr/>
          <p:nvPr/>
        </p:nvSpPr>
        <p:spPr>
          <a:xfrm>
            <a:off x="457200" y="5486400"/>
            <a:ext cx="2743200" cy="502920"/>
          </a:xfrm>
          <a:prstGeom prst="rect">
            <a:avLst/>
          </a:prstGeom>
          <a:noFill/>
          <a:ln>
            <a:noFill/>
          </a:ln>
        </p:spPr>
        <p:txBody>
          <a:bodyPr wrap="square" anchor="t" lIns="0" rIns="0" tIns="27432" bIns="27432"/>
          <a:lstStyle/>
          <a:p>
            <a:pPr algn="l"/>
            <a:r>
              <a:rPr lang="en-AU" sz="800" dirty="0">
                <a:solidFill>
                  <a:srgbClr val="6B6A66"/>
                </a:solidFill>
                <a:latin typeface="Aptos"/>
              </a:rPr>
              <a:t>Tasks: 6.4 Define Change Strategy · 6.2 Define Future State · 7.6 Analyze Potential Value and Recommend Solution</a:t>
            </a:r>
          </a:p>
        </p:txBody>
      </p:sp>
      <p:sp>
        <p:nvSpPr>
          <p:cNvPr id="37" name="shape37"/>
          <p:cNvSpPr/>
          <p:nvPr/>
        </p:nvSpPr>
        <p:spPr>
          <a:xfrm>
            <a:off x="3520440" y="1188720"/>
            <a:ext cx="8214055" cy="237744"/>
          </a:xfrm>
          <a:prstGeom prst="rect">
            <a:avLst/>
          </a:prstGeom>
          <a:noFill/>
          <a:ln>
            <a:noFill/>
          </a:ln>
        </p:spPr>
        <p:txBody>
          <a:bodyPr wrap="square" anchor="b" lIns="0" rIns="0" tIns="27432" bIns="27432"/>
          <a:lstStyle/>
          <a:p>
            <a:pPr algn="l"/>
            <a:r>
              <a:rPr lang="en-AU" sz="1050" b="1" dirty="0">
                <a:solidFill>
                  <a:srgbClr val="184F95"/>
                </a:solidFill>
                <a:latin typeface="Aptos"/>
              </a:rPr>
              <a:t>Business Cases — blank template</a:t>
            </a:r>
          </a:p>
        </p:txBody>
      </p:sp>
      <p:sp>
        <p:nvSpPr>
          <p:cNvPr id="38" name="shape38"/>
          <p:cNvSpPr/>
          <p:nvPr/>
        </p:nvSpPr>
        <p:spPr>
          <a:xfrm>
            <a:off x="3547872" y="152704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NEED</a:t>
            </a:r>
          </a:p>
          <a:p>
            <a:pPr algn="l"/>
            <a:endParaRPr lang="en-AU" sz="1100"/>
          </a:p>
        </p:txBody>
      </p:sp>
      <p:sp>
        <p:nvSpPr>
          <p:cNvPr id="39" name="shape39"/>
          <p:cNvSpPr/>
          <p:nvPr/>
        </p:nvSpPr>
        <p:spPr>
          <a:xfrm>
            <a:off x="7654900" y="152704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OPTIONS CONSIDERED</a:t>
            </a:r>
          </a:p>
          <a:p>
            <a:pPr algn="l"/>
            <a:endParaRPr lang="en-AU" sz="1100"/>
          </a:p>
        </p:txBody>
      </p:sp>
      <p:sp>
        <p:nvSpPr>
          <p:cNvPr id="40" name="shape40"/>
          <p:cNvSpPr/>
          <p:nvPr/>
        </p:nvSpPr>
        <p:spPr>
          <a:xfrm>
            <a:off x="3547872" y="286816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WHY REPLACE</a:t>
            </a:r>
          </a:p>
          <a:p>
            <a:pPr algn="l"/>
            <a:endParaRPr lang="en-AU" sz="1100"/>
          </a:p>
        </p:txBody>
      </p:sp>
      <p:sp>
        <p:nvSpPr>
          <p:cNvPr id="41" name="shape41"/>
          <p:cNvSpPr/>
          <p:nvPr/>
        </p:nvSpPr>
        <p:spPr>
          <a:xfrm>
            <a:off x="7654900" y="286816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VALUE</a:t>
            </a:r>
          </a:p>
          <a:p>
            <a:pPr algn="l"/>
            <a:endParaRPr lang="en-AU" sz="1100"/>
          </a:p>
        </p:txBody>
      </p:sp>
      <p:sp>
        <p:nvSpPr>
          <p:cNvPr id="42" name="shape42"/>
          <p:cNvSpPr/>
          <p:nvPr/>
        </p:nvSpPr>
        <p:spPr>
          <a:xfrm>
            <a:off x="3547872" y="420928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RISKS</a:t>
            </a:r>
          </a:p>
          <a:p>
            <a:pPr algn="l"/>
            <a:endParaRPr lang="en-AU" sz="1100"/>
          </a:p>
        </p:txBody>
      </p:sp>
      <p:sp>
        <p:nvSpPr>
          <p:cNvPr id="43" name="shape43"/>
          <p:cNvSpPr/>
          <p:nvPr/>
        </p:nvSpPr>
        <p:spPr>
          <a:xfrm>
            <a:off x="7654900" y="4209288"/>
            <a:ext cx="4052164" cy="128625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TIMING</a:t>
            </a:r>
          </a:p>
          <a:p>
            <a:pPr algn="l"/>
            <a:endParaRPr lang="en-AU"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Slides>1</Slides>
</Properties>
</file>

<file path=docProps/core.xml><?xml version="1.0" encoding="utf-8"?>
<cp:coreProperties xmlns:cp="http://schemas.openxmlformats.org/package/2006/metadata/core-properties" xmlns:dc="http://purl.org/dc/elements/1.1/" xmlns:dcterms="http://purl.org/dc/terms/" xmlns:xsi="http://www.w3.org/2001/XMLSchema-instance">
  <dc:title>10.7 Business Cases — blank template</dc:title>
  <dc:creator>Business Analyst Services</dc:creator>
  <cp:lastModifiedBy>Business Analyst Services</cp:lastModifiedBy>
</cp:coreProperties>
</file>