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10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BD928C-8D94-4386-AC7B-553F59AB7C6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2215E4E-208B-05AF-0F7D-9031FC30B7D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11AB49-14DA-9592-096C-4221528205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846A6-E1F2-97FD-1990-6DB3D94A2C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2E879-8ADE-ADD1-561C-922DD66B1C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3743408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62970-3FFA-672E-7BDF-8C39604467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668F12-6D7A-FAC0-A8EA-015157BBB2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2B7A39-1E77-649D-B8DD-65A653DA92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7EC7D5-C430-E2C7-F316-38EA7DAF85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FCD7CAB-8C83-4E1B-163F-768A62ADF3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6801309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DBB571-F905-106F-44AC-06D507B8DD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D7BDFC9-BB31-433B-931E-96E8AD41C5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34D8789-1EE8-4EB2-A8D6-1CF825AACF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29447C1-5CE4-9F76-9084-1F256878B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8835E4-AFDF-C6D5-CD1B-FA44865F88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8484421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FE5372-E0A7-350D-2E33-AD05CD865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C14DD2-FD65-8F81-56D6-7CCCBFA303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BC754D9-E8E7-1862-DAE2-BA3F6E1D035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7741819-1EBC-263E-53AD-63930D5195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1B7D8-7263-F629-5FCA-42BBA2DBE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F2436AB-10EF-5D96-2497-C60B56CD3D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37949469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5EB8AB-C454-7B11-466F-81F851FE4E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7CCE9B-8BCB-3DFD-87F6-AA5CEC25B4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5705606-8CAC-4E3B-C6ED-4AC2B5B705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381D3C8-B3AC-1B3C-3004-08F40E1C04A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49F8BD6-6962-8063-AE0A-5B84622373D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BF2BB01-25A7-74DB-9D39-FF2497850D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0EC8301-7807-EC5A-6186-22270AF9CE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E9D6DC6-AA52-6F5F-3085-E58047267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02518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BBF212-4210-7349-A016-49E9913879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14B7576-2346-127D-9DC5-8AED421B02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14EFCF-868D-FC97-52FF-BCD0344C8A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61E5D5-7126-62BB-3AB3-D05572B6EB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6032731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BD34B14-28BC-00E5-F4D8-4E0643C780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C9C7536-7B97-D84D-CDFB-8BC699DC59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DE231F4-14C5-C859-F2BA-D048EEFAD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8476429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DFE36B-C1A8-E713-D3B0-633FBD8113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41836CF-9976-29CE-68C5-9599264B35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55AFBF0-4B3F-2EF1-8B31-26642E3D74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085EE40-43F3-7F72-C8F1-EDD0B50D1C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32FD82-A9F1-3A8F-56B3-A1634315ED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D54F0-0539-7BA2-BE93-05305B89F9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771265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F4329-14C2-BCD5-7B8B-83A0D2EAE5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8780F7B-39E7-80A7-B597-95CE2CDC61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49E643D-14FF-D0FF-4AD7-CDCACEE3DF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EA30B3-6F69-EBB5-A077-12640378C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19E47-FC10-596B-6C48-03F211E1EB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804247-22B8-B7DE-3F1D-992336400D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44579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B66F2B-D3D5-6EA6-0020-9DECD2B7FB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EBA203-CF3F-8892-5650-4309825CF81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F26AE2-84EA-FE78-2265-F6AFE0A190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8263697-1B9F-069E-2598-73789FDFF7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C0047D5-B882-D0F3-B993-DF9EDB203B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46342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0B84AB66-86D0-3D3E-E607-14155BE924D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85B9329-08DA-011C-50F7-CAB8B821BE9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665844B-E496-59B2-0A32-DFDAE7DADC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810B4B-1C2F-C372-0353-8D20C000A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8BC671-93AA-3D60-4FE1-A1D5BCE4B9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2075538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E5F508C-2EF1-2B88-6F34-BC6267F7C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AU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4579F1-5848-0D86-5D03-D45679A30A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F1C1FA1-D052-8D63-598C-3712975FFA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684189-DCFA-48F5-AB2E-DFEFB54E95D2}" type="datetimeFigureOut">
              <a:rPr lang="en-AU" smtClean="0"/>
              <a:t>19/08/2026</a:t>
            </a:fld>
            <a:endParaRPr lang="en-AU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CCA5EC-E9C5-E397-BED3-64A79396DA2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AU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041FC9-9C2B-BFFE-5BEC-9A8C04ED0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B157FD1-BEE4-45E1-9795-C9137D5ACD0F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14635038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hape35"/>
          <p:cNvSpPr/>
          <p:nvPr/>
        </p:nvSpPr>
        <p:spPr>
          <a:xfrm>
            <a:off x="457200" y="310896"/>
            <a:ext cx="7498080" cy="475488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2200" b="1" dirty="0">
                <a:solidFill>
                  <a:srgbClr val="0B0B0B"/>
                </a:solidFill>
                <a:latin typeface="Aptos"/>
              </a:rPr>
              <a:t>10.38  Risk Analysis and Management</a:t>
            </a:r>
          </a:p>
        </p:txBody>
      </p:sp>
      <p:sp>
        <p:nvSpPr>
          <p:cNvPr id="36" name="shape36"/>
          <p:cNvSpPr/>
          <p:nvPr/>
        </p:nvSpPr>
        <p:spPr>
          <a:xfrm>
            <a:off x="457200" y="786384"/>
            <a:ext cx="7498080" cy="25603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1050" dirty="0">
                <a:solidFill>
                  <a:srgbClr val="6B6A66"/>
                </a:solidFill>
                <a:latin typeface="Aptos"/>
              </a:rPr>
              <a:t>Valuation and decision</a:t>
            </a:r>
          </a:p>
        </p:txBody>
      </p:sp>
      <p:sp>
        <p:nvSpPr>
          <p:cNvPr id="37" name="shape37"/>
          <p:cNvSpPr/>
          <p:nvPr/>
        </p:nvSpPr>
        <p:spPr>
          <a:xfrm>
            <a:off x="9677095" y="384048"/>
            <a:ext cx="2057400" cy="310896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9525">
            <a:solidFill>
              <a:srgbClr val="2A78D6"/>
            </a:solidFill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50" b="1" dirty="0">
                <a:solidFill>
                  <a:srgbClr val="2A78D6"/>
                </a:solidFill>
                <a:latin typeface="Aptos"/>
              </a:rPr>
              <a:t>BLANK TEMPLATE</a:t>
            </a:r>
          </a:p>
        </p:txBody>
      </p:sp>
      <p:cxnSp>
        <p:nvCxnSpPr>
          <p:cNvPr id="38" name="conn38"/>
          <p:cNvCxnSpPr/>
          <p:nvPr/>
        </p:nvCxnSpPr>
        <p:spPr>
          <a:xfrm>
            <a:off x="457200" y="1078992"/>
            <a:ext cx="11277295" cy="1"/>
          </a:xfrm>
          <a:prstGeom prst="line">
            <a:avLst/>
          </a:prstGeom>
          <a:ln w="9525">
            <a:solidFill>
              <a:srgbClr val="D9D8D0"/>
            </a:solidFill>
          </a:ln>
        </p:spPr>
      </p:cxnSp>
      <p:sp>
        <p:nvSpPr>
          <p:cNvPr id="39" name="shape39"/>
          <p:cNvSpPr/>
          <p:nvPr/>
        </p:nvSpPr>
        <p:spPr>
          <a:xfrm>
            <a:off x="457200" y="6473952"/>
            <a:ext cx="822960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l"/>
            <a:r>
              <a:rPr lang="en-AU" sz="800" dirty="0">
                <a:solidFill>
                  <a:srgbClr val="6B6A66"/>
                </a:solidFill>
                <a:latin typeface="Aptos"/>
              </a:rPr>
              <a:t>CBAP® Technique Pack · BABOK® Guide v3 · business-analyst.services</a:t>
            </a:r>
          </a:p>
        </p:txBody>
      </p:sp>
      <p:sp>
        <p:nvSpPr>
          <p:cNvPr id="40" name="shape40"/>
          <p:cNvSpPr/>
          <p:nvPr/>
        </p:nvSpPr>
        <p:spPr>
          <a:xfrm>
            <a:off x="10637215" y="6473952"/>
            <a:ext cx="109728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0" rIns="0" tIns="27432" bIns="27432"/>
          <a:lstStyle/>
          <a:p>
            <a:pPr algn="r"/>
            <a:r>
              <a:rPr lang="en-AU" sz="800" dirty="0">
                <a:solidFill>
                  <a:srgbClr val="6B6A66"/>
                </a:solidFill>
                <a:latin typeface="Aptos"/>
              </a:rPr>
              <a:t>10.38</a:t>
            </a:r>
          </a:p>
        </p:txBody>
      </p:sp>
      <p:sp>
        <p:nvSpPr>
          <p:cNvPr id="41" name="shape41"/>
          <p:cNvSpPr/>
          <p:nvPr/>
        </p:nvSpPr>
        <p:spPr>
          <a:xfrm>
            <a:off x="457200" y="1207008"/>
            <a:ext cx="11277295" cy="274320"/>
          </a:xfrm>
          <a:prstGeom prst="rect">
            <a:avLst/>
          </a:prstGeom>
          <a:noFill/>
          <a:ln>
            <a:noFill/>
          </a:ln>
        </p:spPr>
        <p:txBody>
          <a:bodyPr wrap="square" anchor="b" lIns="0" rIns="0" tIns="27432" bIns="27432"/>
          <a:lstStyle/>
          <a:p>
            <a:pPr algn="l"/>
            <a:r>
              <a:rPr lang="en-AU" sz="1250" b="1" dirty="0">
                <a:solidFill>
                  <a:srgbClr val="184F95"/>
                </a:solidFill>
                <a:latin typeface="Aptos"/>
              </a:rPr>
              <a:t>Risk Analysis and Management — blank template</a:t>
            </a:r>
          </a:p>
        </p:txBody>
      </p:sp>
      <p:sp>
        <p:nvSpPr>
          <p:cNvPr id="42" name="shape42"/>
          <p:cNvSpPr/>
          <p:nvPr/>
        </p:nvSpPr>
        <p:spPr>
          <a:xfrm>
            <a:off x="457200" y="6089904"/>
            <a:ext cx="11277295" cy="347472"/>
          </a:xfrm>
          <a:prstGeom prst="rect">
            <a:avLst/>
          </a:prstGeom>
          <a:noFill/>
          <a:ln>
            <a:noFill/>
          </a:ln>
        </p:spPr>
        <p:txBody>
          <a:bodyPr wrap="square" anchor="t" lIns="0" rIns="0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Place each item in one cell only. If it fits two, the axes are not yet sharp enough.</a:t>
            </a:r>
          </a:p>
        </p:txBody>
      </p:sp>
      <p:sp>
        <p:nvSpPr>
          <p:cNvPr id="43" name="shape43"/>
          <p:cNvSpPr/>
          <p:nvPr/>
        </p:nvSpPr>
        <p:spPr>
          <a:xfrm>
            <a:off x="1828800" y="1700784"/>
            <a:ext cx="9905695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dirty="0">
                <a:solidFill>
                  <a:srgbClr val="6B6A66"/>
                </a:solidFill>
                <a:latin typeface="Aptos"/>
              </a:rPr>
              <a:t>Impact →</a:t>
            </a:r>
          </a:p>
        </p:txBody>
      </p:sp>
      <p:sp>
        <p:nvSpPr>
          <p:cNvPr id="44" name="shape44"/>
          <p:cNvSpPr/>
          <p:nvPr/>
        </p:nvSpPr>
        <p:spPr>
          <a:xfrm>
            <a:off x="1828800" y="1938528"/>
            <a:ext cx="330189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Moderate</a:t>
            </a:r>
          </a:p>
        </p:txBody>
      </p:sp>
      <p:sp>
        <p:nvSpPr>
          <p:cNvPr id="45" name="shape45"/>
          <p:cNvSpPr/>
          <p:nvPr/>
        </p:nvSpPr>
        <p:spPr>
          <a:xfrm>
            <a:off x="5130698" y="1938528"/>
            <a:ext cx="330189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Major</a:t>
            </a:r>
          </a:p>
        </p:txBody>
      </p:sp>
      <p:sp>
        <p:nvSpPr>
          <p:cNvPr id="46" name="shape46"/>
          <p:cNvSpPr/>
          <p:nvPr/>
        </p:nvSpPr>
        <p:spPr>
          <a:xfrm>
            <a:off x="8432597" y="1938528"/>
            <a:ext cx="3301898" cy="237744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ctr"/>
            <a:r>
              <a:rPr lang="en-AU" sz="900" b="1" dirty="0">
                <a:solidFill>
                  <a:srgbClr val="6B6A66"/>
                </a:solidFill>
                <a:latin typeface="Aptos"/>
              </a:rPr>
              <a:t>Severe</a:t>
            </a:r>
          </a:p>
        </p:txBody>
      </p:sp>
      <p:sp>
        <p:nvSpPr>
          <p:cNvPr id="47" name="shape47"/>
          <p:cNvSpPr/>
          <p:nvPr/>
        </p:nvSpPr>
        <p:spPr>
          <a:xfrm>
            <a:off x="457200" y="2203704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Likely</a:t>
            </a:r>
          </a:p>
        </p:txBody>
      </p:sp>
      <p:sp>
        <p:nvSpPr>
          <p:cNvPr id="48" name="shape48"/>
          <p:cNvSpPr/>
          <p:nvPr/>
        </p:nvSpPr>
        <p:spPr>
          <a:xfrm>
            <a:off x="1865376" y="2203704"/>
            <a:ext cx="322874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49" name="shape49"/>
          <p:cNvSpPr/>
          <p:nvPr/>
        </p:nvSpPr>
        <p:spPr>
          <a:xfrm>
            <a:off x="5167274" y="2203704"/>
            <a:ext cx="322874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0" name="shape50"/>
          <p:cNvSpPr/>
          <p:nvPr/>
        </p:nvSpPr>
        <p:spPr>
          <a:xfrm>
            <a:off x="8469173" y="2203704"/>
            <a:ext cx="322874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1" name="shape51"/>
          <p:cNvSpPr/>
          <p:nvPr/>
        </p:nvSpPr>
        <p:spPr>
          <a:xfrm>
            <a:off x="457200" y="3575304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Possible</a:t>
            </a:r>
          </a:p>
        </p:txBody>
      </p:sp>
      <p:sp>
        <p:nvSpPr>
          <p:cNvPr id="52" name="shape52"/>
          <p:cNvSpPr/>
          <p:nvPr/>
        </p:nvSpPr>
        <p:spPr>
          <a:xfrm>
            <a:off x="1865376" y="3575304"/>
            <a:ext cx="322874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3" name="shape53"/>
          <p:cNvSpPr/>
          <p:nvPr/>
        </p:nvSpPr>
        <p:spPr>
          <a:xfrm>
            <a:off x="5167274" y="3575304"/>
            <a:ext cx="322874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4" name="shape54"/>
          <p:cNvSpPr/>
          <p:nvPr/>
        </p:nvSpPr>
        <p:spPr>
          <a:xfrm>
            <a:off x="8469173" y="3575304"/>
            <a:ext cx="322874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5" name="shape55"/>
          <p:cNvSpPr/>
          <p:nvPr/>
        </p:nvSpPr>
        <p:spPr>
          <a:xfrm>
            <a:off x="457200" y="4946904"/>
            <a:ext cx="1280160" cy="1298448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r"/>
            <a:r>
              <a:rPr lang="en-AU" sz="900" b="1" dirty="0">
                <a:solidFill>
                  <a:srgbClr val="6B6A66"/>
                </a:solidFill>
                <a:latin typeface="Aptos"/>
              </a:rPr>
              <a:t>Unlikely</a:t>
            </a:r>
          </a:p>
        </p:txBody>
      </p:sp>
      <p:sp>
        <p:nvSpPr>
          <p:cNvPr id="56" name="shape56"/>
          <p:cNvSpPr/>
          <p:nvPr/>
        </p:nvSpPr>
        <p:spPr>
          <a:xfrm>
            <a:off x="1865376" y="4946904"/>
            <a:ext cx="322874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7" name="shape57"/>
          <p:cNvSpPr/>
          <p:nvPr/>
        </p:nvSpPr>
        <p:spPr>
          <a:xfrm>
            <a:off x="5167274" y="4946904"/>
            <a:ext cx="322874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8" name="shape58"/>
          <p:cNvSpPr/>
          <p:nvPr/>
        </p:nvSpPr>
        <p:spPr>
          <a:xfrm>
            <a:off x="8469173" y="4946904"/>
            <a:ext cx="3228746" cy="1298448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9525">
            <a:solidFill>
              <a:srgbClr val="C3C2B7"/>
            </a:solidFill>
          </a:ln>
        </p:spPr>
        <p:txBody>
          <a:bodyPr wrap="square" anchor="t" lIns="73152" rIns="73152" tIns="27432" bIns="27432"/>
          <a:lstStyle/>
          <a:p>
            <a:pPr algn="l"/>
            <a:endParaRPr lang="en-AU" sz="1100"/>
          </a:p>
        </p:txBody>
      </p:sp>
      <p:sp>
        <p:nvSpPr>
          <p:cNvPr id="59" name="shape59"/>
          <p:cNvSpPr/>
          <p:nvPr/>
        </p:nvSpPr>
        <p:spPr>
          <a:xfrm>
            <a:off x="411480" y="2203704"/>
            <a:ext cx="1280160" cy="219456"/>
          </a:xfrm>
          <a:prstGeom prst="rect">
            <a:avLst/>
          </a:prstGeom>
          <a:noFill/>
          <a:ln>
            <a:noFill/>
          </a:ln>
        </p:spPr>
        <p:txBody>
          <a:bodyPr wrap="square" anchor="ctr" lIns="54864" rIns="54864" tIns="27432" bIns="27432"/>
          <a:lstStyle/>
          <a:p>
            <a:pPr algn="l"/>
            <a:r>
              <a:rPr lang="en-AU" sz="850" dirty="0">
                <a:solidFill>
                  <a:srgbClr val="6B6A66"/>
                </a:solidFill>
                <a:latin typeface="Aptos"/>
              </a:rPr>
              <a:t>↑ Likelihood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10.38 Risk Analysis and Management — blank template</dc:title>
  <dc:creator>Business Analyst Services</dc:creator>
  <cp:lastModifiedBy>Business Analyst Services</cp:lastModifiedBy>
</cp:coreProperties>
</file>