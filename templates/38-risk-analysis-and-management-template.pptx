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35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10.38  Risk Analysis and Management</a:t>
            </a:r>
          </a:p>
        </p:txBody>
      </p:sp>
      <p:sp>
        <p:nvSpPr>
          <p:cNvPr id="36" name="shape36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Valuation and decision</a:t>
            </a:r>
          </a:p>
        </p:txBody>
      </p:sp>
      <p:sp>
        <p:nvSpPr>
          <p:cNvPr id="37" name="shape37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8" name="conn38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9" name="shape39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0" name="shape40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10.38</a:t>
            </a:r>
          </a:p>
        </p:txBody>
      </p:sp>
      <p:sp>
        <p:nvSpPr>
          <p:cNvPr id="41" name="shape41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42" name="shape42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Place each item in one cell only. If it fits two, the axes are not yet sharp enough.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44" name="shape44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Identifies uncertain events that could affect value, assesses their likelihood and impact, and settles a response for each.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risk is an uncertain future event; an issue is already happening and belongs in item tracking. And the responses are avoid, transfer, mitigate, accept or increase, not simply escalate.</a:t>
            </a:r>
          </a:p>
        </p:txBody>
      </p:sp>
      <p:sp>
        <p:nvSpPr>
          <p:cNvPr id="47" name="shape47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8" name="shape48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6.3 Assess Risks · 6.4 Define Change Strategy · 3.1 Plan Business Analysis Approach</a:t>
            </a:r>
          </a:p>
        </p:txBody>
      </p:sp>
      <p:sp>
        <p:nvSpPr>
          <p:cNvPr id="49" name="shape49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Risk Analysis and Management — blank template</a:t>
            </a:r>
          </a:p>
        </p:txBody>
      </p:sp>
      <p:sp>
        <p:nvSpPr>
          <p:cNvPr id="50" name="shape50"/>
          <p:cNvSpPr/>
          <p:nvPr/>
        </p:nvSpPr>
        <p:spPr>
          <a:xfrm>
            <a:off x="4892040" y="1499616"/>
            <a:ext cx="68424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6B6A66"/>
                </a:solidFill>
                <a:latin typeface="Aptos"/>
              </a:rPr>
              <a:t>Impact →</a:t>
            </a:r>
          </a:p>
        </p:txBody>
      </p:sp>
      <p:sp>
        <p:nvSpPr>
          <p:cNvPr id="51" name="shape51"/>
          <p:cNvSpPr/>
          <p:nvPr/>
        </p:nvSpPr>
        <p:spPr>
          <a:xfrm>
            <a:off x="4892040" y="1737360"/>
            <a:ext cx="228081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Moderate</a:t>
            </a:r>
          </a:p>
        </p:txBody>
      </p:sp>
      <p:sp>
        <p:nvSpPr>
          <p:cNvPr id="52" name="shape52"/>
          <p:cNvSpPr/>
          <p:nvPr/>
        </p:nvSpPr>
        <p:spPr>
          <a:xfrm>
            <a:off x="7172858" y="1737360"/>
            <a:ext cx="228081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Major</a:t>
            </a:r>
          </a:p>
        </p:txBody>
      </p:sp>
      <p:sp>
        <p:nvSpPr>
          <p:cNvPr id="53" name="shape53"/>
          <p:cNvSpPr/>
          <p:nvPr/>
        </p:nvSpPr>
        <p:spPr>
          <a:xfrm>
            <a:off x="9453677" y="1737360"/>
            <a:ext cx="228081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Severe</a:t>
            </a:r>
          </a:p>
        </p:txBody>
      </p:sp>
      <p:sp>
        <p:nvSpPr>
          <p:cNvPr id="54" name="shape54"/>
          <p:cNvSpPr/>
          <p:nvPr/>
        </p:nvSpPr>
        <p:spPr>
          <a:xfrm>
            <a:off x="3520440" y="2002536"/>
            <a:ext cx="1280160" cy="1146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Likely</a:t>
            </a:r>
          </a:p>
        </p:txBody>
      </p:sp>
      <p:sp>
        <p:nvSpPr>
          <p:cNvPr id="55" name="shape55"/>
          <p:cNvSpPr/>
          <p:nvPr/>
        </p:nvSpPr>
        <p:spPr>
          <a:xfrm>
            <a:off x="4928616" y="20025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6" name="shape56"/>
          <p:cNvSpPr/>
          <p:nvPr/>
        </p:nvSpPr>
        <p:spPr>
          <a:xfrm>
            <a:off x="7209434" y="20025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7" name="shape57"/>
          <p:cNvSpPr/>
          <p:nvPr/>
        </p:nvSpPr>
        <p:spPr>
          <a:xfrm>
            <a:off x="9490253" y="20025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8" name="shape58"/>
          <p:cNvSpPr/>
          <p:nvPr/>
        </p:nvSpPr>
        <p:spPr>
          <a:xfrm>
            <a:off x="3520440" y="3221736"/>
            <a:ext cx="1280160" cy="1146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Possible</a:t>
            </a:r>
          </a:p>
        </p:txBody>
      </p:sp>
      <p:sp>
        <p:nvSpPr>
          <p:cNvPr id="59" name="shape59"/>
          <p:cNvSpPr/>
          <p:nvPr/>
        </p:nvSpPr>
        <p:spPr>
          <a:xfrm>
            <a:off x="4928616" y="32217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0" name="shape60"/>
          <p:cNvSpPr/>
          <p:nvPr/>
        </p:nvSpPr>
        <p:spPr>
          <a:xfrm>
            <a:off x="7209434" y="32217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1" name="shape61"/>
          <p:cNvSpPr/>
          <p:nvPr/>
        </p:nvSpPr>
        <p:spPr>
          <a:xfrm>
            <a:off x="9490253" y="32217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2" name="shape62"/>
          <p:cNvSpPr/>
          <p:nvPr/>
        </p:nvSpPr>
        <p:spPr>
          <a:xfrm>
            <a:off x="3520440" y="4440936"/>
            <a:ext cx="1280160" cy="1146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Unlikely</a:t>
            </a:r>
          </a:p>
        </p:txBody>
      </p:sp>
      <p:sp>
        <p:nvSpPr>
          <p:cNvPr id="63" name="shape63"/>
          <p:cNvSpPr/>
          <p:nvPr/>
        </p:nvSpPr>
        <p:spPr>
          <a:xfrm>
            <a:off x="4928616" y="44409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4" name="shape64"/>
          <p:cNvSpPr/>
          <p:nvPr/>
        </p:nvSpPr>
        <p:spPr>
          <a:xfrm>
            <a:off x="7209434" y="44409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5" name="shape65"/>
          <p:cNvSpPr/>
          <p:nvPr/>
        </p:nvSpPr>
        <p:spPr>
          <a:xfrm>
            <a:off x="9490253" y="4440936"/>
            <a:ext cx="2207666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6" name="shape66"/>
          <p:cNvSpPr/>
          <p:nvPr/>
        </p:nvSpPr>
        <p:spPr>
          <a:xfrm>
            <a:off x="3474720" y="2002536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↑ Likelihood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10.38 Risk Analysis and Management — blank template</dc:title>
  <dc:creator>Business Analyst Services</dc:creator>
  <cp:lastModifiedBy>Business Analyst Services</cp:lastModifiedBy>
</cp:coreProperties>
</file>