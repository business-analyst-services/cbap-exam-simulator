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31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10.40  Root Cause Analysis</a:t>
            </a:r>
          </a:p>
        </p:txBody>
      </p:sp>
      <p:sp>
        <p:nvSpPr>
          <p:cNvPr id="32" name="shape32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Strategy and discovery</a:t>
            </a:r>
          </a:p>
        </p:txBody>
      </p:sp>
      <p:sp>
        <p:nvSpPr>
          <p:cNvPr id="33" name="shape33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4" name="conn34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35" name="shape35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6" name="shape36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10.40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38" name="shape38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Placeholders name the level, not the content. Two branches shown; add as many as the subject needs.</a:t>
            </a:r>
          </a:p>
        </p:txBody>
      </p:sp>
      <p:sp>
        <p:nvSpPr>
          <p:cNvPr id="39" name="shape39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40" name="shape40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Traces a problem back past its symptoms to the condition that produces it, using structured questioning or cause-and-effect mapping.</a:t>
            </a:r>
          </a:p>
        </p:txBody>
      </p:sp>
      <p:sp>
        <p:nvSpPr>
          <p:cNvPr id="41" name="shape41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42" name="shape42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Root cause analysis explains why the current state underperforms; it does not design the future state. An item that jumps from a recurring failure to a solution is testing whether you stopped to find the cause.</a:t>
            </a:r>
          </a:p>
        </p:txBody>
      </p:sp>
      <p:sp>
        <p:nvSpPr>
          <p:cNvPr id="43" name="shape43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4" name="shape44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6.1 Analyze Current State · 8.3 Assess Solution Limitations · 8.4 Assess Enterprise Limitations</a:t>
            </a:r>
          </a:p>
        </p:txBody>
      </p:sp>
      <p:sp>
        <p:nvSpPr>
          <p:cNvPr id="45" name="shape45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Root Cause Analysis — blank template</a:t>
            </a:r>
          </a:p>
        </p:txBody>
      </p:sp>
      <p:sp>
        <p:nvSpPr>
          <p:cNvPr id="46" name="shape46"/>
          <p:cNvSpPr/>
          <p:nvPr/>
        </p:nvSpPr>
        <p:spPr>
          <a:xfrm>
            <a:off x="3520440" y="1280160"/>
            <a:ext cx="8214055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1. Symptom    2. Why    3. Why again    4. Root cause</a:t>
            </a:r>
          </a:p>
        </p:txBody>
      </p:sp>
      <p:sp>
        <p:nvSpPr>
          <p:cNvPr id="47" name="shape47"/>
          <p:cNvSpPr/>
          <p:nvPr/>
        </p:nvSpPr>
        <p:spPr>
          <a:xfrm>
            <a:off x="3520440" y="1499616"/>
            <a:ext cx="8214055" cy="204216"/>
          </a:xfrm>
          <a:prstGeom prst="roundRect">
            <a:avLst>
              <a:gd name="adj" fmla="val 8000"/>
            </a:avLst>
          </a:prstGeom>
          <a:solidFill>
            <a:srgbClr val="E9F1FD"/>
          </a:solidFill>
          <a:ln w="9525">
            <a:solidFill>
              <a:srgbClr val="2A78D6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Symptom</a:t>
            </a:r>
          </a:p>
        </p:txBody>
      </p:sp>
      <p:sp>
        <p:nvSpPr>
          <p:cNvPr id="48" name="shape48"/>
          <p:cNvSpPr/>
          <p:nvPr/>
        </p:nvSpPr>
        <p:spPr>
          <a:xfrm>
            <a:off x="3904488" y="1749552"/>
            <a:ext cx="7830007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Why</a:t>
            </a:r>
          </a:p>
        </p:txBody>
      </p:sp>
      <p:cxnSp>
        <p:nvCxnSpPr>
          <p:cNvPr id="49" name="conn49"/>
          <p:cNvCxnSpPr/>
          <p:nvPr/>
        </p:nvCxnSpPr>
        <p:spPr>
          <a:xfrm>
            <a:off x="3776472" y="1851660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0" name="shape50"/>
          <p:cNvSpPr/>
          <p:nvPr/>
        </p:nvSpPr>
        <p:spPr>
          <a:xfrm>
            <a:off x="4288536" y="1999488"/>
            <a:ext cx="7445959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Why again</a:t>
            </a:r>
          </a:p>
        </p:txBody>
      </p:sp>
      <p:cxnSp>
        <p:nvCxnSpPr>
          <p:cNvPr id="51" name="conn51"/>
          <p:cNvCxnSpPr/>
          <p:nvPr/>
        </p:nvCxnSpPr>
        <p:spPr>
          <a:xfrm>
            <a:off x="4160520" y="210159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2" name="shape52"/>
          <p:cNvSpPr/>
          <p:nvPr/>
        </p:nvSpPr>
        <p:spPr>
          <a:xfrm>
            <a:off x="4672584" y="2249424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Root cause</a:t>
            </a:r>
          </a:p>
        </p:txBody>
      </p:sp>
      <p:cxnSp>
        <p:nvCxnSpPr>
          <p:cNvPr id="53" name="conn53"/>
          <p:cNvCxnSpPr/>
          <p:nvPr/>
        </p:nvCxnSpPr>
        <p:spPr>
          <a:xfrm>
            <a:off x="4544568" y="2351532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4" name="shape54"/>
          <p:cNvSpPr/>
          <p:nvPr/>
        </p:nvSpPr>
        <p:spPr>
          <a:xfrm>
            <a:off x="4672584" y="2499360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Root cause</a:t>
            </a:r>
          </a:p>
        </p:txBody>
      </p:sp>
      <p:cxnSp>
        <p:nvCxnSpPr>
          <p:cNvPr id="55" name="conn55"/>
          <p:cNvCxnSpPr/>
          <p:nvPr/>
        </p:nvCxnSpPr>
        <p:spPr>
          <a:xfrm>
            <a:off x="4544568" y="260146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6" name="shape56"/>
          <p:cNvSpPr/>
          <p:nvPr/>
        </p:nvSpPr>
        <p:spPr>
          <a:xfrm>
            <a:off x="4288536" y="2749296"/>
            <a:ext cx="7445959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Why again</a:t>
            </a:r>
          </a:p>
        </p:txBody>
      </p:sp>
      <p:cxnSp>
        <p:nvCxnSpPr>
          <p:cNvPr id="57" name="conn57"/>
          <p:cNvCxnSpPr/>
          <p:nvPr/>
        </p:nvCxnSpPr>
        <p:spPr>
          <a:xfrm>
            <a:off x="4160520" y="2851404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8" name="shape58"/>
          <p:cNvSpPr/>
          <p:nvPr/>
        </p:nvSpPr>
        <p:spPr>
          <a:xfrm>
            <a:off x="4672584" y="2999232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Root cause</a:t>
            </a:r>
          </a:p>
        </p:txBody>
      </p:sp>
      <p:cxnSp>
        <p:nvCxnSpPr>
          <p:cNvPr id="59" name="conn59"/>
          <p:cNvCxnSpPr/>
          <p:nvPr/>
        </p:nvCxnSpPr>
        <p:spPr>
          <a:xfrm>
            <a:off x="4544568" y="3101340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0" name="shape60"/>
          <p:cNvSpPr/>
          <p:nvPr/>
        </p:nvSpPr>
        <p:spPr>
          <a:xfrm>
            <a:off x="4672584" y="3249168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Root cause</a:t>
            </a:r>
          </a:p>
        </p:txBody>
      </p:sp>
      <p:cxnSp>
        <p:nvCxnSpPr>
          <p:cNvPr id="61" name="conn61"/>
          <p:cNvCxnSpPr/>
          <p:nvPr/>
        </p:nvCxnSpPr>
        <p:spPr>
          <a:xfrm>
            <a:off x="4544568" y="335127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2" name="shape62"/>
          <p:cNvSpPr/>
          <p:nvPr/>
        </p:nvSpPr>
        <p:spPr>
          <a:xfrm>
            <a:off x="3904488" y="3499104"/>
            <a:ext cx="7830007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Why</a:t>
            </a:r>
          </a:p>
        </p:txBody>
      </p:sp>
      <p:cxnSp>
        <p:nvCxnSpPr>
          <p:cNvPr id="63" name="conn63"/>
          <p:cNvCxnSpPr/>
          <p:nvPr/>
        </p:nvCxnSpPr>
        <p:spPr>
          <a:xfrm>
            <a:off x="3776472" y="3601212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4" name="shape64"/>
          <p:cNvSpPr/>
          <p:nvPr/>
        </p:nvSpPr>
        <p:spPr>
          <a:xfrm>
            <a:off x="4288536" y="3749040"/>
            <a:ext cx="7445959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Why again</a:t>
            </a:r>
          </a:p>
        </p:txBody>
      </p:sp>
      <p:cxnSp>
        <p:nvCxnSpPr>
          <p:cNvPr id="65" name="conn65"/>
          <p:cNvCxnSpPr/>
          <p:nvPr/>
        </p:nvCxnSpPr>
        <p:spPr>
          <a:xfrm>
            <a:off x="4160520" y="385114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6" name="shape66"/>
          <p:cNvSpPr/>
          <p:nvPr/>
        </p:nvSpPr>
        <p:spPr>
          <a:xfrm>
            <a:off x="4672584" y="3998976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Root cause</a:t>
            </a:r>
          </a:p>
        </p:txBody>
      </p:sp>
      <p:cxnSp>
        <p:nvCxnSpPr>
          <p:cNvPr id="67" name="conn67"/>
          <p:cNvCxnSpPr/>
          <p:nvPr/>
        </p:nvCxnSpPr>
        <p:spPr>
          <a:xfrm>
            <a:off x="4544568" y="4101084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8" name="shape68"/>
          <p:cNvSpPr/>
          <p:nvPr/>
        </p:nvSpPr>
        <p:spPr>
          <a:xfrm>
            <a:off x="4672584" y="4248912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Root cause</a:t>
            </a:r>
          </a:p>
        </p:txBody>
      </p:sp>
      <p:cxnSp>
        <p:nvCxnSpPr>
          <p:cNvPr id="69" name="conn69"/>
          <p:cNvCxnSpPr/>
          <p:nvPr/>
        </p:nvCxnSpPr>
        <p:spPr>
          <a:xfrm>
            <a:off x="4544568" y="4351020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70" name="shape70"/>
          <p:cNvSpPr/>
          <p:nvPr/>
        </p:nvSpPr>
        <p:spPr>
          <a:xfrm>
            <a:off x="4288536" y="4498848"/>
            <a:ext cx="7445959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Why again</a:t>
            </a:r>
          </a:p>
        </p:txBody>
      </p:sp>
      <p:cxnSp>
        <p:nvCxnSpPr>
          <p:cNvPr id="71" name="conn71"/>
          <p:cNvCxnSpPr/>
          <p:nvPr/>
        </p:nvCxnSpPr>
        <p:spPr>
          <a:xfrm>
            <a:off x="4160520" y="460095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72" name="shape72"/>
          <p:cNvSpPr/>
          <p:nvPr/>
        </p:nvSpPr>
        <p:spPr>
          <a:xfrm>
            <a:off x="4672584" y="4748784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Root cause</a:t>
            </a:r>
          </a:p>
        </p:txBody>
      </p:sp>
      <p:cxnSp>
        <p:nvCxnSpPr>
          <p:cNvPr id="73" name="conn73"/>
          <p:cNvCxnSpPr/>
          <p:nvPr/>
        </p:nvCxnSpPr>
        <p:spPr>
          <a:xfrm>
            <a:off x="4544568" y="4850892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74" name="shape74"/>
          <p:cNvSpPr/>
          <p:nvPr/>
        </p:nvSpPr>
        <p:spPr>
          <a:xfrm>
            <a:off x="4672584" y="4998720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Root cause</a:t>
            </a:r>
          </a:p>
        </p:txBody>
      </p:sp>
      <p:cxnSp>
        <p:nvCxnSpPr>
          <p:cNvPr id="75" name="conn75"/>
          <p:cNvCxnSpPr/>
          <p:nvPr/>
        </p:nvCxnSpPr>
        <p:spPr>
          <a:xfrm>
            <a:off x="4544568" y="510082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10.40 Root Cause Analysis — blank template</dc:title>
  <dc:creator>Business Analyst Services</dc:creator>
  <cp:lastModifiedBy>Business Analyst Services</cp:lastModifiedBy>
</cp:coreProperties>
</file>