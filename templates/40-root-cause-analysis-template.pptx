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31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10.40  Root Cause Analysis</a:t>
            </a:r>
          </a:p>
        </p:txBody>
      </p:sp>
      <p:sp>
        <p:nvSpPr>
          <p:cNvPr id="32" name="shape32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Strategy and discovery</a:t>
            </a:r>
          </a:p>
        </p:txBody>
      </p:sp>
      <p:sp>
        <p:nvSpPr>
          <p:cNvPr id="33" name="shape33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34" name="conn34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35" name="shape35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36" name="shape36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10.40</a:t>
            </a:r>
          </a:p>
        </p:txBody>
      </p:sp>
      <p:sp>
        <p:nvSpPr>
          <p:cNvPr id="37" name="shape37"/>
          <p:cNvSpPr/>
          <p:nvPr/>
        </p:nvSpPr>
        <p:spPr>
          <a:xfrm>
            <a:off x="457200" y="120700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250" b="1" dirty="0">
                <a:solidFill>
                  <a:srgbClr val="184F95"/>
                </a:solidFill>
                <a:latin typeface="Aptos"/>
              </a:rPr>
              <a:t>Root Cause Analysis — blank template</a:t>
            </a:r>
          </a:p>
        </p:txBody>
      </p:sp>
      <p:sp>
        <p:nvSpPr>
          <p:cNvPr id="38" name="shape38"/>
          <p:cNvSpPr/>
          <p:nvPr/>
        </p:nvSpPr>
        <p:spPr>
          <a:xfrm>
            <a:off x="457200" y="6089904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Placeholders name the level, not the content. Two branches shown; add as many as the subject needs.</a:t>
            </a:r>
          </a:p>
        </p:txBody>
      </p:sp>
      <p:sp>
        <p:nvSpPr>
          <p:cNvPr id="39" name="shape39"/>
          <p:cNvSpPr/>
          <p:nvPr/>
        </p:nvSpPr>
        <p:spPr>
          <a:xfrm>
            <a:off x="457200" y="1481328"/>
            <a:ext cx="11277295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1. Symptom    2. Why    3. Why again    4. Root cause</a:t>
            </a:r>
          </a:p>
        </p:txBody>
      </p:sp>
      <p:sp>
        <p:nvSpPr>
          <p:cNvPr id="40" name="shape40"/>
          <p:cNvSpPr/>
          <p:nvPr/>
        </p:nvSpPr>
        <p:spPr>
          <a:xfrm>
            <a:off x="457200" y="1700784"/>
            <a:ext cx="11277295" cy="235915"/>
          </a:xfrm>
          <a:prstGeom prst="roundRect">
            <a:avLst>
              <a:gd name="adj" fmla="val 8000"/>
            </a:avLst>
          </a:prstGeom>
          <a:solidFill>
            <a:srgbClr val="E9F1FD"/>
          </a:solidFill>
          <a:ln w="9525">
            <a:solidFill>
              <a:srgbClr val="2A78D6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Symptom</a:t>
            </a:r>
          </a:p>
        </p:txBody>
      </p:sp>
      <p:sp>
        <p:nvSpPr>
          <p:cNvPr id="41" name="shape41"/>
          <p:cNvSpPr/>
          <p:nvPr/>
        </p:nvSpPr>
        <p:spPr>
          <a:xfrm>
            <a:off x="841248" y="1982419"/>
            <a:ext cx="10893247" cy="2359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Why</a:t>
            </a:r>
          </a:p>
        </p:txBody>
      </p:sp>
      <p:cxnSp>
        <p:nvCxnSpPr>
          <p:cNvPr id="42" name="conn42"/>
          <p:cNvCxnSpPr/>
          <p:nvPr/>
        </p:nvCxnSpPr>
        <p:spPr>
          <a:xfrm>
            <a:off x="713232" y="2100377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43" name="shape43"/>
          <p:cNvSpPr/>
          <p:nvPr/>
        </p:nvSpPr>
        <p:spPr>
          <a:xfrm>
            <a:off x="1225296" y="2264054"/>
            <a:ext cx="10509199" cy="2359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Why again</a:t>
            </a:r>
          </a:p>
        </p:txBody>
      </p:sp>
      <p:cxnSp>
        <p:nvCxnSpPr>
          <p:cNvPr id="44" name="conn44"/>
          <p:cNvCxnSpPr/>
          <p:nvPr/>
        </p:nvCxnSpPr>
        <p:spPr>
          <a:xfrm>
            <a:off x="1097280" y="2382012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45" name="shape45"/>
          <p:cNvSpPr/>
          <p:nvPr/>
        </p:nvSpPr>
        <p:spPr>
          <a:xfrm>
            <a:off x="1609344" y="2545690"/>
            <a:ext cx="10125151" cy="2359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Root cause</a:t>
            </a:r>
          </a:p>
        </p:txBody>
      </p:sp>
      <p:cxnSp>
        <p:nvCxnSpPr>
          <p:cNvPr id="46" name="conn46"/>
          <p:cNvCxnSpPr/>
          <p:nvPr/>
        </p:nvCxnSpPr>
        <p:spPr>
          <a:xfrm>
            <a:off x="1481328" y="2663647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47" name="shape47"/>
          <p:cNvSpPr/>
          <p:nvPr/>
        </p:nvSpPr>
        <p:spPr>
          <a:xfrm>
            <a:off x="1609344" y="2827325"/>
            <a:ext cx="10125151" cy="2359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Root cause</a:t>
            </a:r>
          </a:p>
        </p:txBody>
      </p:sp>
      <p:cxnSp>
        <p:nvCxnSpPr>
          <p:cNvPr id="48" name="conn48"/>
          <p:cNvCxnSpPr/>
          <p:nvPr/>
        </p:nvCxnSpPr>
        <p:spPr>
          <a:xfrm>
            <a:off x="1481328" y="2945282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49" name="shape49"/>
          <p:cNvSpPr/>
          <p:nvPr/>
        </p:nvSpPr>
        <p:spPr>
          <a:xfrm>
            <a:off x="1225296" y="3108960"/>
            <a:ext cx="10509199" cy="2359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Why again</a:t>
            </a:r>
          </a:p>
        </p:txBody>
      </p:sp>
      <p:cxnSp>
        <p:nvCxnSpPr>
          <p:cNvPr id="50" name="conn50"/>
          <p:cNvCxnSpPr/>
          <p:nvPr/>
        </p:nvCxnSpPr>
        <p:spPr>
          <a:xfrm>
            <a:off x="1097280" y="3226918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51" name="shape51"/>
          <p:cNvSpPr/>
          <p:nvPr/>
        </p:nvSpPr>
        <p:spPr>
          <a:xfrm>
            <a:off x="1609344" y="3390595"/>
            <a:ext cx="10125151" cy="2359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Root cause</a:t>
            </a:r>
          </a:p>
        </p:txBody>
      </p:sp>
      <p:cxnSp>
        <p:nvCxnSpPr>
          <p:cNvPr id="52" name="conn52"/>
          <p:cNvCxnSpPr/>
          <p:nvPr/>
        </p:nvCxnSpPr>
        <p:spPr>
          <a:xfrm>
            <a:off x="1481328" y="3508553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53" name="shape53"/>
          <p:cNvSpPr/>
          <p:nvPr/>
        </p:nvSpPr>
        <p:spPr>
          <a:xfrm>
            <a:off x="1609344" y="3672230"/>
            <a:ext cx="10125151" cy="2359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Root cause</a:t>
            </a:r>
          </a:p>
        </p:txBody>
      </p:sp>
      <p:cxnSp>
        <p:nvCxnSpPr>
          <p:cNvPr id="54" name="conn54"/>
          <p:cNvCxnSpPr/>
          <p:nvPr/>
        </p:nvCxnSpPr>
        <p:spPr>
          <a:xfrm>
            <a:off x="1481328" y="3790188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55" name="shape55"/>
          <p:cNvSpPr/>
          <p:nvPr/>
        </p:nvSpPr>
        <p:spPr>
          <a:xfrm>
            <a:off x="841248" y="3953866"/>
            <a:ext cx="10893247" cy="2359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Why</a:t>
            </a:r>
          </a:p>
        </p:txBody>
      </p:sp>
      <p:cxnSp>
        <p:nvCxnSpPr>
          <p:cNvPr id="56" name="conn56"/>
          <p:cNvCxnSpPr/>
          <p:nvPr/>
        </p:nvCxnSpPr>
        <p:spPr>
          <a:xfrm>
            <a:off x="713232" y="4071823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57" name="shape57"/>
          <p:cNvSpPr/>
          <p:nvPr/>
        </p:nvSpPr>
        <p:spPr>
          <a:xfrm>
            <a:off x="1225296" y="4235501"/>
            <a:ext cx="10509199" cy="2359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Why again</a:t>
            </a:r>
          </a:p>
        </p:txBody>
      </p:sp>
      <p:cxnSp>
        <p:nvCxnSpPr>
          <p:cNvPr id="58" name="conn58"/>
          <p:cNvCxnSpPr/>
          <p:nvPr/>
        </p:nvCxnSpPr>
        <p:spPr>
          <a:xfrm>
            <a:off x="1097280" y="4353458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59" name="shape59"/>
          <p:cNvSpPr/>
          <p:nvPr/>
        </p:nvSpPr>
        <p:spPr>
          <a:xfrm>
            <a:off x="1609344" y="4517136"/>
            <a:ext cx="10125151" cy="2359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Root cause</a:t>
            </a:r>
          </a:p>
        </p:txBody>
      </p:sp>
      <p:cxnSp>
        <p:nvCxnSpPr>
          <p:cNvPr id="60" name="conn60"/>
          <p:cNvCxnSpPr/>
          <p:nvPr/>
        </p:nvCxnSpPr>
        <p:spPr>
          <a:xfrm>
            <a:off x="1481328" y="4635094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61" name="shape61"/>
          <p:cNvSpPr/>
          <p:nvPr/>
        </p:nvSpPr>
        <p:spPr>
          <a:xfrm>
            <a:off x="1609344" y="4798771"/>
            <a:ext cx="10125151" cy="2359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Root cause</a:t>
            </a:r>
          </a:p>
        </p:txBody>
      </p:sp>
      <p:cxnSp>
        <p:nvCxnSpPr>
          <p:cNvPr id="62" name="conn62"/>
          <p:cNvCxnSpPr/>
          <p:nvPr/>
        </p:nvCxnSpPr>
        <p:spPr>
          <a:xfrm>
            <a:off x="1481328" y="4916729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63" name="shape63"/>
          <p:cNvSpPr/>
          <p:nvPr/>
        </p:nvSpPr>
        <p:spPr>
          <a:xfrm>
            <a:off x="1225296" y="5080406"/>
            <a:ext cx="10509199" cy="2359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Why again</a:t>
            </a:r>
          </a:p>
        </p:txBody>
      </p:sp>
      <p:cxnSp>
        <p:nvCxnSpPr>
          <p:cNvPr id="64" name="conn64"/>
          <p:cNvCxnSpPr/>
          <p:nvPr/>
        </p:nvCxnSpPr>
        <p:spPr>
          <a:xfrm>
            <a:off x="1097280" y="5198364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65" name="shape65"/>
          <p:cNvSpPr/>
          <p:nvPr/>
        </p:nvSpPr>
        <p:spPr>
          <a:xfrm>
            <a:off x="1609344" y="5362042"/>
            <a:ext cx="10125151" cy="2359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Root cause</a:t>
            </a:r>
          </a:p>
        </p:txBody>
      </p:sp>
      <p:cxnSp>
        <p:nvCxnSpPr>
          <p:cNvPr id="66" name="conn66"/>
          <p:cNvCxnSpPr/>
          <p:nvPr/>
        </p:nvCxnSpPr>
        <p:spPr>
          <a:xfrm>
            <a:off x="1481328" y="5479999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67" name="shape67"/>
          <p:cNvSpPr/>
          <p:nvPr/>
        </p:nvSpPr>
        <p:spPr>
          <a:xfrm>
            <a:off x="1609344" y="5643677"/>
            <a:ext cx="10125151" cy="2359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Root cause</a:t>
            </a:r>
          </a:p>
        </p:txBody>
      </p:sp>
      <p:cxnSp>
        <p:nvCxnSpPr>
          <p:cNvPr id="68" name="conn68"/>
          <p:cNvCxnSpPr/>
          <p:nvPr/>
        </p:nvCxnSpPr>
        <p:spPr>
          <a:xfrm>
            <a:off x="1481328" y="5761634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10.40 Root Cause Analysis — blank template</dc:title>
  <dc:creator>Business Analyst Services</dc:creator>
  <cp:lastModifiedBy>Business Analyst Services</cp:lastModifiedBy>
</cp:coreProperties>
</file>