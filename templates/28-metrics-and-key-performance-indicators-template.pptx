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36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10.28  Metrics and Key Performance Indicators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Measurement and evaluation</a:t>
            </a:r>
          </a:p>
        </p:txBody>
      </p:sp>
      <p:sp>
        <p:nvSpPr>
          <p:cNvPr id="38" name="shape38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9" name="conn39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40" name="shape40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41" name="shape41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10.28</a:t>
            </a:r>
          </a:p>
        </p:txBody>
      </p:sp>
      <p:sp>
        <p:nvSpPr>
          <p:cNvPr id="42" name="shape42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Metrics and Key Performance Indicators — blank template</a:t>
            </a:r>
          </a:p>
        </p:txBody>
      </p:sp>
      <p:sp>
        <p:nvSpPr>
          <p:cNvPr id="43" name="shape43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Placeholders name the level, not the content. Two branches shown; add as many as the subject needs.</a:t>
            </a:r>
          </a:p>
        </p:txBody>
      </p:sp>
      <p:sp>
        <p:nvSpPr>
          <p:cNvPr id="44" name="shape44"/>
          <p:cNvSpPr/>
          <p:nvPr/>
        </p:nvSpPr>
        <p:spPr>
          <a:xfrm>
            <a:off x="457200" y="1481328"/>
            <a:ext cx="1127729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Objective    2. Strategy    3. Tactic    4. KPI</a:t>
            </a:r>
          </a:p>
        </p:txBody>
      </p:sp>
      <p:sp>
        <p:nvSpPr>
          <p:cNvPr id="45" name="shape45"/>
          <p:cNvSpPr/>
          <p:nvPr/>
        </p:nvSpPr>
        <p:spPr>
          <a:xfrm>
            <a:off x="457200" y="1700784"/>
            <a:ext cx="11277295" cy="235915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Objective</a:t>
            </a:r>
          </a:p>
        </p:txBody>
      </p:sp>
      <p:sp>
        <p:nvSpPr>
          <p:cNvPr id="46" name="shape46"/>
          <p:cNvSpPr/>
          <p:nvPr/>
        </p:nvSpPr>
        <p:spPr>
          <a:xfrm>
            <a:off x="841248" y="1982419"/>
            <a:ext cx="10893247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Strategy</a:t>
            </a:r>
          </a:p>
        </p:txBody>
      </p:sp>
      <p:cxnSp>
        <p:nvCxnSpPr>
          <p:cNvPr id="47" name="conn47"/>
          <p:cNvCxnSpPr/>
          <p:nvPr/>
        </p:nvCxnSpPr>
        <p:spPr>
          <a:xfrm>
            <a:off x="713232" y="2100377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8" name="shape48"/>
          <p:cNvSpPr/>
          <p:nvPr/>
        </p:nvSpPr>
        <p:spPr>
          <a:xfrm>
            <a:off x="1225296" y="2264054"/>
            <a:ext cx="10509199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Tactic</a:t>
            </a:r>
          </a:p>
        </p:txBody>
      </p:sp>
      <p:cxnSp>
        <p:nvCxnSpPr>
          <p:cNvPr id="49" name="conn49"/>
          <p:cNvCxnSpPr/>
          <p:nvPr/>
        </p:nvCxnSpPr>
        <p:spPr>
          <a:xfrm>
            <a:off x="1097280" y="238201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0" name="shape50"/>
          <p:cNvSpPr/>
          <p:nvPr/>
        </p:nvSpPr>
        <p:spPr>
          <a:xfrm>
            <a:off x="1609344" y="2545690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KPI</a:t>
            </a:r>
          </a:p>
        </p:txBody>
      </p:sp>
      <p:cxnSp>
        <p:nvCxnSpPr>
          <p:cNvPr id="51" name="conn51"/>
          <p:cNvCxnSpPr/>
          <p:nvPr/>
        </p:nvCxnSpPr>
        <p:spPr>
          <a:xfrm>
            <a:off x="1481328" y="2663647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2" name="shape52"/>
          <p:cNvSpPr/>
          <p:nvPr/>
        </p:nvSpPr>
        <p:spPr>
          <a:xfrm>
            <a:off x="1609344" y="2827325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KPI</a:t>
            </a:r>
          </a:p>
        </p:txBody>
      </p:sp>
      <p:cxnSp>
        <p:nvCxnSpPr>
          <p:cNvPr id="53" name="conn53"/>
          <p:cNvCxnSpPr/>
          <p:nvPr/>
        </p:nvCxnSpPr>
        <p:spPr>
          <a:xfrm>
            <a:off x="1481328" y="294528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4" name="shape54"/>
          <p:cNvSpPr/>
          <p:nvPr/>
        </p:nvSpPr>
        <p:spPr>
          <a:xfrm>
            <a:off x="1225296" y="3108960"/>
            <a:ext cx="10509199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Tactic</a:t>
            </a:r>
          </a:p>
        </p:txBody>
      </p:sp>
      <p:cxnSp>
        <p:nvCxnSpPr>
          <p:cNvPr id="55" name="conn55"/>
          <p:cNvCxnSpPr/>
          <p:nvPr/>
        </p:nvCxnSpPr>
        <p:spPr>
          <a:xfrm>
            <a:off x="1097280" y="322691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6" name="shape56"/>
          <p:cNvSpPr/>
          <p:nvPr/>
        </p:nvSpPr>
        <p:spPr>
          <a:xfrm>
            <a:off x="1609344" y="3390595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KPI</a:t>
            </a:r>
          </a:p>
        </p:txBody>
      </p:sp>
      <p:cxnSp>
        <p:nvCxnSpPr>
          <p:cNvPr id="57" name="conn57"/>
          <p:cNvCxnSpPr/>
          <p:nvPr/>
        </p:nvCxnSpPr>
        <p:spPr>
          <a:xfrm>
            <a:off x="1481328" y="3508553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8" name="shape58"/>
          <p:cNvSpPr/>
          <p:nvPr/>
        </p:nvSpPr>
        <p:spPr>
          <a:xfrm>
            <a:off x="1609344" y="3672230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KPI</a:t>
            </a:r>
          </a:p>
        </p:txBody>
      </p:sp>
      <p:cxnSp>
        <p:nvCxnSpPr>
          <p:cNvPr id="59" name="conn59"/>
          <p:cNvCxnSpPr/>
          <p:nvPr/>
        </p:nvCxnSpPr>
        <p:spPr>
          <a:xfrm>
            <a:off x="1481328" y="379018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0" name="shape60"/>
          <p:cNvSpPr/>
          <p:nvPr/>
        </p:nvSpPr>
        <p:spPr>
          <a:xfrm>
            <a:off x="841248" y="3953866"/>
            <a:ext cx="10893247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Strategy</a:t>
            </a:r>
          </a:p>
        </p:txBody>
      </p:sp>
      <p:cxnSp>
        <p:nvCxnSpPr>
          <p:cNvPr id="61" name="conn61"/>
          <p:cNvCxnSpPr/>
          <p:nvPr/>
        </p:nvCxnSpPr>
        <p:spPr>
          <a:xfrm>
            <a:off x="713232" y="4071823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2" name="shape62"/>
          <p:cNvSpPr/>
          <p:nvPr/>
        </p:nvSpPr>
        <p:spPr>
          <a:xfrm>
            <a:off x="1225296" y="4235501"/>
            <a:ext cx="10509199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Tactic</a:t>
            </a:r>
          </a:p>
        </p:txBody>
      </p:sp>
      <p:cxnSp>
        <p:nvCxnSpPr>
          <p:cNvPr id="63" name="conn63"/>
          <p:cNvCxnSpPr/>
          <p:nvPr/>
        </p:nvCxnSpPr>
        <p:spPr>
          <a:xfrm>
            <a:off x="1097280" y="435345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4" name="shape64"/>
          <p:cNvSpPr/>
          <p:nvPr/>
        </p:nvSpPr>
        <p:spPr>
          <a:xfrm>
            <a:off x="1609344" y="4517136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KPI</a:t>
            </a:r>
          </a:p>
        </p:txBody>
      </p:sp>
      <p:cxnSp>
        <p:nvCxnSpPr>
          <p:cNvPr id="65" name="conn65"/>
          <p:cNvCxnSpPr/>
          <p:nvPr/>
        </p:nvCxnSpPr>
        <p:spPr>
          <a:xfrm>
            <a:off x="1481328" y="463509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6" name="shape66"/>
          <p:cNvSpPr/>
          <p:nvPr/>
        </p:nvSpPr>
        <p:spPr>
          <a:xfrm>
            <a:off x="1609344" y="4798771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KPI</a:t>
            </a:r>
          </a:p>
        </p:txBody>
      </p:sp>
      <p:cxnSp>
        <p:nvCxnSpPr>
          <p:cNvPr id="67" name="conn67"/>
          <p:cNvCxnSpPr/>
          <p:nvPr/>
        </p:nvCxnSpPr>
        <p:spPr>
          <a:xfrm>
            <a:off x="1481328" y="4916729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8" name="shape68"/>
          <p:cNvSpPr/>
          <p:nvPr/>
        </p:nvSpPr>
        <p:spPr>
          <a:xfrm>
            <a:off x="1225296" y="5080406"/>
            <a:ext cx="10509199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Tactic</a:t>
            </a:r>
          </a:p>
        </p:txBody>
      </p:sp>
      <p:cxnSp>
        <p:nvCxnSpPr>
          <p:cNvPr id="69" name="conn69"/>
          <p:cNvCxnSpPr/>
          <p:nvPr/>
        </p:nvCxnSpPr>
        <p:spPr>
          <a:xfrm>
            <a:off x="1097280" y="519836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70" name="shape70"/>
          <p:cNvSpPr/>
          <p:nvPr/>
        </p:nvSpPr>
        <p:spPr>
          <a:xfrm>
            <a:off x="1609344" y="5362042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KPI</a:t>
            </a:r>
          </a:p>
        </p:txBody>
      </p:sp>
      <p:cxnSp>
        <p:nvCxnSpPr>
          <p:cNvPr id="71" name="conn71"/>
          <p:cNvCxnSpPr/>
          <p:nvPr/>
        </p:nvCxnSpPr>
        <p:spPr>
          <a:xfrm>
            <a:off x="1481328" y="5479999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72" name="shape72"/>
          <p:cNvSpPr/>
          <p:nvPr/>
        </p:nvSpPr>
        <p:spPr>
          <a:xfrm>
            <a:off x="1609344" y="5643677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KPI</a:t>
            </a:r>
          </a:p>
        </p:txBody>
      </p:sp>
      <p:cxnSp>
        <p:nvCxnSpPr>
          <p:cNvPr id="73" name="conn73"/>
          <p:cNvCxnSpPr/>
          <p:nvPr/>
        </p:nvCxnSpPr>
        <p:spPr>
          <a:xfrm>
            <a:off x="1481328" y="576163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10.28 Metrics and Key Performance Indicators — blank template</dc:title>
  <dc:creator>Business Analyst Services</dc:creator>
  <cp:lastModifiedBy>Business Analyst Services</cp:lastModifiedBy>
</cp:coreProperties>
</file>