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36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10.28  Metrics and Key Performance Indicators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Measurement and evaluation</a:t>
            </a:r>
          </a:p>
        </p:txBody>
      </p:sp>
      <p:sp>
        <p:nvSpPr>
          <p:cNvPr id="38" name="shape38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9" name="conn39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40" name="shape40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41" name="shape41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10.28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Placeholders name the level, not the content. Two branches shown; add as many as the subject needs.</a:t>
            </a:r>
          </a:p>
        </p:txBody>
      </p:sp>
      <p:sp>
        <p:nvSpPr>
          <p:cNvPr id="44" name="shape44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5" name="shape45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Defines what will be measured, how, how often and against what target, so performance can be judged rather than asserted.</a:t>
            </a:r>
          </a:p>
        </p:txBody>
      </p:sp>
      <p:sp>
        <p:nvSpPr>
          <p:cNvPr id="46" name="shape46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7" name="shape47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metric is a raw measure; a KPI is a metric tied to an objective with a target. An indicator that nobody would act on is a metric, not a KPI, however prominently it is displayed.</a:t>
            </a:r>
          </a:p>
        </p:txBody>
      </p:sp>
      <p:sp>
        <p:nvSpPr>
          <p:cNvPr id="48" name="shape48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9" name="shape49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8.1 Measure Solution Performance · 8.2 Analyze Performance Measures · 6.2 Define Future State</a:t>
            </a:r>
          </a:p>
        </p:txBody>
      </p:sp>
      <p:sp>
        <p:nvSpPr>
          <p:cNvPr id="50" name="shape50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Metrics and Key Performance Indicators — blank template</a:t>
            </a:r>
          </a:p>
        </p:txBody>
      </p:sp>
      <p:sp>
        <p:nvSpPr>
          <p:cNvPr id="51" name="shape51"/>
          <p:cNvSpPr/>
          <p:nvPr/>
        </p:nvSpPr>
        <p:spPr>
          <a:xfrm>
            <a:off x="3520440" y="1280160"/>
            <a:ext cx="8214055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1. Objective    2. Strategy    3. Tactic    4. KPI</a:t>
            </a:r>
          </a:p>
        </p:txBody>
      </p:sp>
      <p:sp>
        <p:nvSpPr>
          <p:cNvPr id="52" name="shape52"/>
          <p:cNvSpPr/>
          <p:nvPr/>
        </p:nvSpPr>
        <p:spPr>
          <a:xfrm>
            <a:off x="3520440" y="1499616"/>
            <a:ext cx="8214055" cy="204216"/>
          </a:xfrm>
          <a:prstGeom prst="roundRect">
            <a:avLst>
              <a:gd name="adj" fmla="val 8000"/>
            </a:avLst>
          </a:prstGeom>
          <a:solidFill>
            <a:srgbClr val="E9F1FD"/>
          </a:solidFill>
          <a:ln w="9525">
            <a:solidFill>
              <a:srgbClr val="2A78D6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Objective</a:t>
            </a:r>
          </a:p>
        </p:txBody>
      </p:sp>
      <p:sp>
        <p:nvSpPr>
          <p:cNvPr id="53" name="shape53"/>
          <p:cNvSpPr/>
          <p:nvPr/>
        </p:nvSpPr>
        <p:spPr>
          <a:xfrm>
            <a:off x="3904488" y="1749552"/>
            <a:ext cx="7830007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Strategy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3776472" y="185166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5" name="shape55"/>
          <p:cNvSpPr/>
          <p:nvPr/>
        </p:nvSpPr>
        <p:spPr>
          <a:xfrm>
            <a:off x="4288536" y="1999488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Tactic</a:t>
            </a:r>
          </a:p>
        </p:txBody>
      </p:sp>
      <p:cxnSp>
        <p:nvCxnSpPr>
          <p:cNvPr id="56" name="conn56"/>
          <p:cNvCxnSpPr/>
          <p:nvPr/>
        </p:nvCxnSpPr>
        <p:spPr>
          <a:xfrm>
            <a:off x="4160520" y="210159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7" name="shape57"/>
          <p:cNvSpPr/>
          <p:nvPr/>
        </p:nvSpPr>
        <p:spPr>
          <a:xfrm>
            <a:off x="4672584" y="2249424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58" name="conn58"/>
          <p:cNvCxnSpPr/>
          <p:nvPr/>
        </p:nvCxnSpPr>
        <p:spPr>
          <a:xfrm>
            <a:off x="4544568" y="235153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59" name="shape59"/>
          <p:cNvSpPr/>
          <p:nvPr/>
        </p:nvSpPr>
        <p:spPr>
          <a:xfrm>
            <a:off x="4672584" y="2499360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60" name="conn60"/>
          <p:cNvCxnSpPr/>
          <p:nvPr/>
        </p:nvCxnSpPr>
        <p:spPr>
          <a:xfrm>
            <a:off x="4544568" y="260146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1" name="shape61"/>
          <p:cNvSpPr/>
          <p:nvPr/>
        </p:nvSpPr>
        <p:spPr>
          <a:xfrm>
            <a:off x="4288536" y="2749296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Tactic</a:t>
            </a:r>
          </a:p>
        </p:txBody>
      </p:sp>
      <p:cxnSp>
        <p:nvCxnSpPr>
          <p:cNvPr id="62" name="conn62"/>
          <p:cNvCxnSpPr/>
          <p:nvPr/>
        </p:nvCxnSpPr>
        <p:spPr>
          <a:xfrm>
            <a:off x="4160520" y="285140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3" name="shape63"/>
          <p:cNvSpPr/>
          <p:nvPr/>
        </p:nvSpPr>
        <p:spPr>
          <a:xfrm>
            <a:off x="4672584" y="2999232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64" name="conn64"/>
          <p:cNvCxnSpPr/>
          <p:nvPr/>
        </p:nvCxnSpPr>
        <p:spPr>
          <a:xfrm>
            <a:off x="4544568" y="310134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5" name="shape65"/>
          <p:cNvSpPr/>
          <p:nvPr/>
        </p:nvSpPr>
        <p:spPr>
          <a:xfrm>
            <a:off x="4672584" y="3249168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66" name="conn66"/>
          <p:cNvCxnSpPr/>
          <p:nvPr/>
        </p:nvCxnSpPr>
        <p:spPr>
          <a:xfrm>
            <a:off x="4544568" y="335127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7" name="shape67"/>
          <p:cNvSpPr/>
          <p:nvPr/>
        </p:nvSpPr>
        <p:spPr>
          <a:xfrm>
            <a:off x="3904488" y="3499104"/>
            <a:ext cx="7830007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Strategy</a:t>
            </a:r>
          </a:p>
        </p:txBody>
      </p:sp>
      <p:cxnSp>
        <p:nvCxnSpPr>
          <p:cNvPr id="68" name="conn68"/>
          <p:cNvCxnSpPr/>
          <p:nvPr/>
        </p:nvCxnSpPr>
        <p:spPr>
          <a:xfrm>
            <a:off x="3776472" y="360121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69" name="shape69"/>
          <p:cNvSpPr/>
          <p:nvPr/>
        </p:nvSpPr>
        <p:spPr>
          <a:xfrm>
            <a:off x="4288536" y="3749040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Tactic</a:t>
            </a:r>
          </a:p>
        </p:txBody>
      </p:sp>
      <p:cxnSp>
        <p:nvCxnSpPr>
          <p:cNvPr id="70" name="conn70"/>
          <p:cNvCxnSpPr/>
          <p:nvPr/>
        </p:nvCxnSpPr>
        <p:spPr>
          <a:xfrm>
            <a:off x="4160520" y="385114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1" name="shape71"/>
          <p:cNvSpPr/>
          <p:nvPr/>
        </p:nvSpPr>
        <p:spPr>
          <a:xfrm>
            <a:off x="4672584" y="3998976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72" name="conn72"/>
          <p:cNvCxnSpPr/>
          <p:nvPr/>
        </p:nvCxnSpPr>
        <p:spPr>
          <a:xfrm>
            <a:off x="4544568" y="4101084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3" name="shape73"/>
          <p:cNvSpPr/>
          <p:nvPr/>
        </p:nvSpPr>
        <p:spPr>
          <a:xfrm>
            <a:off x="4672584" y="4248912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74" name="conn74"/>
          <p:cNvCxnSpPr/>
          <p:nvPr/>
        </p:nvCxnSpPr>
        <p:spPr>
          <a:xfrm>
            <a:off x="4544568" y="4351020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5" name="shape75"/>
          <p:cNvSpPr/>
          <p:nvPr/>
        </p:nvSpPr>
        <p:spPr>
          <a:xfrm>
            <a:off x="4288536" y="4498848"/>
            <a:ext cx="7445959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Tactic</a:t>
            </a:r>
          </a:p>
        </p:txBody>
      </p:sp>
      <p:cxnSp>
        <p:nvCxnSpPr>
          <p:cNvPr id="76" name="conn76"/>
          <p:cNvCxnSpPr/>
          <p:nvPr/>
        </p:nvCxnSpPr>
        <p:spPr>
          <a:xfrm>
            <a:off x="4160520" y="4600956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7" name="shape77"/>
          <p:cNvSpPr/>
          <p:nvPr/>
        </p:nvSpPr>
        <p:spPr>
          <a:xfrm>
            <a:off x="4672584" y="4748784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78" name="conn78"/>
          <p:cNvCxnSpPr/>
          <p:nvPr/>
        </p:nvCxnSpPr>
        <p:spPr>
          <a:xfrm>
            <a:off x="4544568" y="4850892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sp>
        <p:nvSpPr>
          <p:cNvPr id="79" name="shape79"/>
          <p:cNvSpPr/>
          <p:nvPr/>
        </p:nvSpPr>
        <p:spPr>
          <a:xfrm>
            <a:off x="4672584" y="4998720"/>
            <a:ext cx="7061911" cy="204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82296" rIns="82296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KPI</a:t>
            </a:r>
          </a:p>
        </p:txBody>
      </p:sp>
      <p:cxnSp>
        <p:nvCxnSpPr>
          <p:cNvPr id="80" name="conn80"/>
          <p:cNvCxnSpPr/>
          <p:nvPr/>
        </p:nvCxnSpPr>
        <p:spPr>
          <a:xfrm>
            <a:off x="4544568" y="5100828"/>
            <a:ext cx="128016" cy="1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10.28 Metrics and Key Performance Indicators — blank template</dc:title>
  <dc:creator>Business Analyst Services</dc:creator>
  <cp:lastModifiedBy>Business Analyst Services</cp:lastModifiedBy>
</cp:coreProperties>
</file>