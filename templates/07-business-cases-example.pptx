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0"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928C-8D94-4386-AC7B-553F59AB7C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52215E4E-208B-05AF-0F7D-9031FC30B7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2A11AB49-14DA-9592-096C-42215282051C}"/>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CB846A6-E1F2-97FD-1990-6DB3D94A2CF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F72E879-8ADE-ADD1-561C-922DD66B1C52}"/>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374340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2970-3FFA-672E-7BDF-8C39604467F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4668F12-6D7A-FAC0-A8EA-015157BBB2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D2B7A39-1E77-649D-B8DD-65A653DA92D8}"/>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487EC7D5-C430-E2C7-F316-38EA7DAF858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FCD7CAB-8C83-4E1B-163F-768A62ADF3F5}"/>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680130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B571-F905-106F-44AC-06D507B8DD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D7BDFC9-BB31-433B-931E-96E8AD41C5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4D8789-1EE8-4EB2-A8D6-1CF825AACF86}"/>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129447C1-5CE4-9F76-9084-1F256878BE6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8835E4-AFDF-C6D5-CD1B-FA44865F8829}"/>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84844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E5372-E0A7-350D-2E33-AD05CD86502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5C14DD2-FD65-8F81-56D6-7CCCBFA303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ABC754D9-E8E7-1862-DAE2-BA3F6E1D03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7741819-1EBC-263E-53AD-63930D5195F2}"/>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35A1B7D8-7263-F629-5FCA-42BBA2DBEEF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F2436AB-10EF-5D96-2497-C60B56CD3D1C}"/>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1379494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EB8AB-C454-7B11-466F-81F851FE4EC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27CCE9B-8BCB-3DFD-87F6-AA5CEC25B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05606-8CAC-4E3B-C6ED-4AC2B5B705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381D3C8-B3AC-1B3C-3004-08F40E1C0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9F8BD6-6962-8063-AE0A-5B84622373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BF2BB01-25A7-74DB-9D39-FF2497850D23}"/>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8" name="Footer Placeholder 7">
            <a:extLst>
              <a:ext uri="{FF2B5EF4-FFF2-40B4-BE49-F238E27FC236}">
                <a16:creationId xmlns:a16="http://schemas.microsoft.com/office/drawing/2014/main" id="{90EC8301-7807-EC5A-6186-22270AF9CE9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9D6DC6-AA52-6F5F-3085-E5804726737D}"/>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502518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BF212-4210-7349-A016-49E9913879BB}"/>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14B7576-2346-127D-9DC5-8AED421B027E}"/>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4" name="Footer Placeholder 3">
            <a:extLst>
              <a:ext uri="{FF2B5EF4-FFF2-40B4-BE49-F238E27FC236}">
                <a16:creationId xmlns:a16="http://schemas.microsoft.com/office/drawing/2014/main" id="{1E14EFCF-868D-FC97-52FF-BCD0344C8ACF}"/>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861E5D5-7126-62BB-3AB3-D05572B6EB52}"/>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603273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D34B14-28BC-00E5-F4D8-4E0643C78024}"/>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3" name="Footer Placeholder 2">
            <a:extLst>
              <a:ext uri="{FF2B5EF4-FFF2-40B4-BE49-F238E27FC236}">
                <a16:creationId xmlns:a16="http://schemas.microsoft.com/office/drawing/2014/main" id="{5C9C7536-7B97-D84D-CDFB-8BC699DC596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DE231F4-14C5-C859-F2BA-D048EEFAD9A9}"/>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847642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FE36B-C1A8-E713-D3B0-633FBD8113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41836CF-9976-29CE-68C5-9599264B35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B55AFBF0-4B3F-2EF1-8B31-26642E3D74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85EE40-43F3-7F72-C8F1-EDD0B50D1CD1}"/>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6932FD82-A9F1-3A8F-56B3-A1634315EDA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08D54F0-0539-7BA2-BE93-05305B89F9D4}"/>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771265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F4329-14C2-BCD5-7B8B-83A0D2EAE5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8780F7B-39E7-80A7-B597-95CE2CDC61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49E643D-14FF-D0FF-4AD7-CDCACEE3DF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EA30B3-6F69-EBB5-A077-12640378C511}"/>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33319E47-FC10-596B-6C48-03F211E1EB9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A804247-22B8-B7DE-3F1D-992336400D6D}"/>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1444579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6F2B-D3D5-6EA6-0020-9DECD2B7FB2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3EBA203-CF3F-8892-5650-4309825CF8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CF26AE2-84EA-FE78-2265-F6AFE0A19052}"/>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8263697-1B9F-069E-2598-73789FDFF79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C0047D5-B882-D0F3-B993-DF9EDB203BBF}"/>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463429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AB66-86D0-3D3E-E607-14155BE924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85B9329-08DA-011C-50F7-CAB8B821BE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665844B-E496-59B2-0A32-DFDAE7DADC89}"/>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11810B4B-1C2F-C372-0353-8D20C000A8F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78BC671-93AA-3D60-4FE1-A1D5BCE4B9C0}"/>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07553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5F508C-2EF1-2B88-6F34-BC6267F7CE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A4579F1-5848-0D86-5D03-D45679A30A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F1C1FA1-D052-8D63-598C-3712975FFA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7CCA5EC-E9C5-E397-BED3-64A79396DA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7041FC9-9C2B-BFFE-5BEC-9A8C04ED07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157FD1-BEE4-45E1-9795-C9137D5ACD0F}" type="slidenum">
              <a:rPr lang="en-AU" smtClean="0"/>
              <a:t>‹#›</a:t>
            </a:fld>
            <a:endParaRPr lang="en-AU"/>
          </a:p>
        </p:txBody>
      </p:sp>
    </p:spTree>
    <p:extLst>
      <p:ext uri="{BB962C8B-B14F-4D97-AF65-F5344CB8AC3E}">
        <p14:creationId xmlns:p14="http://schemas.microsoft.com/office/powerpoint/2010/main" val="1463503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10.7  Business Cases</a:t>
            </a:r>
          </a:p>
        </p:txBody>
      </p:sp>
      <p:sp>
        <p:nvSpPr>
          <p:cNvPr id="3" name="shape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4" name="shape4"/>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5" name="conn5"/>
          <p:cNvCxnSpPr/>
          <p:nvPr/>
        </p:nvCxnSpPr>
        <p:spPr>
          <a:xfrm>
            <a:off x="457200" y="1078992"/>
            <a:ext cx="11277295" cy="1"/>
          </a:xfrm>
          <a:prstGeom prst="line">
            <a:avLst/>
          </a:prstGeom>
          <a:ln w="9525">
            <a:solidFill>
              <a:srgbClr val="D9D8D0"/>
            </a:solidFill>
          </a:ln>
        </p:spPr>
      </p:cxnSp>
      <p:sp>
        <p:nvSpPr>
          <p:cNvPr id="6" name="shape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7" name="shape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10.7</a:t>
            </a:r>
          </a:p>
        </p:txBody>
      </p:sp>
      <p:sp>
        <p:nvSpPr>
          <p:cNvPr id="8" name="shape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9" name="shape9"/>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Assembles the justification for a change: the need, the options considered, the recommended option and what it is expected to be worth.</a:t>
            </a:r>
          </a:p>
        </p:txBody>
      </p:sp>
      <p:sp>
        <p:nvSpPr>
          <p:cNvPr id="10" name="shape10"/>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1" name="shape11"/>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 a decision-maker has to approve funding and needs the need, the options and the value in one place.</a:t>
            </a:r>
          </a:p>
        </p:txBody>
      </p:sp>
      <p:sp>
        <p:nvSpPr>
          <p:cNvPr id="12" name="shape12"/>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3" name="shape13"/>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The business case is the container; financial analysis is one of its contents. An item that turns on how the return was calculated is financial analysis, while one that turns on whether the recommendation was justified at all is the business case.</a:t>
            </a:r>
          </a:p>
        </p:txBody>
      </p:sp>
      <p:sp>
        <p:nvSpPr>
          <p:cNvPr id="14" name="shape14"/>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5" name="shape15"/>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6.4 Define Change Strategy · 6.2 Define Future State · 7.6 Analyze Potential Value and Recommend Solution</a:t>
            </a:r>
          </a:p>
        </p:txBody>
      </p:sp>
      <p:sp>
        <p:nvSpPr>
          <p:cNvPr id="16" name="shape1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Grants replacement — the structure the committee asked for</a:t>
            </a:r>
          </a:p>
        </p:txBody>
      </p:sp>
      <p:sp>
        <p:nvSpPr>
          <p:cNvPr id="17" name="shape17"/>
          <p:cNvSpPr/>
          <p:nvPr/>
        </p:nvSpPr>
        <p:spPr>
          <a:xfrm>
            <a:off x="3547872" y="152704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NEED</a:t>
            </a:r>
          </a:p>
          <a:p>
            <a:pPr algn="l"/>
            <a:r>
              <a:rPr lang="en-AU" sz="800" dirty="0">
                <a:solidFill>
                  <a:srgbClr val="0B0B0B"/>
                </a:solidFill>
                <a:latin typeface="Aptos"/>
              </a:rPr>
              <a:t>• Vendor support ends Mar 2027</a:t>
            </a:r>
          </a:p>
          <a:p>
            <a:pPr algn="l"/>
            <a:r>
              <a:rPr lang="en-AU" sz="800" dirty="0">
                <a:solidFill>
                  <a:srgbClr val="0B0B0B"/>
                </a:solidFill>
                <a:latin typeface="Aptos"/>
              </a:rPr>
              <a:t>• Manual acquittal costs 2.1 FTE</a:t>
            </a:r>
          </a:p>
          <a:p>
            <a:pPr algn="l"/>
            <a:r>
              <a:rPr lang="en-AU" sz="800" dirty="0">
                <a:solidFill>
                  <a:srgbClr val="0B0B0B"/>
                </a:solidFill>
                <a:latin typeface="Aptos"/>
              </a:rPr>
              <a:t>• No audit trail on overrides</a:t>
            </a:r>
          </a:p>
        </p:txBody>
      </p:sp>
      <p:sp>
        <p:nvSpPr>
          <p:cNvPr id="18" name="shape18"/>
          <p:cNvSpPr/>
          <p:nvPr/>
        </p:nvSpPr>
        <p:spPr>
          <a:xfrm>
            <a:off x="7654900" y="152704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OPTIONS CONSIDERED</a:t>
            </a:r>
          </a:p>
          <a:p>
            <a:pPr algn="l"/>
            <a:r>
              <a:rPr lang="en-AU" sz="800" dirty="0">
                <a:solidFill>
                  <a:srgbClr val="0B0B0B"/>
                </a:solidFill>
                <a:latin typeface="Aptos"/>
              </a:rPr>
              <a:t>• Do nothing — carries unsupported software</a:t>
            </a:r>
          </a:p>
          <a:p>
            <a:pPr algn="l"/>
            <a:r>
              <a:rPr lang="en-AU" sz="800" dirty="0">
                <a:solidFill>
                  <a:srgbClr val="0B0B0B"/>
                </a:solidFill>
                <a:latin typeface="Aptos"/>
              </a:rPr>
              <a:t>• Extend support — quoted, 18 months maximum</a:t>
            </a:r>
          </a:p>
          <a:p>
            <a:pPr algn="l"/>
            <a:r>
              <a:rPr lang="en-AU" sz="800" dirty="0">
                <a:solidFill>
                  <a:srgbClr val="0B0B0B"/>
                </a:solidFill>
                <a:latin typeface="Aptos"/>
              </a:rPr>
              <a:t>• Reconfigure existing — assessed, cannot mee…</a:t>
            </a:r>
          </a:p>
          <a:p>
            <a:pPr algn="l"/>
            <a:r>
              <a:rPr lang="en-AU" sz="800" dirty="0">
                <a:solidFill>
                  <a:srgbClr val="0B0B0B"/>
                </a:solidFill>
                <a:latin typeface="Aptos"/>
              </a:rPr>
              <a:t>• Replace — recommended</a:t>
            </a:r>
          </a:p>
        </p:txBody>
      </p:sp>
      <p:sp>
        <p:nvSpPr>
          <p:cNvPr id="19" name="shape19"/>
          <p:cNvSpPr/>
          <p:nvPr/>
        </p:nvSpPr>
        <p:spPr>
          <a:xfrm>
            <a:off x="3547872" y="286816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WHY REPLACE</a:t>
            </a:r>
          </a:p>
          <a:p>
            <a:pPr algn="l"/>
            <a:r>
              <a:rPr lang="en-AU" sz="800" dirty="0">
                <a:solidFill>
                  <a:srgbClr val="0B0B0B"/>
                </a:solidFill>
                <a:latin typeface="Aptos"/>
              </a:rPr>
              <a:t>• Only option meeting the audit finding</a:t>
            </a:r>
          </a:p>
          <a:p>
            <a:pPr algn="l"/>
            <a:r>
              <a:rPr lang="en-AU" sz="800" dirty="0">
                <a:solidFill>
                  <a:srgbClr val="0B0B0B"/>
                </a:solidFill>
                <a:latin typeface="Aptos"/>
              </a:rPr>
              <a:t>• Extension defers the same decision at 60% o…</a:t>
            </a:r>
          </a:p>
        </p:txBody>
      </p:sp>
      <p:sp>
        <p:nvSpPr>
          <p:cNvPr id="20" name="shape20"/>
          <p:cNvSpPr/>
          <p:nvPr/>
        </p:nvSpPr>
        <p:spPr>
          <a:xfrm>
            <a:off x="7654900" y="286816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VALUE</a:t>
            </a:r>
          </a:p>
          <a:p>
            <a:pPr algn="l"/>
            <a:r>
              <a:rPr lang="en-AU" sz="800" dirty="0">
                <a:solidFill>
                  <a:srgbClr val="0B0B0B"/>
                </a:solidFill>
                <a:latin typeface="Aptos"/>
              </a:rPr>
              <a:t>• $3.2m over 5 years</a:t>
            </a:r>
          </a:p>
          <a:p>
            <a:pPr algn="l"/>
            <a:r>
              <a:rPr lang="en-AU" sz="800" dirty="0">
                <a:solidFill>
                  <a:srgbClr val="0B0B0B"/>
                </a:solidFill>
                <a:latin typeface="Aptos"/>
              </a:rPr>
              <a:t>• 2.1 FTE released to assessment backlog</a:t>
            </a:r>
          </a:p>
        </p:txBody>
      </p:sp>
      <p:sp>
        <p:nvSpPr>
          <p:cNvPr id="21" name="shape21"/>
          <p:cNvSpPr/>
          <p:nvPr/>
        </p:nvSpPr>
        <p:spPr>
          <a:xfrm>
            <a:off x="3547872" y="420928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RISKS</a:t>
            </a:r>
          </a:p>
          <a:p>
            <a:pPr algn="l"/>
            <a:r>
              <a:rPr lang="en-AU" sz="800" dirty="0">
                <a:solidFill>
                  <a:srgbClr val="0B0B0B"/>
                </a:solidFill>
                <a:latin typeface="Aptos"/>
              </a:rPr>
              <a:t>• Migration of 11 years of acquittals</a:t>
            </a:r>
          </a:p>
          <a:p>
            <a:pPr algn="l"/>
            <a:r>
              <a:rPr lang="en-AU" sz="800" dirty="0">
                <a:solidFill>
                  <a:srgbClr val="0B0B0B"/>
                </a:solidFill>
                <a:latin typeface="Aptos"/>
              </a:rPr>
              <a:t>• Round in flight at cutover</a:t>
            </a:r>
          </a:p>
        </p:txBody>
      </p:sp>
      <p:sp>
        <p:nvSpPr>
          <p:cNvPr id="22" name="shape22"/>
          <p:cNvSpPr/>
          <p:nvPr/>
        </p:nvSpPr>
        <p:spPr>
          <a:xfrm>
            <a:off x="7654900" y="420928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TIMING</a:t>
            </a:r>
          </a:p>
          <a:p>
            <a:pPr algn="l"/>
            <a:r>
              <a:rPr lang="en-AU" sz="800" dirty="0">
                <a:solidFill>
                  <a:srgbClr val="0B0B0B"/>
                </a:solidFill>
                <a:latin typeface="Aptos"/>
              </a:rPr>
              <a:t>• Must complete before Mar 2027</a:t>
            </a:r>
          </a:p>
          <a:p>
            <a:pPr algn="l"/>
            <a:r>
              <a:rPr lang="en-AU" sz="800" dirty="0">
                <a:solidFill>
                  <a:srgbClr val="0B0B0B"/>
                </a:solidFill>
                <a:latin typeface="Aptos"/>
              </a:rPr>
              <a:t>• One clear window: Oct–Dec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Slides>1</Slides>
</Properties>
</file>

<file path=docProps/core.xml><?xml version="1.0" encoding="utf-8"?>
<cp:coreProperties xmlns:cp="http://schemas.openxmlformats.org/package/2006/metadata/core-properties" xmlns:dc="http://purl.org/dc/elements/1.1/" xmlns:dcterms="http://purl.org/dc/terms/" xmlns:xsi="http://www.w3.org/2001/XMLSchema-instance">
  <dc:title>10.7 Business Cases — worked example</dc:title>
  <dc:creator>Business Analyst Services</dc:creator>
  <cp:lastModifiedBy>Business Analyst Services</cp:lastModifiedBy>
</cp:coreProperties>
</file>