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36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10.42  Sequence Diagrams</a:t>
            </a:r>
          </a:p>
        </p:txBody>
      </p:sp>
      <p:sp>
        <p:nvSpPr>
          <p:cNvPr id="37" name="shape37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Modelling and specification</a:t>
            </a:r>
          </a:p>
        </p:txBody>
      </p:sp>
      <p:sp>
        <p:nvSpPr>
          <p:cNvPr id="38" name="shape38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39" name="conn39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40" name="shape40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41" name="shape41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10.42</a:t>
            </a:r>
          </a:p>
        </p:txBody>
      </p:sp>
      <p:sp>
        <p:nvSpPr>
          <p:cNvPr id="42" name="shape42"/>
          <p:cNvSpPr/>
          <p:nvPr/>
        </p:nvSpPr>
        <p:spPr>
          <a:xfrm>
            <a:off x="457200" y="1207008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HOW TO FILL IT IN</a:t>
            </a:r>
          </a:p>
        </p:txBody>
      </p:sp>
      <p:sp>
        <p:nvSpPr>
          <p:cNvPr id="43" name="shape43"/>
          <p:cNvSpPr/>
          <p:nvPr/>
        </p:nvSpPr>
        <p:spPr>
          <a:xfrm>
            <a:off x="457200" y="1408176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Time runs down the page. Mark which calls block and which return later — that gap is where races live.</a:t>
            </a:r>
          </a:p>
        </p:txBody>
      </p:sp>
      <p:sp>
        <p:nvSpPr>
          <p:cNvPr id="44" name="shape44"/>
          <p:cNvSpPr/>
          <p:nvPr/>
        </p:nvSpPr>
        <p:spPr>
          <a:xfrm>
            <a:off x="457200" y="2414016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WHAT IT IS FOR</a:t>
            </a:r>
          </a:p>
        </p:txBody>
      </p:sp>
      <p:sp>
        <p:nvSpPr>
          <p:cNvPr id="45" name="shape45"/>
          <p:cNvSpPr/>
          <p:nvPr/>
        </p:nvSpPr>
        <p:spPr>
          <a:xfrm>
            <a:off x="457200" y="2615184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Shows the ordered exchange of messages between participants over time to accomplish a specific interaction.</a:t>
            </a:r>
          </a:p>
        </p:txBody>
      </p:sp>
      <p:sp>
        <p:nvSpPr>
          <p:cNvPr id="46" name="shape46"/>
          <p:cNvSpPr/>
          <p:nvPr/>
        </p:nvSpPr>
        <p:spPr>
          <a:xfrm>
            <a:off x="457200" y="3438144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MOST OFTEN CONFUSED WITH</a:t>
            </a:r>
          </a:p>
        </p:txBody>
      </p:sp>
      <p:sp>
        <p:nvSpPr>
          <p:cNvPr id="47" name="shape47"/>
          <p:cNvSpPr/>
          <p:nvPr/>
        </p:nvSpPr>
        <p:spPr>
          <a:xfrm>
            <a:off x="457200" y="3639312"/>
            <a:ext cx="2743200" cy="173736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txBody>
          <a:bodyPr wrap="square" anchor="t" lIns="91440" rIns="91440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Sequence diagrams order messages between components; process models order activities performed by people and systems; state models track what an object becomes. Messages, work, or status is the three-way split.</a:t>
            </a:r>
          </a:p>
        </p:txBody>
      </p:sp>
      <p:sp>
        <p:nvSpPr>
          <p:cNvPr id="48" name="shape48"/>
          <p:cNvSpPr/>
          <p:nvPr/>
        </p:nvSpPr>
        <p:spPr>
          <a:xfrm>
            <a:off x="457200" y="3639312"/>
            <a:ext cx="32004" cy="173736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49" name="shape49"/>
          <p:cNvSpPr/>
          <p:nvPr/>
        </p:nvSpPr>
        <p:spPr>
          <a:xfrm>
            <a:off x="457200" y="548640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Tasks: 7.1 Specify and Model Requirements · 7.4 Define Requirements Architecture</a:t>
            </a:r>
          </a:p>
        </p:txBody>
      </p:sp>
      <p:sp>
        <p:nvSpPr>
          <p:cNvPr id="50" name="shape50"/>
          <p:cNvSpPr/>
          <p:nvPr/>
        </p:nvSpPr>
        <p:spPr>
          <a:xfrm>
            <a:off x="3520440" y="1188720"/>
            <a:ext cx="82140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050" b="1" dirty="0">
                <a:solidFill>
                  <a:srgbClr val="184F95"/>
                </a:solidFill>
                <a:latin typeface="Aptos"/>
              </a:rPr>
              <a:t>Sequence Diagrams — blank template</a:t>
            </a:r>
          </a:p>
        </p:txBody>
      </p:sp>
      <p:sp>
        <p:nvSpPr>
          <p:cNvPr id="51" name="shape51"/>
          <p:cNvSpPr/>
          <p:nvPr/>
        </p:nvSpPr>
        <p:spPr>
          <a:xfrm>
            <a:off x="3520440" y="1499616"/>
            <a:ext cx="17373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dirty="0">
                <a:solidFill>
                  <a:srgbClr val="0B0B0B"/>
                </a:solidFill>
                <a:latin typeface="Aptos"/>
              </a:rPr>
              <a:t>Participant 1</a:t>
            </a:r>
          </a:p>
        </p:txBody>
      </p:sp>
      <p:cxnSp>
        <p:nvCxnSpPr>
          <p:cNvPr id="52" name="conn52"/>
          <p:cNvCxnSpPr/>
          <p:nvPr/>
        </p:nvCxnSpPr>
        <p:spPr>
          <a:xfrm>
            <a:off x="4389120" y="1883664"/>
            <a:ext cx="1" cy="2377440"/>
          </a:xfrm>
          <a:prstGeom prst="line">
            <a:avLst/>
          </a:prstGeom>
          <a:ln w="6350">
            <a:solidFill>
              <a:srgbClr val="D9D8D0"/>
            </a:solidFill>
            <a:prstDash val="dash"/>
          </a:ln>
        </p:spPr>
      </p:cxnSp>
      <p:sp>
        <p:nvSpPr>
          <p:cNvPr id="53" name="shape53"/>
          <p:cNvSpPr/>
          <p:nvPr/>
        </p:nvSpPr>
        <p:spPr>
          <a:xfrm>
            <a:off x="5679338" y="1499616"/>
            <a:ext cx="17373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dirty="0">
                <a:solidFill>
                  <a:srgbClr val="0B0B0B"/>
                </a:solidFill>
                <a:latin typeface="Aptos"/>
              </a:rPr>
              <a:t>Participant 2</a:t>
            </a:r>
          </a:p>
        </p:txBody>
      </p:sp>
      <p:cxnSp>
        <p:nvCxnSpPr>
          <p:cNvPr id="54" name="conn54"/>
          <p:cNvCxnSpPr/>
          <p:nvPr/>
        </p:nvCxnSpPr>
        <p:spPr>
          <a:xfrm>
            <a:off x="6548018" y="1883664"/>
            <a:ext cx="1" cy="2377440"/>
          </a:xfrm>
          <a:prstGeom prst="line">
            <a:avLst/>
          </a:prstGeom>
          <a:ln w="6350">
            <a:solidFill>
              <a:srgbClr val="D9D8D0"/>
            </a:solidFill>
            <a:prstDash val="dash"/>
          </a:ln>
        </p:spPr>
      </p:cxnSp>
      <p:sp>
        <p:nvSpPr>
          <p:cNvPr id="55" name="shape55"/>
          <p:cNvSpPr/>
          <p:nvPr/>
        </p:nvSpPr>
        <p:spPr>
          <a:xfrm>
            <a:off x="7838237" y="1499616"/>
            <a:ext cx="17373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dirty="0">
                <a:solidFill>
                  <a:srgbClr val="0B0B0B"/>
                </a:solidFill>
                <a:latin typeface="Aptos"/>
              </a:rPr>
              <a:t>Participant 3</a:t>
            </a:r>
          </a:p>
        </p:txBody>
      </p:sp>
      <p:cxnSp>
        <p:nvCxnSpPr>
          <p:cNvPr id="56" name="conn56"/>
          <p:cNvCxnSpPr/>
          <p:nvPr/>
        </p:nvCxnSpPr>
        <p:spPr>
          <a:xfrm>
            <a:off x="8706917" y="1883664"/>
            <a:ext cx="1" cy="2377440"/>
          </a:xfrm>
          <a:prstGeom prst="line">
            <a:avLst/>
          </a:prstGeom>
          <a:ln w="6350">
            <a:solidFill>
              <a:srgbClr val="D9D8D0"/>
            </a:solidFill>
            <a:prstDash val="dash"/>
          </a:ln>
        </p:spPr>
      </p:cxnSp>
      <p:sp>
        <p:nvSpPr>
          <p:cNvPr id="57" name="shape57"/>
          <p:cNvSpPr/>
          <p:nvPr/>
        </p:nvSpPr>
        <p:spPr>
          <a:xfrm>
            <a:off x="9997135" y="1499616"/>
            <a:ext cx="17373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dirty="0">
                <a:solidFill>
                  <a:srgbClr val="0B0B0B"/>
                </a:solidFill>
                <a:latin typeface="Aptos"/>
              </a:rPr>
              <a:t>Participant 4</a:t>
            </a:r>
          </a:p>
        </p:txBody>
      </p:sp>
      <p:cxnSp>
        <p:nvCxnSpPr>
          <p:cNvPr id="58" name="conn58"/>
          <p:cNvCxnSpPr/>
          <p:nvPr/>
        </p:nvCxnSpPr>
        <p:spPr>
          <a:xfrm>
            <a:off x="10865815" y="1883664"/>
            <a:ext cx="1" cy="2377440"/>
          </a:xfrm>
          <a:prstGeom prst="line">
            <a:avLst/>
          </a:prstGeom>
          <a:ln w="6350">
            <a:solidFill>
              <a:srgbClr val="D9D8D0"/>
            </a:solidFill>
            <a:prstDash val="dash"/>
          </a:ln>
        </p:spPr>
      </p:cxnSp>
      <p:cxnSp>
        <p:nvCxnSpPr>
          <p:cNvPr id="59" name="conn59"/>
          <p:cNvCxnSpPr/>
          <p:nvPr/>
        </p:nvCxnSpPr>
        <p:spPr>
          <a:xfrm>
            <a:off x="4389120" y="2276856"/>
            <a:ext cx="2158898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sp>
        <p:nvSpPr>
          <p:cNvPr id="60" name="shape60"/>
          <p:cNvSpPr/>
          <p:nvPr/>
        </p:nvSpPr>
        <p:spPr>
          <a:xfrm>
            <a:off x="4389120" y="2020824"/>
            <a:ext cx="2158898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endParaRPr lang="en-AU" sz="800"/>
          </a:p>
        </p:txBody>
      </p:sp>
      <p:cxnSp>
        <p:nvCxnSpPr>
          <p:cNvPr id="61" name="conn61"/>
          <p:cNvCxnSpPr/>
          <p:nvPr/>
        </p:nvCxnSpPr>
        <p:spPr>
          <a:xfrm flipH="1">
            <a:off x="4389120" y="2697480"/>
            <a:ext cx="2158898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sp>
        <p:nvSpPr>
          <p:cNvPr id="62" name="shape62"/>
          <p:cNvSpPr/>
          <p:nvPr/>
        </p:nvSpPr>
        <p:spPr>
          <a:xfrm>
            <a:off x="4389120" y="2441448"/>
            <a:ext cx="2158898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endParaRPr lang="en-AU" sz="800"/>
          </a:p>
        </p:txBody>
      </p:sp>
      <p:cxnSp>
        <p:nvCxnSpPr>
          <p:cNvPr id="63" name="conn63"/>
          <p:cNvCxnSpPr/>
          <p:nvPr/>
        </p:nvCxnSpPr>
        <p:spPr>
          <a:xfrm>
            <a:off x="4389120" y="3118104"/>
            <a:ext cx="4317797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sp>
        <p:nvSpPr>
          <p:cNvPr id="64" name="shape64"/>
          <p:cNvSpPr/>
          <p:nvPr/>
        </p:nvSpPr>
        <p:spPr>
          <a:xfrm>
            <a:off x="4389120" y="2862072"/>
            <a:ext cx="4317797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endParaRPr lang="en-AU" sz="800"/>
          </a:p>
        </p:txBody>
      </p:sp>
      <p:cxnSp>
        <p:nvCxnSpPr>
          <p:cNvPr id="65" name="conn65"/>
          <p:cNvCxnSpPr/>
          <p:nvPr/>
        </p:nvCxnSpPr>
        <p:spPr>
          <a:xfrm>
            <a:off x="4389120" y="3538728"/>
            <a:ext cx="6476695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sp>
        <p:nvSpPr>
          <p:cNvPr id="66" name="shape66"/>
          <p:cNvSpPr/>
          <p:nvPr/>
        </p:nvSpPr>
        <p:spPr>
          <a:xfrm>
            <a:off x="4389120" y="3282696"/>
            <a:ext cx="6476695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endParaRPr lang="en-AU" sz="800"/>
          </a:p>
        </p:txBody>
      </p:sp>
      <p:cxnSp>
        <p:nvCxnSpPr>
          <p:cNvPr id="67" name="conn67"/>
          <p:cNvCxnSpPr/>
          <p:nvPr/>
        </p:nvCxnSpPr>
        <p:spPr>
          <a:xfrm flipH="1">
            <a:off x="4389120" y="3959352"/>
            <a:ext cx="4317797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sp>
        <p:nvSpPr>
          <p:cNvPr id="68" name="shape68"/>
          <p:cNvSpPr/>
          <p:nvPr/>
        </p:nvSpPr>
        <p:spPr>
          <a:xfrm>
            <a:off x="4389120" y="3703320"/>
            <a:ext cx="4317797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endParaRPr lang="en-AU" sz="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10.42 Sequence Diagrams — blank template</dc:title>
  <dc:creator>Business Analyst Services</dc:creator>
  <cp:lastModifiedBy>Business Analyst Services</cp:lastModifiedBy>
</cp:coreProperties>
</file>