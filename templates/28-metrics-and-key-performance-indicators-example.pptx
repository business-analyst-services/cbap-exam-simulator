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10.28  Metrics and Key Performance Indicators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Measurement and evaluation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10.28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Defines what will be measured, how, how often and against what target, so performance can be judged rather than asserted.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success has been described in adjectives, or when data is being collected that nobody has tied to an objective.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metric is a raw measure; a KPI is a metric tied to an objective with a target. An indicator that nobody would act on is a metric, not a KPI, however prominently it is displayed.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8.1 Measure Solution Performance · 8.2 Analyze Performance Measures · 6.2 Define Future State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From objective down to the indicator someone must act on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Each leaf carries a target and the threshold at which someone is obliged to do something.</a:t>
            </a:r>
          </a:p>
        </p:txBody>
      </p:sp>
      <p:sp>
        <p:nvSpPr>
          <p:cNvPr id="18" name="shape18"/>
          <p:cNvSpPr/>
          <p:nvPr/>
        </p:nvSpPr>
        <p:spPr>
          <a:xfrm>
            <a:off x="3520440" y="1280160"/>
            <a:ext cx="8214055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1. Objective    2. Strategy    3. Tactic    4. KPI</a:t>
            </a:r>
          </a:p>
        </p:txBody>
      </p:sp>
      <p:sp>
        <p:nvSpPr>
          <p:cNvPr id="19" name="shape19"/>
          <p:cNvSpPr/>
          <p:nvPr/>
        </p:nvSpPr>
        <p:spPr>
          <a:xfrm>
            <a:off x="3520440" y="1499616"/>
            <a:ext cx="8214055" cy="338328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Cut cost to serve by 15% without losing service quality</a:t>
            </a:r>
          </a:p>
        </p:txBody>
      </p:sp>
      <p:sp>
        <p:nvSpPr>
          <p:cNvPr id="20" name="shape20"/>
          <p:cNvSpPr/>
          <p:nvPr/>
        </p:nvSpPr>
        <p:spPr>
          <a:xfrm>
            <a:off x="3904488" y="1883664"/>
            <a:ext cx="7830007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Deflect avoidable contact</a:t>
            </a:r>
          </a:p>
        </p:txBody>
      </p:sp>
      <p:cxnSp>
        <p:nvCxnSpPr>
          <p:cNvPr id="21" name="conn21"/>
          <p:cNvCxnSpPr/>
          <p:nvPr/>
        </p:nvCxnSpPr>
        <p:spPr>
          <a:xfrm>
            <a:off x="3776472" y="205282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2" name="shape22"/>
          <p:cNvSpPr/>
          <p:nvPr/>
        </p:nvSpPr>
        <p:spPr>
          <a:xfrm>
            <a:off x="4288536" y="2267712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Self-service for status enquiries</a:t>
            </a:r>
          </a:p>
        </p:txBody>
      </p:sp>
      <p:cxnSp>
        <p:nvCxnSpPr>
          <p:cNvPr id="23" name="conn23"/>
          <p:cNvCxnSpPr/>
          <p:nvPr/>
        </p:nvCxnSpPr>
        <p:spPr>
          <a:xfrm>
            <a:off x="4160520" y="243687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4" name="shape24"/>
          <p:cNvSpPr/>
          <p:nvPr/>
        </p:nvSpPr>
        <p:spPr>
          <a:xfrm>
            <a:off x="4672584" y="2651760"/>
            <a:ext cx="7061911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Status enquiries by phone — target ≤ 4,000/mo, act below 5,500  (leading)</a:t>
            </a:r>
          </a:p>
        </p:txBody>
      </p:sp>
      <p:cxnSp>
        <p:nvCxnSpPr>
          <p:cNvPr id="25" name="conn25"/>
          <p:cNvCxnSpPr/>
          <p:nvPr/>
        </p:nvCxnSpPr>
        <p:spPr>
          <a:xfrm>
            <a:off x="4544568" y="282092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6" name="shape26"/>
          <p:cNvSpPr/>
          <p:nvPr/>
        </p:nvSpPr>
        <p:spPr>
          <a:xfrm>
            <a:off x="4672584" y="3035808"/>
            <a:ext cx="7061911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Self-service completion rate — target ≥ 70%, act below 60%  (leading)</a:t>
            </a:r>
          </a:p>
        </p:txBody>
      </p:sp>
      <p:cxnSp>
        <p:nvCxnSpPr>
          <p:cNvPr id="27" name="conn27"/>
          <p:cNvCxnSpPr/>
          <p:nvPr/>
        </p:nvCxnSpPr>
        <p:spPr>
          <a:xfrm>
            <a:off x="4544568" y="320497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8" name="shape28"/>
          <p:cNvSpPr/>
          <p:nvPr/>
        </p:nvSpPr>
        <p:spPr>
          <a:xfrm>
            <a:off x="3904488" y="3419856"/>
            <a:ext cx="7830007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Resolve first time</a:t>
            </a:r>
          </a:p>
        </p:txBody>
      </p:sp>
      <p:cxnSp>
        <p:nvCxnSpPr>
          <p:cNvPr id="29" name="conn29"/>
          <p:cNvCxnSpPr/>
          <p:nvPr/>
        </p:nvCxnSpPr>
        <p:spPr>
          <a:xfrm>
            <a:off x="3776472" y="3589020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0" name="shape30"/>
          <p:cNvSpPr/>
          <p:nvPr/>
        </p:nvSpPr>
        <p:spPr>
          <a:xfrm>
            <a:off x="4288536" y="3803904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Agent access to full case history</a:t>
            </a:r>
          </a:p>
        </p:txBody>
      </p:sp>
      <p:cxnSp>
        <p:nvCxnSpPr>
          <p:cNvPr id="31" name="conn31"/>
          <p:cNvCxnSpPr/>
          <p:nvPr/>
        </p:nvCxnSpPr>
        <p:spPr>
          <a:xfrm>
            <a:off x="4160520" y="397306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2" name="shape32"/>
          <p:cNvSpPr/>
          <p:nvPr/>
        </p:nvSpPr>
        <p:spPr>
          <a:xfrm>
            <a:off x="4672584" y="4187952"/>
            <a:ext cx="7061911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First-contact resolution — target ≥ 82%, act below 75%  (lagging)</a:t>
            </a:r>
          </a:p>
        </p:txBody>
      </p:sp>
      <p:cxnSp>
        <p:nvCxnSpPr>
          <p:cNvPr id="33" name="conn33"/>
          <p:cNvCxnSpPr/>
          <p:nvPr/>
        </p:nvCxnSpPr>
        <p:spPr>
          <a:xfrm>
            <a:off x="4544568" y="435711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4" name="shape34"/>
          <p:cNvSpPr/>
          <p:nvPr/>
        </p:nvSpPr>
        <p:spPr>
          <a:xfrm>
            <a:off x="4672584" y="4572000"/>
            <a:ext cx="7061911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Repeat contact within 7 days — target ≤ 9%, act above 12%  (lagging)</a:t>
            </a:r>
          </a:p>
        </p:txBody>
      </p:sp>
      <p:cxnSp>
        <p:nvCxnSpPr>
          <p:cNvPr id="35" name="conn35"/>
          <p:cNvCxnSpPr/>
          <p:nvPr/>
        </p:nvCxnSpPr>
        <p:spPr>
          <a:xfrm>
            <a:off x="4544568" y="474116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10.28 Metrics and Key Performance Indicators — worked example</dc:title>
  <dc:creator>Business Analyst Services</dc:creator>
  <cp:lastModifiedBy>Business Analyst Services</cp:lastModifiedBy>
</cp:coreProperties>
</file>