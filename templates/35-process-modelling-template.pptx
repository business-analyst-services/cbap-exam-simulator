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51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10.35  Process Modelling</a:t>
            </a:r>
          </a:p>
        </p:txBody>
      </p:sp>
      <p:sp>
        <p:nvSpPr>
          <p:cNvPr id="52" name="shape52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Modelling and specification</a:t>
            </a:r>
          </a:p>
        </p:txBody>
      </p:sp>
      <p:sp>
        <p:nvSpPr>
          <p:cNvPr id="53" name="shape53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54" name="conn54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55" name="shape55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56" name="shape56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10.35</a:t>
            </a:r>
          </a:p>
        </p:txBody>
      </p:sp>
      <p:sp>
        <p:nvSpPr>
          <p:cNvPr id="57" name="shape57"/>
          <p:cNvSpPr/>
          <p:nvPr/>
        </p:nvSpPr>
        <p:spPr>
          <a:xfrm>
            <a:off x="457200" y="1207008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HOW TO FILL IT IN</a:t>
            </a:r>
          </a:p>
        </p:txBody>
      </p:sp>
      <p:sp>
        <p:nvSpPr>
          <p:cNvPr id="58" name="shape58"/>
          <p:cNvSpPr/>
          <p:nvPr/>
        </p:nvSpPr>
        <p:spPr>
          <a:xfrm>
            <a:off x="457200" y="1408176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Name a lane per party. Every arrow crossing a lane is a hand-off — those are where the work goes wrong.</a:t>
            </a:r>
          </a:p>
        </p:txBody>
      </p:sp>
      <p:sp>
        <p:nvSpPr>
          <p:cNvPr id="59" name="shape59"/>
          <p:cNvSpPr/>
          <p:nvPr/>
        </p:nvSpPr>
        <p:spPr>
          <a:xfrm>
            <a:off x="457200" y="2414016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WHAT IT IS FOR</a:t>
            </a:r>
          </a:p>
        </p:txBody>
      </p:sp>
      <p:sp>
        <p:nvSpPr>
          <p:cNvPr id="60" name="shape60"/>
          <p:cNvSpPr/>
          <p:nvPr/>
        </p:nvSpPr>
        <p:spPr>
          <a:xfrm>
            <a:off x="457200" y="2615184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Depicts the sequence of activities, decisions, actors and hand-offs that produce an outcome.</a:t>
            </a:r>
          </a:p>
        </p:txBody>
      </p:sp>
      <p:sp>
        <p:nvSpPr>
          <p:cNvPr id="61" name="shape61"/>
          <p:cNvSpPr/>
          <p:nvPr/>
        </p:nvSpPr>
        <p:spPr>
          <a:xfrm>
            <a:off x="457200" y="3438144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MOST OFTEN CONFUSED WITH</a:t>
            </a:r>
          </a:p>
        </p:txBody>
      </p:sp>
      <p:sp>
        <p:nvSpPr>
          <p:cNvPr id="62" name="shape62"/>
          <p:cNvSpPr/>
          <p:nvPr/>
        </p:nvSpPr>
        <p:spPr>
          <a:xfrm>
            <a:off x="457200" y="3639312"/>
            <a:ext cx="2743200" cy="173736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txBody>
          <a:bodyPr wrap="square" anchor="t" lIns="91440" rIns="91440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Process modelling shows the flow of work; use cases show an actor achieving a goal with the solution; data flow diagrams follow information. Hand-offs between people point to process.</a:t>
            </a:r>
          </a:p>
        </p:txBody>
      </p:sp>
      <p:sp>
        <p:nvSpPr>
          <p:cNvPr id="63" name="shape63"/>
          <p:cNvSpPr/>
          <p:nvPr/>
        </p:nvSpPr>
        <p:spPr>
          <a:xfrm>
            <a:off x="457200" y="3639312"/>
            <a:ext cx="32004" cy="173736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64" name="shape64"/>
          <p:cNvSpPr/>
          <p:nvPr/>
        </p:nvSpPr>
        <p:spPr>
          <a:xfrm>
            <a:off x="457200" y="548640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Tasks: 7.1 Specify and Model Requirements · 6.1 Analyze Current State · 6.2 Define Future State</a:t>
            </a:r>
          </a:p>
        </p:txBody>
      </p:sp>
      <p:sp>
        <p:nvSpPr>
          <p:cNvPr id="65" name="shape65"/>
          <p:cNvSpPr/>
          <p:nvPr/>
        </p:nvSpPr>
        <p:spPr>
          <a:xfrm>
            <a:off x="3520440" y="1188720"/>
            <a:ext cx="82140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050" b="1" dirty="0">
                <a:solidFill>
                  <a:srgbClr val="184F95"/>
                </a:solidFill>
                <a:latin typeface="Aptos"/>
              </a:rPr>
              <a:t>Process Modelling — blank template</a:t>
            </a:r>
          </a:p>
        </p:txBody>
      </p:sp>
      <p:sp>
        <p:nvSpPr>
          <p:cNvPr id="66" name="shape66"/>
          <p:cNvSpPr/>
          <p:nvPr/>
        </p:nvSpPr>
        <p:spPr>
          <a:xfrm>
            <a:off x="3520440" y="1499616"/>
            <a:ext cx="8214055" cy="713232"/>
          </a:xfrm>
          <a:prstGeom prst="rect">
            <a:avLst/>
          </a:prstGeom>
          <a:solidFill>
            <a:srgbClr val="FBFBF9"/>
          </a:solidFill>
          <a:ln w="9525">
            <a:solidFill>
              <a:srgbClr val="D9D8D0"/>
            </a:solidFill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67" name="shape67"/>
          <p:cNvSpPr/>
          <p:nvPr/>
        </p:nvSpPr>
        <p:spPr>
          <a:xfrm>
            <a:off x="3557016" y="1499616"/>
            <a:ext cx="1024128" cy="713232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r>
              <a:rPr lang="en-AU" sz="850" b="1" dirty="0">
                <a:solidFill>
                  <a:srgbClr val="6B6A66"/>
                </a:solidFill>
                <a:latin typeface="Aptos"/>
              </a:rPr>
              <a:t>Lane 1</a:t>
            </a:r>
          </a:p>
        </p:txBody>
      </p:sp>
      <p:sp>
        <p:nvSpPr>
          <p:cNvPr id="68" name="shape68"/>
          <p:cNvSpPr/>
          <p:nvPr/>
        </p:nvSpPr>
        <p:spPr>
          <a:xfrm>
            <a:off x="3520440" y="2212848"/>
            <a:ext cx="8214055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8D0"/>
            </a:solidFill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69" name="shape69"/>
          <p:cNvSpPr/>
          <p:nvPr/>
        </p:nvSpPr>
        <p:spPr>
          <a:xfrm>
            <a:off x="3557016" y="2212848"/>
            <a:ext cx="1024128" cy="713232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r>
              <a:rPr lang="en-AU" sz="850" b="1" dirty="0">
                <a:solidFill>
                  <a:srgbClr val="6B6A66"/>
                </a:solidFill>
                <a:latin typeface="Aptos"/>
              </a:rPr>
              <a:t>Lane 2</a:t>
            </a:r>
          </a:p>
        </p:txBody>
      </p:sp>
      <p:sp>
        <p:nvSpPr>
          <p:cNvPr id="70" name="shape70"/>
          <p:cNvSpPr/>
          <p:nvPr/>
        </p:nvSpPr>
        <p:spPr>
          <a:xfrm>
            <a:off x="3520440" y="2926080"/>
            <a:ext cx="8214055" cy="713232"/>
          </a:xfrm>
          <a:prstGeom prst="rect">
            <a:avLst/>
          </a:prstGeom>
          <a:solidFill>
            <a:srgbClr val="FBFBF9"/>
          </a:solidFill>
          <a:ln w="9525">
            <a:solidFill>
              <a:srgbClr val="D9D8D0"/>
            </a:solidFill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71" name="shape71"/>
          <p:cNvSpPr/>
          <p:nvPr/>
        </p:nvSpPr>
        <p:spPr>
          <a:xfrm>
            <a:off x="3557016" y="2926080"/>
            <a:ext cx="1024128" cy="713232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r>
              <a:rPr lang="en-AU" sz="850" b="1" dirty="0">
                <a:solidFill>
                  <a:srgbClr val="6B6A66"/>
                </a:solidFill>
                <a:latin typeface="Aptos"/>
              </a:rPr>
              <a:t>Lane 3</a:t>
            </a:r>
          </a:p>
        </p:txBody>
      </p:sp>
      <p:sp>
        <p:nvSpPr>
          <p:cNvPr id="72" name="shape72"/>
          <p:cNvSpPr/>
          <p:nvPr/>
        </p:nvSpPr>
        <p:spPr>
          <a:xfrm>
            <a:off x="3520440" y="3639312"/>
            <a:ext cx="8214055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8D0"/>
            </a:solidFill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73" name="shape73"/>
          <p:cNvSpPr/>
          <p:nvPr/>
        </p:nvSpPr>
        <p:spPr>
          <a:xfrm>
            <a:off x="3557016" y="3639312"/>
            <a:ext cx="1024128" cy="713232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r>
              <a:rPr lang="en-AU" sz="850" b="1" dirty="0">
                <a:solidFill>
                  <a:srgbClr val="6B6A66"/>
                </a:solidFill>
                <a:latin typeface="Aptos"/>
              </a:rPr>
              <a:t>Lane 4</a:t>
            </a:r>
          </a:p>
        </p:txBody>
      </p:sp>
      <p:sp>
        <p:nvSpPr>
          <p:cNvPr id="74" name="shape74"/>
          <p:cNvSpPr/>
          <p:nvPr/>
        </p:nvSpPr>
        <p:spPr>
          <a:xfrm>
            <a:off x="3520440" y="4352544"/>
            <a:ext cx="8214055" cy="713232"/>
          </a:xfrm>
          <a:prstGeom prst="rect">
            <a:avLst/>
          </a:prstGeom>
          <a:solidFill>
            <a:srgbClr val="FBFBF9"/>
          </a:solidFill>
          <a:ln w="9525">
            <a:solidFill>
              <a:srgbClr val="D9D8D0"/>
            </a:solidFill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75" name="shape75"/>
          <p:cNvSpPr/>
          <p:nvPr/>
        </p:nvSpPr>
        <p:spPr>
          <a:xfrm>
            <a:off x="3557016" y="4352544"/>
            <a:ext cx="1024128" cy="713232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r>
              <a:rPr lang="en-AU" sz="850" b="1" dirty="0">
                <a:solidFill>
                  <a:srgbClr val="6B6A66"/>
                </a:solidFill>
                <a:latin typeface="Aptos"/>
              </a:rPr>
              <a:t>Lane 5</a:t>
            </a:r>
          </a:p>
        </p:txBody>
      </p:sp>
      <p:cxnSp>
        <p:nvCxnSpPr>
          <p:cNvPr id="76" name="conn76"/>
          <p:cNvCxnSpPr/>
          <p:nvPr/>
        </p:nvCxnSpPr>
        <p:spPr>
          <a:xfrm>
            <a:off x="5739841" y="1856232"/>
            <a:ext cx="64008" cy="1"/>
          </a:xfrm>
          <a:prstGeom prst="line">
            <a:avLst/>
          </a:prstGeom>
          <a:ln w="12700">
            <a:solidFill>
              <a:srgbClr val="C3C2B7"/>
            </a:solidFill>
          </a:ln>
        </p:spPr>
      </p:cxnSp>
      <p:cxnSp>
        <p:nvCxnSpPr>
          <p:cNvPr id="77" name="conn77"/>
          <p:cNvCxnSpPr/>
          <p:nvPr/>
        </p:nvCxnSpPr>
        <p:spPr>
          <a:xfrm>
            <a:off x="5803849" y="1856232"/>
            <a:ext cx="1" cy="713232"/>
          </a:xfrm>
          <a:prstGeom prst="line">
            <a:avLst/>
          </a:prstGeom>
          <a:ln w="12700">
            <a:solidFill>
              <a:srgbClr val="C3C2B7"/>
            </a:solidFill>
          </a:ln>
        </p:spPr>
      </p:cxnSp>
      <p:cxnSp>
        <p:nvCxnSpPr>
          <p:cNvPr id="78" name="conn78"/>
          <p:cNvCxnSpPr/>
          <p:nvPr/>
        </p:nvCxnSpPr>
        <p:spPr>
          <a:xfrm>
            <a:off x="5803849" y="2569464"/>
            <a:ext cx="64008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cxnSp>
        <p:nvCxnSpPr>
          <p:cNvPr id="79" name="conn79"/>
          <p:cNvCxnSpPr/>
          <p:nvPr/>
        </p:nvCxnSpPr>
        <p:spPr>
          <a:xfrm>
            <a:off x="6925970" y="2569464"/>
            <a:ext cx="64008" cy="1"/>
          </a:xfrm>
          <a:prstGeom prst="line">
            <a:avLst/>
          </a:prstGeom>
          <a:ln w="12700">
            <a:solidFill>
              <a:srgbClr val="C3C2B7"/>
            </a:solidFill>
          </a:ln>
        </p:spPr>
      </p:cxnSp>
      <p:cxnSp>
        <p:nvCxnSpPr>
          <p:cNvPr id="80" name="conn80"/>
          <p:cNvCxnSpPr/>
          <p:nvPr/>
        </p:nvCxnSpPr>
        <p:spPr>
          <a:xfrm>
            <a:off x="6989978" y="2569464"/>
            <a:ext cx="1" cy="713232"/>
          </a:xfrm>
          <a:prstGeom prst="line">
            <a:avLst/>
          </a:prstGeom>
          <a:ln w="12700">
            <a:solidFill>
              <a:srgbClr val="C3C2B7"/>
            </a:solidFill>
          </a:ln>
        </p:spPr>
      </p:cxnSp>
      <p:cxnSp>
        <p:nvCxnSpPr>
          <p:cNvPr id="81" name="conn81"/>
          <p:cNvCxnSpPr/>
          <p:nvPr/>
        </p:nvCxnSpPr>
        <p:spPr>
          <a:xfrm>
            <a:off x="6989978" y="3282696"/>
            <a:ext cx="64008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cxnSp>
        <p:nvCxnSpPr>
          <p:cNvPr id="82" name="conn82"/>
          <p:cNvCxnSpPr/>
          <p:nvPr/>
        </p:nvCxnSpPr>
        <p:spPr>
          <a:xfrm>
            <a:off x="8112100" y="3282696"/>
            <a:ext cx="64008" cy="1"/>
          </a:xfrm>
          <a:prstGeom prst="line">
            <a:avLst/>
          </a:prstGeom>
          <a:ln w="12700">
            <a:solidFill>
              <a:srgbClr val="C3C2B7"/>
            </a:solidFill>
          </a:ln>
        </p:spPr>
      </p:cxnSp>
      <p:cxnSp>
        <p:nvCxnSpPr>
          <p:cNvPr id="83" name="conn83"/>
          <p:cNvCxnSpPr/>
          <p:nvPr/>
        </p:nvCxnSpPr>
        <p:spPr>
          <a:xfrm>
            <a:off x="8176108" y="3282696"/>
            <a:ext cx="1" cy="713232"/>
          </a:xfrm>
          <a:prstGeom prst="line">
            <a:avLst/>
          </a:prstGeom>
          <a:ln w="12700">
            <a:solidFill>
              <a:srgbClr val="C3C2B7"/>
            </a:solidFill>
          </a:ln>
        </p:spPr>
      </p:cxnSp>
      <p:cxnSp>
        <p:nvCxnSpPr>
          <p:cNvPr id="84" name="conn84"/>
          <p:cNvCxnSpPr/>
          <p:nvPr/>
        </p:nvCxnSpPr>
        <p:spPr>
          <a:xfrm>
            <a:off x="8176108" y="3995928"/>
            <a:ext cx="64008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cxnSp>
        <p:nvCxnSpPr>
          <p:cNvPr id="85" name="conn85"/>
          <p:cNvCxnSpPr/>
          <p:nvPr/>
        </p:nvCxnSpPr>
        <p:spPr>
          <a:xfrm>
            <a:off x="9298229" y="3995928"/>
            <a:ext cx="64008" cy="1"/>
          </a:xfrm>
          <a:prstGeom prst="line">
            <a:avLst/>
          </a:prstGeom>
          <a:ln w="12700">
            <a:solidFill>
              <a:srgbClr val="C3C2B7"/>
            </a:solidFill>
          </a:ln>
        </p:spPr>
      </p:cxnSp>
      <p:cxnSp>
        <p:nvCxnSpPr>
          <p:cNvPr id="86" name="conn86"/>
          <p:cNvCxnSpPr/>
          <p:nvPr/>
        </p:nvCxnSpPr>
        <p:spPr>
          <a:xfrm flipV="1">
            <a:off x="9362237" y="3282696"/>
            <a:ext cx="1" cy="713232"/>
          </a:xfrm>
          <a:prstGeom prst="line">
            <a:avLst/>
          </a:prstGeom>
          <a:ln w="12700">
            <a:solidFill>
              <a:srgbClr val="C3C2B7"/>
            </a:solidFill>
          </a:ln>
        </p:spPr>
      </p:cxnSp>
      <p:cxnSp>
        <p:nvCxnSpPr>
          <p:cNvPr id="87" name="conn87"/>
          <p:cNvCxnSpPr/>
          <p:nvPr/>
        </p:nvCxnSpPr>
        <p:spPr>
          <a:xfrm>
            <a:off x="9362237" y="3282696"/>
            <a:ext cx="64008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cxnSp>
        <p:nvCxnSpPr>
          <p:cNvPr id="88" name="conn88"/>
          <p:cNvCxnSpPr/>
          <p:nvPr/>
        </p:nvCxnSpPr>
        <p:spPr>
          <a:xfrm>
            <a:off x="10484358" y="3282696"/>
            <a:ext cx="64008" cy="1"/>
          </a:xfrm>
          <a:prstGeom prst="line">
            <a:avLst/>
          </a:prstGeom>
          <a:ln w="12700">
            <a:solidFill>
              <a:srgbClr val="C3C2B7"/>
            </a:solidFill>
          </a:ln>
        </p:spPr>
      </p:cxnSp>
      <p:cxnSp>
        <p:nvCxnSpPr>
          <p:cNvPr id="89" name="conn89"/>
          <p:cNvCxnSpPr/>
          <p:nvPr/>
        </p:nvCxnSpPr>
        <p:spPr>
          <a:xfrm>
            <a:off x="10548366" y="3282696"/>
            <a:ext cx="1" cy="1426464"/>
          </a:xfrm>
          <a:prstGeom prst="line">
            <a:avLst/>
          </a:prstGeom>
          <a:ln w="12700">
            <a:solidFill>
              <a:srgbClr val="C3C2B7"/>
            </a:solidFill>
          </a:ln>
        </p:spPr>
      </p:cxnSp>
      <p:cxnSp>
        <p:nvCxnSpPr>
          <p:cNvPr id="90" name="conn90"/>
          <p:cNvCxnSpPr/>
          <p:nvPr/>
        </p:nvCxnSpPr>
        <p:spPr>
          <a:xfrm>
            <a:off x="10548366" y="4709160"/>
            <a:ext cx="64008" cy="1"/>
          </a:xfrm>
          <a:prstGeom prst="line">
            <a:avLst/>
          </a:prstGeom>
          <a:ln w="12700">
            <a:solidFill>
              <a:srgbClr val="C3C2B7"/>
            </a:solidFill>
            <a:tailEnd type="triangle" w="med" len="med"/>
          </a:ln>
        </p:spPr>
      </p:cxnSp>
      <p:sp>
        <p:nvSpPr>
          <p:cNvPr id="91" name="shape91"/>
          <p:cNvSpPr/>
          <p:nvPr/>
        </p:nvSpPr>
        <p:spPr>
          <a:xfrm>
            <a:off x="4681728" y="1618488"/>
            <a:ext cx="1058113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850" dirty="0">
                <a:solidFill>
                  <a:srgbClr val="0B0B0B"/>
                </a:solidFill>
                <a:latin typeface="Aptos"/>
              </a:rPr>
              <a:t>Step 1</a:t>
            </a:r>
          </a:p>
        </p:txBody>
      </p:sp>
      <p:sp>
        <p:nvSpPr>
          <p:cNvPr id="92" name="shape92"/>
          <p:cNvSpPr/>
          <p:nvPr/>
        </p:nvSpPr>
        <p:spPr>
          <a:xfrm>
            <a:off x="5867857" y="2331720"/>
            <a:ext cx="1058113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850" dirty="0">
                <a:solidFill>
                  <a:srgbClr val="0B0B0B"/>
                </a:solidFill>
                <a:latin typeface="Aptos"/>
              </a:rPr>
              <a:t>Step 2</a:t>
            </a:r>
          </a:p>
        </p:txBody>
      </p:sp>
      <p:sp>
        <p:nvSpPr>
          <p:cNvPr id="93" name="shape93"/>
          <p:cNvSpPr/>
          <p:nvPr/>
        </p:nvSpPr>
        <p:spPr>
          <a:xfrm>
            <a:off x="7053986" y="3044952"/>
            <a:ext cx="1058113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850" dirty="0">
                <a:solidFill>
                  <a:srgbClr val="0B0B0B"/>
                </a:solidFill>
                <a:latin typeface="Aptos"/>
              </a:rPr>
              <a:t>Step 3</a:t>
            </a:r>
          </a:p>
        </p:txBody>
      </p:sp>
      <p:sp>
        <p:nvSpPr>
          <p:cNvPr id="94" name="shape94"/>
          <p:cNvSpPr/>
          <p:nvPr/>
        </p:nvSpPr>
        <p:spPr>
          <a:xfrm>
            <a:off x="8240116" y="3758184"/>
            <a:ext cx="1058113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850" dirty="0">
                <a:solidFill>
                  <a:srgbClr val="0B0B0B"/>
                </a:solidFill>
                <a:latin typeface="Aptos"/>
              </a:rPr>
              <a:t>Step 4</a:t>
            </a:r>
          </a:p>
        </p:txBody>
      </p:sp>
      <p:sp>
        <p:nvSpPr>
          <p:cNvPr id="95" name="shape95"/>
          <p:cNvSpPr/>
          <p:nvPr/>
        </p:nvSpPr>
        <p:spPr>
          <a:xfrm>
            <a:off x="9426245" y="3044952"/>
            <a:ext cx="1058113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850" dirty="0">
                <a:solidFill>
                  <a:srgbClr val="0B0B0B"/>
                </a:solidFill>
                <a:latin typeface="Aptos"/>
              </a:rPr>
              <a:t>Step 5</a:t>
            </a:r>
          </a:p>
        </p:txBody>
      </p:sp>
      <p:sp>
        <p:nvSpPr>
          <p:cNvPr id="96" name="shape96"/>
          <p:cNvSpPr/>
          <p:nvPr/>
        </p:nvSpPr>
        <p:spPr>
          <a:xfrm>
            <a:off x="10612374" y="4471416"/>
            <a:ext cx="1058113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850" dirty="0">
                <a:solidFill>
                  <a:srgbClr val="0B0B0B"/>
                </a:solidFill>
                <a:latin typeface="Aptos"/>
              </a:rPr>
              <a:t>Step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10.35 Process Modelling — blank template</dc:title>
  <dc:creator>Business Analyst Services</dc:creator>
  <cp:lastModifiedBy>Business Analyst Services</cp:lastModifiedBy>
</cp:coreProperties>
</file>