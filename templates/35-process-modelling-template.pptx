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51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10.35  Process Modelling</a:t>
            </a:r>
          </a:p>
        </p:txBody>
      </p:sp>
      <p:sp>
        <p:nvSpPr>
          <p:cNvPr id="52" name="shape52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53" name="shape53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54" name="conn54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55" name="shape55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56" name="shape56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10.35</a:t>
            </a:r>
          </a:p>
        </p:txBody>
      </p:sp>
      <p:sp>
        <p:nvSpPr>
          <p:cNvPr id="57" name="shape57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Process Modelling — blank template</a:t>
            </a:r>
          </a:p>
        </p:txBody>
      </p:sp>
      <p:sp>
        <p:nvSpPr>
          <p:cNvPr id="58" name="shape58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Name a lane per party. Every arrow crossing a lane is a hand-off — those are where the work goes wrong.</a:t>
            </a:r>
          </a:p>
        </p:txBody>
      </p:sp>
      <p:sp>
        <p:nvSpPr>
          <p:cNvPr id="59" name="shape59"/>
          <p:cNvSpPr/>
          <p:nvPr/>
        </p:nvSpPr>
        <p:spPr>
          <a:xfrm>
            <a:off x="457200" y="1700784"/>
            <a:ext cx="11277295" cy="808330"/>
          </a:xfrm>
          <a:prstGeom prst="rect">
            <a:avLst/>
          </a:prstGeom>
          <a:solidFill>
            <a:srgbClr val="FBFBF9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60" name="shape60"/>
          <p:cNvSpPr/>
          <p:nvPr/>
        </p:nvSpPr>
        <p:spPr>
          <a:xfrm>
            <a:off x="493776" y="1700784"/>
            <a:ext cx="1024128" cy="80833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Lane 1</a:t>
            </a:r>
          </a:p>
        </p:txBody>
      </p:sp>
      <p:sp>
        <p:nvSpPr>
          <p:cNvPr id="61" name="shape61"/>
          <p:cNvSpPr/>
          <p:nvPr/>
        </p:nvSpPr>
        <p:spPr>
          <a:xfrm>
            <a:off x="457200" y="2509114"/>
            <a:ext cx="11277295" cy="808330"/>
          </a:xfrm>
          <a:prstGeom prst="rect">
            <a:avLst/>
          </a:prstGeom>
          <a:solidFill>
            <a:srgbClr val="FFFFFF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62" name="shape62"/>
          <p:cNvSpPr/>
          <p:nvPr/>
        </p:nvSpPr>
        <p:spPr>
          <a:xfrm>
            <a:off x="493776" y="2509114"/>
            <a:ext cx="1024128" cy="80833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Lane 2</a:t>
            </a:r>
          </a:p>
        </p:txBody>
      </p:sp>
      <p:sp>
        <p:nvSpPr>
          <p:cNvPr id="63" name="shape63"/>
          <p:cNvSpPr/>
          <p:nvPr/>
        </p:nvSpPr>
        <p:spPr>
          <a:xfrm>
            <a:off x="457200" y="3317443"/>
            <a:ext cx="11277295" cy="808330"/>
          </a:xfrm>
          <a:prstGeom prst="rect">
            <a:avLst/>
          </a:prstGeom>
          <a:solidFill>
            <a:srgbClr val="FBFBF9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64" name="shape64"/>
          <p:cNvSpPr/>
          <p:nvPr/>
        </p:nvSpPr>
        <p:spPr>
          <a:xfrm>
            <a:off x="493776" y="3317443"/>
            <a:ext cx="1024128" cy="80833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Lane 3</a:t>
            </a:r>
          </a:p>
        </p:txBody>
      </p:sp>
      <p:sp>
        <p:nvSpPr>
          <p:cNvPr id="65" name="shape65"/>
          <p:cNvSpPr/>
          <p:nvPr/>
        </p:nvSpPr>
        <p:spPr>
          <a:xfrm>
            <a:off x="457200" y="4125773"/>
            <a:ext cx="11277295" cy="808330"/>
          </a:xfrm>
          <a:prstGeom prst="rect">
            <a:avLst/>
          </a:prstGeom>
          <a:solidFill>
            <a:srgbClr val="FFFFFF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66" name="shape66"/>
          <p:cNvSpPr/>
          <p:nvPr/>
        </p:nvSpPr>
        <p:spPr>
          <a:xfrm>
            <a:off x="493776" y="4125773"/>
            <a:ext cx="1024128" cy="80833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Lane 4</a:t>
            </a:r>
          </a:p>
        </p:txBody>
      </p:sp>
      <p:sp>
        <p:nvSpPr>
          <p:cNvPr id="67" name="shape67"/>
          <p:cNvSpPr/>
          <p:nvPr/>
        </p:nvSpPr>
        <p:spPr>
          <a:xfrm>
            <a:off x="457200" y="4934102"/>
            <a:ext cx="11277295" cy="808330"/>
          </a:xfrm>
          <a:prstGeom prst="rect">
            <a:avLst/>
          </a:prstGeom>
          <a:solidFill>
            <a:srgbClr val="FBFBF9"/>
          </a:solidFill>
          <a:ln w="9525">
            <a:solidFill>
              <a:srgbClr val="D9D8D0"/>
            </a:solidFill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68" name="shape68"/>
          <p:cNvSpPr/>
          <p:nvPr/>
        </p:nvSpPr>
        <p:spPr>
          <a:xfrm>
            <a:off x="493776" y="4934102"/>
            <a:ext cx="1024128" cy="80833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b="1" dirty="0">
                <a:solidFill>
                  <a:srgbClr val="6B6A66"/>
                </a:solidFill>
                <a:latin typeface="Aptos"/>
              </a:rPr>
              <a:t>Lane 5</a:t>
            </a:r>
          </a:p>
        </p:txBody>
      </p:sp>
      <p:cxnSp>
        <p:nvCxnSpPr>
          <p:cNvPr id="69" name="conn69"/>
          <p:cNvCxnSpPr/>
          <p:nvPr/>
        </p:nvCxnSpPr>
        <p:spPr>
          <a:xfrm>
            <a:off x="3020035" y="2104949"/>
            <a:ext cx="231115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0" name="conn70"/>
          <p:cNvCxnSpPr/>
          <p:nvPr/>
        </p:nvCxnSpPr>
        <p:spPr>
          <a:xfrm>
            <a:off x="3251149" y="2104949"/>
            <a:ext cx="1" cy="808330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1" name="conn71"/>
          <p:cNvCxnSpPr/>
          <p:nvPr/>
        </p:nvCxnSpPr>
        <p:spPr>
          <a:xfrm>
            <a:off x="3251149" y="2913278"/>
            <a:ext cx="23111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72" name="conn72"/>
          <p:cNvCxnSpPr/>
          <p:nvPr/>
        </p:nvCxnSpPr>
        <p:spPr>
          <a:xfrm>
            <a:off x="4716704" y="2913278"/>
            <a:ext cx="231115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3" name="conn73"/>
          <p:cNvCxnSpPr/>
          <p:nvPr/>
        </p:nvCxnSpPr>
        <p:spPr>
          <a:xfrm>
            <a:off x="4947818" y="2913278"/>
            <a:ext cx="1" cy="808330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4" name="conn74"/>
          <p:cNvCxnSpPr/>
          <p:nvPr/>
        </p:nvCxnSpPr>
        <p:spPr>
          <a:xfrm>
            <a:off x="4947818" y="3721608"/>
            <a:ext cx="23111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75" name="conn75"/>
          <p:cNvCxnSpPr/>
          <p:nvPr/>
        </p:nvCxnSpPr>
        <p:spPr>
          <a:xfrm>
            <a:off x="6413373" y="3721608"/>
            <a:ext cx="231115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6" name="conn76"/>
          <p:cNvCxnSpPr/>
          <p:nvPr/>
        </p:nvCxnSpPr>
        <p:spPr>
          <a:xfrm>
            <a:off x="6644488" y="3721608"/>
            <a:ext cx="1" cy="808330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7" name="conn77"/>
          <p:cNvCxnSpPr/>
          <p:nvPr/>
        </p:nvCxnSpPr>
        <p:spPr>
          <a:xfrm>
            <a:off x="6644488" y="4529938"/>
            <a:ext cx="23111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78" name="conn78"/>
          <p:cNvCxnSpPr/>
          <p:nvPr/>
        </p:nvCxnSpPr>
        <p:spPr>
          <a:xfrm>
            <a:off x="8110042" y="4529938"/>
            <a:ext cx="231115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79" name="conn79"/>
          <p:cNvCxnSpPr/>
          <p:nvPr/>
        </p:nvCxnSpPr>
        <p:spPr>
          <a:xfrm flipV="1">
            <a:off x="8341157" y="3721608"/>
            <a:ext cx="1" cy="808330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80" name="conn80"/>
          <p:cNvCxnSpPr/>
          <p:nvPr/>
        </p:nvCxnSpPr>
        <p:spPr>
          <a:xfrm>
            <a:off x="8341157" y="3721608"/>
            <a:ext cx="23111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81" name="conn81"/>
          <p:cNvCxnSpPr/>
          <p:nvPr/>
        </p:nvCxnSpPr>
        <p:spPr>
          <a:xfrm>
            <a:off x="9806711" y="3721608"/>
            <a:ext cx="231115" cy="1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82" name="conn82"/>
          <p:cNvCxnSpPr/>
          <p:nvPr/>
        </p:nvCxnSpPr>
        <p:spPr>
          <a:xfrm>
            <a:off x="10037826" y="3721608"/>
            <a:ext cx="1" cy="1616659"/>
          </a:xfrm>
          <a:prstGeom prst="line">
            <a:avLst/>
          </a:prstGeom>
          <a:ln w="12700">
            <a:solidFill>
              <a:srgbClr val="C3C2B7"/>
            </a:solidFill>
          </a:ln>
        </p:spPr>
      </p:cxnSp>
      <p:cxnSp>
        <p:nvCxnSpPr>
          <p:cNvPr id="83" name="conn83"/>
          <p:cNvCxnSpPr/>
          <p:nvPr/>
        </p:nvCxnSpPr>
        <p:spPr>
          <a:xfrm>
            <a:off x="10037826" y="5338267"/>
            <a:ext cx="231115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84" name="shape84"/>
          <p:cNvSpPr/>
          <p:nvPr/>
        </p:nvSpPr>
        <p:spPr>
          <a:xfrm>
            <a:off x="1785595" y="1867205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Step 1</a:t>
            </a:r>
          </a:p>
        </p:txBody>
      </p:sp>
      <p:sp>
        <p:nvSpPr>
          <p:cNvPr id="85" name="shape85"/>
          <p:cNvSpPr/>
          <p:nvPr/>
        </p:nvSpPr>
        <p:spPr>
          <a:xfrm>
            <a:off x="3482264" y="2675534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Step 2</a:t>
            </a:r>
          </a:p>
        </p:txBody>
      </p:sp>
      <p:sp>
        <p:nvSpPr>
          <p:cNvPr id="86" name="shape86"/>
          <p:cNvSpPr/>
          <p:nvPr/>
        </p:nvSpPr>
        <p:spPr>
          <a:xfrm>
            <a:off x="5178933" y="3483864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Step 3</a:t>
            </a:r>
          </a:p>
        </p:txBody>
      </p:sp>
      <p:sp>
        <p:nvSpPr>
          <p:cNvPr id="87" name="shape87"/>
          <p:cNvSpPr/>
          <p:nvPr/>
        </p:nvSpPr>
        <p:spPr>
          <a:xfrm>
            <a:off x="6875602" y="4292194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Step 4</a:t>
            </a:r>
          </a:p>
        </p:txBody>
      </p:sp>
      <p:sp>
        <p:nvSpPr>
          <p:cNvPr id="88" name="shape88"/>
          <p:cNvSpPr/>
          <p:nvPr/>
        </p:nvSpPr>
        <p:spPr>
          <a:xfrm>
            <a:off x="8572271" y="3483864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Step 5</a:t>
            </a:r>
          </a:p>
        </p:txBody>
      </p:sp>
      <p:sp>
        <p:nvSpPr>
          <p:cNvPr id="89" name="shape89"/>
          <p:cNvSpPr/>
          <p:nvPr/>
        </p:nvSpPr>
        <p:spPr>
          <a:xfrm>
            <a:off x="10268941" y="5100523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850" dirty="0">
                <a:solidFill>
                  <a:srgbClr val="0B0B0B"/>
                </a:solidFill>
                <a:latin typeface="Aptos"/>
              </a:rPr>
              <a:t>Step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10.35 Process Modelling — blank template</dc:title>
  <dc:creator>Business Analyst Services</dc:creator>
  <cp:lastModifiedBy>Business Analyst Services</cp:lastModifiedBy>
</cp:coreProperties>
</file>