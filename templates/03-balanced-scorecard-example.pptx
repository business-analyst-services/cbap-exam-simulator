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10.3  Balanced Scorecard</a:t>
            </a:r>
          </a:p>
        </p:txBody>
      </p:sp>
      <p:sp>
        <p:nvSpPr>
          <p:cNvPr id="3" name="shape3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Measurement and evaluation</a:t>
            </a:r>
          </a:p>
        </p:txBody>
      </p:sp>
      <p:sp>
        <p:nvSpPr>
          <p:cNvPr id="4" name="shape4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2A78D6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FFFFFF"/>
                </a:solidFill>
                <a:latin typeface="Aptos"/>
              </a:rPr>
              <a:t>WORKED EXAMPLE</a:t>
            </a:r>
          </a:p>
        </p:txBody>
      </p:sp>
      <p:cxnSp>
        <p:nvCxnSpPr>
          <p:cNvPr id="5" name="conn5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6" name="shape6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7" name="shape7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10.3</a:t>
            </a:r>
          </a:p>
        </p:txBody>
      </p:sp>
      <p:sp>
        <p:nvSpPr>
          <p:cNvPr id="8" name="shape8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9" name="shape9"/>
          <p:cNvSpPr/>
          <p:nvPr/>
        </p:nvSpPr>
        <p:spPr>
          <a:xfrm>
            <a:off x="457200" y="1408176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Holds performance to four perspectives at once, financial, customer, internal process, and learning and growth, so no single dimension is optimised alone.</a:t>
            </a:r>
          </a:p>
        </p:txBody>
      </p:sp>
      <p:sp>
        <p:nvSpPr>
          <p:cNvPr id="10" name="shape10"/>
          <p:cNvSpPr/>
          <p:nvPr/>
        </p:nvSpPr>
        <p:spPr>
          <a:xfrm>
            <a:off x="457200" y="227685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REACH FOR IT WHEN</a:t>
            </a:r>
          </a:p>
        </p:txBody>
      </p:sp>
      <p:sp>
        <p:nvSpPr>
          <p:cNvPr id="11" name="shape11"/>
          <p:cNvSpPr/>
          <p:nvPr/>
        </p:nvSpPr>
        <p:spPr>
          <a:xfrm>
            <a:off x="457200" y="2478024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Reach for it when an organisation is measuring itself only on money and needs the leading indicators that explain the money.</a:t>
            </a:r>
          </a:p>
        </p:txBody>
      </p:sp>
      <p:sp>
        <p:nvSpPr>
          <p:cNvPr id="12" name="shape12"/>
          <p:cNvSpPr/>
          <p:nvPr/>
        </p:nvSpPr>
        <p:spPr>
          <a:xfrm>
            <a:off x="457200" y="334670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13" name="shape13"/>
          <p:cNvSpPr/>
          <p:nvPr/>
        </p:nvSpPr>
        <p:spPr>
          <a:xfrm>
            <a:off x="457200" y="3547872"/>
            <a:ext cx="2743200" cy="169164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A balanced scorecard is a framework for choosing a spread of measures; metrics and KPIs are the individual measures themselves. If the scenario already has measures and asks whether they are the right ones, the scorecard is the answer.</a:t>
            </a:r>
          </a:p>
        </p:txBody>
      </p:sp>
      <p:sp>
        <p:nvSpPr>
          <p:cNvPr id="14" name="shape14"/>
          <p:cNvSpPr/>
          <p:nvPr/>
        </p:nvSpPr>
        <p:spPr>
          <a:xfrm>
            <a:off x="457200" y="3547872"/>
            <a:ext cx="32004" cy="169164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15" name="shape15"/>
          <p:cNvSpPr/>
          <p:nvPr/>
        </p:nvSpPr>
        <p:spPr>
          <a:xfrm>
            <a:off x="457200" y="53492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6.2 Define Future State · 8.1 Measure Solution Performance · 8.2 Analyze Performance Measures</a:t>
            </a:r>
          </a:p>
        </p:txBody>
      </p:sp>
      <p:sp>
        <p:nvSpPr>
          <p:cNvPr id="16" name="shape16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Contact centre, with the two empty perspectives exposed</a:t>
            </a:r>
          </a:p>
        </p:txBody>
      </p:sp>
      <p:sp>
        <p:nvSpPr>
          <p:cNvPr id="17" name="shape17"/>
          <p:cNvSpPr/>
          <p:nvPr/>
        </p:nvSpPr>
        <p:spPr>
          <a:xfrm>
            <a:off x="3520440" y="6071616"/>
            <a:ext cx="8214055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Adding attrition closes one gap and leaves the customer perspective unobserved. Two perspectives are structurally missing.</a:t>
            </a:r>
          </a:p>
        </p:txBody>
      </p:sp>
      <p:sp>
        <p:nvSpPr>
          <p:cNvPr id="18" name="shape18"/>
          <p:cNvSpPr/>
          <p:nvPr/>
        </p:nvSpPr>
        <p:spPr>
          <a:xfrm>
            <a:off x="3547872" y="1527048"/>
            <a:ext cx="4052164" cy="1499616"/>
          </a:xfrm>
          <a:prstGeom prst="rect">
            <a:avLst/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00" b="1" dirty="0">
                <a:solidFill>
                  <a:srgbClr val="184F95"/>
                </a:solidFill>
                <a:latin typeface="Aptos"/>
              </a:rPr>
              <a:t>FINANCIAL — 4 MEASURES</a:t>
            </a:r>
          </a:p>
          <a:p>
            <a:pPr algn="l"/>
            <a:r>
              <a:rPr lang="en-AU" sz="800" dirty="0">
                <a:solidFill>
                  <a:srgbClr val="0B0B0B"/>
                </a:solidFill>
                <a:latin typeface="Aptos"/>
              </a:rPr>
              <a:t>• Cost per contact $4.12, down 18%</a:t>
            </a:r>
          </a:p>
          <a:p>
            <a:pPr algn="l"/>
            <a:r>
              <a:rPr lang="en-AU" sz="800" dirty="0">
                <a:solidFill>
                  <a:srgbClr val="0B0B0B"/>
                </a:solidFill>
                <a:latin typeface="Aptos"/>
              </a:rPr>
              <a:t>• Cost per resolution</a:t>
            </a:r>
          </a:p>
          <a:p>
            <a:pPr algn="l"/>
            <a:r>
              <a:rPr lang="en-AU" sz="800" dirty="0">
                <a:solidFill>
                  <a:srgbClr val="0B0B0B"/>
                </a:solidFill>
                <a:latin typeface="Aptos"/>
              </a:rPr>
              <a:t>• Overtime spend</a:t>
            </a:r>
          </a:p>
          <a:p>
            <a:pPr algn="l"/>
            <a:r>
              <a:rPr lang="en-AU" sz="800" dirty="0">
                <a:solidFill>
                  <a:srgbClr val="0B0B0B"/>
                </a:solidFill>
                <a:latin typeface="Aptos"/>
              </a:rPr>
              <a:t>• Contacts per FTE</a:t>
            </a:r>
          </a:p>
        </p:txBody>
      </p:sp>
      <p:sp>
        <p:nvSpPr>
          <p:cNvPr id="19" name="shape19"/>
          <p:cNvSpPr/>
          <p:nvPr/>
        </p:nvSpPr>
        <p:spPr>
          <a:xfrm>
            <a:off x="7654900" y="1527048"/>
            <a:ext cx="4052164" cy="1499616"/>
          </a:xfrm>
          <a:prstGeom prst="rect">
            <a:avLst/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00" b="1" dirty="0">
                <a:solidFill>
                  <a:srgbClr val="184F95"/>
                </a:solidFill>
                <a:latin typeface="Aptos"/>
              </a:rPr>
              <a:t>INTERNAL PROCESS — 3 MEASURES</a:t>
            </a:r>
          </a:p>
          <a:p>
            <a:pPr algn="l"/>
            <a:r>
              <a:rPr lang="en-AU" sz="800" dirty="0">
                <a:solidFill>
                  <a:srgbClr val="0B0B0B"/>
                </a:solidFill>
                <a:latin typeface="Aptos"/>
              </a:rPr>
              <a:t>• Average handle time 3m 44s, down 22%</a:t>
            </a:r>
          </a:p>
          <a:p>
            <a:pPr algn="l"/>
            <a:r>
              <a:rPr lang="en-AU" sz="800" dirty="0">
                <a:solidFill>
                  <a:srgbClr val="0B0B0B"/>
                </a:solidFill>
                <a:latin typeface="Aptos"/>
              </a:rPr>
              <a:t>• Schedule adherence 96%</a:t>
            </a:r>
          </a:p>
          <a:p>
            <a:pPr algn="l"/>
            <a:r>
              <a:rPr lang="en-AU" sz="800" dirty="0">
                <a:solidFill>
                  <a:srgbClr val="0B0B0B"/>
                </a:solidFill>
                <a:latin typeface="Aptos"/>
              </a:rPr>
              <a:t>• First-contact resolution</a:t>
            </a:r>
          </a:p>
        </p:txBody>
      </p:sp>
      <p:sp>
        <p:nvSpPr>
          <p:cNvPr id="20" name="shape20"/>
          <p:cNvSpPr/>
          <p:nvPr/>
        </p:nvSpPr>
        <p:spPr>
          <a:xfrm>
            <a:off x="3547872" y="3081528"/>
            <a:ext cx="4052164" cy="1499616"/>
          </a:xfrm>
          <a:prstGeom prst="rect">
            <a:avLst/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00" b="1" dirty="0">
                <a:solidFill>
                  <a:srgbClr val="184F95"/>
                </a:solidFill>
                <a:latin typeface="Aptos"/>
              </a:rPr>
              <a:t>CUSTOMER — 0 MEASURES</a:t>
            </a:r>
          </a:p>
          <a:p>
            <a:pPr algn="l"/>
            <a:r>
              <a:rPr lang="en-AU" sz="800" dirty="0">
                <a:solidFill>
                  <a:srgbClr val="0B0B0B"/>
                </a:solidFill>
                <a:latin typeface="Aptos"/>
              </a:rPr>
              <a:t>• Nothing defined</a:t>
            </a:r>
          </a:p>
          <a:p>
            <a:pPr algn="l"/>
            <a:r>
              <a:rPr lang="en-AU" sz="800" dirty="0">
                <a:solidFill>
                  <a:srgbClr val="0B0B0B"/>
                </a:solidFill>
                <a:latin typeface="Aptos"/>
              </a:rPr>
              <a:t>• No satisfaction, effort or complaint measure</a:t>
            </a:r>
          </a:p>
        </p:txBody>
      </p:sp>
      <p:sp>
        <p:nvSpPr>
          <p:cNvPr id="21" name="shape21"/>
          <p:cNvSpPr/>
          <p:nvPr/>
        </p:nvSpPr>
        <p:spPr>
          <a:xfrm>
            <a:off x="7654900" y="3081528"/>
            <a:ext cx="4052164" cy="1499616"/>
          </a:xfrm>
          <a:prstGeom prst="rect">
            <a:avLst/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00" b="1" dirty="0">
                <a:solidFill>
                  <a:srgbClr val="184F95"/>
                </a:solidFill>
                <a:latin typeface="Aptos"/>
              </a:rPr>
              <a:t>LEARNING AND GROWTH — 0 MEASURES</a:t>
            </a:r>
          </a:p>
          <a:p>
            <a:pPr algn="l"/>
            <a:r>
              <a:rPr lang="en-AU" sz="800" dirty="0">
                <a:solidFill>
                  <a:srgbClr val="0B0B0B"/>
                </a:solidFill>
                <a:latin typeface="Aptos"/>
              </a:rPr>
              <a:t>• Nothing defined</a:t>
            </a:r>
          </a:p>
          <a:p>
            <a:pPr algn="l"/>
            <a:r>
              <a:rPr lang="en-AU" sz="800" dirty="0">
                <a:solidFill>
                  <a:srgbClr val="0B0B0B"/>
                </a:solidFill>
                <a:latin typeface="Aptos"/>
              </a:rPr>
              <a:t>• Attrition rose 9% → 24% and appears nowhere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10.3 Balanced Scorecard — worked example</dc:title>
  <dc:creator>Business Analyst Services</dc:creator>
  <cp:lastModifiedBy>Business Analyst Services</cp:lastModifiedBy>
</cp:coreProperties>
</file>