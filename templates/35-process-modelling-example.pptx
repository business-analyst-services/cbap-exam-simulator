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10.35  Process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10.35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Depicts the sequence of activities, decisions, actors and hand-offs that produce an outcome.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order, branching or hand-off is the substance of the problem, and prose has stopped being able to carry it.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Process modelling shows the flow of work; use cases show an actor achieving a goal with the solution; data flow diagrams follow information. Hand-offs between people point to process.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 · 6.2 Define Future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Parcel return — six parties, and where it breaks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A use case would cut this into six disconnected actor goals and lose exactly the hand-offs that are the problem.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713232"/>
          </a:xfrm>
          <a:prstGeom prst="rect">
            <a:avLst/>
          </a:prstGeom>
          <a:solidFill>
            <a:srgbClr val="FBFBF9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9" name="shape19"/>
          <p:cNvSpPr/>
          <p:nvPr/>
        </p:nvSpPr>
        <p:spPr>
          <a:xfrm>
            <a:off x="3557016" y="1499616"/>
            <a:ext cx="102412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Customer</a:t>
            </a:r>
          </a:p>
        </p:txBody>
      </p:sp>
      <p:sp>
        <p:nvSpPr>
          <p:cNvPr id="20" name="shape20"/>
          <p:cNvSpPr/>
          <p:nvPr/>
        </p:nvSpPr>
        <p:spPr>
          <a:xfrm>
            <a:off x="3520440" y="2212848"/>
            <a:ext cx="82140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21" name="shape21"/>
          <p:cNvSpPr/>
          <p:nvPr/>
        </p:nvSpPr>
        <p:spPr>
          <a:xfrm>
            <a:off x="3557016" y="2212848"/>
            <a:ext cx="102412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Courier</a:t>
            </a:r>
          </a:p>
        </p:txBody>
      </p:sp>
      <p:sp>
        <p:nvSpPr>
          <p:cNvPr id="22" name="shape22"/>
          <p:cNvSpPr/>
          <p:nvPr/>
        </p:nvSpPr>
        <p:spPr>
          <a:xfrm>
            <a:off x="3520440" y="2926080"/>
            <a:ext cx="8214055" cy="713232"/>
          </a:xfrm>
          <a:prstGeom prst="rect">
            <a:avLst/>
          </a:prstGeom>
          <a:solidFill>
            <a:srgbClr val="FBFBF9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23" name="shape23"/>
          <p:cNvSpPr/>
          <p:nvPr/>
        </p:nvSpPr>
        <p:spPr>
          <a:xfrm>
            <a:off x="3557016" y="2926080"/>
            <a:ext cx="102412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Warehouse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3639312"/>
            <a:ext cx="82140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25" name="shape25"/>
          <p:cNvSpPr/>
          <p:nvPr/>
        </p:nvSpPr>
        <p:spPr>
          <a:xfrm>
            <a:off x="3557016" y="3639312"/>
            <a:ext cx="102412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Refurbisher</a:t>
            </a:r>
          </a:p>
        </p:txBody>
      </p:sp>
      <p:sp>
        <p:nvSpPr>
          <p:cNvPr id="26" name="shape26"/>
          <p:cNvSpPr/>
          <p:nvPr/>
        </p:nvSpPr>
        <p:spPr>
          <a:xfrm>
            <a:off x="3520440" y="4352544"/>
            <a:ext cx="8214055" cy="713232"/>
          </a:xfrm>
          <a:prstGeom prst="rect">
            <a:avLst/>
          </a:prstGeom>
          <a:solidFill>
            <a:srgbClr val="FBFBF9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27" name="shape27"/>
          <p:cNvSpPr/>
          <p:nvPr/>
        </p:nvSpPr>
        <p:spPr>
          <a:xfrm>
            <a:off x="3557016" y="4352544"/>
            <a:ext cx="102412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Finance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5739841" y="1856232"/>
            <a:ext cx="64008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29" name="conn29"/>
          <p:cNvCxnSpPr/>
          <p:nvPr/>
        </p:nvCxnSpPr>
        <p:spPr>
          <a:xfrm>
            <a:off x="5803849" y="1856232"/>
            <a:ext cx="1" cy="713232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0" name="conn30"/>
          <p:cNvCxnSpPr/>
          <p:nvPr/>
        </p:nvCxnSpPr>
        <p:spPr>
          <a:xfrm>
            <a:off x="5803849" y="2569464"/>
            <a:ext cx="6400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31" name="conn31"/>
          <p:cNvCxnSpPr/>
          <p:nvPr/>
        </p:nvCxnSpPr>
        <p:spPr>
          <a:xfrm>
            <a:off x="6925970" y="2569464"/>
            <a:ext cx="64008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2" name="conn32"/>
          <p:cNvCxnSpPr/>
          <p:nvPr/>
        </p:nvCxnSpPr>
        <p:spPr>
          <a:xfrm>
            <a:off x="6989978" y="2569464"/>
            <a:ext cx="1" cy="713232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3" name="conn33"/>
          <p:cNvCxnSpPr/>
          <p:nvPr/>
        </p:nvCxnSpPr>
        <p:spPr>
          <a:xfrm>
            <a:off x="6989978" y="3282696"/>
            <a:ext cx="6400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34" name="conn34"/>
          <p:cNvCxnSpPr/>
          <p:nvPr/>
        </p:nvCxnSpPr>
        <p:spPr>
          <a:xfrm>
            <a:off x="8112100" y="3282696"/>
            <a:ext cx="64008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5" name="conn35"/>
          <p:cNvCxnSpPr/>
          <p:nvPr/>
        </p:nvCxnSpPr>
        <p:spPr>
          <a:xfrm>
            <a:off x="8176108" y="3282696"/>
            <a:ext cx="1" cy="713232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6" name="conn36"/>
          <p:cNvCxnSpPr/>
          <p:nvPr/>
        </p:nvCxnSpPr>
        <p:spPr>
          <a:xfrm>
            <a:off x="8176108" y="3995928"/>
            <a:ext cx="6400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37" name="conn37"/>
          <p:cNvCxnSpPr/>
          <p:nvPr/>
        </p:nvCxnSpPr>
        <p:spPr>
          <a:xfrm>
            <a:off x="9298229" y="3995928"/>
            <a:ext cx="64008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8" name="conn38"/>
          <p:cNvCxnSpPr/>
          <p:nvPr/>
        </p:nvCxnSpPr>
        <p:spPr>
          <a:xfrm flipV="1">
            <a:off x="9362237" y="3282696"/>
            <a:ext cx="1" cy="713232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39" name="conn39"/>
          <p:cNvCxnSpPr/>
          <p:nvPr/>
        </p:nvCxnSpPr>
        <p:spPr>
          <a:xfrm>
            <a:off x="9362237" y="3282696"/>
            <a:ext cx="6400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40" name="conn40"/>
          <p:cNvCxnSpPr/>
          <p:nvPr/>
        </p:nvCxnSpPr>
        <p:spPr>
          <a:xfrm>
            <a:off x="10484358" y="3282696"/>
            <a:ext cx="64008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41" name="conn41"/>
          <p:cNvCxnSpPr/>
          <p:nvPr/>
        </p:nvCxnSpPr>
        <p:spPr>
          <a:xfrm>
            <a:off x="10548366" y="3282696"/>
            <a:ext cx="1" cy="1426464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42" name="conn42"/>
          <p:cNvCxnSpPr/>
          <p:nvPr/>
        </p:nvCxnSpPr>
        <p:spPr>
          <a:xfrm>
            <a:off x="10548366" y="4709160"/>
            <a:ext cx="6400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3" name="shape43"/>
          <p:cNvSpPr/>
          <p:nvPr/>
        </p:nvSpPr>
        <p:spPr>
          <a:xfrm>
            <a:off x="4681728" y="1618488"/>
            <a:ext cx="1058113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Lodge return</a:t>
            </a:r>
          </a:p>
        </p:txBody>
      </p:sp>
      <p:sp>
        <p:nvSpPr>
          <p:cNvPr id="44" name="shape44"/>
          <p:cNvSpPr/>
          <p:nvPr/>
        </p:nvSpPr>
        <p:spPr>
          <a:xfrm>
            <a:off x="5867857" y="2331720"/>
            <a:ext cx="1058113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Collect parcel</a:t>
            </a:r>
          </a:p>
        </p:txBody>
      </p:sp>
      <p:sp>
        <p:nvSpPr>
          <p:cNvPr id="45" name="shape45"/>
          <p:cNvSpPr/>
          <p:nvPr/>
        </p:nvSpPr>
        <p:spPr>
          <a:xfrm>
            <a:off x="7053986" y="3044952"/>
            <a:ext cx="1058113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Receive and inspect</a:t>
            </a:r>
          </a:p>
        </p:txBody>
      </p:sp>
      <p:sp>
        <p:nvSpPr>
          <p:cNvPr id="46" name="shape46"/>
          <p:cNvSpPr/>
          <p:nvPr/>
        </p:nvSpPr>
        <p:spPr>
          <a:xfrm>
            <a:off x="8240116" y="3758184"/>
            <a:ext cx="1058113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Assess condition</a:t>
            </a:r>
          </a:p>
        </p:txBody>
      </p:sp>
      <p:sp>
        <p:nvSpPr>
          <p:cNvPr id="47" name="shape47"/>
          <p:cNvSpPr/>
          <p:nvPr/>
        </p:nvSpPr>
        <p:spPr>
          <a:xfrm>
            <a:off x="9426245" y="3044952"/>
            <a:ext cx="1058113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Restock or scrap</a:t>
            </a:r>
          </a:p>
        </p:txBody>
      </p:sp>
      <p:sp>
        <p:nvSpPr>
          <p:cNvPr id="48" name="shape48"/>
          <p:cNvSpPr/>
          <p:nvPr/>
        </p:nvSpPr>
        <p:spPr>
          <a:xfrm>
            <a:off x="10612374" y="4471416"/>
            <a:ext cx="1058113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Issue refund</a:t>
            </a:r>
          </a:p>
        </p:txBody>
      </p:sp>
      <p:sp>
        <p:nvSpPr>
          <p:cNvPr id="49" name="shape49"/>
          <p:cNvSpPr/>
          <p:nvPr/>
        </p:nvSpPr>
        <p:spPr>
          <a:xfrm>
            <a:off x="3520440" y="5120640"/>
            <a:ext cx="821405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D03B3B"/>
                </a:solidFill>
                <a:latin typeface="Aptos"/>
              </a:rPr>
              <a:t>↳ rejected at inwards — customer never told</a:t>
            </a:r>
          </a:p>
        </p:txBody>
      </p:sp>
      <p:sp>
        <p:nvSpPr>
          <p:cNvPr id="50" name="shape50"/>
          <p:cNvSpPr/>
          <p:nvPr/>
        </p:nvSpPr>
        <p:spPr>
          <a:xfrm>
            <a:off x="3520440" y="5358384"/>
            <a:ext cx="821405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D03B3B"/>
                </a:solidFill>
                <a:latin typeface="Aptos"/>
              </a:rPr>
              <a:t>↳ scrapped after the refund was paid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10.35 Process Modelling — worked example</dc:title>
  <dc:creator>Business Analyst Services</dc:creator>
  <cp:lastModifiedBy>Business Analyst Services</cp:lastModifiedBy>
</cp:coreProperties>
</file>