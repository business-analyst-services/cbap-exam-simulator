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10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D928C-8D94-4386-AC7B-553F59AB7C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15E4E-208B-05AF-0F7D-9031FC30B7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11AB49-14DA-9592-096C-422152820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B846A6-E1F2-97FD-1990-6DB3D94A2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72E879-8ADE-ADD1-561C-922DD66B1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74340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62970-3FFA-672E-7BDF-8C3960446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668F12-6D7A-FAC0-A8EA-015157BBB2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2B7A39-1E77-649D-B8DD-65A653DA9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7EC7D5-C430-E2C7-F316-38EA7DAF8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CD7CAB-8C83-4E1B-163F-768A62ADF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80130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BB571-F905-106F-44AC-06D507B8D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7BDFC9-BB31-433B-931E-96E8AD41C5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4D8789-1EE8-4EB2-A8D6-1CF825AAC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9447C1-5CE4-9F76-9084-1F256878B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8835E4-AFDF-C6D5-CD1B-FA44865F8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48442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E5372-E0A7-350D-2E33-AD05CD865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C14DD2-FD65-8F81-56D6-7CCCBFA303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C754D9-E8E7-1862-DAE2-BA3F6E1D03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741819-1EBC-263E-53AD-63930D519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A1B7D8-7263-F629-5FCA-42BBA2DBE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2436AB-10EF-5D96-2497-C60B56CD3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494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EB8AB-C454-7B11-466F-81F851FE4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7CCE9B-8BCB-3DFD-87F6-AA5CEC25B4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705606-8CAC-4E3B-C6ED-4AC2B5B705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81D3C8-B3AC-1B3C-3004-08F40E1C04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9F8BD6-6962-8063-AE0A-5B84622373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F2BB01-25A7-74DB-9D39-FF2497850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EC8301-7807-EC5A-6186-22270AF9C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9D6DC6-AA52-6F5F-3085-E5804726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2518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BF212-4210-7349-A016-49E991387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4B7576-2346-127D-9DC5-8AED421B0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14EFCF-868D-FC97-52FF-BCD0344C8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61E5D5-7126-62BB-3AB3-D05572B6E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03273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D34B14-28BC-00E5-F4D8-4E0643C78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9C7536-7B97-D84D-CDFB-8BC699DC5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E231F4-14C5-C859-F2BA-D048EEFAD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47642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FE36B-C1A8-E713-D3B0-633FBD811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836CF-9976-29CE-68C5-9599264B3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5AFBF0-4B3F-2EF1-8B31-26642E3D74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85EE40-43F3-7F72-C8F1-EDD0B50D1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32FD82-A9F1-3A8F-56B3-A1634315E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8D54F0-0539-7BA2-BE93-05305B89F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71265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F4329-14C2-BCD5-7B8B-83A0D2EAE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780F7B-39E7-80A7-B597-95CE2CDC61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9E643D-14FF-D0FF-4AD7-CDCACEE3DF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EA30B3-6F69-EBB5-A077-12640378C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319E47-FC10-596B-6C48-03F211E1E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804247-22B8-B7DE-3F1D-992336400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44579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66F2B-D3D5-6EA6-0020-9DECD2B7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EBA203-CF3F-8892-5650-4309825CF8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F26AE2-84EA-FE78-2265-F6AFE0A19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263697-1B9F-069E-2598-73789FDFF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0047D5-B882-D0F3-B993-DF9EDB203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6342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84AB66-86D0-3D3E-E607-14155BE924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5B9329-08DA-011C-50F7-CAB8B821BE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5844B-E496-59B2-0A32-DFDAE7DAD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810B4B-1C2F-C372-0353-8D20C000A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8BC671-93AA-3D60-4FE1-A1D5BCE4B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7553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5F508C-2EF1-2B88-6F34-BC6267F7C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4579F1-5848-0D86-5D03-D45679A30A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1C1FA1-D052-8D63-598C-3712975FFA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CCA5EC-E9C5-E397-BED3-64A79396DA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041FC9-9C2B-BFFE-5BEC-9A8C04ED07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63503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37"/>
          <p:cNvSpPr/>
          <p:nvPr/>
        </p:nvSpPr>
        <p:spPr>
          <a:xfrm>
            <a:off x="457200" y="310896"/>
            <a:ext cx="7498080" cy="475488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2200" b="1" dirty="0">
                <a:solidFill>
                  <a:srgbClr val="0B0B0B"/>
                </a:solidFill>
                <a:latin typeface="Aptos"/>
              </a:rPr>
              <a:t>10.17  Decision Modelling</a:t>
            </a:r>
          </a:p>
        </p:txBody>
      </p:sp>
      <p:sp>
        <p:nvSpPr>
          <p:cNvPr id="38" name="shape38"/>
          <p:cNvSpPr/>
          <p:nvPr/>
        </p:nvSpPr>
        <p:spPr>
          <a:xfrm>
            <a:off x="457200" y="786384"/>
            <a:ext cx="74980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1050" dirty="0">
                <a:solidFill>
                  <a:srgbClr val="6B6A66"/>
                </a:solidFill>
                <a:latin typeface="Aptos"/>
              </a:rPr>
              <a:t>Modelling and specification</a:t>
            </a:r>
          </a:p>
        </p:txBody>
      </p:sp>
      <p:sp>
        <p:nvSpPr>
          <p:cNvPr id="39" name="shape39"/>
          <p:cNvSpPr/>
          <p:nvPr/>
        </p:nvSpPr>
        <p:spPr>
          <a:xfrm>
            <a:off x="9677095" y="384048"/>
            <a:ext cx="2057400" cy="310896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2A78D6"/>
            </a:solidFill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950" b="1" dirty="0">
                <a:solidFill>
                  <a:srgbClr val="2A78D6"/>
                </a:solidFill>
                <a:latin typeface="Aptos"/>
              </a:rPr>
              <a:t>BLANK TEMPLATE</a:t>
            </a:r>
          </a:p>
        </p:txBody>
      </p:sp>
      <p:cxnSp>
        <p:nvCxnSpPr>
          <p:cNvPr id="40" name="conn40"/>
          <p:cNvCxnSpPr/>
          <p:nvPr/>
        </p:nvCxnSpPr>
        <p:spPr>
          <a:xfrm>
            <a:off x="457200" y="1078992"/>
            <a:ext cx="11277295" cy="1"/>
          </a:xfrm>
          <a:prstGeom prst="line">
            <a:avLst/>
          </a:prstGeom>
          <a:ln w="9525">
            <a:solidFill>
              <a:srgbClr val="D9D8D0"/>
            </a:solidFill>
          </a:ln>
        </p:spPr>
      </p:cxnSp>
      <p:sp>
        <p:nvSpPr>
          <p:cNvPr id="41" name="shape41"/>
          <p:cNvSpPr/>
          <p:nvPr/>
        </p:nvSpPr>
        <p:spPr>
          <a:xfrm>
            <a:off x="457200" y="6473952"/>
            <a:ext cx="82296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l"/>
            <a:r>
              <a:rPr lang="en-AU" sz="800" dirty="0">
                <a:solidFill>
                  <a:srgbClr val="6B6A66"/>
                </a:solidFill>
                <a:latin typeface="Aptos"/>
              </a:rPr>
              <a:t>CBAP® Technique Pack · BABOK® Guide v3 · business-analyst.services</a:t>
            </a:r>
          </a:p>
        </p:txBody>
      </p:sp>
      <p:sp>
        <p:nvSpPr>
          <p:cNvPr id="42" name="shape42"/>
          <p:cNvSpPr/>
          <p:nvPr/>
        </p:nvSpPr>
        <p:spPr>
          <a:xfrm>
            <a:off x="10637215" y="6473952"/>
            <a:ext cx="109728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r"/>
            <a:r>
              <a:rPr lang="en-AU" sz="800" dirty="0">
                <a:solidFill>
                  <a:srgbClr val="6B6A66"/>
                </a:solidFill>
                <a:latin typeface="Aptos"/>
              </a:rPr>
              <a:t>10.17</a:t>
            </a:r>
          </a:p>
        </p:txBody>
      </p:sp>
      <p:sp>
        <p:nvSpPr>
          <p:cNvPr id="43" name="shape43"/>
          <p:cNvSpPr/>
          <p:nvPr/>
        </p:nvSpPr>
        <p:spPr>
          <a:xfrm>
            <a:off x="457200" y="1207008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HOW TO FILL IT IN</a:t>
            </a:r>
          </a:p>
        </p:txBody>
      </p:sp>
      <p:sp>
        <p:nvSpPr>
          <p:cNvPr id="44" name="shape44"/>
          <p:cNvSpPr/>
          <p:nvPr/>
        </p:nvSpPr>
        <p:spPr>
          <a:xfrm>
            <a:off x="457200" y="1408176"/>
            <a:ext cx="274320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950" dirty="0">
                <a:solidFill>
                  <a:srgbClr val="0B0B0B"/>
                </a:solidFill>
                <a:latin typeface="Aptos"/>
              </a:rPr>
              <a:t>Placeholders name the level, not the content. Two branches shown; add as many as the subject needs.</a:t>
            </a:r>
          </a:p>
        </p:txBody>
      </p:sp>
      <p:sp>
        <p:nvSpPr>
          <p:cNvPr id="45" name="shape45"/>
          <p:cNvSpPr/>
          <p:nvPr/>
        </p:nvSpPr>
        <p:spPr>
          <a:xfrm>
            <a:off x="457200" y="2414016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WHAT IT IS FOR</a:t>
            </a:r>
          </a:p>
        </p:txBody>
      </p:sp>
      <p:sp>
        <p:nvSpPr>
          <p:cNvPr id="46" name="shape46"/>
          <p:cNvSpPr/>
          <p:nvPr/>
        </p:nvSpPr>
        <p:spPr>
          <a:xfrm>
            <a:off x="457200" y="2615184"/>
            <a:ext cx="274320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950" dirty="0">
                <a:solidFill>
                  <a:srgbClr val="0B0B0B"/>
                </a:solidFill>
                <a:latin typeface="Aptos"/>
              </a:rPr>
              <a:t>Represents repeatable operational decisions and the logic behind them, so the same inputs always yield the same outcome.</a:t>
            </a:r>
          </a:p>
        </p:txBody>
      </p:sp>
      <p:sp>
        <p:nvSpPr>
          <p:cNvPr id="47" name="shape47"/>
          <p:cNvSpPr/>
          <p:nvPr/>
        </p:nvSpPr>
        <p:spPr>
          <a:xfrm>
            <a:off x="457200" y="3438144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MOST OFTEN CONFUSED WITH</a:t>
            </a:r>
          </a:p>
        </p:txBody>
      </p:sp>
      <p:sp>
        <p:nvSpPr>
          <p:cNvPr id="48" name="shape48"/>
          <p:cNvSpPr/>
          <p:nvPr/>
        </p:nvSpPr>
        <p:spPr>
          <a:xfrm>
            <a:off x="457200" y="3639312"/>
            <a:ext cx="2743200" cy="173736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txBody>
          <a:bodyPr wrap="square" anchor="t" lIns="91440" rIns="91440" tIns="27432" bIns="27432"/>
          <a:lstStyle/>
          <a:p>
            <a:pPr algn="l"/>
            <a:r>
              <a:rPr lang="en-AU" sz="900" dirty="0">
                <a:solidFill>
                  <a:srgbClr val="0B0B0B"/>
                </a:solidFill>
                <a:latin typeface="Aptos"/>
              </a:rPr>
              <a:t>Decision modelling documents a recurring operational decision; decision analysis supports a one-off strategic choice. Frequency is the tell.</a:t>
            </a:r>
          </a:p>
        </p:txBody>
      </p:sp>
      <p:sp>
        <p:nvSpPr>
          <p:cNvPr id="49" name="shape49"/>
          <p:cNvSpPr/>
          <p:nvPr/>
        </p:nvSpPr>
        <p:spPr>
          <a:xfrm>
            <a:off x="457200" y="3639312"/>
            <a:ext cx="32004" cy="1737360"/>
          </a:xfrm>
          <a:prstGeom prst="rect">
            <a:avLst/>
          </a:prstGeom>
          <a:solidFill>
            <a:srgbClr val="FAB219"/>
          </a:solidFill>
          <a:ln>
            <a:noFill/>
          </a:ln>
        </p:spPr>
        <p:txBody>
          <a:bodyPr wrap="square" anchor="ctr" lIns="54864" rIns="54864" tIns="27432" bIns="27432"/>
          <a:lstStyle/>
          <a:p>
            <a:pPr algn="l"/>
            <a:endParaRPr lang="en-AU" sz="1100"/>
          </a:p>
        </p:txBody>
      </p:sp>
      <p:sp>
        <p:nvSpPr>
          <p:cNvPr id="50" name="shape50"/>
          <p:cNvSpPr/>
          <p:nvPr/>
        </p:nvSpPr>
        <p:spPr>
          <a:xfrm>
            <a:off x="457200" y="5486400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800" dirty="0">
                <a:solidFill>
                  <a:srgbClr val="6B6A66"/>
                </a:solidFill>
                <a:latin typeface="Aptos"/>
              </a:rPr>
              <a:t>Tasks: 7.1 Specify and Model Requirements · 6.1 Analyze Current State</a:t>
            </a:r>
          </a:p>
        </p:txBody>
      </p:sp>
      <p:sp>
        <p:nvSpPr>
          <p:cNvPr id="51" name="shape51"/>
          <p:cNvSpPr/>
          <p:nvPr/>
        </p:nvSpPr>
        <p:spPr>
          <a:xfrm>
            <a:off x="3520440" y="1188720"/>
            <a:ext cx="8214055" cy="237744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1050" b="1" dirty="0">
                <a:solidFill>
                  <a:srgbClr val="184F95"/>
                </a:solidFill>
                <a:latin typeface="Aptos"/>
              </a:rPr>
              <a:t>Decision Modelling — blank template</a:t>
            </a:r>
          </a:p>
        </p:txBody>
      </p:sp>
      <p:sp>
        <p:nvSpPr>
          <p:cNvPr id="52" name="shape52"/>
          <p:cNvSpPr/>
          <p:nvPr/>
        </p:nvSpPr>
        <p:spPr>
          <a:xfrm>
            <a:off x="3520440" y="1280160"/>
            <a:ext cx="8214055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27432" bIns="27432"/>
          <a:lstStyle/>
          <a:p>
            <a:pPr algn="l"/>
            <a:r>
              <a:rPr lang="en-AU" sz="850" dirty="0">
                <a:solidFill>
                  <a:srgbClr val="6B6A66"/>
                </a:solidFill>
                <a:latin typeface="Aptos"/>
              </a:rPr>
              <a:t>1. Decision    2. Condition    3. Outcome</a:t>
            </a:r>
          </a:p>
        </p:txBody>
      </p:sp>
      <p:sp>
        <p:nvSpPr>
          <p:cNvPr id="53" name="shape53"/>
          <p:cNvSpPr/>
          <p:nvPr/>
        </p:nvSpPr>
        <p:spPr>
          <a:xfrm>
            <a:off x="3520440" y="1499616"/>
            <a:ext cx="8214055" cy="338328"/>
          </a:xfrm>
          <a:prstGeom prst="roundRect">
            <a:avLst>
              <a:gd name="adj" fmla="val 8000"/>
            </a:avLst>
          </a:prstGeom>
          <a:solidFill>
            <a:srgbClr val="E9F1FD"/>
          </a:solidFill>
          <a:ln w="9525">
            <a:solidFill>
              <a:srgbClr val="2A78D6"/>
            </a:solidFill>
          </a:ln>
        </p:spPr>
        <p:txBody>
          <a:bodyPr wrap="square" anchor="ctr" lIns="82296" rIns="82296" tIns="27432" bIns="27432"/>
          <a:lstStyle/>
          <a:p>
            <a:pPr algn="l"/>
            <a:r>
              <a:rPr lang="en-AU" sz="950" b="1" dirty="0">
                <a:solidFill>
                  <a:srgbClr val="0B0B0B"/>
                </a:solidFill>
                <a:latin typeface="Aptos"/>
              </a:rPr>
              <a:t>Decision</a:t>
            </a:r>
          </a:p>
        </p:txBody>
      </p:sp>
      <p:sp>
        <p:nvSpPr>
          <p:cNvPr id="54" name="shape54"/>
          <p:cNvSpPr/>
          <p:nvPr/>
        </p:nvSpPr>
        <p:spPr>
          <a:xfrm>
            <a:off x="3904488" y="1883664"/>
            <a:ext cx="7830007" cy="3383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ctr" lIns="82296" rIns="82296" tIns="27432" bIns="27432"/>
          <a:lstStyle/>
          <a:p>
            <a:pPr algn="l"/>
            <a:r>
              <a:rPr lang="en-AU" sz="900" dirty="0">
                <a:solidFill>
                  <a:srgbClr val="0B0B0B"/>
                </a:solidFill>
                <a:latin typeface="Aptos"/>
              </a:rPr>
              <a:t>Condition</a:t>
            </a:r>
          </a:p>
        </p:txBody>
      </p:sp>
      <p:cxnSp>
        <p:nvCxnSpPr>
          <p:cNvPr id="55" name="conn55"/>
          <p:cNvCxnSpPr/>
          <p:nvPr/>
        </p:nvCxnSpPr>
        <p:spPr>
          <a:xfrm>
            <a:off x="3776472" y="2052828"/>
            <a:ext cx="128016" cy="1"/>
          </a:xfrm>
          <a:prstGeom prst="line">
            <a:avLst/>
          </a:prstGeom>
          <a:ln w="6350">
            <a:solidFill>
              <a:srgbClr val="C3C2B7"/>
            </a:solidFill>
          </a:ln>
        </p:spPr>
      </p:cxnSp>
      <p:sp>
        <p:nvSpPr>
          <p:cNvPr id="56" name="shape56"/>
          <p:cNvSpPr/>
          <p:nvPr/>
        </p:nvSpPr>
        <p:spPr>
          <a:xfrm>
            <a:off x="4288536" y="2267712"/>
            <a:ext cx="7445959" cy="3383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ctr" lIns="82296" rIns="82296" tIns="27432" bIns="27432"/>
          <a:lstStyle/>
          <a:p>
            <a:pPr algn="l"/>
            <a:r>
              <a:rPr lang="en-AU" sz="900" dirty="0">
                <a:solidFill>
                  <a:srgbClr val="0B0B0B"/>
                </a:solidFill>
                <a:latin typeface="Aptos"/>
              </a:rPr>
              <a:t>Outcome</a:t>
            </a:r>
          </a:p>
        </p:txBody>
      </p:sp>
      <p:cxnSp>
        <p:nvCxnSpPr>
          <p:cNvPr id="57" name="conn57"/>
          <p:cNvCxnSpPr/>
          <p:nvPr/>
        </p:nvCxnSpPr>
        <p:spPr>
          <a:xfrm>
            <a:off x="4160520" y="2436876"/>
            <a:ext cx="128016" cy="1"/>
          </a:xfrm>
          <a:prstGeom prst="line">
            <a:avLst/>
          </a:prstGeom>
          <a:ln w="6350">
            <a:solidFill>
              <a:srgbClr val="C3C2B7"/>
            </a:solidFill>
          </a:ln>
        </p:spPr>
      </p:cxnSp>
      <p:sp>
        <p:nvSpPr>
          <p:cNvPr id="58" name="shape58"/>
          <p:cNvSpPr/>
          <p:nvPr/>
        </p:nvSpPr>
        <p:spPr>
          <a:xfrm>
            <a:off x="4288536" y="2651760"/>
            <a:ext cx="7445959" cy="3383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ctr" lIns="82296" rIns="82296" tIns="27432" bIns="27432"/>
          <a:lstStyle/>
          <a:p>
            <a:pPr algn="l"/>
            <a:r>
              <a:rPr lang="en-AU" sz="900" dirty="0">
                <a:solidFill>
                  <a:srgbClr val="0B0B0B"/>
                </a:solidFill>
                <a:latin typeface="Aptos"/>
              </a:rPr>
              <a:t>Outcome</a:t>
            </a:r>
          </a:p>
        </p:txBody>
      </p:sp>
      <p:cxnSp>
        <p:nvCxnSpPr>
          <p:cNvPr id="59" name="conn59"/>
          <p:cNvCxnSpPr/>
          <p:nvPr/>
        </p:nvCxnSpPr>
        <p:spPr>
          <a:xfrm>
            <a:off x="4160520" y="2820924"/>
            <a:ext cx="128016" cy="1"/>
          </a:xfrm>
          <a:prstGeom prst="line">
            <a:avLst/>
          </a:prstGeom>
          <a:ln w="6350">
            <a:solidFill>
              <a:srgbClr val="C3C2B7"/>
            </a:solidFill>
          </a:ln>
        </p:spPr>
      </p:cxnSp>
      <p:sp>
        <p:nvSpPr>
          <p:cNvPr id="60" name="shape60"/>
          <p:cNvSpPr/>
          <p:nvPr/>
        </p:nvSpPr>
        <p:spPr>
          <a:xfrm>
            <a:off x="3904488" y="3035808"/>
            <a:ext cx="7830007" cy="3383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ctr" lIns="82296" rIns="82296" tIns="27432" bIns="27432"/>
          <a:lstStyle/>
          <a:p>
            <a:pPr algn="l"/>
            <a:r>
              <a:rPr lang="en-AU" sz="900" dirty="0">
                <a:solidFill>
                  <a:srgbClr val="0B0B0B"/>
                </a:solidFill>
                <a:latin typeface="Aptos"/>
              </a:rPr>
              <a:t>Condition</a:t>
            </a:r>
          </a:p>
        </p:txBody>
      </p:sp>
      <p:cxnSp>
        <p:nvCxnSpPr>
          <p:cNvPr id="61" name="conn61"/>
          <p:cNvCxnSpPr/>
          <p:nvPr/>
        </p:nvCxnSpPr>
        <p:spPr>
          <a:xfrm>
            <a:off x="3776472" y="3204972"/>
            <a:ext cx="128016" cy="1"/>
          </a:xfrm>
          <a:prstGeom prst="line">
            <a:avLst/>
          </a:prstGeom>
          <a:ln w="6350">
            <a:solidFill>
              <a:srgbClr val="C3C2B7"/>
            </a:solidFill>
          </a:ln>
        </p:spPr>
      </p:cxnSp>
      <p:sp>
        <p:nvSpPr>
          <p:cNvPr id="62" name="shape62"/>
          <p:cNvSpPr/>
          <p:nvPr/>
        </p:nvSpPr>
        <p:spPr>
          <a:xfrm>
            <a:off x="4288536" y="3419856"/>
            <a:ext cx="7445959" cy="3383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ctr" lIns="82296" rIns="82296" tIns="27432" bIns="27432"/>
          <a:lstStyle/>
          <a:p>
            <a:pPr algn="l"/>
            <a:r>
              <a:rPr lang="en-AU" sz="900" dirty="0">
                <a:solidFill>
                  <a:srgbClr val="0B0B0B"/>
                </a:solidFill>
                <a:latin typeface="Aptos"/>
              </a:rPr>
              <a:t>Outcome</a:t>
            </a:r>
          </a:p>
        </p:txBody>
      </p:sp>
      <p:cxnSp>
        <p:nvCxnSpPr>
          <p:cNvPr id="63" name="conn63"/>
          <p:cNvCxnSpPr/>
          <p:nvPr/>
        </p:nvCxnSpPr>
        <p:spPr>
          <a:xfrm>
            <a:off x="4160520" y="3589020"/>
            <a:ext cx="128016" cy="1"/>
          </a:xfrm>
          <a:prstGeom prst="line">
            <a:avLst/>
          </a:prstGeom>
          <a:ln w="6350">
            <a:solidFill>
              <a:srgbClr val="C3C2B7"/>
            </a:solidFill>
          </a:ln>
        </p:spPr>
      </p:cxnSp>
      <p:sp>
        <p:nvSpPr>
          <p:cNvPr id="64" name="shape64"/>
          <p:cNvSpPr/>
          <p:nvPr/>
        </p:nvSpPr>
        <p:spPr>
          <a:xfrm>
            <a:off x="4288536" y="3803904"/>
            <a:ext cx="7445959" cy="3383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ctr" lIns="82296" rIns="82296" tIns="27432" bIns="27432"/>
          <a:lstStyle/>
          <a:p>
            <a:pPr algn="l"/>
            <a:r>
              <a:rPr lang="en-AU" sz="900" dirty="0">
                <a:solidFill>
                  <a:srgbClr val="0B0B0B"/>
                </a:solidFill>
                <a:latin typeface="Aptos"/>
              </a:rPr>
              <a:t>Outcome</a:t>
            </a:r>
          </a:p>
        </p:txBody>
      </p:sp>
      <p:cxnSp>
        <p:nvCxnSpPr>
          <p:cNvPr id="65" name="conn65"/>
          <p:cNvCxnSpPr/>
          <p:nvPr/>
        </p:nvCxnSpPr>
        <p:spPr>
          <a:xfrm>
            <a:off x="4160520" y="3973068"/>
            <a:ext cx="128016" cy="1"/>
          </a:xfrm>
          <a:prstGeom prst="line">
            <a:avLst/>
          </a:prstGeom>
          <a:ln w="6350">
            <a:solidFill>
              <a:srgbClr val="C3C2B7"/>
            </a:solidFill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10.17 Decision Modelling — blank template</dc:title>
  <dc:creator>Business Analyst Services</dc:creator>
  <cp:lastModifiedBy>Business Analyst Services</cp:lastModifiedBy>
</cp:coreProperties>
</file>