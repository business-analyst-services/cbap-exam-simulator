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19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10.4  Benchmarking and Market Analysis</a:t>
            </a:r>
          </a:p>
        </p:txBody>
      </p:sp>
      <p:sp>
        <p:nvSpPr>
          <p:cNvPr id="20" name="shape20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Strategy and discovery</a:t>
            </a:r>
          </a:p>
        </p:txBody>
      </p:sp>
      <p:sp>
        <p:nvSpPr>
          <p:cNvPr id="21" name="shape21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22" name="conn22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23" name="shape23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24" name="shape24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10.4</a:t>
            </a:r>
          </a:p>
        </p:txBody>
      </p:sp>
      <p:sp>
        <p:nvSpPr>
          <p:cNvPr id="25" name="shape25"/>
          <p:cNvSpPr/>
          <p:nvPr/>
        </p:nvSpPr>
        <p:spPr>
          <a:xfrm>
            <a:off x="457200" y="1207008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HOW TO FILL IT IN</a:t>
            </a:r>
          </a:p>
        </p:txBody>
      </p:sp>
      <p:sp>
        <p:nvSpPr>
          <p:cNvPr id="26" name="shape26"/>
          <p:cNvSpPr/>
          <p:nvPr/>
        </p:nvSpPr>
        <p:spPr>
          <a:xfrm>
            <a:off x="457200" y="1408176"/>
            <a:ext cx="274320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One row per measure.</a:t>
            </a:r>
          </a:p>
        </p:txBody>
      </p:sp>
      <p:sp>
        <p:nvSpPr>
          <p:cNvPr id="27" name="shape27"/>
          <p:cNvSpPr/>
          <p:nvPr/>
        </p:nvSpPr>
        <p:spPr>
          <a:xfrm>
            <a:off x="457200" y="2414016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WHAT IT IS FOR</a:t>
            </a:r>
          </a:p>
        </p:txBody>
      </p:sp>
      <p:sp>
        <p:nvSpPr>
          <p:cNvPr id="28" name="shape28"/>
          <p:cNvSpPr/>
          <p:nvPr/>
        </p:nvSpPr>
        <p:spPr>
          <a:xfrm>
            <a:off x="457200" y="2615184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Compares the practices and results of an enterprise against peers, competitors or a recognised standard, and reads the market it operates in.</a:t>
            </a:r>
          </a:p>
        </p:txBody>
      </p:sp>
      <p:sp>
        <p:nvSpPr>
          <p:cNvPr id="29" name="shape29"/>
          <p:cNvSpPr/>
          <p:nvPr/>
        </p:nvSpPr>
        <p:spPr>
          <a:xfrm>
            <a:off x="457200" y="3438144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MOST OFTEN CONFUSED WITH</a:t>
            </a:r>
          </a:p>
        </p:txBody>
      </p:sp>
      <p:sp>
        <p:nvSpPr>
          <p:cNvPr id="30" name="shape30"/>
          <p:cNvSpPr/>
          <p:nvPr/>
        </p:nvSpPr>
        <p:spPr>
          <a:xfrm>
            <a:off x="457200" y="3639312"/>
            <a:ext cx="2743200" cy="1737360"/>
          </a:xfrm>
          <a:prstGeom prst="rect">
            <a:avLst/>
          </a:prstGeom>
          <a:solidFill>
            <a:srgbClr val="F7F7F5"/>
          </a:solidFill>
          <a:ln>
            <a:noFill/>
          </a:ln>
        </p:spPr>
        <p:txBody>
          <a:bodyPr wrap="square" anchor="t" lIns="91440" rIns="91440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Benchmarking looks outward at others; measuring solution performance looks inward at your own. An item where the comparison target is another organisation is benchmarking, even if the words performance and measure appear in the stem.</a:t>
            </a:r>
          </a:p>
        </p:txBody>
      </p:sp>
      <p:sp>
        <p:nvSpPr>
          <p:cNvPr id="31" name="shape31"/>
          <p:cNvSpPr/>
          <p:nvPr/>
        </p:nvSpPr>
        <p:spPr>
          <a:xfrm>
            <a:off x="457200" y="3639312"/>
            <a:ext cx="32004" cy="1737360"/>
          </a:xfrm>
          <a:prstGeom prst="rect">
            <a:avLst/>
          </a:prstGeom>
          <a:solidFill>
            <a:srgbClr val="FAB219"/>
          </a:solidFill>
          <a:ln>
            <a:noFill/>
          </a:ln>
        </p:spPr>
        <p:txBody>
          <a:bodyPr wrap="square" anchor="ctr" lIns="54864" rIns="54864" tIns="27432" bIns="27432"/>
          <a:lstStyle/>
          <a:p>
            <a:pPr algn="l"/>
            <a:endParaRPr lang="en-AU" sz="1100"/>
          </a:p>
        </p:txBody>
      </p:sp>
      <p:sp>
        <p:nvSpPr>
          <p:cNvPr id="32" name="shape32"/>
          <p:cNvSpPr/>
          <p:nvPr/>
        </p:nvSpPr>
        <p:spPr>
          <a:xfrm>
            <a:off x="457200" y="5486400"/>
            <a:ext cx="27432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Tasks: 6.1 Analyze Current State · 6.2 Define Future State · 8.4 Assess Enterprise Limitations</a:t>
            </a:r>
          </a:p>
        </p:txBody>
      </p:sp>
      <p:sp>
        <p:nvSpPr>
          <p:cNvPr id="33" name="shape33"/>
          <p:cNvSpPr/>
          <p:nvPr/>
        </p:nvSpPr>
        <p:spPr>
          <a:xfrm>
            <a:off x="3520440" y="1188720"/>
            <a:ext cx="8214055" cy="237744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050" b="1" dirty="0">
                <a:solidFill>
                  <a:srgbClr val="184F95"/>
                </a:solidFill>
                <a:latin typeface="Aptos"/>
              </a:rPr>
              <a:t>Benchmarking and Market Analysis — blank template</a:t>
            </a:r>
          </a:p>
        </p:txBody>
      </p:sp>
      <p:graphicFrame>
        <p:nvGraphicFramePr>
          <p:cNvPr id="34" name="table34"/>
          <p:cNvGraphicFramePr>
            <a:graphicFrameLocks noGrp="1"/>
          </p:cNvGraphicFramePr>
          <p:nvPr/>
        </p:nvGraphicFramePr>
        <p:xfrm>
          <a:off x="3520440" y="1499616"/>
          <a:ext cx="8214055" cy="3840480"/>
        </p:xfrm>
        <a:graphic>
          <a:graphicData uri="http://schemas.openxmlformats.org/drawingml/2006/table">
            <a:tbl>
              <a:tblPr firstRow="1" bandRow="1"/>
              <a:tblGrid>
                <a:gridCol w="2377440"/>
                <a:gridCol w="1945538"/>
                <a:gridCol w="1945538"/>
                <a:gridCol w="1945538"/>
              </a:tblGrid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Measure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This bank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Peer median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Best in market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10.4 Benchmarking and Market Analysis — blank template</dc:title>
  <dc:creator>Business Analyst Services</dc:creator>
  <cp:lastModifiedBy>Business Analyst Services</cp:lastModifiedBy>
</cp:coreProperties>
</file>