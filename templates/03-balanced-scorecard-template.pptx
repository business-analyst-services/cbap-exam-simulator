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2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  Balanced Scorecard</a:t>
            </a:r>
          </a:p>
        </p:txBody>
      </p:sp>
      <p:sp>
        <p:nvSpPr>
          <p:cNvPr id="23" name="shape2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Measurement and evaluation</a:t>
            </a:r>
          </a:p>
        </p:txBody>
      </p:sp>
      <p:sp>
        <p:nvSpPr>
          <p:cNvPr id="24" name="shape2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5" name="conn2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6" name="shape2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7" name="shape2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Panels are fixed. An empty panel is a finding, not an omission.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Holds performance to four perspectives at once, financial, customer, internal process, and learning and growth, so no single dimension is optimised alone.</a:t>
            </a:r>
          </a:p>
        </p:txBody>
      </p:sp>
      <p:sp>
        <p:nvSpPr>
          <p:cNvPr id="32" name="shape32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3" name="shape33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balanced scorecard is a framework for choosing a spread of measures; metrics and KPIs are the individual measures themselves. If the scenario already has measures and asks whether they are the right ones, the scorecard is the answer.</a:t>
            </a:r>
          </a:p>
        </p:txBody>
      </p:sp>
      <p:sp>
        <p:nvSpPr>
          <p:cNvPr id="34" name="shape34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5" name="shape35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6.2 Define Future State · 8.1 Measure Solution Performance · 8.2 Analyze Performance Measures</a:t>
            </a:r>
          </a:p>
        </p:txBody>
      </p:sp>
      <p:sp>
        <p:nvSpPr>
          <p:cNvPr id="36" name="shape3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Balanced Scorecard — blank template</a:t>
            </a:r>
          </a:p>
        </p:txBody>
      </p:sp>
      <p:sp>
        <p:nvSpPr>
          <p:cNvPr id="37" name="shape37"/>
          <p:cNvSpPr/>
          <p:nvPr/>
        </p:nvSpPr>
        <p:spPr>
          <a:xfrm>
            <a:off x="3547872" y="1527048"/>
            <a:ext cx="405216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FINANCIAL — 4 MEASURES</a:t>
            </a:r>
          </a:p>
          <a:p>
            <a:pPr algn="l"/>
            <a:endParaRPr lang="en-AU" sz="1100"/>
          </a:p>
        </p:txBody>
      </p:sp>
      <p:sp>
        <p:nvSpPr>
          <p:cNvPr id="38" name="shape38"/>
          <p:cNvSpPr/>
          <p:nvPr/>
        </p:nvSpPr>
        <p:spPr>
          <a:xfrm>
            <a:off x="7654900" y="1527048"/>
            <a:ext cx="405216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INTERNAL PROCESS — 3 MEASURES</a:t>
            </a:r>
          </a:p>
          <a:p>
            <a:pPr algn="l"/>
            <a:endParaRPr lang="en-AU" sz="1100"/>
          </a:p>
        </p:txBody>
      </p:sp>
      <p:sp>
        <p:nvSpPr>
          <p:cNvPr id="39" name="shape39"/>
          <p:cNvSpPr/>
          <p:nvPr/>
        </p:nvSpPr>
        <p:spPr>
          <a:xfrm>
            <a:off x="3547872" y="3081528"/>
            <a:ext cx="405216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CUSTOMER — 0 MEASURES</a:t>
            </a:r>
          </a:p>
          <a:p>
            <a:pPr algn="l"/>
            <a:endParaRPr lang="en-AU" sz="1100"/>
          </a:p>
        </p:txBody>
      </p:sp>
      <p:sp>
        <p:nvSpPr>
          <p:cNvPr id="40" name="shape40"/>
          <p:cNvSpPr/>
          <p:nvPr/>
        </p:nvSpPr>
        <p:spPr>
          <a:xfrm>
            <a:off x="7654900" y="3081528"/>
            <a:ext cx="4052164" cy="1499616"/>
          </a:xfrm>
          <a:prstGeom prst="rect">
            <a:avLst/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r>
              <a:rPr lang="en-AU" sz="800" b="1" dirty="0">
                <a:solidFill>
                  <a:srgbClr val="184F95"/>
                </a:solidFill>
                <a:latin typeface="Aptos"/>
              </a:rPr>
              <a:t>LEARNING AND GROWTH — 0 MEASURES</a:t>
            </a:r>
          </a:p>
          <a:p>
            <a:pPr algn="l"/>
            <a:endParaRPr lang="en-AU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 Balanced Scorecard — blank template</dc:title>
  <dc:creator>Business Analyst Services</dc:creator>
  <cp:lastModifiedBy>Business Analyst Services</cp:lastModifiedBy>
</cp:coreProperties>
</file>