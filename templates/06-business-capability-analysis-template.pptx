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31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10.6  Business Capability Analysis</a:t>
            </a:r>
          </a:p>
        </p:txBody>
      </p:sp>
      <p:sp>
        <p:nvSpPr>
          <p:cNvPr id="32" name="shape32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33" name="shape33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4" name="conn34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35" name="shape35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36" name="shape36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10.6</a:t>
            </a:r>
          </a:p>
        </p:txBody>
      </p:sp>
      <p:sp>
        <p:nvSpPr>
          <p:cNvPr id="37" name="shape37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38" name="shape38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Place each item in one cell only. If it fits two, the axes are not yet sharp enough.</a:t>
            </a:r>
          </a:p>
        </p:txBody>
      </p:sp>
      <p:sp>
        <p:nvSpPr>
          <p:cNvPr id="39" name="shape39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40" name="shape40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Describes what the enterprise is able to do, independently of who does it or how, and grades each ability for performance and importance.</a:t>
            </a:r>
          </a:p>
        </p:txBody>
      </p:sp>
      <p:sp>
        <p:nvSpPr>
          <p:cNvPr id="41" name="shape41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42" name="shape42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Capabilities are what the organisation can do; processes are how it does it. An item that keeps naming org units or hand-offs is heading for process or organisational modelling, not capability analysis.</a:t>
            </a:r>
          </a:p>
        </p:txBody>
      </p:sp>
      <p:sp>
        <p:nvSpPr>
          <p:cNvPr id="43" name="shape43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44" name="shape44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6.1 Analyze Current State · 6.2 Define Future State · 6.4 Define Change Strategy</a:t>
            </a:r>
          </a:p>
        </p:txBody>
      </p:sp>
      <p:sp>
        <p:nvSpPr>
          <p:cNvPr id="45" name="shape45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Business Capability Analysis — blank template</a:t>
            </a:r>
          </a:p>
        </p:txBody>
      </p:sp>
      <p:sp>
        <p:nvSpPr>
          <p:cNvPr id="46" name="shape46"/>
          <p:cNvSpPr/>
          <p:nvPr/>
        </p:nvSpPr>
        <p:spPr>
          <a:xfrm>
            <a:off x="4892040" y="1499616"/>
            <a:ext cx="68424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6B6A66"/>
                </a:solidFill>
                <a:latin typeface="Aptos"/>
              </a:rPr>
              <a:t>Performance →</a:t>
            </a:r>
          </a:p>
        </p:txBody>
      </p:sp>
      <p:sp>
        <p:nvSpPr>
          <p:cNvPr id="47" name="shape47"/>
          <p:cNvSpPr/>
          <p:nvPr/>
        </p:nvSpPr>
        <p:spPr>
          <a:xfrm>
            <a:off x="4892040" y="1737360"/>
            <a:ext cx="228081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Weak</a:t>
            </a:r>
          </a:p>
        </p:txBody>
      </p:sp>
      <p:sp>
        <p:nvSpPr>
          <p:cNvPr id="48" name="shape48"/>
          <p:cNvSpPr/>
          <p:nvPr/>
        </p:nvSpPr>
        <p:spPr>
          <a:xfrm>
            <a:off x="7172858" y="1737360"/>
            <a:ext cx="228081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Adequate</a:t>
            </a:r>
          </a:p>
        </p:txBody>
      </p:sp>
      <p:sp>
        <p:nvSpPr>
          <p:cNvPr id="49" name="shape49"/>
          <p:cNvSpPr/>
          <p:nvPr/>
        </p:nvSpPr>
        <p:spPr>
          <a:xfrm>
            <a:off x="9453677" y="1737360"/>
            <a:ext cx="228081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Strong</a:t>
            </a:r>
          </a:p>
        </p:txBody>
      </p:sp>
      <p:sp>
        <p:nvSpPr>
          <p:cNvPr id="50" name="shape50"/>
          <p:cNvSpPr/>
          <p:nvPr/>
        </p:nvSpPr>
        <p:spPr>
          <a:xfrm>
            <a:off x="3520440" y="2002536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Critical</a:t>
            </a:r>
          </a:p>
        </p:txBody>
      </p:sp>
      <p:sp>
        <p:nvSpPr>
          <p:cNvPr id="51" name="shape51"/>
          <p:cNvSpPr/>
          <p:nvPr/>
        </p:nvSpPr>
        <p:spPr>
          <a:xfrm>
            <a:off x="4928616" y="2002536"/>
            <a:ext cx="220766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2" name="shape52"/>
          <p:cNvSpPr/>
          <p:nvPr/>
        </p:nvSpPr>
        <p:spPr>
          <a:xfrm>
            <a:off x="7209434" y="2002536"/>
            <a:ext cx="220766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3" name="shape53"/>
          <p:cNvSpPr/>
          <p:nvPr/>
        </p:nvSpPr>
        <p:spPr>
          <a:xfrm>
            <a:off x="9490253" y="2002536"/>
            <a:ext cx="220766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4" name="shape54"/>
          <p:cNvSpPr/>
          <p:nvPr/>
        </p:nvSpPr>
        <p:spPr>
          <a:xfrm>
            <a:off x="3520440" y="3374136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Supporting</a:t>
            </a:r>
          </a:p>
        </p:txBody>
      </p:sp>
      <p:sp>
        <p:nvSpPr>
          <p:cNvPr id="55" name="shape55"/>
          <p:cNvSpPr/>
          <p:nvPr/>
        </p:nvSpPr>
        <p:spPr>
          <a:xfrm>
            <a:off x="4928616" y="3374136"/>
            <a:ext cx="220766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6" name="shape56"/>
          <p:cNvSpPr/>
          <p:nvPr/>
        </p:nvSpPr>
        <p:spPr>
          <a:xfrm>
            <a:off x="7209434" y="3374136"/>
            <a:ext cx="220766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7" name="shape57"/>
          <p:cNvSpPr/>
          <p:nvPr/>
        </p:nvSpPr>
        <p:spPr>
          <a:xfrm>
            <a:off x="9490253" y="3374136"/>
            <a:ext cx="220766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8" name="shape58"/>
          <p:cNvSpPr/>
          <p:nvPr/>
        </p:nvSpPr>
        <p:spPr>
          <a:xfrm>
            <a:off x="3474720" y="200253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↑ Importance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10.6 Business Capability Analysis — blank template</dc:title>
  <dc:creator>Business Analyst Services</dc:creator>
  <cp:lastModifiedBy>Business Analyst Services</cp:lastModifiedBy>
</cp:coreProperties>
</file>