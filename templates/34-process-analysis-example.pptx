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10.34  Process Analysis</a:t>
            </a:r>
          </a:p>
        </p:txBody>
      </p:sp>
      <p:sp>
        <p:nvSpPr>
          <p:cNvPr id="3" name="shape3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Strategy and discovery</a:t>
            </a:r>
          </a:p>
        </p:txBody>
      </p:sp>
      <p:sp>
        <p:nvSpPr>
          <p:cNvPr id="4" name="shape4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2A78D6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FFFFFF"/>
                </a:solidFill>
                <a:latin typeface="Aptos"/>
              </a:rPr>
              <a:t>WORKED EXAMPLE</a:t>
            </a:r>
          </a:p>
        </p:txBody>
      </p:sp>
      <p:cxnSp>
        <p:nvCxnSpPr>
          <p:cNvPr id="5" name="conn5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6" name="shape6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7" name="shape7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10.34</a:t>
            </a:r>
          </a:p>
        </p:txBody>
      </p:sp>
      <p:sp>
        <p:nvSpPr>
          <p:cNvPr id="8" name="shape8"/>
          <p:cNvSpPr/>
          <p:nvPr/>
        </p:nvSpPr>
        <p:spPr>
          <a:xfrm>
            <a:off x="457200" y="1207008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WHAT IT IS FOR</a:t>
            </a:r>
          </a:p>
        </p:txBody>
      </p:sp>
      <p:sp>
        <p:nvSpPr>
          <p:cNvPr id="9" name="shape9"/>
          <p:cNvSpPr/>
          <p:nvPr/>
        </p:nvSpPr>
        <p:spPr>
          <a:xfrm>
            <a:off x="457200" y="1408176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Examines an existing process for waste, delay, variation and gaps against its intended outcome, and identifies where improvement is available.</a:t>
            </a:r>
          </a:p>
        </p:txBody>
      </p:sp>
      <p:sp>
        <p:nvSpPr>
          <p:cNvPr id="10" name="shape10"/>
          <p:cNvSpPr/>
          <p:nvPr/>
        </p:nvSpPr>
        <p:spPr>
          <a:xfrm>
            <a:off x="457200" y="227685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REACH FOR IT WHEN</a:t>
            </a:r>
          </a:p>
        </p:txBody>
      </p:sp>
      <p:sp>
        <p:nvSpPr>
          <p:cNvPr id="11" name="shape11"/>
          <p:cNvSpPr/>
          <p:nvPr/>
        </p:nvSpPr>
        <p:spPr>
          <a:xfrm>
            <a:off x="457200" y="2478024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Reach for it when the process is known and the question is what is wrong with it, rather than what it is.</a:t>
            </a:r>
          </a:p>
        </p:txBody>
      </p:sp>
      <p:sp>
        <p:nvSpPr>
          <p:cNvPr id="12" name="shape12"/>
          <p:cNvSpPr/>
          <p:nvPr/>
        </p:nvSpPr>
        <p:spPr>
          <a:xfrm>
            <a:off x="457200" y="3346704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MOST OFTEN CONFUSED WITH</a:t>
            </a:r>
          </a:p>
        </p:txBody>
      </p:sp>
      <p:sp>
        <p:nvSpPr>
          <p:cNvPr id="13" name="shape13"/>
          <p:cNvSpPr/>
          <p:nvPr/>
        </p:nvSpPr>
        <p:spPr>
          <a:xfrm>
            <a:off x="457200" y="3547872"/>
            <a:ext cx="2743200" cy="169164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txBody>
          <a:bodyPr wrap="square" anchor="t" lIns="91440" rIns="91440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Process analysis evaluates a process; process modelling depicts it. If the scenario has no model yet, you cannot analyse it, which is why the ordering matters in exam items.</a:t>
            </a:r>
          </a:p>
        </p:txBody>
      </p:sp>
      <p:sp>
        <p:nvSpPr>
          <p:cNvPr id="14" name="shape14"/>
          <p:cNvSpPr/>
          <p:nvPr/>
        </p:nvSpPr>
        <p:spPr>
          <a:xfrm>
            <a:off x="457200" y="3547872"/>
            <a:ext cx="32004" cy="1691640"/>
          </a:xfrm>
          <a:prstGeom prst="rect">
            <a:avLst/>
          </a:prstGeom>
          <a:solidFill>
            <a:srgbClr val="FAB219"/>
          </a:solidFill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endParaRPr lang="en-AU" sz="1100"/>
          </a:p>
        </p:txBody>
      </p:sp>
      <p:sp>
        <p:nvSpPr>
          <p:cNvPr id="15" name="shape15"/>
          <p:cNvSpPr/>
          <p:nvPr/>
        </p:nvSpPr>
        <p:spPr>
          <a:xfrm>
            <a:off x="457200" y="534924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Tasks: 6.1 Analyze Current State · 8.5 Recommend Actions to Increase Solution Value · 8.3 Assess Solution Limitations</a:t>
            </a:r>
          </a:p>
        </p:txBody>
      </p:sp>
      <p:sp>
        <p:nvSpPr>
          <p:cNvPr id="16" name="shape16"/>
          <p:cNvSpPr/>
          <p:nvPr/>
        </p:nvSpPr>
        <p:spPr>
          <a:xfrm>
            <a:off x="3520440" y="1188720"/>
            <a:ext cx="8214055" cy="237744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050" b="1" dirty="0">
                <a:solidFill>
                  <a:srgbClr val="184F95"/>
                </a:solidFill>
                <a:latin typeface="Aptos"/>
              </a:rPr>
              <a:t>Development approval, once the end-to-end model existed</a:t>
            </a:r>
          </a:p>
        </p:txBody>
      </p:sp>
      <p:sp>
        <p:nvSpPr>
          <p:cNvPr id="17" name="shape17"/>
          <p:cNvSpPr/>
          <p:nvPr/>
        </p:nvSpPr>
        <p:spPr>
          <a:xfrm>
            <a:off x="3520440" y="6071616"/>
            <a:ext cx="8214055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50" dirty="0">
                <a:solidFill>
                  <a:srgbClr val="6B6A66"/>
                </a:solidFill>
                <a:latin typeface="Aptos"/>
              </a:rPr>
              <a:t>Doubling assessor capacity addresses 7 of the 43 days.</a:t>
            </a:r>
          </a:p>
        </p:txBody>
      </p:sp>
      <p:graphicFrame>
        <p:nvGraphicFramePr>
          <p:cNvPr id="18" name="table18"/>
          <p:cNvGraphicFramePr>
            <a:graphicFrameLocks noGrp="1"/>
          </p:cNvGraphicFramePr>
          <p:nvPr/>
        </p:nvGraphicFramePr>
        <p:xfrm>
          <a:off x="3520440" y="1499616"/>
          <a:ext cx="8214055" cy="2688336"/>
        </p:xfrm>
        <a:graphic>
          <a:graphicData uri="http://schemas.openxmlformats.org/drawingml/2006/table">
            <a:tbl>
              <a:tblPr firstRow="1" bandRow="1"/>
              <a:tblGrid>
                <a:gridCol w="2377440"/>
                <a:gridCol w="1945538"/>
                <a:gridCol w="1945538"/>
                <a:gridCol w="1945538"/>
              </a:tblGrid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ptos"/>
                        </a:rPr>
                        <a:t>Step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ptos"/>
                        </a:rPr>
                        <a:t>Elapsed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ptos"/>
                        </a:rPr>
                        <a:t>Touch time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ptos"/>
                        </a:rPr>
                        <a:t>Verdict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Lodgement check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4 days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20 min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Queue, not work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Referral to services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19 days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2 h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Waiting on 3 parallel referrals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Assessment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6 days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7 h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Value-adding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Peer review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11 days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1 h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Queue; single reviewer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Determination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3 days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30 min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Value-adding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Total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43 days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10.8 h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Touch time is 3% of elapsed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10.34 Process Analysis — worked example</dc:title>
  <dc:creator>Business Analyst Services</dc:creator>
  <cp:lastModifiedBy>Business Analyst Services</cp:lastModifiedBy>
</cp:coreProperties>
</file>