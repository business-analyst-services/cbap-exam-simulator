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18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10.25  Interviews</a:t>
            </a:r>
          </a:p>
        </p:txBody>
      </p:sp>
      <p:sp>
        <p:nvSpPr>
          <p:cNvPr id="19" name="shape19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Elicitation and collaboration</a:t>
            </a:r>
          </a:p>
        </p:txBody>
      </p:sp>
      <p:sp>
        <p:nvSpPr>
          <p:cNvPr id="20" name="shape20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21" name="conn21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22" name="shape22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23" name="shape23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10.25</a:t>
            </a:r>
          </a:p>
        </p:txBody>
      </p:sp>
      <p:sp>
        <p:nvSpPr>
          <p:cNvPr id="24" name="shape24"/>
          <p:cNvSpPr/>
          <p:nvPr/>
        </p:nvSpPr>
        <p:spPr>
          <a:xfrm>
            <a:off x="457200" y="1207008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HOW TO FILL IT IN</a:t>
            </a:r>
          </a:p>
        </p:txBody>
      </p:sp>
      <p:sp>
        <p:nvSpPr>
          <p:cNvPr id="25" name="shape25"/>
          <p:cNvSpPr/>
          <p:nvPr/>
        </p:nvSpPr>
        <p:spPr>
          <a:xfrm>
            <a:off x="457200" y="1408176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One row per question.</a:t>
            </a:r>
          </a:p>
        </p:txBody>
      </p:sp>
      <p:sp>
        <p:nvSpPr>
          <p:cNvPr id="26" name="shape26"/>
          <p:cNvSpPr/>
          <p:nvPr/>
        </p:nvSpPr>
        <p:spPr>
          <a:xfrm>
            <a:off x="457200" y="2414016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WHAT IT IS FOR</a:t>
            </a:r>
          </a:p>
        </p:txBody>
      </p:sp>
      <p:sp>
        <p:nvSpPr>
          <p:cNvPr id="27" name="shape27"/>
          <p:cNvSpPr/>
          <p:nvPr/>
        </p:nvSpPr>
        <p:spPr>
          <a:xfrm>
            <a:off x="457200" y="2615184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Elicits information one-to-one or in a small group through prepared and follow-up questioning.</a:t>
            </a:r>
          </a:p>
        </p:txBody>
      </p:sp>
      <p:sp>
        <p:nvSpPr>
          <p:cNvPr id="28" name="shape28"/>
          <p:cNvSpPr/>
          <p:nvPr/>
        </p:nvSpPr>
        <p:spPr>
          <a:xfrm>
            <a:off x="457200" y="3438144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MOST OFTEN CONFUSED WITH</a:t>
            </a:r>
          </a:p>
        </p:txBody>
      </p:sp>
      <p:sp>
        <p:nvSpPr>
          <p:cNvPr id="29" name="shape29"/>
          <p:cNvSpPr/>
          <p:nvPr/>
        </p:nvSpPr>
        <p:spPr>
          <a:xfrm>
            <a:off x="457200" y="3639312"/>
            <a:ext cx="2743200" cy="173736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txBody>
          <a:bodyPr wrap="square" anchor="t" lIns="91440" rIns="91440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Interviews go deep with few people; surveys go wide with many. If the scenario needs coverage across hundreds of staff, interviewing them is the wrong instrument however thorough it sounds.</a:t>
            </a:r>
          </a:p>
        </p:txBody>
      </p:sp>
      <p:sp>
        <p:nvSpPr>
          <p:cNvPr id="30" name="shape30"/>
          <p:cNvSpPr/>
          <p:nvPr/>
        </p:nvSpPr>
        <p:spPr>
          <a:xfrm>
            <a:off x="457200" y="3639312"/>
            <a:ext cx="32004" cy="1737360"/>
          </a:xfrm>
          <a:prstGeom prst="rect">
            <a:avLst/>
          </a:prstGeom>
          <a:solidFill>
            <a:srgbClr val="FAB219"/>
          </a:solidFill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endParaRPr lang="en-AU" sz="1100"/>
          </a:p>
        </p:txBody>
      </p:sp>
      <p:sp>
        <p:nvSpPr>
          <p:cNvPr id="31" name="shape31"/>
          <p:cNvSpPr/>
          <p:nvPr/>
        </p:nvSpPr>
        <p:spPr>
          <a:xfrm>
            <a:off x="457200" y="548640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Tasks: 4.2 Conduct Elicitation · 4.1 Prepare for Elicitation · 6.1 Analyze Current State</a:t>
            </a:r>
          </a:p>
        </p:txBody>
      </p:sp>
      <p:sp>
        <p:nvSpPr>
          <p:cNvPr id="32" name="shape32"/>
          <p:cNvSpPr/>
          <p:nvPr/>
        </p:nvSpPr>
        <p:spPr>
          <a:xfrm>
            <a:off x="3520440" y="1188720"/>
            <a:ext cx="8214055" cy="237744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050" b="1" dirty="0">
                <a:solidFill>
                  <a:srgbClr val="184F95"/>
                </a:solidFill>
                <a:latin typeface="Aptos"/>
              </a:rPr>
              <a:t>Interviews — blank template</a:t>
            </a:r>
          </a:p>
        </p:txBody>
      </p:sp>
      <p:graphicFrame>
        <p:nvGraphicFramePr>
          <p:cNvPr id="33" name="table33"/>
          <p:cNvGraphicFramePr>
            <a:graphicFrameLocks noGrp="1"/>
          </p:cNvGraphicFramePr>
          <p:nvPr/>
        </p:nvGraphicFramePr>
        <p:xfrm>
          <a:off x="3520440" y="1499616"/>
          <a:ext cx="8214055" cy="3840480"/>
        </p:xfrm>
        <a:graphic>
          <a:graphicData uri="http://schemas.openxmlformats.org/drawingml/2006/table">
            <a:tbl>
              <a:tblPr firstRow="1" bandRow="1"/>
              <a:tblGrid>
                <a:gridCol w="2377440"/>
                <a:gridCol w="2918308"/>
                <a:gridCol w="2918308"/>
              </a:tblGrid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Question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Type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Why it is being asked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10.25 Interviews — blank template</dc:title>
  <dc:creator>Business Analyst Services</dc:creator>
  <cp:lastModifiedBy>Business Analyst Services</cp:lastModifiedBy>
</cp:coreProperties>
</file>