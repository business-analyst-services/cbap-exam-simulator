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2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10.11  Concept Modelling</a:t>
            </a:r>
          </a:p>
        </p:txBody>
      </p:sp>
      <p:sp>
        <p:nvSpPr>
          <p:cNvPr id="3" name="shape3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Modelling and specification</a:t>
            </a:r>
          </a:p>
        </p:txBody>
      </p:sp>
      <p:sp>
        <p:nvSpPr>
          <p:cNvPr id="4" name="shape4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2A78D6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FFFFFF"/>
                </a:solidFill>
                <a:latin typeface="Aptos"/>
              </a:rPr>
              <a:t>WORKED EXAMPLE</a:t>
            </a:r>
          </a:p>
        </p:txBody>
      </p:sp>
      <p:cxnSp>
        <p:nvCxnSpPr>
          <p:cNvPr id="5" name="conn5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6" name="shape6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7" name="shape7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10.11</a:t>
            </a:r>
          </a:p>
        </p:txBody>
      </p:sp>
      <p:sp>
        <p:nvSpPr>
          <p:cNvPr id="8" name="shape8"/>
          <p:cNvSpPr/>
          <p:nvPr/>
        </p:nvSpPr>
        <p:spPr>
          <a:xfrm>
            <a:off x="457200" y="120700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WHAT IT IS FOR</a:t>
            </a:r>
          </a:p>
        </p:txBody>
      </p:sp>
      <p:sp>
        <p:nvSpPr>
          <p:cNvPr id="9" name="shape9"/>
          <p:cNvSpPr/>
          <p:nvPr/>
        </p:nvSpPr>
        <p:spPr>
          <a:xfrm>
            <a:off x="457200" y="1408176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Fixes the business vocabulary and the relationships between its terms, independently of any system or database.</a:t>
            </a:r>
          </a:p>
        </p:txBody>
      </p:sp>
      <p:sp>
        <p:nvSpPr>
          <p:cNvPr id="10" name="shape10"/>
          <p:cNvSpPr/>
          <p:nvPr/>
        </p:nvSpPr>
        <p:spPr>
          <a:xfrm>
            <a:off x="457200" y="2276856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REACH FOR IT WHEN</a:t>
            </a:r>
          </a:p>
        </p:txBody>
      </p:sp>
      <p:sp>
        <p:nvSpPr>
          <p:cNvPr id="11" name="shape11"/>
          <p:cNvSpPr/>
          <p:nvPr/>
        </p:nvSpPr>
        <p:spPr>
          <a:xfrm>
            <a:off x="457200" y="2478024"/>
            <a:ext cx="274320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950" dirty="0">
                <a:solidFill>
                  <a:srgbClr val="0B0B0B"/>
                </a:solidFill>
                <a:latin typeface="Aptos"/>
              </a:rPr>
              <a:t>Reach for it when the same word means different things in different parts of the business and the disagreement is being mistaken for a requirements dispute.</a:t>
            </a:r>
          </a:p>
        </p:txBody>
      </p:sp>
      <p:sp>
        <p:nvSpPr>
          <p:cNvPr id="12" name="shape12"/>
          <p:cNvSpPr/>
          <p:nvPr/>
        </p:nvSpPr>
        <p:spPr>
          <a:xfrm>
            <a:off x="457200" y="3346704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800" b="1" dirty="0">
                <a:solidFill>
                  <a:srgbClr val="6B6A66"/>
                </a:solidFill>
                <a:latin typeface="Aptos"/>
              </a:rPr>
              <a:t>MOST OFTEN CONFUSED WITH</a:t>
            </a:r>
          </a:p>
        </p:txBody>
      </p:sp>
      <p:sp>
        <p:nvSpPr>
          <p:cNvPr id="13" name="shape13"/>
          <p:cNvSpPr/>
          <p:nvPr/>
        </p:nvSpPr>
        <p:spPr>
          <a:xfrm>
            <a:off x="457200" y="3547872"/>
            <a:ext cx="2743200" cy="1691640"/>
          </a:xfrm>
          <a:prstGeom prst="rect">
            <a:avLst/>
          </a:prstGeom>
          <a:solidFill>
            <a:srgbClr val="F7F7F5"/>
          </a:solidFill>
          <a:ln>
            <a:noFill/>
          </a:ln>
        </p:spPr>
        <p:txBody>
          <a:bodyPr wrap="square" anchor="t" lIns="91440" rIns="91440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concept model is about meaning in the business; a data model is about structure for storage. Items that mention tables, keys or attributes have already left concept modelling.</a:t>
            </a:r>
          </a:p>
        </p:txBody>
      </p:sp>
      <p:sp>
        <p:nvSpPr>
          <p:cNvPr id="14" name="shape14"/>
          <p:cNvSpPr/>
          <p:nvPr/>
        </p:nvSpPr>
        <p:spPr>
          <a:xfrm>
            <a:off x="457200" y="3547872"/>
            <a:ext cx="32004" cy="1691640"/>
          </a:xfrm>
          <a:prstGeom prst="rect">
            <a:avLst/>
          </a:prstGeom>
          <a:solidFill>
            <a:srgbClr val="FAB219"/>
          </a:solidFill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endParaRPr lang="en-AU" sz="1100"/>
          </a:p>
        </p:txBody>
      </p:sp>
      <p:sp>
        <p:nvSpPr>
          <p:cNvPr id="15" name="shape15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Tasks: 7.1 Specify and Model Requirements · 7.4 Define Requirements Architecture</a:t>
            </a:r>
          </a:p>
        </p:txBody>
      </p:sp>
      <p:sp>
        <p:nvSpPr>
          <p:cNvPr id="16" name="shape16"/>
          <p:cNvSpPr/>
          <p:nvPr/>
        </p:nvSpPr>
        <p:spPr>
          <a:xfrm>
            <a:off x="3520440" y="1188720"/>
            <a:ext cx="8214055" cy="237744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050" b="1" dirty="0">
                <a:solidFill>
                  <a:srgbClr val="184F95"/>
                </a:solidFill>
                <a:latin typeface="Aptos"/>
              </a:rPr>
              <a:t>What the energy retailer means by customer</a:t>
            </a:r>
          </a:p>
        </p:txBody>
      </p:sp>
      <p:sp>
        <p:nvSpPr>
          <p:cNvPr id="17" name="shape17"/>
          <p:cNvSpPr/>
          <p:nvPr/>
        </p:nvSpPr>
        <p:spPr>
          <a:xfrm>
            <a:off x="3520440" y="1280160"/>
            <a:ext cx="821405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Concept    2. Relates to    3. Detail</a:t>
            </a:r>
          </a:p>
        </p:txBody>
      </p:sp>
      <p:sp>
        <p:nvSpPr>
          <p:cNvPr id="18" name="shape18"/>
          <p:cNvSpPr/>
          <p:nvPr/>
        </p:nvSpPr>
        <p:spPr>
          <a:xfrm>
            <a:off x="3520440" y="1499616"/>
            <a:ext cx="8214055" cy="33832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Account holder</a:t>
            </a:r>
          </a:p>
        </p:txBody>
      </p:sp>
      <p:sp>
        <p:nvSpPr>
          <p:cNvPr id="19" name="shape19"/>
          <p:cNvSpPr/>
          <p:nvPr/>
        </p:nvSpPr>
        <p:spPr>
          <a:xfrm>
            <a:off x="3904488" y="1883664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holds 1..* Accounts</a:t>
            </a:r>
          </a:p>
        </p:txBody>
      </p:sp>
      <p:cxnSp>
        <p:nvCxnSpPr>
          <p:cNvPr id="20" name="conn20"/>
          <p:cNvCxnSpPr/>
          <p:nvPr/>
        </p:nvCxnSpPr>
        <p:spPr>
          <a:xfrm>
            <a:off x="3776472" y="205282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1" name="shape21"/>
          <p:cNvSpPr/>
          <p:nvPr/>
        </p:nvSpPr>
        <p:spPr>
          <a:xfrm>
            <a:off x="4288536" y="2267712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Retail counts one customer per account holder</a:t>
            </a:r>
          </a:p>
        </p:txBody>
      </p:sp>
      <p:cxnSp>
        <p:nvCxnSpPr>
          <p:cNvPr id="22" name="conn22"/>
          <p:cNvCxnSpPr/>
          <p:nvPr/>
        </p:nvCxnSpPr>
        <p:spPr>
          <a:xfrm>
            <a:off x="4160520" y="243687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3" name="shape23"/>
          <p:cNvSpPr/>
          <p:nvPr/>
        </p:nvSpPr>
        <p:spPr>
          <a:xfrm>
            <a:off x="3904488" y="2651760"/>
            <a:ext cx="783000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is billed for 1..* Connection points</a:t>
            </a:r>
          </a:p>
        </p:txBody>
      </p:sp>
      <p:cxnSp>
        <p:nvCxnSpPr>
          <p:cNvPr id="24" name="conn24"/>
          <p:cNvCxnSpPr/>
          <p:nvPr/>
        </p:nvCxnSpPr>
        <p:spPr>
          <a:xfrm>
            <a:off x="3776472" y="282092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5" name="shape25"/>
          <p:cNvSpPr/>
          <p:nvPr/>
        </p:nvSpPr>
        <p:spPr>
          <a:xfrm>
            <a:off x="4288536" y="3035808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Network counts one customer per connection point</a:t>
            </a:r>
          </a:p>
        </p:txBody>
      </p:sp>
      <p:cxnSp>
        <p:nvCxnSpPr>
          <p:cNvPr id="26" name="conn26"/>
          <p:cNvCxnSpPr/>
          <p:nvPr/>
        </p:nvCxnSpPr>
        <p:spPr>
          <a:xfrm>
            <a:off x="4160520" y="320497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27" name="shape27"/>
          <p:cNvSpPr/>
          <p:nvPr/>
        </p:nvSpPr>
        <p:spPr>
          <a:xfrm>
            <a:off x="4288536" y="3419856"/>
            <a:ext cx="744595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A shared-care household has 2 connection points, 1 account holder</a:t>
            </a:r>
          </a:p>
        </p:txBody>
      </p:sp>
      <p:cxnSp>
        <p:nvCxnSpPr>
          <p:cNvPr id="28" name="conn28"/>
          <p:cNvCxnSpPr/>
          <p:nvPr/>
        </p:nvCxnSpPr>
        <p:spPr>
          <a:xfrm>
            <a:off x="4160520" y="358902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10.11 Concept Modelling — worked example</dc:title>
  <dc:creator>Business Analyst Services</dc:creator>
  <cp:lastModifiedBy>Business Analyst Services</cp:lastModifiedBy>
</cp:coreProperties>
</file>