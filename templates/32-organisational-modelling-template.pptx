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36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10.32  Organisational Modelling</a:t>
            </a:r>
          </a:p>
        </p:txBody>
      </p:sp>
      <p:sp>
        <p:nvSpPr>
          <p:cNvPr id="37" name="shape37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Strategy and discovery</a:t>
            </a:r>
          </a:p>
        </p:txBody>
      </p:sp>
      <p:sp>
        <p:nvSpPr>
          <p:cNvPr id="38" name="shape38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39" name="conn39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40" name="shape40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41" name="shape41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10.32</a:t>
            </a:r>
          </a:p>
        </p:txBody>
      </p:sp>
      <p:sp>
        <p:nvSpPr>
          <p:cNvPr id="42" name="shape42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Organisational Modelling — blank template</a:t>
            </a:r>
          </a:p>
        </p:txBody>
      </p:sp>
      <p:sp>
        <p:nvSpPr>
          <p:cNvPr id="43" name="shape43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Placeholders name the level, not the content. Two branches shown; add as many as the subject needs.</a:t>
            </a:r>
          </a:p>
        </p:txBody>
      </p:sp>
      <p:sp>
        <p:nvSpPr>
          <p:cNvPr id="44" name="shape44"/>
          <p:cNvSpPr/>
          <p:nvPr/>
        </p:nvSpPr>
        <p:spPr>
          <a:xfrm>
            <a:off x="457200" y="1481328"/>
            <a:ext cx="11277295" cy="20116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1. Division    2. Unit    3. Decision right</a:t>
            </a:r>
          </a:p>
        </p:txBody>
      </p:sp>
      <p:sp>
        <p:nvSpPr>
          <p:cNvPr id="45" name="shape45"/>
          <p:cNvSpPr/>
          <p:nvPr/>
        </p:nvSpPr>
        <p:spPr>
          <a:xfrm>
            <a:off x="457200" y="1700784"/>
            <a:ext cx="11277295" cy="338328"/>
          </a:xfrm>
          <a:prstGeom prst="roundRect">
            <a:avLst>
              <a:gd name="adj" fmla="val 8000"/>
            </a:avLst>
          </a:prstGeom>
          <a:solidFill>
            <a:srgbClr val="E9F1FD"/>
          </a:solidFill>
          <a:ln w="9525">
            <a:solidFill>
              <a:srgbClr val="2A78D6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50" b="1" dirty="0">
                <a:solidFill>
                  <a:srgbClr val="0B0B0B"/>
                </a:solidFill>
                <a:latin typeface="Aptos"/>
              </a:rPr>
              <a:t>Division</a:t>
            </a:r>
          </a:p>
        </p:txBody>
      </p:sp>
      <p:sp>
        <p:nvSpPr>
          <p:cNvPr id="46" name="shape46"/>
          <p:cNvSpPr/>
          <p:nvPr/>
        </p:nvSpPr>
        <p:spPr>
          <a:xfrm>
            <a:off x="841248" y="2084832"/>
            <a:ext cx="10893247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Unit</a:t>
            </a:r>
          </a:p>
        </p:txBody>
      </p:sp>
      <p:cxnSp>
        <p:nvCxnSpPr>
          <p:cNvPr id="47" name="conn47"/>
          <p:cNvCxnSpPr/>
          <p:nvPr/>
        </p:nvCxnSpPr>
        <p:spPr>
          <a:xfrm>
            <a:off x="713232" y="2253996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48" name="shape48"/>
          <p:cNvSpPr/>
          <p:nvPr/>
        </p:nvSpPr>
        <p:spPr>
          <a:xfrm>
            <a:off x="1225296" y="2468880"/>
            <a:ext cx="1050919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Decision right</a:t>
            </a:r>
          </a:p>
        </p:txBody>
      </p:sp>
      <p:cxnSp>
        <p:nvCxnSpPr>
          <p:cNvPr id="49" name="conn49"/>
          <p:cNvCxnSpPr/>
          <p:nvPr/>
        </p:nvCxnSpPr>
        <p:spPr>
          <a:xfrm>
            <a:off x="1097280" y="2638044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50" name="shape50"/>
          <p:cNvSpPr/>
          <p:nvPr/>
        </p:nvSpPr>
        <p:spPr>
          <a:xfrm>
            <a:off x="1225296" y="2852928"/>
            <a:ext cx="1050919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Decision right</a:t>
            </a:r>
          </a:p>
        </p:txBody>
      </p:sp>
      <p:cxnSp>
        <p:nvCxnSpPr>
          <p:cNvPr id="51" name="conn51"/>
          <p:cNvCxnSpPr/>
          <p:nvPr/>
        </p:nvCxnSpPr>
        <p:spPr>
          <a:xfrm>
            <a:off x="1097280" y="3022092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52" name="shape52"/>
          <p:cNvSpPr/>
          <p:nvPr/>
        </p:nvSpPr>
        <p:spPr>
          <a:xfrm>
            <a:off x="841248" y="3236976"/>
            <a:ext cx="10893247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Unit</a:t>
            </a:r>
          </a:p>
        </p:txBody>
      </p:sp>
      <p:cxnSp>
        <p:nvCxnSpPr>
          <p:cNvPr id="53" name="conn53"/>
          <p:cNvCxnSpPr/>
          <p:nvPr/>
        </p:nvCxnSpPr>
        <p:spPr>
          <a:xfrm>
            <a:off x="713232" y="3406140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54" name="shape54"/>
          <p:cNvSpPr/>
          <p:nvPr/>
        </p:nvSpPr>
        <p:spPr>
          <a:xfrm>
            <a:off x="1225296" y="3621024"/>
            <a:ext cx="1050919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Decision right</a:t>
            </a:r>
          </a:p>
        </p:txBody>
      </p:sp>
      <p:cxnSp>
        <p:nvCxnSpPr>
          <p:cNvPr id="55" name="conn55"/>
          <p:cNvCxnSpPr/>
          <p:nvPr/>
        </p:nvCxnSpPr>
        <p:spPr>
          <a:xfrm>
            <a:off x="1097280" y="3790188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  <p:sp>
        <p:nvSpPr>
          <p:cNvPr id="56" name="shape56"/>
          <p:cNvSpPr/>
          <p:nvPr/>
        </p:nvSpPr>
        <p:spPr>
          <a:xfrm>
            <a:off x="1225296" y="4005072"/>
            <a:ext cx="10509199" cy="3383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ctr" lIns="82296" rIns="82296" tIns="27432" bIns="27432"/>
          <a:lstStyle/>
          <a:p>
            <a:pPr algn="l"/>
            <a:r>
              <a:rPr lang="en-AU" sz="900" dirty="0">
                <a:solidFill>
                  <a:srgbClr val="0B0B0B"/>
                </a:solidFill>
                <a:latin typeface="Aptos"/>
              </a:rPr>
              <a:t>Decision right</a:t>
            </a:r>
          </a:p>
        </p:txBody>
      </p:sp>
      <p:cxnSp>
        <p:nvCxnSpPr>
          <p:cNvPr id="57" name="conn57"/>
          <p:cNvCxnSpPr/>
          <p:nvPr/>
        </p:nvCxnSpPr>
        <p:spPr>
          <a:xfrm>
            <a:off x="1097280" y="4174236"/>
            <a:ext cx="128016" cy="1"/>
          </a:xfrm>
          <a:prstGeom prst="line">
            <a:avLst/>
          </a:prstGeom>
          <a:ln w="6350">
            <a:solidFill>
              <a:srgbClr val="C3C2B7"/>
            </a:solidFill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10.32 Organisational Modelling — blank template</dc:title>
  <dc:creator>Business Analyst Services</dc:creator>
  <cp:lastModifiedBy>Business Analyst Services</cp:lastModifiedBy>
</cp:coreProperties>
</file>