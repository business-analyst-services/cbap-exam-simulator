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D928C-8D94-4386-AC7B-553F59AB7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15E4E-208B-05AF-0F7D-9031FC30B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1AB49-14DA-9592-096C-42215282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846A6-E1F2-97FD-1990-6DB3D94A2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2E879-8ADE-ADD1-561C-922DD66B1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434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62970-3FFA-672E-7BDF-8C3960446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68F12-6D7A-FAC0-A8EA-015157BBB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B7A39-1E77-649D-B8DD-65A653DA9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EC7D5-C430-E2C7-F316-38EA7DAF8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D7CAB-8C83-4E1B-163F-768A62AD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0130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B571-F905-106F-44AC-06D507B8D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BDFC9-BB31-433B-931E-96E8AD41C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D8789-1EE8-4EB2-A8D6-1CF825AAC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447C1-5CE4-9F76-9084-1F256878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835E4-AFDF-C6D5-CD1B-FA44865F8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844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E5372-E0A7-350D-2E33-AD05CD86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14DD2-FD65-8F81-56D6-7CCCBFA303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754D9-E8E7-1862-DAE2-BA3F6E1D0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41819-1EBC-263E-53AD-63930D519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1B7D8-7263-F629-5FCA-42BBA2DBE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436AB-10EF-5D96-2497-C60B56CD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494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B8AB-C454-7B11-466F-81F851FE4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CCE9B-8BCB-3DFD-87F6-AA5CEC25B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05606-8CAC-4E3B-C6ED-4AC2B5B70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81D3C8-B3AC-1B3C-3004-08F40E1C04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F8BD6-6962-8063-AE0A-5B8462237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F2BB01-25A7-74DB-9D39-FF2497850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EC8301-7807-EC5A-6186-22270AF9C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D6DC6-AA52-6F5F-3085-E5804726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2518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F212-4210-7349-A016-49E99138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4B7576-2346-127D-9DC5-8AED421B0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4EFCF-868D-FC97-52FF-BCD0344C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1E5D5-7126-62BB-3AB3-D05572B6E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3273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D34B14-28BC-00E5-F4D8-4E0643C78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9C7536-7B97-D84D-CDFB-8BC699DC5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231F4-14C5-C859-F2BA-D048EEFA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7642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FE36B-C1A8-E713-D3B0-633FBD811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836CF-9976-29CE-68C5-9599264B3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AFBF0-4B3F-2EF1-8B31-26642E3D7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5EE40-43F3-7F72-C8F1-EDD0B50D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2FD82-A9F1-3A8F-56B3-A1634315E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D54F0-0539-7BA2-BE93-05305B89F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126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4329-14C2-BCD5-7B8B-83A0D2EA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780F7B-39E7-80A7-B597-95CE2CDC6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E643D-14FF-D0FF-4AD7-CDCACEE3D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A30B3-6F69-EBB5-A077-12640378C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19E47-FC10-596B-6C48-03F211E1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04247-22B8-B7DE-3F1D-99233640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579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6F2B-D3D5-6EA6-0020-9DECD2B7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BA203-CF3F-8892-5650-4309825CF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26AE2-84EA-FE78-2265-F6AFE0A1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63697-1B9F-069E-2598-73789FDF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047D5-B882-D0F3-B993-DF9EDB20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342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84AB66-86D0-3D3E-E607-14155BE92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B9329-08DA-011C-50F7-CAB8B821B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5844B-E496-59B2-0A32-DFDAE7DAD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10B4B-1C2F-C372-0353-8D20C000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BC671-93AA-3D60-4FE1-A1D5BCE4B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553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5F508C-2EF1-2B88-6F34-BC6267F7C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579F1-5848-0D86-5D03-D45679A30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C1FA1-D052-8D63-598C-3712975FF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CA5EC-E9C5-E397-BED3-64A79396D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41FC9-9C2B-BFFE-5BEC-9A8C04ED0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3503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25"/>
          <p:cNvSpPr/>
          <p:nvPr/>
        </p:nvSpPr>
        <p:spPr>
          <a:xfrm>
            <a:off x="457200" y="310896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2200" b="1" dirty="0">
                <a:solidFill>
                  <a:srgbClr val="0B0B0B"/>
                </a:solidFill>
                <a:latin typeface="Aptos"/>
              </a:rPr>
              <a:t>10.36  Prototyping</a:t>
            </a:r>
          </a:p>
        </p:txBody>
      </p:sp>
      <p:sp>
        <p:nvSpPr>
          <p:cNvPr id="26" name="shape26"/>
          <p:cNvSpPr/>
          <p:nvPr/>
        </p:nvSpPr>
        <p:spPr>
          <a:xfrm>
            <a:off x="457200" y="786384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1050" dirty="0">
                <a:solidFill>
                  <a:srgbClr val="6B6A66"/>
                </a:solidFill>
                <a:latin typeface="Aptos"/>
              </a:rPr>
              <a:t>Elicitation and collaboration</a:t>
            </a:r>
          </a:p>
        </p:txBody>
      </p:sp>
      <p:sp>
        <p:nvSpPr>
          <p:cNvPr id="27" name="shape27"/>
          <p:cNvSpPr/>
          <p:nvPr/>
        </p:nvSpPr>
        <p:spPr>
          <a:xfrm>
            <a:off x="9677095" y="384048"/>
            <a:ext cx="2057400" cy="3108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2A78D6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50" b="1" dirty="0">
                <a:solidFill>
                  <a:srgbClr val="2A78D6"/>
                </a:solidFill>
                <a:latin typeface="Aptos"/>
              </a:rPr>
              <a:t>BLANK TEMPLATE</a:t>
            </a:r>
          </a:p>
        </p:txBody>
      </p:sp>
      <p:cxnSp>
        <p:nvCxnSpPr>
          <p:cNvPr id="28" name="conn28"/>
          <p:cNvCxnSpPr/>
          <p:nvPr/>
        </p:nvCxnSpPr>
        <p:spPr>
          <a:xfrm>
            <a:off x="457200" y="1078992"/>
            <a:ext cx="11277295" cy="1"/>
          </a:xfrm>
          <a:prstGeom prst="line">
            <a:avLst/>
          </a:prstGeom>
          <a:ln w="9525">
            <a:solidFill>
              <a:srgbClr val="D9D8D0"/>
            </a:solidFill>
          </a:ln>
        </p:spPr>
      </p:cxnSp>
      <p:sp>
        <p:nvSpPr>
          <p:cNvPr id="29" name="shape29"/>
          <p:cNvSpPr/>
          <p:nvPr/>
        </p:nvSpPr>
        <p:spPr>
          <a:xfrm>
            <a:off x="457200" y="647395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CBAP® Technique Pack · BABOK® Guide v3 · business-analyst.services</a:t>
            </a:r>
          </a:p>
        </p:txBody>
      </p:sp>
      <p:sp>
        <p:nvSpPr>
          <p:cNvPr id="30" name="shape30"/>
          <p:cNvSpPr/>
          <p:nvPr/>
        </p:nvSpPr>
        <p:spPr>
          <a:xfrm>
            <a:off x="10637215" y="6473952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r"/>
            <a:r>
              <a:rPr lang="en-AU" sz="800" dirty="0">
                <a:solidFill>
                  <a:srgbClr val="6B6A66"/>
                </a:solidFill>
                <a:latin typeface="Aptos"/>
              </a:rPr>
              <a:t>10.36</a:t>
            </a:r>
          </a:p>
        </p:txBody>
      </p:sp>
      <p:sp>
        <p:nvSpPr>
          <p:cNvPr id="31" name="shape31"/>
          <p:cNvSpPr/>
          <p:nvPr/>
        </p:nvSpPr>
        <p:spPr>
          <a:xfrm>
            <a:off x="457200" y="1207008"/>
            <a:ext cx="11277295" cy="27432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1250" b="1" dirty="0">
                <a:solidFill>
                  <a:srgbClr val="184F95"/>
                </a:solidFill>
                <a:latin typeface="Aptos"/>
              </a:rPr>
              <a:t>Prototyping — blank template</a:t>
            </a:r>
          </a:p>
        </p:txBody>
      </p:sp>
      <p:sp>
        <p:nvSpPr>
          <p:cNvPr id="32" name="shape32"/>
          <p:cNvSpPr/>
          <p:nvPr/>
        </p:nvSpPr>
        <p:spPr>
          <a:xfrm>
            <a:off x="457200" y="6089904"/>
            <a:ext cx="11277295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50" dirty="0">
                <a:solidFill>
                  <a:srgbClr val="6B6A66"/>
                </a:solidFill>
                <a:latin typeface="Aptos"/>
              </a:rPr>
              <a:t>Record what can go wrong at each step underneath, not only the path where everything works.</a:t>
            </a:r>
          </a:p>
        </p:txBody>
      </p:sp>
      <p:sp>
        <p:nvSpPr>
          <p:cNvPr id="33" name="shape33"/>
          <p:cNvSpPr/>
          <p:nvPr/>
        </p:nvSpPr>
        <p:spPr>
          <a:xfrm>
            <a:off x="457200" y="1700784"/>
            <a:ext cx="2668448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750" b="1" dirty="0">
                <a:solidFill>
                  <a:srgbClr val="184F95"/>
                </a:solidFill>
                <a:latin typeface="Aptos"/>
              </a:rPr>
              <a:t>ROUND 1</a:t>
            </a:r>
          </a:p>
          <a:p>
            <a:pPr algn="l"/>
            <a:r>
              <a:rPr lang="en-AU" sz="950" b="1" dirty="0">
                <a:solidFill>
                  <a:srgbClr val="0B0B0B"/>
                </a:solidFill>
                <a:latin typeface="Aptos"/>
              </a:rPr>
              <a:t>Step 1</a:t>
            </a:r>
          </a:p>
        </p:txBody>
      </p:sp>
      <p:cxnSp>
        <p:nvCxnSpPr>
          <p:cNvPr id="34" name="conn34"/>
          <p:cNvCxnSpPr/>
          <p:nvPr/>
        </p:nvCxnSpPr>
        <p:spPr>
          <a:xfrm>
            <a:off x="3143936" y="2386584"/>
            <a:ext cx="164592" cy="1"/>
          </a:xfrm>
          <a:prstGeom prst="line">
            <a:avLst/>
          </a:prstGeom>
          <a:ln w="12700">
            <a:solidFill>
              <a:srgbClr val="C3C2B7"/>
            </a:solidFill>
            <a:tailEnd type="triangle" w="med" len="med"/>
          </a:ln>
        </p:spPr>
      </p:cxnSp>
      <p:sp>
        <p:nvSpPr>
          <p:cNvPr id="35" name="shape35"/>
          <p:cNvSpPr/>
          <p:nvPr/>
        </p:nvSpPr>
        <p:spPr>
          <a:xfrm>
            <a:off x="3326816" y="1700784"/>
            <a:ext cx="2668448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750" b="1" dirty="0">
                <a:solidFill>
                  <a:srgbClr val="184F95"/>
                </a:solidFill>
                <a:latin typeface="Aptos"/>
              </a:rPr>
              <a:t>ROUND 2</a:t>
            </a:r>
          </a:p>
          <a:p>
            <a:pPr algn="l"/>
            <a:r>
              <a:rPr lang="en-AU" sz="950" b="1" dirty="0">
                <a:solidFill>
                  <a:srgbClr val="0B0B0B"/>
                </a:solidFill>
                <a:latin typeface="Aptos"/>
              </a:rPr>
              <a:t>Step 2</a:t>
            </a:r>
          </a:p>
        </p:txBody>
      </p:sp>
      <p:cxnSp>
        <p:nvCxnSpPr>
          <p:cNvPr id="36" name="conn36"/>
          <p:cNvCxnSpPr/>
          <p:nvPr/>
        </p:nvCxnSpPr>
        <p:spPr>
          <a:xfrm>
            <a:off x="6013552" y="2386584"/>
            <a:ext cx="164592" cy="1"/>
          </a:xfrm>
          <a:prstGeom prst="line">
            <a:avLst/>
          </a:prstGeom>
          <a:ln w="12700">
            <a:solidFill>
              <a:srgbClr val="C3C2B7"/>
            </a:solidFill>
            <a:tailEnd type="triangle" w="med" len="med"/>
          </a:ln>
        </p:spPr>
      </p:cxnSp>
      <p:sp>
        <p:nvSpPr>
          <p:cNvPr id="37" name="shape37"/>
          <p:cNvSpPr/>
          <p:nvPr/>
        </p:nvSpPr>
        <p:spPr>
          <a:xfrm>
            <a:off x="6196432" y="1700784"/>
            <a:ext cx="2668448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750" b="1" dirty="0">
                <a:solidFill>
                  <a:srgbClr val="184F95"/>
                </a:solidFill>
                <a:latin typeface="Aptos"/>
              </a:rPr>
              <a:t>ROUND 3</a:t>
            </a:r>
          </a:p>
          <a:p>
            <a:pPr algn="l"/>
            <a:r>
              <a:rPr lang="en-AU" sz="950" b="1" dirty="0">
                <a:solidFill>
                  <a:srgbClr val="0B0B0B"/>
                </a:solidFill>
                <a:latin typeface="Aptos"/>
              </a:rPr>
              <a:t>Step 3</a:t>
            </a:r>
          </a:p>
        </p:txBody>
      </p:sp>
      <p:cxnSp>
        <p:nvCxnSpPr>
          <p:cNvPr id="38" name="conn38"/>
          <p:cNvCxnSpPr/>
          <p:nvPr/>
        </p:nvCxnSpPr>
        <p:spPr>
          <a:xfrm>
            <a:off x="8883167" y="2386584"/>
            <a:ext cx="164592" cy="1"/>
          </a:xfrm>
          <a:prstGeom prst="line">
            <a:avLst/>
          </a:prstGeom>
          <a:ln w="12700">
            <a:solidFill>
              <a:srgbClr val="C3C2B7"/>
            </a:solidFill>
            <a:tailEnd type="triangle" w="med" len="med"/>
          </a:ln>
        </p:spPr>
      </p:cxnSp>
      <p:sp>
        <p:nvSpPr>
          <p:cNvPr id="39" name="shape39"/>
          <p:cNvSpPr/>
          <p:nvPr/>
        </p:nvSpPr>
        <p:spPr>
          <a:xfrm>
            <a:off x="9066047" y="1700784"/>
            <a:ext cx="2668448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750" b="1" dirty="0">
                <a:solidFill>
                  <a:srgbClr val="184F95"/>
                </a:solidFill>
                <a:latin typeface="Aptos"/>
              </a:rPr>
              <a:t>THEN</a:t>
            </a:r>
          </a:p>
          <a:p>
            <a:pPr algn="l"/>
            <a:r>
              <a:rPr lang="en-AU" sz="950" b="1" dirty="0">
                <a:solidFill>
                  <a:srgbClr val="0B0B0B"/>
                </a:solidFill>
                <a:latin typeface="Aptos"/>
              </a:rPr>
              <a:t>Step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10.36 Prototyping — blank template</dc:title>
  <dc:creator>Business Analyst Services</dc:creator>
  <cp:lastModifiedBy>Business Analyst Services</cp:lastModifiedBy>
</cp:coreProperties>
</file>