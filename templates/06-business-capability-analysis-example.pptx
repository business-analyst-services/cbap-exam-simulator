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10.6  Business Capability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10.6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Describes what the enterprise is able to do, independently of who does it or how, and grades each ability for performance and importance.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investment has to be aimed at an outcome rather than a department, or when the same weakness keeps surfacing across several units.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Capabilities are what the organisation can do; processes are how it does it. An item that keeps naming org units or hand-offs is heading for process or organisational modelling, not capability analysis.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6.1 Analyze Current State · 6.2 Define Future State · 6.4 Define Change Strategy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Insurer capabilities, graded after three departmental programmes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Decisioning consistency spans claims, underwriting and service. No department owns it, so no departmental programme fixed it.</a:t>
            </a:r>
          </a:p>
        </p:txBody>
      </p:sp>
      <p:sp>
        <p:nvSpPr>
          <p:cNvPr id="18" name="shape18"/>
          <p:cNvSpPr/>
          <p:nvPr/>
        </p:nvSpPr>
        <p:spPr>
          <a:xfrm>
            <a:off x="4892040" y="1499616"/>
            <a:ext cx="68424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Performance →</a:t>
            </a:r>
          </a:p>
        </p:txBody>
      </p:sp>
      <p:sp>
        <p:nvSpPr>
          <p:cNvPr id="19" name="shape19"/>
          <p:cNvSpPr/>
          <p:nvPr/>
        </p:nvSpPr>
        <p:spPr>
          <a:xfrm>
            <a:off x="4892040" y="1737360"/>
            <a:ext cx="228081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Weak</a:t>
            </a:r>
          </a:p>
        </p:txBody>
      </p:sp>
      <p:sp>
        <p:nvSpPr>
          <p:cNvPr id="20" name="shape20"/>
          <p:cNvSpPr/>
          <p:nvPr/>
        </p:nvSpPr>
        <p:spPr>
          <a:xfrm>
            <a:off x="7172858" y="1737360"/>
            <a:ext cx="228081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Adequate</a:t>
            </a:r>
          </a:p>
        </p:txBody>
      </p:sp>
      <p:sp>
        <p:nvSpPr>
          <p:cNvPr id="21" name="shape21"/>
          <p:cNvSpPr/>
          <p:nvPr/>
        </p:nvSpPr>
        <p:spPr>
          <a:xfrm>
            <a:off x="9453677" y="1737360"/>
            <a:ext cx="228081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Strong</a:t>
            </a:r>
          </a:p>
        </p:txBody>
      </p:sp>
      <p:sp>
        <p:nvSpPr>
          <p:cNvPr id="22" name="shape22"/>
          <p:cNvSpPr/>
          <p:nvPr/>
        </p:nvSpPr>
        <p:spPr>
          <a:xfrm>
            <a:off x="3520440" y="20025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Critical</a:t>
            </a:r>
          </a:p>
        </p:txBody>
      </p:sp>
      <p:sp>
        <p:nvSpPr>
          <p:cNvPr id="23" name="shape23"/>
          <p:cNvSpPr/>
          <p:nvPr/>
        </p:nvSpPr>
        <p:spPr>
          <a:xfrm>
            <a:off x="4928616" y="20025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INVEST HERE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Decisioning consistency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Customer identity resolution</a:t>
            </a:r>
          </a:p>
        </p:txBody>
      </p:sp>
      <p:sp>
        <p:nvSpPr>
          <p:cNvPr id="24" name="shape24"/>
          <p:cNvSpPr/>
          <p:nvPr/>
        </p:nvSpPr>
        <p:spPr>
          <a:xfrm>
            <a:off x="7209434" y="20025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Claims assessment</a:t>
            </a:r>
          </a:p>
        </p:txBody>
      </p:sp>
      <p:sp>
        <p:nvSpPr>
          <p:cNvPr id="25" name="shape25"/>
          <p:cNvSpPr/>
          <p:nvPr/>
        </p:nvSpPr>
        <p:spPr>
          <a:xfrm>
            <a:off x="9490253" y="20025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Premium calculation</a:t>
            </a:r>
          </a:p>
        </p:txBody>
      </p:sp>
      <p:sp>
        <p:nvSpPr>
          <p:cNvPr id="26" name="shape26"/>
          <p:cNvSpPr/>
          <p:nvPr/>
        </p:nvSpPr>
        <p:spPr>
          <a:xfrm>
            <a:off x="3520440" y="33741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Supporting</a:t>
            </a:r>
          </a:p>
        </p:txBody>
      </p:sp>
      <p:sp>
        <p:nvSpPr>
          <p:cNvPr id="27" name="shape27"/>
          <p:cNvSpPr/>
          <p:nvPr/>
        </p:nvSpPr>
        <p:spPr>
          <a:xfrm>
            <a:off x="4928616" y="33741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Document generation</a:t>
            </a:r>
          </a:p>
        </p:txBody>
      </p:sp>
      <p:sp>
        <p:nvSpPr>
          <p:cNvPr id="28" name="shape28"/>
          <p:cNvSpPr/>
          <p:nvPr/>
        </p:nvSpPr>
        <p:spPr>
          <a:xfrm>
            <a:off x="7209434" y="33741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Complaints capture</a:t>
            </a:r>
          </a:p>
        </p:txBody>
      </p:sp>
      <p:sp>
        <p:nvSpPr>
          <p:cNvPr id="29" name="shape29"/>
          <p:cNvSpPr/>
          <p:nvPr/>
        </p:nvSpPr>
        <p:spPr>
          <a:xfrm>
            <a:off x="9490253" y="3374136"/>
            <a:ext cx="220766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OVER-INVESTED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Reporting</a:t>
            </a:r>
          </a:p>
        </p:txBody>
      </p:sp>
      <p:sp>
        <p:nvSpPr>
          <p:cNvPr id="30" name="shape30"/>
          <p:cNvSpPr/>
          <p:nvPr/>
        </p:nvSpPr>
        <p:spPr>
          <a:xfrm>
            <a:off x="3474720" y="200253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Importance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10.6 Business Capability Analysis — worked example</dc:title>
  <dc:creator>Business Analyst Services</dc:creator>
  <cp:lastModifiedBy>Business Analyst Services</cp:lastModifiedBy>
</cp:coreProperties>
</file>