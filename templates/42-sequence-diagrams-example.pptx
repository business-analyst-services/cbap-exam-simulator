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10.42  Sequence Diagrams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10.42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Shows the ordered exchange of messages between participants over time to accomplish a specific interaction.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timing, ordering and the exact exchange between components decide whether the behaviour is correct.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Sequence diagrams order messages between components; process models order activities performed by people and systems; state models track what an object becomes. Messages, work, or status is the three-way split.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7.4 Define Requirements Architecture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The race that only appears under load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Load widens the window between the last two messages. It does not cause the fault.</a:t>
            </a:r>
          </a:p>
        </p:txBody>
      </p:sp>
      <p:sp>
        <p:nvSpPr>
          <p:cNvPr id="18" name="shape18"/>
          <p:cNvSpPr/>
          <p:nvPr/>
        </p:nvSpPr>
        <p:spPr>
          <a:xfrm>
            <a:off x="3520440" y="1499616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0B0B0B"/>
                </a:solidFill>
                <a:latin typeface="Aptos"/>
              </a:rPr>
              <a:t>Gateway</a:t>
            </a:r>
          </a:p>
        </p:txBody>
      </p:sp>
      <p:cxnSp>
        <p:nvCxnSpPr>
          <p:cNvPr id="19" name="conn19"/>
          <p:cNvCxnSpPr/>
          <p:nvPr/>
        </p:nvCxnSpPr>
        <p:spPr>
          <a:xfrm>
            <a:off x="4389120" y="1883664"/>
            <a:ext cx="1" cy="2377440"/>
          </a:xfrm>
          <a:prstGeom prst="line">
            <a:avLst/>
          </a:prstGeom>
          <a:ln w="6350">
            <a:solidFill>
              <a:srgbClr val="D9D8D0"/>
            </a:solidFill>
            <a:prstDash val="dash"/>
          </a:ln>
        </p:spPr>
      </p:cxnSp>
      <p:sp>
        <p:nvSpPr>
          <p:cNvPr id="20" name="shape20"/>
          <p:cNvSpPr/>
          <p:nvPr/>
        </p:nvSpPr>
        <p:spPr>
          <a:xfrm>
            <a:off x="5679338" y="1499616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0B0B0B"/>
                </a:solidFill>
                <a:latin typeface="Aptos"/>
              </a:rPr>
              <a:t>Authorisation</a:t>
            </a:r>
          </a:p>
        </p:txBody>
      </p:sp>
      <p:cxnSp>
        <p:nvCxnSpPr>
          <p:cNvPr id="21" name="conn21"/>
          <p:cNvCxnSpPr/>
          <p:nvPr/>
        </p:nvCxnSpPr>
        <p:spPr>
          <a:xfrm>
            <a:off x="6548018" y="1883664"/>
            <a:ext cx="1" cy="2377440"/>
          </a:xfrm>
          <a:prstGeom prst="line">
            <a:avLst/>
          </a:prstGeom>
          <a:ln w="6350">
            <a:solidFill>
              <a:srgbClr val="D9D8D0"/>
            </a:solidFill>
            <a:prstDash val="dash"/>
          </a:ln>
        </p:spPr>
      </p:cxnSp>
      <p:sp>
        <p:nvSpPr>
          <p:cNvPr id="22" name="shape22"/>
          <p:cNvSpPr/>
          <p:nvPr/>
        </p:nvSpPr>
        <p:spPr>
          <a:xfrm>
            <a:off x="7838237" y="1499616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0B0B0B"/>
                </a:solidFill>
                <a:latin typeface="Aptos"/>
              </a:rPr>
              <a:t>Fraud service</a:t>
            </a:r>
          </a:p>
        </p:txBody>
      </p:sp>
      <p:cxnSp>
        <p:nvCxnSpPr>
          <p:cNvPr id="23" name="conn23"/>
          <p:cNvCxnSpPr/>
          <p:nvPr/>
        </p:nvCxnSpPr>
        <p:spPr>
          <a:xfrm>
            <a:off x="8706917" y="1883664"/>
            <a:ext cx="1" cy="2377440"/>
          </a:xfrm>
          <a:prstGeom prst="line">
            <a:avLst/>
          </a:prstGeom>
          <a:ln w="6350">
            <a:solidFill>
              <a:srgbClr val="D9D8D0"/>
            </a:solidFill>
            <a:prstDash val="dash"/>
          </a:ln>
        </p:spPr>
      </p:cxnSp>
      <p:sp>
        <p:nvSpPr>
          <p:cNvPr id="24" name="shape24"/>
          <p:cNvSpPr/>
          <p:nvPr/>
        </p:nvSpPr>
        <p:spPr>
          <a:xfrm>
            <a:off x="9997135" y="1499616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0B0B0B"/>
                </a:solidFill>
                <a:latin typeface="Aptos"/>
              </a:rPr>
              <a:t>Ledger</a:t>
            </a:r>
          </a:p>
        </p:txBody>
      </p:sp>
      <p:cxnSp>
        <p:nvCxnSpPr>
          <p:cNvPr id="25" name="conn25"/>
          <p:cNvCxnSpPr/>
          <p:nvPr/>
        </p:nvCxnSpPr>
        <p:spPr>
          <a:xfrm>
            <a:off x="10865815" y="1883664"/>
            <a:ext cx="1" cy="2377440"/>
          </a:xfrm>
          <a:prstGeom prst="line">
            <a:avLst/>
          </a:prstGeom>
          <a:ln w="6350">
            <a:solidFill>
              <a:srgbClr val="D9D8D0"/>
            </a:solidFill>
            <a:prstDash val="dash"/>
          </a:ln>
        </p:spPr>
      </p:cxnSp>
      <p:cxnSp>
        <p:nvCxnSpPr>
          <p:cNvPr id="26" name="conn26"/>
          <p:cNvCxnSpPr/>
          <p:nvPr/>
        </p:nvCxnSpPr>
        <p:spPr>
          <a:xfrm>
            <a:off x="4389120" y="2276856"/>
            <a:ext cx="2158898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27" name="shape27"/>
          <p:cNvSpPr/>
          <p:nvPr/>
        </p:nvSpPr>
        <p:spPr>
          <a:xfrm>
            <a:off x="4389120" y="2020824"/>
            <a:ext cx="215889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00" dirty="0">
                <a:solidFill>
                  <a:srgbClr val="6B6A66"/>
                </a:solidFill>
                <a:latin typeface="Aptos"/>
              </a:rPr>
              <a:t>authorise(txn)</a:t>
            </a:r>
          </a:p>
        </p:txBody>
      </p:sp>
      <p:cxnSp>
        <p:nvCxnSpPr>
          <p:cNvPr id="28" name="conn28"/>
          <p:cNvCxnSpPr/>
          <p:nvPr/>
        </p:nvCxnSpPr>
        <p:spPr>
          <a:xfrm flipH="1">
            <a:off x="4389120" y="2697480"/>
            <a:ext cx="2158898" cy="1"/>
          </a:xfrm>
          <a:prstGeom prst="line">
            <a:avLst/>
          </a:prstGeom>
          <a:ln w="12700">
            <a:solidFill>
              <a:srgbClr val="C3C2B7"/>
            </a:solidFill>
            <a:prstDash val="dash"/>
            <a:tailEnd type="triangle" w="med" len="med"/>
          </a:ln>
        </p:spPr>
      </p:cxnSp>
      <p:sp>
        <p:nvSpPr>
          <p:cNvPr id="29" name="shape29"/>
          <p:cNvSpPr/>
          <p:nvPr/>
        </p:nvSpPr>
        <p:spPr>
          <a:xfrm>
            <a:off x="4389120" y="2441448"/>
            <a:ext cx="215889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00" dirty="0">
                <a:solidFill>
                  <a:srgbClr val="6B6A66"/>
                </a:solidFill>
                <a:latin typeface="Aptos"/>
              </a:rPr>
              <a:t>approved</a:t>
            </a:r>
          </a:p>
        </p:txBody>
      </p:sp>
      <p:cxnSp>
        <p:nvCxnSpPr>
          <p:cNvPr id="30" name="conn30"/>
          <p:cNvCxnSpPr/>
          <p:nvPr/>
        </p:nvCxnSpPr>
        <p:spPr>
          <a:xfrm>
            <a:off x="4389120" y="3118104"/>
            <a:ext cx="4317797" cy="1"/>
          </a:xfrm>
          <a:prstGeom prst="line">
            <a:avLst/>
          </a:prstGeom>
          <a:ln w="12700">
            <a:solidFill>
              <a:srgbClr val="C3C2B7"/>
            </a:solidFill>
            <a:prstDash val="dash"/>
            <a:tailEnd type="triangle" w="med" len="med"/>
          </a:ln>
        </p:spPr>
      </p:cxnSp>
      <p:sp>
        <p:nvSpPr>
          <p:cNvPr id="31" name="shape31"/>
          <p:cNvSpPr/>
          <p:nvPr/>
        </p:nvSpPr>
        <p:spPr>
          <a:xfrm>
            <a:off x="4389120" y="2862072"/>
            <a:ext cx="4317797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00" dirty="0">
                <a:solidFill>
                  <a:srgbClr val="6B6A66"/>
                </a:solidFill>
                <a:latin typeface="Aptos"/>
              </a:rPr>
              <a:t>score(txn) — does not wait</a:t>
            </a:r>
          </a:p>
        </p:txBody>
      </p:sp>
      <p:cxnSp>
        <p:nvCxnSpPr>
          <p:cNvPr id="32" name="conn32"/>
          <p:cNvCxnSpPr/>
          <p:nvPr/>
        </p:nvCxnSpPr>
        <p:spPr>
          <a:xfrm>
            <a:off x="4389120" y="3538728"/>
            <a:ext cx="6476695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33" name="shape33"/>
          <p:cNvSpPr/>
          <p:nvPr/>
        </p:nvSpPr>
        <p:spPr>
          <a:xfrm>
            <a:off x="4389120" y="3282696"/>
            <a:ext cx="6476695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00" dirty="0">
                <a:solidFill>
                  <a:srgbClr val="6B6A66"/>
                </a:solidFill>
                <a:latin typeface="Aptos"/>
              </a:rPr>
              <a:t>post(txn)</a:t>
            </a:r>
          </a:p>
        </p:txBody>
      </p:sp>
      <p:cxnSp>
        <p:nvCxnSpPr>
          <p:cNvPr id="34" name="conn34"/>
          <p:cNvCxnSpPr/>
          <p:nvPr/>
        </p:nvCxnSpPr>
        <p:spPr>
          <a:xfrm flipH="1">
            <a:off x="4389120" y="3959352"/>
            <a:ext cx="4317797" cy="1"/>
          </a:xfrm>
          <a:prstGeom prst="line">
            <a:avLst/>
          </a:prstGeom>
          <a:ln w="12700">
            <a:solidFill>
              <a:srgbClr val="D03B3B"/>
            </a:solidFill>
            <a:tailEnd type="triangle" w="med" len="med"/>
          </a:ln>
        </p:spPr>
      </p:cxnSp>
      <p:sp>
        <p:nvSpPr>
          <p:cNvPr id="35" name="shape35"/>
          <p:cNvSpPr/>
          <p:nvPr/>
        </p:nvSpPr>
        <p:spPr>
          <a:xfrm>
            <a:off x="4389120" y="3703320"/>
            <a:ext cx="4317797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00" dirty="0">
                <a:solidFill>
                  <a:srgbClr val="D03B3B"/>
                </a:solidFill>
                <a:latin typeface="Aptos"/>
              </a:rPr>
              <a:t>decision arrives after posting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10.42 Sequence Diagrams — worked example</dc:title>
  <dc:creator>Business Analyst Services</dc:creator>
  <cp:lastModifiedBy>Business Analyst Services</cp:lastModifiedBy>
</cp:coreProperties>
</file>