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10.39  Roles and Permissions Matrix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10.39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Sets out which role may perform which action on which object, exposing gaps, overlaps and separation-of-duty breaches.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access, authority or segregation of duties is in question, particularly under audit or regulation.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roles and permissions matrix governs what a role may do in the solution; organisational modelling describes where the role sits. Permission versus position.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6.2 Define Future State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Grants system — where separation of duties breaks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The grants officer can raise and approve the same payment. Counted across all 99 combinations, not anecdotally.</a:t>
            </a:r>
          </a:p>
        </p:txBody>
      </p:sp>
      <p:sp>
        <p:nvSpPr>
          <p:cNvPr id="18" name="shape18"/>
          <p:cNvSpPr/>
          <p:nvPr/>
        </p:nvSpPr>
        <p:spPr>
          <a:xfrm>
            <a:off x="4892040" y="1499616"/>
            <a:ext cx="68424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6B6A66"/>
                </a:solidFill>
                <a:latin typeface="Aptos"/>
              </a:rPr>
              <a:t>Action →</a:t>
            </a:r>
          </a:p>
        </p:txBody>
      </p:sp>
      <p:sp>
        <p:nvSpPr>
          <p:cNvPr id="19" name="shape19"/>
          <p:cNvSpPr/>
          <p:nvPr/>
        </p:nvSpPr>
        <p:spPr>
          <a:xfrm>
            <a:off x="4892040" y="1737360"/>
            <a:ext cx="171061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Create</a:t>
            </a:r>
          </a:p>
        </p:txBody>
      </p:sp>
      <p:sp>
        <p:nvSpPr>
          <p:cNvPr id="20" name="shape20"/>
          <p:cNvSpPr/>
          <p:nvPr/>
        </p:nvSpPr>
        <p:spPr>
          <a:xfrm>
            <a:off x="6602654" y="1737360"/>
            <a:ext cx="171061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Approve</a:t>
            </a:r>
          </a:p>
        </p:txBody>
      </p:sp>
      <p:sp>
        <p:nvSpPr>
          <p:cNvPr id="21" name="shape21"/>
          <p:cNvSpPr/>
          <p:nvPr/>
        </p:nvSpPr>
        <p:spPr>
          <a:xfrm>
            <a:off x="8313268" y="1737360"/>
            <a:ext cx="171061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Amend</a:t>
            </a:r>
          </a:p>
        </p:txBody>
      </p:sp>
      <p:sp>
        <p:nvSpPr>
          <p:cNvPr id="22" name="shape22"/>
          <p:cNvSpPr/>
          <p:nvPr/>
        </p:nvSpPr>
        <p:spPr>
          <a:xfrm>
            <a:off x="10023881" y="1737360"/>
            <a:ext cx="171061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Delete</a:t>
            </a:r>
          </a:p>
        </p:txBody>
      </p:sp>
      <p:sp>
        <p:nvSpPr>
          <p:cNvPr id="23" name="shape23"/>
          <p:cNvSpPr/>
          <p:nvPr/>
        </p:nvSpPr>
        <p:spPr>
          <a:xfrm>
            <a:off x="3520440" y="2002536"/>
            <a:ext cx="1280160" cy="1146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Grants officer</a:t>
            </a:r>
          </a:p>
        </p:txBody>
      </p:sp>
      <p:sp>
        <p:nvSpPr>
          <p:cNvPr id="24" name="shape24"/>
          <p:cNvSpPr/>
          <p:nvPr/>
        </p:nvSpPr>
        <p:spPr>
          <a:xfrm>
            <a:off x="4928616" y="2002536"/>
            <a:ext cx="1637462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Payment ✓</a:t>
            </a:r>
          </a:p>
        </p:txBody>
      </p:sp>
      <p:sp>
        <p:nvSpPr>
          <p:cNvPr id="25" name="shape25"/>
          <p:cNvSpPr/>
          <p:nvPr/>
        </p:nvSpPr>
        <p:spPr>
          <a:xfrm>
            <a:off x="6639230" y="2002536"/>
            <a:ext cx="1637462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BREACH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Payment ✓</a:t>
            </a:r>
          </a:p>
        </p:txBody>
      </p:sp>
      <p:sp>
        <p:nvSpPr>
          <p:cNvPr id="26" name="shape26"/>
          <p:cNvSpPr/>
          <p:nvPr/>
        </p:nvSpPr>
        <p:spPr>
          <a:xfrm>
            <a:off x="8349844" y="2002536"/>
            <a:ext cx="1637462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Payment ✓</a:t>
            </a:r>
          </a:p>
        </p:txBody>
      </p:sp>
      <p:sp>
        <p:nvSpPr>
          <p:cNvPr id="27" name="shape27"/>
          <p:cNvSpPr/>
          <p:nvPr/>
        </p:nvSpPr>
        <p:spPr>
          <a:xfrm>
            <a:off x="10060457" y="2002536"/>
            <a:ext cx="1637462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—</a:t>
            </a:r>
          </a:p>
        </p:txBody>
      </p:sp>
      <p:sp>
        <p:nvSpPr>
          <p:cNvPr id="28" name="shape28"/>
          <p:cNvSpPr/>
          <p:nvPr/>
        </p:nvSpPr>
        <p:spPr>
          <a:xfrm>
            <a:off x="3520440" y="3221736"/>
            <a:ext cx="1280160" cy="1146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Finance officer</a:t>
            </a:r>
          </a:p>
        </p:txBody>
      </p:sp>
      <p:sp>
        <p:nvSpPr>
          <p:cNvPr id="29" name="shape29"/>
          <p:cNvSpPr/>
          <p:nvPr/>
        </p:nvSpPr>
        <p:spPr>
          <a:xfrm>
            <a:off x="4928616" y="3221736"/>
            <a:ext cx="1637462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Payment ✓</a:t>
            </a:r>
          </a:p>
        </p:txBody>
      </p:sp>
      <p:sp>
        <p:nvSpPr>
          <p:cNvPr id="30" name="shape30"/>
          <p:cNvSpPr/>
          <p:nvPr/>
        </p:nvSpPr>
        <p:spPr>
          <a:xfrm>
            <a:off x="6639230" y="3221736"/>
            <a:ext cx="1637462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—</a:t>
            </a:r>
          </a:p>
        </p:txBody>
      </p:sp>
      <p:sp>
        <p:nvSpPr>
          <p:cNvPr id="31" name="shape31"/>
          <p:cNvSpPr/>
          <p:nvPr/>
        </p:nvSpPr>
        <p:spPr>
          <a:xfrm>
            <a:off x="8349844" y="3221736"/>
            <a:ext cx="1637462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Payment ✓</a:t>
            </a:r>
          </a:p>
        </p:txBody>
      </p:sp>
      <p:sp>
        <p:nvSpPr>
          <p:cNvPr id="32" name="shape32"/>
          <p:cNvSpPr/>
          <p:nvPr/>
        </p:nvSpPr>
        <p:spPr>
          <a:xfrm>
            <a:off x="10060457" y="3221736"/>
            <a:ext cx="1637462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—</a:t>
            </a:r>
          </a:p>
        </p:txBody>
      </p:sp>
      <p:sp>
        <p:nvSpPr>
          <p:cNvPr id="33" name="shape33"/>
          <p:cNvSpPr/>
          <p:nvPr/>
        </p:nvSpPr>
        <p:spPr>
          <a:xfrm>
            <a:off x="3520440" y="4440936"/>
            <a:ext cx="1280160" cy="1146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Team leader</a:t>
            </a:r>
          </a:p>
        </p:txBody>
      </p:sp>
      <p:sp>
        <p:nvSpPr>
          <p:cNvPr id="34" name="shape34"/>
          <p:cNvSpPr/>
          <p:nvPr/>
        </p:nvSpPr>
        <p:spPr>
          <a:xfrm>
            <a:off x="4928616" y="4440936"/>
            <a:ext cx="1637462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—</a:t>
            </a:r>
          </a:p>
        </p:txBody>
      </p:sp>
      <p:sp>
        <p:nvSpPr>
          <p:cNvPr id="35" name="shape35"/>
          <p:cNvSpPr/>
          <p:nvPr/>
        </p:nvSpPr>
        <p:spPr>
          <a:xfrm>
            <a:off x="6639230" y="4440936"/>
            <a:ext cx="1637462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Payment ✓</a:t>
            </a:r>
          </a:p>
        </p:txBody>
      </p:sp>
      <p:sp>
        <p:nvSpPr>
          <p:cNvPr id="36" name="shape36"/>
          <p:cNvSpPr/>
          <p:nvPr/>
        </p:nvSpPr>
        <p:spPr>
          <a:xfrm>
            <a:off x="8349844" y="4440936"/>
            <a:ext cx="1637462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Payment ✓</a:t>
            </a:r>
          </a:p>
        </p:txBody>
      </p:sp>
      <p:sp>
        <p:nvSpPr>
          <p:cNvPr id="37" name="shape37"/>
          <p:cNvSpPr/>
          <p:nvPr/>
        </p:nvSpPr>
        <p:spPr>
          <a:xfrm>
            <a:off x="10060457" y="4440936"/>
            <a:ext cx="1637462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Payment ✓</a:t>
            </a:r>
          </a:p>
        </p:txBody>
      </p:sp>
      <p:sp>
        <p:nvSpPr>
          <p:cNvPr id="38" name="shape38"/>
          <p:cNvSpPr/>
          <p:nvPr/>
        </p:nvSpPr>
        <p:spPr>
          <a:xfrm>
            <a:off x="3474720" y="200253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↑ Role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10.39 Roles and Permissions Matrix — worked example</dc:title>
  <dc:creator>Business Analyst Services</dc:creator>
  <cp:lastModifiedBy>Business Analyst Services</cp:lastModifiedBy>
</cp:coreProperties>
</file>