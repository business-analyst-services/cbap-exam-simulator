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hape39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10.39  Roles and Permissions Matrix</a:t>
            </a:r>
          </a:p>
        </p:txBody>
      </p:sp>
      <p:sp>
        <p:nvSpPr>
          <p:cNvPr id="40" name="shape40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Modelling and specification</a:t>
            </a:r>
          </a:p>
        </p:txBody>
      </p:sp>
      <p:sp>
        <p:nvSpPr>
          <p:cNvPr id="41" name="shape41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42" name="conn42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43" name="shape43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44" name="shape44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10.39</a:t>
            </a:r>
          </a:p>
        </p:txBody>
      </p:sp>
      <p:sp>
        <p:nvSpPr>
          <p:cNvPr id="45" name="shape45"/>
          <p:cNvSpPr/>
          <p:nvPr/>
        </p:nvSpPr>
        <p:spPr>
          <a:xfrm>
            <a:off x="457200" y="1207008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HOW TO FILL IT IN</a:t>
            </a:r>
          </a:p>
        </p:txBody>
      </p:sp>
      <p:sp>
        <p:nvSpPr>
          <p:cNvPr id="46" name="shape46"/>
          <p:cNvSpPr/>
          <p:nvPr/>
        </p:nvSpPr>
        <p:spPr>
          <a:xfrm>
            <a:off x="457200" y="1408176"/>
            <a:ext cx="274320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950" dirty="0">
                <a:solidFill>
                  <a:srgbClr val="0B0B0B"/>
                </a:solidFill>
                <a:latin typeface="Aptos"/>
              </a:rPr>
              <a:t>Place each item in one cell only. If it fits two, the axes are not yet sharp enough.</a:t>
            </a:r>
          </a:p>
        </p:txBody>
      </p:sp>
      <p:sp>
        <p:nvSpPr>
          <p:cNvPr id="47" name="shape47"/>
          <p:cNvSpPr/>
          <p:nvPr/>
        </p:nvSpPr>
        <p:spPr>
          <a:xfrm>
            <a:off x="457200" y="2414016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WHAT IT IS FOR</a:t>
            </a:r>
          </a:p>
        </p:txBody>
      </p:sp>
      <p:sp>
        <p:nvSpPr>
          <p:cNvPr id="48" name="shape48"/>
          <p:cNvSpPr/>
          <p:nvPr/>
        </p:nvSpPr>
        <p:spPr>
          <a:xfrm>
            <a:off x="457200" y="2615184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950" dirty="0">
                <a:solidFill>
                  <a:srgbClr val="0B0B0B"/>
                </a:solidFill>
                <a:latin typeface="Aptos"/>
              </a:rPr>
              <a:t>Sets out which role may perform which action on which object, exposing gaps, overlaps and separation-of-duty breaches.</a:t>
            </a:r>
          </a:p>
        </p:txBody>
      </p:sp>
      <p:sp>
        <p:nvSpPr>
          <p:cNvPr id="49" name="shape49"/>
          <p:cNvSpPr/>
          <p:nvPr/>
        </p:nvSpPr>
        <p:spPr>
          <a:xfrm>
            <a:off x="457200" y="3438144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MOST OFTEN CONFUSED WITH</a:t>
            </a:r>
          </a:p>
        </p:txBody>
      </p:sp>
      <p:sp>
        <p:nvSpPr>
          <p:cNvPr id="50" name="shape50"/>
          <p:cNvSpPr/>
          <p:nvPr/>
        </p:nvSpPr>
        <p:spPr>
          <a:xfrm>
            <a:off x="457200" y="3639312"/>
            <a:ext cx="2743200" cy="1737360"/>
          </a:xfrm>
          <a:prstGeom prst="rect">
            <a:avLst/>
          </a:prstGeom>
          <a:solidFill>
            <a:srgbClr val="F7F7F5"/>
          </a:solidFill>
          <a:ln>
            <a:noFill/>
          </a:ln>
        </p:spPr>
        <p:txBody>
          <a:bodyPr wrap="square" anchor="t" lIns="91440" rIns="91440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A roles and permissions matrix governs what a role may do in the solution; organisational modelling describes where the role sits. Permission versus position.</a:t>
            </a:r>
          </a:p>
        </p:txBody>
      </p:sp>
      <p:sp>
        <p:nvSpPr>
          <p:cNvPr id="51" name="shape51"/>
          <p:cNvSpPr/>
          <p:nvPr/>
        </p:nvSpPr>
        <p:spPr>
          <a:xfrm>
            <a:off x="457200" y="3639312"/>
            <a:ext cx="32004" cy="1737360"/>
          </a:xfrm>
          <a:prstGeom prst="rect">
            <a:avLst/>
          </a:prstGeom>
          <a:solidFill>
            <a:srgbClr val="FAB219"/>
          </a:solidFill>
          <a:ln>
            <a:noFill/>
          </a:ln>
        </p:spPr>
        <p:txBody>
          <a:bodyPr wrap="square" anchor="ctr" lIns="54864" rIns="54864" tIns="27432" bIns="27432"/>
          <a:lstStyle/>
          <a:p>
            <a:pPr algn="l"/>
            <a:endParaRPr lang="en-AU" sz="1100"/>
          </a:p>
        </p:txBody>
      </p:sp>
      <p:sp>
        <p:nvSpPr>
          <p:cNvPr id="52" name="shape52"/>
          <p:cNvSpPr/>
          <p:nvPr/>
        </p:nvSpPr>
        <p:spPr>
          <a:xfrm>
            <a:off x="457200" y="5486400"/>
            <a:ext cx="274320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Tasks: 7.1 Specify and Model Requirements · 6.2 Define Future State</a:t>
            </a:r>
          </a:p>
        </p:txBody>
      </p:sp>
      <p:sp>
        <p:nvSpPr>
          <p:cNvPr id="53" name="shape53"/>
          <p:cNvSpPr/>
          <p:nvPr/>
        </p:nvSpPr>
        <p:spPr>
          <a:xfrm>
            <a:off x="3520440" y="1188720"/>
            <a:ext cx="8214055" cy="237744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050" b="1" dirty="0">
                <a:solidFill>
                  <a:srgbClr val="184F95"/>
                </a:solidFill>
                <a:latin typeface="Aptos"/>
              </a:rPr>
              <a:t>Roles and Permissions Matrix — blank template</a:t>
            </a:r>
          </a:p>
        </p:txBody>
      </p:sp>
      <p:sp>
        <p:nvSpPr>
          <p:cNvPr id="54" name="shape54"/>
          <p:cNvSpPr/>
          <p:nvPr/>
        </p:nvSpPr>
        <p:spPr>
          <a:xfrm>
            <a:off x="4892040" y="1499616"/>
            <a:ext cx="6842455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00" dirty="0">
                <a:solidFill>
                  <a:srgbClr val="6B6A66"/>
                </a:solidFill>
                <a:latin typeface="Aptos"/>
              </a:rPr>
              <a:t>Action →</a:t>
            </a:r>
          </a:p>
        </p:txBody>
      </p:sp>
      <p:sp>
        <p:nvSpPr>
          <p:cNvPr id="55" name="shape55"/>
          <p:cNvSpPr/>
          <p:nvPr/>
        </p:nvSpPr>
        <p:spPr>
          <a:xfrm>
            <a:off x="4892040" y="1737360"/>
            <a:ext cx="1710614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00" b="1" dirty="0">
                <a:solidFill>
                  <a:srgbClr val="6B6A66"/>
                </a:solidFill>
                <a:latin typeface="Aptos"/>
              </a:rPr>
              <a:t>Create</a:t>
            </a:r>
          </a:p>
        </p:txBody>
      </p:sp>
      <p:sp>
        <p:nvSpPr>
          <p:cNvPr id="56" name="shape56"/>
          <p:cNvSpPr/>
          <p:nvPr/>
        </p:nvSpPr>
        <p:spPr>
          <a:xfrm>
            <a:off x="6602654" y="1737360"/>
            <a:ext cx="1710614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00" b="1" dirty="0">
                <a:solidFill>
                  <a:srgbClr val="6B6A66"/>
                </a:solidFill>
                <a:latin typeface="Aptos"/>
              </a:rPr>
              <a:t>Approve</a:t>
            </a:r>
          </a:p>
        </p:txBody>
      </p:sp>
      <p:sp>
        <p:nvSpPr>
          <p:cNvPr id="57" name="shape57"/>
          <p:cNvSpPr/>
          <p:nvPr/>
        </p:nvSpPr>
        <p:spPr>
          <a:xfrm>
            <a:off x="8313268" y="1737360"/>
            <a:ext cx="1710614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00" b="1" dirty="0">
                <a:solidFill>
                  <a:srgbClr val="6B6A66"/>
                </a:solidFill>
                <a:latin typeface="Aptos"/>
              </a:rPr>
              <a:t>Amend</a:t>
            </a:r>
          </a:p>
        </p:txBody>
      </p:sp>
      <p:sp>
        <p:nvSpPr>
          <p:cNvPr id="58" name="shape58"/>
          <p:cNvSpPr/>
          <p:nvPr/>
        </p:nvSpPr>
        <p:spPr>
          <a:xfrm>
            <a:off x="10023881" y="1737360"/>
            <a:ext cx="1710614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00" b="1" dirty="0">
                <a:solidFill>
                  <a:srgbClr val="6B6A66"/>
                </a:solidFill>
                <a:latin typeface="Aptos"/>
              </a:rPr>
              <a:t>Delete</a:t>
            </a:r>
          </a:p>
        </p:txBody>
      </p:sp>
      <p:sp>
        <p:nvSpPr>
          <p:cNvPr id="59" name="shape59"/>
          <p:cNvSpPr/>
          <p:nvPr/>
        </p:nvSpPr>
        <p:spPr>
          <a:xfrm>
            <a:off x="3520440" y="2002536"/>
            <a:ext cx="1280160" cy="114604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r"/>
            <a:r>
              <a:rPr lang="en-AU" sz="900" b="1" dirty="0">
                <a:solidFill>
                  <a:srgbClr val="6B6A66"/>
                </a:solidFill>
                <a:latin typeface="Aptos"/>
              </a:rPr>
              <a:t>Grants officer</a:t>
            </a:r>
          </a:p>
        </p:txBody>
      </p:sp>
      <p:sp>
        <p:nvSpPr>
          <p:cNvPr id="60" name="shape60"/>
          <p:cNvSpPr/>
          <p:nvPr/>
        </p:nvSpPr>
        <p:spPr>
          <a:xfrm>
            <a:off x="4928616" y="2002536"/>
            <a:ext cx="1637462" cy="1146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endParaRPr lang="en-AU" sz="1100"/>
          </a:p>
        </p:txBody>
      </p:sp>
      <p:sp>
        <p:nvSpPr>
          <p:cNvPr id="61" name="shape61"/>
          <p:cNvSpPr/>
          <p:nvPr/>
        </p:nvSpPr>
        <p:spPr>
          <a:xfrm>
            <a:off x="6639230" y="2002536"/>
            <a:ext cx="1637462" cy="1146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endParaRPr lang="en-AU" sz="1100"/>
          </a:p>
        </p:txBody>
      </p:sp>
      <p:sp>
        <p:nvSpPr>
          <p:cNvPr id="62" name="shape62"/>
          <p:cNvSpPr/>
          <p:nvPr/>
        </p:nvSpPr>
        <p:spPr>
          <a:xfrm>
            <a:off x="8349844" y="2002536"/>
            <a:ext cx="1637462" cy="1146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endParaRPr lang="en-AU" sz="1100"/>
          </a:p>
        </p:txBody>
      </p:sp>
      <p:sp>
        <p:nvSpPr>
          <p:cNvPr id="63" name="shape63"/>
          <p:cNvSpPr/>
          <p:nvPr/>
        </p:nvSpPr>
        <p:spPr>
          <a:xfrm>
            <a:off x="10060457" y="2002536"/>
            <a:ext cx="1637462" cy="1146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endParaRPr lang="en-AU" sz="1100"/>
          </a:p>
        </p:txBody>
      </p:sp>
      <p:sp>
        <p:nvSpPr>
          <p:cNvPr id="64" name="shape64"/>
          <p:cNvSpPr/>
          <p:nvPr/>
        </p:nvSpPr>
        <p:spPr>
          <a:xfrm>
            <a:off x="3520440" y="3221736"/>
            <a:ext cx="1280160" cy="114604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r"/>
            <a:r>
              <a:rPr lang="en-AU" sz="900" b="1" dirty="0">
                <a:solidFill>
                  <a:srgbClr val="6B6A66"/>
                </a:solidFill>
                <a:latin typeface="Aptos"/>
              </a:rPr>
              <a:t>Finance officer</a:t>
            </a:r>
          </a:p>
        </p:txBody>
      </p:sp>
      <p:sp>
        <p:nvSpPr>
          <p:cNvPr id="65" name="shape65"/>
          <p:cNvSpPr/>
          <p:nvPr/>
        </p:nvSpPr>
        <p:spPr>
          <a:xfrm>
            <a:off x="4928616" y="3221736"/>
            <a:ext cx="1637462" cy="1146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endParaRPr lang="en-AU" sz="1100"/>
          </a:p>
        </p:txBody>
      </p:sp>
      <p:sp>
        <p:nvSpPr>
          <p:cNvPr id="66" name="shape66"/>
          <p:cNvSpPr/>
          <p:nvPr/>
        </p:nvSpPr>
        <p:spPr>
          <a:xfrm>
            <a:off x="6639230" y="3221736"/>
            <a:ext cx="1637462" cy="1146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endParaRPr lang="en-AU" sz="1100"/>
          </a:p>
        </p:txBody>
      </p:sp>
      <p:sp>
        <p:nvSpPr>
          <p:cNvPr id="67" name="shape67"/>
          <p:cNvSpPr/>
          <p:nvPr/>
        </p:nvSpPr>
        <p:spPr>
          <a:xfrm>
            <a:off x="8349844" y="3221736"/>
            <a:ext cx="1637462" cy="1146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endParaRPr lang="en-AU" sz="1100"/>
          </a:p>
        </p:txBody>
      </p:sp>
      <p:sp>
        <p:nvSpPr>
          <p:cNvPr id="68" name="shape68"/>
          <p:cNvSpPr/>
          <p:nvPr/>
        </p:nvSpPr>
        <p:spPr>
          <a:xfrm>
            <a:off x="10060457" y="3221736"/>
            <a:ext cx="1637462" cy="1146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endParaRPr lang="en-AU" sz="1100"/>
          </a:p>
        </p:txBody>
      </p:sp>
      <p:sp>
        <p:nvSpPr>
          <p:cNvPr id="69" name="shape69"/>
          <p:cNvSpPr/>
          <p:nvPr/>
        </p:nvSpPr>
        <p:spPr>
          <a:xfrm>
            <a:off x="3520440" y="4440936"/>
            <a:ext cx="1280160" cy="114604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r"/>
            <a:r>
              <a:rPr lang="en-AU" sz="900" b="1" dirty="0">
                <a:solidFill>
                  <a:srgbClr val="6B6A66"/>
                </a:solidFill>
                <a:latin typeface="Aptos"/>
              </a:rPr>
              <a:t>Team leader</a:t>
            </a:r>
          </a:p>
        </p:txBody>
      </p:sp>
      <p:sp>
        <p:nvSpPr>
          <p:cNvPr id="70" name="shape70"/>
          <p:cNvSpPr/>
          <p:nvPr/>
        </p:nvSpPr>
        <p:spPr>
          <a:xfrm>
            <a:off x="4928616" y="4440936"/>
            <a:ext cx="1637462" cy="1146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endParaRPr lang="en-AU" sz="1100"/>
          </a:p>
        </p:txBody>
      </p:sp>
      <p:sp>
        <p:nvSpPr>
          <p:cNvPr id="71" name="shape71"/>
          <p:cNvSpPr/>
          <p:nvPr/>
        </p:nvSpPr>
        <p:spPr>
          <a:xfrm>
            <a:off x="6639230" y="4440936"/>
            <a:ext cx="1637462" cy="1146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endParaRPr lang="en-AU" sz="1100"/>
          </a:p>
        </p:txBody>
      </p:sp>
      <p:sp>
        <p:nvSpPr>
          <p:cNvPr id="72" name="shape72"/>
          <p:cNvSpPr/>
          <p:nvPr/>
        </p:nvSpPr>
        <p:spPr>
          <a:xfrm>
            <a:off x="8349844" y="4440936"/>
            <a:ext cx="1637462" cy="1146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endParaRPr lang="en-AU" sz="1100"/>
          </a:p>
        </p:txBody>
      </p:sp>
      <p:sp>
        <p:nvSpPr>
          <p:cNvPr id="73" name="shape73"/>
          <p:cNvSpPr/>
          <p:nvPr/>
        </p:nvSpPr>
        <p:spPr>
          <a:xfrm>
            <a:off x="10060457" y="4440936"/>
            <a:ext cx="1637462" cy="1146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endParaRPr lang="en-AU" sz="1100"/>
          </a:p>
        </p:txBody>
      </p:sp>
      <p:sp>
        <p:nvSpPr>
          <p:cNvPr id="74" name="shape74"/>
          <p:cNvSpPr/>
          <p:nvPr/>
        </p:nvSpPr>
        <p:spPr>
          <a:xfrm>
            <a:off x="3474720" y="2002536"/>
            <a:ext cx="128016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l"/>
            <a:r>
              <a:rPr lang="en-AU" sz="850" dirty="0">
                <a:solidFill>
                  <a:srgbClr val="6B6A66"/>
                </a:solidFill>
                <a:latin typeface="Aptos"/>
              </a:rPr>
              <a:t>↑ Role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10.39 Roles and Permissions Matrix — blank template</dc:title>
  <dc:creator>Business Analyst Services</dc:creator>
  <cp:lastModifiedBy>Business Analyst Services</cp:lastModifiedBy>
</cp:coreProperties>
</file>