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928C-8D94-4386-AC7B-553F59AB7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2215E4E-208B-05AF-0F7D-9031FC30B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A11AB49-14DA-9592-096C-42215282051C}"/>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CB846A6-E1F2-97FD-1990-6DB3D94A2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72E879-8ADE-ADD1-561C-922DD66B1C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37434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2970-3FFA-672E-7BDF-8C39604467F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668F12-6D7A-FAC0-A8EA-015157BBB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2B7A39-1E77-649D-B8DD-65A653DA92D8}"/>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487EC7D5-C430-E2C7-F316-38EA7DAF8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CD7CAB-8C83-4E1B-163F-768A62ADF3F5}"/>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68013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571-F905-106F-44AC-06D507B8D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BDFC9-BB31-433B-931E-96E8AD41C5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D8789-1EE8-4EB2-A8D6-1CF825AACF86}"/>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29447C1-5CE4-9F76-9084-1F256878BE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8835E4-AFDF-C6D5-CD1B-FA44865F882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8484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5372-E0A7-350D-2E33-AD05CD86502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C14DD2-FD65-8F81-56D6-7CCCBFA30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BC754D9-E8E7-1862-DAE2-BA3F6E1D0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7741819-1EBC-263E-53AD-63930D5195F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5A1B7D8-7263-F629-5FCA-42BBA2DBEEF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F2436AB-10EF-5D96-2497-C60B56CD3D1C}"/>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37949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B8AB-C454-7B11-466F-81F851FE4E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7CCE9B-8BCB-3DFD-87F6-AA5CEC25B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05606-8CAC-4E3B-C6ED-4AC2B5B705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1D3C8-B3AC-1B3C-3004-08F40E1C0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F8BD6-6962-8063-AE0A-5B84622373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F2BB01-25A7-74DB-9D39-FF2497850D23}"/>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8" name="Footer Placeholder 7">
            <a:extLst>
              <a:ext uri="{FF2B5EF4-FFF2-40B4-BE49-F238E27FC236}">
                <a16:creationId xmlns:a16="http://schemas.microsoft.com/office/drawing/2014/main" id="{90EC8301-7807-EC5A-6186-22270AF9CE9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9D6DC6-AA52-6F5F-3085-E5804726737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502518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F212-4210-7349-A016-49E9913879B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14B7576-2346-127D-9DC5-8AED421B027E}"/>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4" name="Footer Placeholder 3">
            <a:extLst>
              <a:ext uri="{FF2B5EF4-FFF2-40B4-BE49-F238E27FC236}">
                <a16:creationId xmlns:a16="http://schemas.microsoft.com/office/drawing/2014/main" id="{1E14EFCF-868D-FC97-52FF-BCD0344C8A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61E5D5-7126-62BB-3AB3-D05572B6EB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6032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4B14-28BC-00E5-F4D8-4E0643C78024}"/>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3" name="Footer Placeholder 2">
            <a:extLst>
              <a:ext uri="{FF2B5EF4-FFF2-40B4-BE49-F238E27FC236}">
                <a16:creationId xmlns:a16="http://schemas.microsoft.com/office/drawing/2014/main" id="{5C9C7536-7B97-D84D-CDFB-8BC699DC596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E231F4-14C5-C859-F2BA-D048EEFAD9A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8476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E36B-C1A8-E713-D3B0-633FBD811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1836CF-9976-29CE-68C5-9599264B3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55AFBF0-4B3F-2EF1-8B31-26642E3D7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5EE40-43F3-7F72-C8F1-EDD0B50D1CD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6932FD82-A9F1-3A8F-56B3-A1634315EDA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8D54F0-0539-7BA2-BE93-05305B89F9D4}"/>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77126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4329-14C2-BCD5-7B8B-83A0D2EAE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780F7B-39E7-80A7-B597-95CE2CDC6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9E643D-14FF-D0FF-4AD7-CDCACEE3D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A30B3-6F69-EBB5-A077-12640378C51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3319E47-FC10-596B-6C48-03F211E1EB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804247-22B8-B7DE-3F1D-992336400D6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44457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F2B-D3D5-6EA6-0020-9DECD2B7FB2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EBA203-CF3F-8892-5650-4309825CF8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F26AE2-84EA-FE78-2265-F6AFE0A1905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8263697-1B9F-069E-2598-73789FDFF7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0047D5-B882-D0F3-B993-DF9EDB203BBF}"/>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463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AB66-86D0-3D3E-E607-14155BE92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5B9329-08DA-011C-50F7-CAB8B821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65844B-E496-59B2-0A32-DFDAE7DADC89}"/>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1810B4B-1C2F-C372-0353-8D20C000A8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8BC671-93AA-3D60-4FE1-A1D5BCE4B9C0}"/>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0755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5F508C-2EF1-2B88-6F34-BC6267F7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4579F1-5848-0D86-5D03-D45679A3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1C1FA1-D052-8D63-598C-3712975FF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7CCA5EC-E9C5-E397-BED3-64A79396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7041FC9-9C2B-BFFE-5BEC-9A8C04ED0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57FD1-BEE4-45E1-9795-C9137D5ACD0F}" type="slidenum">
              <a:rPr lang="en-AU" smtClean="0"/>
              <a:t>‹#›</a:t>
            </a:fld>
            <a:endParaRPr lang="en-AU"/>
          </a:p>
        </p:txBody>
      </p:sp>
    </p:spTree>
    <p:extLst>
      <p:ext uri="{BB962C8B-B14F-4D97-AF65-F5344CB8AC3E}">
        <p14:creationId xmlns:p14="http://schemas.microsoft.com/office/powerpoint/2010/main" val="146350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2"/>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10.20  Financial Analysis</a:t>
            </a:r>
          </a:p>
        </p:txBody>
      </p:sp>
      <p:sp>
        <p:nvSpPr>
          <p:cNvPr id="3" name="shape3"/>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4" name="shape4"/>
          <p:cNvSpPr/>
          <p:nvPr/>
        </p:nvSpPr>
        <p:spPr>
          <a:xfrm>
            <a:off x="9677095" y="384048"/>
            <a:ext cx="2057400" cy="31089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950" b="1" dirty="0">
                <a:solidFill>
                  <a:srgbClr val="FFFFFF"/>
                </a:solidFill>
                <a:latin typeface="Aptos"/>
              </a:rPr>
              <a:t>WORKED EXAMPLE</a:t>
            </a:r>
          </a:p>
        </p:txBody>
      </p:sp>
      <p:cxnSp>
        <p:nvCxnSpPr>
          <p:cNvPr id="5" name="conn5"/>
          <p:cNvCxnSpPr/>
          <p:nvPr/>
        </p:nvCxnSpPr>
        <p:spPr>
          <a:xfrm>
            <a:off x="457200" y="1078992"/>
            <a:ext cx="11277295" cy="1"/>
          </a:xfrm>
          <a:prstGeom prst="line">
            <a:avLst/>
          </a:prstGeom>
          <a:ln w="9525">
            <a:solidFill>
              <a:srgbClr val="D9D8D0"/>
            </a:solidFill>
          </a:ln>
        </p:spPr>
      </p:cxnSp>
      <p:sp>
        <p:nvSpPr>
          <p:cNvPr id="6" name="shape6"/>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7" name="shape7"/>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10.20</a:t>
            </a:r>
          </a:p>
        </p:txBody>
      </p:sp>
      <p:sp>
        <p:nvSpPr>
          <p:cNvPr id="8" name="shape8"/>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9" name="shape9"/>
          <p:cNvSpPr/>
          <p:nvPr/>
        </p:nvSpPr>
        <p:spPr>
          <a:xfrm>
            <a:off x="457200" y="1408176"/>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Puts a monetary frame around a change: what it costs, what it returns, when the return arrives and what the money is worth once timing and risk are accounted for.</a:t>
            </a:r>
          </a:p>
        </p:txBody>
      </p:sp>
      <p:sp>
        <p:nvSpPr>
          <p:cNvPr id="10" name="shape10"/>
          <p:cNvSpPr/>
          <p:nvPr/>
        </p:nvSpPr>
        <p:spPr>
          <a:xfrm>
            <a:off x="457200" y="227685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REACH FOR IT WHEN</a:t>
            </a:r>
          </a:p>
        </p:txBody>
      </p:sp>
      <p:sp>
        <p:nvSpPr>
          <p:cNvPr id="11" name="shape11"/>
          <p:cNvSpPr/>
          <p:nvPr/>
        </p:nvSpPr>
        <p:spPr>
          <a:xfrm>
            <a:off x="457200" y="2478024"/>
            <a:ext cx="2743200" cy="777240"/>
          </a:xfrm>
          <a:prstGeom prst="rect">
            <a:avLst/>
          </a:prstGeom>
          <a:noFill/>
          <a:ln>
            <a:noFill/>
          </a:ln>
        </p:spPr>
        <p:txBody>
          <a:bodyPr wrap="square" anchor="t" lIns="0" rIns="0" tIns="27432" bIns="27432"/>
          <a:lstStyle/>
          <a:p>
            <a:pPr algn="l"/>
            <a:r>
              <a:rPr lang="en-AU" sz="950" dirty="0">
                <a:solidFill>
                  <a:srgbClr val="0B0B0B"/>
                </a:solidFill>
                <a:latin typeface="Aptos"/>
              </a:rPr>
              <a:t>Reach for it whenever an option has to be justified in money, or when two options differ mainly in the timing of their costs and benefits rather than in their size.</a:t>
            </a:r>
          </a:p>
        </p:txBody>
      </p:sp>
      <p:sp>
        <p:nvSpPr>
          <p:cNvPr id="12" name="shape12"/>
          <p:cNvSpPr/>
          <p:nvPr/>
        </p:nvSpPr>
        <p:spPr>
          <a:xfrm>
            <a:off x="457200" y="334670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13" name="shape13"/>
          <p:cNvSpPr/>
          <p:nvPr/>
        </p:nvSpPr>
        <p:spPr>
          <a:xfrm>
            <a:off x="457200" y="3547872"/>
            <a:ext cx="2743200" cy="169164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Financial analysis values what is already forecast; estimation produces the forecast. And a positive return is not the same as the best option: the exam repeatedly offers an option that is profitable but beaten by an alternative.</a:t>
            </a:r>
          </a:p>
        </p:txBody>
      </p:sp>
      <p:sp>
        <p:nvSpPr>
          <p:cNvPr id="14" name="shape14"/>
          <p:cNvSpPr/>
          <p:nvPr/>
        </p:nvSpPr>
        <p:spPr>
          <a:xfrm>
            <a:off x="457200" y="3547872"/>
            <a:ext cx="32004" cy="1691640"/>
          </a:xfrm>
          <a:prstGeom prst="rect">
            <a:avLst/>
          </a:prstGeom>
          <a:solidFill>
            <a:srgbClr val="FAB219"/>
          </a:solidFill>
          <a:ln>
            <a:noFill/>
          </a:ln>
        </p:spPr>
        <p:txBody>
          <a:bodyPr wrap="square" anchor="ctr" lIns="54864" rIns="54864" tIns="27432" bIns="27432"/>
          <a:lstStyle/>
          <a:p>
            <a:pPr algn="l"/>
            <a:endParaRPr lang="en-AU" sz="1100"/>
          </a:p>
        </p:txBody>
      </p:sp>
      <p:sp>
        <p:nvSpPr>
          <p:cNvPr id="15" name="shape15"/>
          <p:cNvSpPr/>
          <p:nvPr/>
        </p:nvSpPr>
        <p:spPr>
          <a:xfrm>
            <a:off x="457200" y="534924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7.6 Analyze Potential Value and Recommend Solution · 8.5 Recommend Actions to Increase Solution Value</a:t>
            </a:r>
          </a:p>
        </p:txBody>
      </p:sp>
      <p:sp>
        <p:nvSpPr>
          <p:cNvPr id="16" name="shape16"/>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Which measure answers which question</a:t>
            </a:r>
          </a:p>
        </p:txBody>
      </p:sp>
      <p:sp>
        <p:nvSpPr>
          <p:cNvPr id="17" name="shape17"/>
          <p:cNvSpPr/>
          <p:nvPr/>
        </p:nvSpPr>
        <p:spPr>
          <a:xfrm>
            <a:off x="3520440" y="6071616"/>
            <a:ext cx="8214055" cy="384048"/>
          </a:xfrm>
          <a:prstGeom prst="rect">
            <a:avLst/>
          </a:prstGeom>
          <a:noFill/>
          <a:ln>
            <a:noFill/>
          </a:ln>
        </p:spPr>
        <p:txBody>
          <a:bodyPr wrap="square" anchor="t" lIns="0" rIns="0" tIns="27432" bIns="27432"/>
          <a:lstStyle/>
          <a:p>
            <a:pPr algn="l"/>
            <a:r>
              <a:rPr lang="en-AU" sz="850" dirty="0">
                <a:solidFill>
                  <a:srgbClr val="6B6A66"/>
                </a:solidFill>
                <a:latin typeface="Aptos"/>
              </a:rPr>
              <a:t>The eight blocks below work each of these through with figures.</a:t>
            </a:r>
          </a:p>
        </p:txBody>
      </p:sp>
      <p:sp>
        <p:nvSpPr>
          <p:cNvPr id="18" name="shape18"/>
          <p:cNvSpPr/>
          <p:nvPr/>
        </p:nvSpPr>
        <p:spPr>
          <a:xfrm>
            <a:off x="4892040" y="1499616"/>
            <a:ext cx="684245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Use it when →</a:t>
            </a:r>
          </a:p>
        </p:txBody>
      </p:sp>
      <p:sp>
        <p:nvSpPr>
          <p:cNvPr id="19" name="shape19"/>
          <p:cNvSpPr/>
          <p:nvPr/>
        </p:nvSpPr>
        <p:spPr>
          <a:xfrm>
            <a:off x="4892040"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answers</a:t>
            </a:r>
          </a:p>
        </p:txBody>
      </p:sp>
      <p:sp>
        <p:nvSpPr>
          <p:cNvPr id="20" name="shape20"/>
          <p:cNvSpPr/>
          <p:nvPr/>
        </p:nvSpPr>
        <p:spPr>
          <a:xfrm>
            <a:off x="8313268" y="1737360"/>
            <a:ext cx="342122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It cannot answer</a:t>
            </a:r>
          </a:p>
        </p:txBody>
      </p:sp>
      <p:sp>
        <p:nvSpPr>
          <p:cNvPr id="21" name="shape21"/>
          <p:cNvSpPr/>
          <p:nvPr/>
        </p:nvSpPr>
        <p:spPr>
          <a:xfrm>
            <a:off x="3520440" y="20025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NPV</a:t>
            </a:r>
          </a:p>
        </p:txBody>
      </p:sp>
      <p:sp>
        <p:nvSpPr>
          <p:cNvPr id="22" name="shape22"/>
          <p:cNvSpPr/>
          <p:nvPr/>
        </p:nvSpPr>
        <p:spPr>
          <a:xfrm>
            <a:off x="4928616"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Is this worth more than it costs, allowin…</a:t>
            </a:r>
          </a:p>
        </p:txBody>
      </p:sp>
      <p:sp>
        <p:nvSpPr>
          <p:cNvPr id="23" name="shape23"/>
          <p:cNvSpPr/>
          <p:nvPr/>
        </p:nvSpPr>
        <p:spPr>
          <a:xfrm>
            <a:off x="8349844" y="20025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long is our cash exposed?</a:t>
            </a:r>
          </a:p>
        </p:txBody>
      </p:sp>
      <p:sp>
        <p:nvSpPr>
          <p:cNvPr id="24" name="shape24"/>
          <p:cNvSpPr/>
          <p:nvPr/>
        </p:nvSpPr>
        <p:spPr>
          <a:xfrm>
            <a:off x="3520440" y="29169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Payback</a:t>
            </a:r>
          </a:p>
        </p:txBody>
      </p:sp>
      <p:sp>
        <p:nvSpPr>
          <p:cNvPr id="25" name="shape25"/>
          <p:cNvSpPr/>
          <p:nvPr/>
        </p:nvSpPr>
        <p:spPr>
          <a:xfrm>
            <a:off x="4928616"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long until we get the money back?</a:t>
            </a:r>
          </a:p>
        </p:txBody>
      </p:sp>
      <p:sp>
        <p:nvSpPr>
          <p:cNvPr id="26" name="shape26"/>
          <p:cNvSpPr/>
          <p:nvPr/>
        </p:nvSpPr>
        <p:spPr>
          <a:xfrm>
            <a:off x="8349844" y="29169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Anything after break-even — where the val…</a:t>
            </a:r>
          </a:p>
        </p:txBody>
      </p:sp>
      <p:sp>
        <p:nvSpPr>
          <p:cNvPr id="27" name="shape27"/>
          <p:cNvSpPr/>
          <p:nvPr/>
        </p:nvSpPr>
        <p:spPr>
          <a:xfrm>
            <a:off x="3520440" y="38313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ROI</a:t>
            </a:r>
          </a:p>
        </p:txBody>
      </p:sp>
      <p:sp>
        <p:nvSpPr>
          <p:cNvPr id="28" name="shape28"/>
          <p:cNvSpPr/>
          <p:nvPr/>
        </p:nvSpPr>
        <p:spPr>
          <a:xfrm>
            <a:off x="4928616"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efficient is each dollar invested?</a:t>
            </a:r>
          </a:p>
        </p:txBody>
      </p:sp>
      <p:sp>
        <p:nvSpPr>
          <p:cNvPr id="29" name="shape29"/>
          <p:cNvSpPr/>
          <p:nvPr/>
        </p:nvSpPr>
        <p:spPr>
          <a:xfrm>
            <a:off x="8349844" y="38313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big the prize is — it is a ratio</a:t>
            </a:r>
          </a:p>
        </p:txBody>
      </p:sp>
      <p:sp>
        <p:nvSpPr>
          <p:cNvPr id="30" name="shape30"/>
          <p:cNvSpPr/>
          <p:nvPr/>
        </p:nvSpPr>
        <p:spPr>
          <a:xfrm>
            <a:off x="3520440" y="4745736"/>
            <a:ext cx="1280160" cy="841248"/>
          </a:xfrm>
          <a:prstGeom prst="rect">
            <a:avLst/>
          </a:prstGeom>
          <a:noFill/>
          <a:ln>
            <a:noFill/>
          </a:ln>
        </p:spPr>
        <p:txBody>
          <a:bodyPr wrap="square" anchor="ctr" lIns="54864" rIns="54864" tIns="27432" bIns="27432"/>
          <a:lstStyle/>
          <a:p>
            <a:pPr algn="r"/>
            <a:r>
              <a:rPr lang="en-AU" sz="900" b="1" dirty="0">
                <a:solidFill>
                  <a:srgbClr val="6B6A66"/>
                </a:solidFill>
                <a:latin typeface="Aptos"/>
              </a:rPr>
              <a:t>IRR</a:t>
            </a:r>
          </a:p>
        </p:txBody>
      </p:sp>
      <p:sp>
        <p:nvSpPr>
          <p:cNvPr id="31" name="shape31"/>
          <p:cNvSpPr/>
          <p:nvPr/>
        </p:nvSpPr>
        <p:spPr>
          <a:xfrm>
            <a:off x="4928616"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Does it beat what our capital costs?</a:t>
            </a:r>
          </a:p>
        </p:txBody>
      </p:sp>
      <p:sp>
        <p:nvSpPr>
          <p:cNvPr id="32" name="shape32"/>
          <p:cNvSpPr/>
          <p:nvPr/>
        </p:nvSpPr>
        <p:spPr>
          <a:xfrm>
            <a:off x="8349844" y="4745736"/>
            <a:ext cx="3348076" cy="8412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How much value in dollars</a:t>
            </a:r>
          </a:p>
        </p:txBody>
      </p:sp>
      <p:sp>
        <p:nvSpPr>
          <p:cNvPr id="33" name="shape33"/>
          <p:cNvSpPr/>
          <p:nvPr/>
        </p:nvSpPr>
        <p:spPr>
          <a:xfrm>
            <a:off x="3474720" y="2002536"/>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Measure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Slides>
</Properties>
</file>

<file path=docProps/core.xml><?xml version="1.0" encoding="utf-8"?>
<cp:coreProperties xmlns:cp="http://schemas.openxmlformats.org/package/2006/metadata/core-properties" xmlns:dc="http://purl.org/dc/elements/1.1/" xmlns:dcterms="http://purl.org/dc/terms/" xmlns:xsi="http://www.w3.org/2001/XMLSchema-instance">
  <dc:title>10.20 Financial Analysis — worked example</dc:title>
  <dc:creator>Business Analyst Services</dc:creator>
  <cp:lastModifiedBy>Business Analyst Services</cp:lastModifiedBy>
</cp:coreProperties>
</file>