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1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2008" cy="72008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esProps" Target="presProps.xml"/><Relationship Id="rId3" Type="http://schemas.openxmlformats.org/officeDocument/2006/relationships/viewProps" Target="viewProps.xml"/><Relationship Id="rId4" Type="http://schemas.openxmlformats.org/officeDocument/2006/relationships/theme" Target="theme/theme1.xml"/><Relationship Id="rId5" Type="http://schemas.openxmlformats.org/officeDocument/2006/relationships/tableStyles" Target="tableStyles.xml"/><Relationship Id="rId10" Type="http://schemas.openxmlformats.org/officeDocument/2006/relationships/slide" Target="slides/slid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BD928C-8D94-4386-AC7B-553F59AB7C6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2215E4E-208B-05AF-0F7D-9031FC30B7D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A11AB49-14DA-9592-096C-4221528205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684189-DCFA-48F5-AB2E-DFEFB54E95D2}" type="datetimeFigureOut">
              <a:rPr lang="en-AU" smtClean="0"/>
              <a:t>19/08/2026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CB846A6-E1F2-97FD-1990-6DB3D94A2C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F72E879-8ADE-ADD1-561C-922DD66B1C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157FD1-BEE4-45E1-9795-C9137D5ACD0F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37434082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E62970-3FFA-672E-7BDF-8C39604467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4668F12-6D7A-FAC0-A8EA-015157BBB2F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D2B7A39-1E77-649D-B8DD-65A653DA92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684189-DCFA-48F5-AB2E-DFEFB54E95D2}" type="datetimeFigureOut">
              <a:rPr lang="en-AU" smtClean="0"/>
              <a:t>19/08/2026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87EC7D5-C430-E2C7-F316-38EA7DAF85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FCD7CAB-8C83-4E1B-163F-768A62ADF3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157FD1-BEE4-45E1-9795-C9137D5ACD0F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68013091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DBB571-F905-106F-44AC-06D507B8DD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D7BDFC9-BB31-433B-931E-96E8AD41C51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34D8789-1EE8-4EB2-A8D6-1CF825AACF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684189-DCFA-48F5-AB2E-DFEFB54E95D2}" type="datetimeFigureOut">
              <a:rPr lang="en-AU" smtClean="0"/>
              <a:t>19/08/2026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29447C1-5CE4-9F76-9084-1F256878BE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98835E4-AFDF-C6D5-CD1B-FA44865F88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157FD1-BEE4-45E1-9795-C9137D5ACD0F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84844212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FE5372-E0A7-350D-2E33-AD05CD8650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5C14DD2-FD65-8F81-56D6-7CCCBFA3039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BC754D9-E8E7-1862-DAE2-BA3F6E1D035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7741819-1EBC-263E-53AD-63930D5195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684189-DCFA-48F5-AB2E-DFEFB54E95D2}" type="datetimeFigureOut">
              <a:rPr lang="en-AU" smtClean="0"/>
              <a:t>19/08/2026</a:t>
            </a:fld>
            <a:endParaRPr lang="en-A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5A1B7D8-7263-F629-5FCA-42BBA2DBEE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F2436AB-10EF-5D96-2497-C60B56CD3D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157FD1-BEE4-45E1-9795-C9137D5ACD0F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37949469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5EB8AB-C454-7B11-466F-81F851FE4E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27CCE9B-8BCB-3DFD-87F6-AA5CEC25B4B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5705606-8CAC-4E3B-C6ED-4AC2B5B705D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381D3C8-B3AC-1B3C-3004-08F40E1C04A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49F8BD6-6962-8063-AE0A-5B84622373D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BF2BB01-25A7-74DB-9D39-FF2497850D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684189-DCFA-48F5-AB2E-DFEFB54E95D2}" type="datetimeFigureOut">
              <a:rPr lang="en-AU" smtClean="0"/>
              <a:t>19/08/2026</a:t>
            </a:fld>
            <a:endParaRPr lang="en-AU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0EC8301-7807-EC5A-6186-22270AF9CE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E9D6DC6-AA52-6F5F-3085-E580472673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157FD1-BEE4-45E1-9795-C9137D5ACD0F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50251800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BBF212-4210-7349-A016-49E9913879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14B7576-2346-127D-9DC5-8AED421B02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684189-DCFA-48F5-AB2E-DFEFB54E95D2}" type="datetimeFigureOut">
              <a:rPr lang="en-AU" smtClean="0"/>
              <a:t>19/08/2026</a:t>
            </a:fld>
            <a:endParaRPr lang="en-AU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E14EFCF-868D-FC97-52FF-BCD0344C8A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861E5D5-7126-62BB-3AB3-D05572B6EB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157FD1-BEE4-45E1-9795-C9137D5ACD0F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60327311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BD34B14-28BC-00E5-F4D8-4E0643C780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684189-DCFA-48F5-AB2E-DFEFB54E95D2}" type="datetimeFigureOut">
              <a:rPr lang="en-AU" smtClean="0"/>
              <a:t>19/08/2026</a:t>
            </a:fld>
            <a:endParaRPr lang="en-AU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C9C7536-7B97-D84D-CDFB-8BC699DC59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DE231F4-14C5-C859-F2BA-D048EEFAD9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157FD1-BEE4-45E1-9795-C9137D5ACD0F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84764298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DFE36B-C1A8-E713-D3B0-633FBD8113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41836CF-9976-29CE-68C5-9599264B35D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55AFBF0-4B3F-2EF1-8B31-26642E3D74C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085EE40-43F3-7F72-C8F1-EDD0B50D1C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684189-DCFA-48F5-AB2E-DFEFB54E95D2}" type="datetimeFigureOut">
              <a:rPr lang="en-AU" smtClean="0"/>
              <a:t>19/08/2026</a:t>
            </a:fld>
            <a:endParaRPr lang="en-A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932FD82-A9F1-3A8F-56B3-A1634315ED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08D54F0-0539-7BA2-BE93-05305B89F9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157FD1-BEE4-45E1-9795-C9137D5ACD0F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77126532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BF4329-14C2-BCD5-7B8B-83A0D2EAE5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8780F7B-39E7-80A7-B597-95CE2CDC611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AU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49E643D-14FF-D0FF-4AD7-CDCACEE3DF0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DEA30B3-6F69-EBB5-A077-12640378C5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684189-DCFA-48F5-AB2E-DFEFB54E95D2}" type="datetimeFigureOut">
              <a:rPr lang="en-AU" smtClean="0"/>
              <a:t>19/08/2026</a:t>
            </a:fld>
            <a:endParaRPr lang="en-A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3319E47-FC10-596B-6C48-03F211E1EB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A804247-22B8-B7DE-3F1D-992336400D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157FD1-BEE4-45E1-9795-C9137D5ACD0F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44457938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B66F2B-D3D5-6EA6-0020-9DECD2B7FB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3EBA203-CF3F-8892-5650-4309825CF81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CF26AE2-84EA-FE78-2265-F6AFE0A190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684189-DCFA-48F5-AB2E-DFEFB54E95D2}" type="datetimeFigureOut">
              <a:rPr lang="en-AU" smtClean="0"/>
              <a:t>19/08/2026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8263697-1B9F-069E-2598-73789FDFF7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C0047D5-B882-D0F3-B993-DF9EDB203B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157FD1-BEE4-45E1-9795-C9137D5ACD0F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46342992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B84AB66-86D0-3D3E-E607-14155BE924D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85B9329-08DA-011C-50F7-CAB8B821BE9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665844B-E496-59B2-0A32-DFDAE7DADC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684189-DCFA-48F5-AB2E-DFEFB54E95D2}" type="datetimeFigureOut">
              <a:rPr lang="en-AU" smtClean="0"/>
              <a:t>19/08/2026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1810B4B-1C2F-C372-0353-8D20C000A8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78BC671-93AA-3D60-4FE1-A1D5BCE4B9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157FD1-BEE4-45E1-9795-C9137D5ACD0F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0755389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FE5F508C-2EF1-2B88-6F34-BC6267F7CE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A4579F1-5848-0D86-5D03-D45679A30A7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F1C1FA1-D052-8D63-598C-3712975FFA7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0684189-DCFA-48F5-AB2E-DFEFB54E95D2}" type="datetimeFigureOut">
              <a:rPr lang="en-AU" smtClean="0"/>
              <a:t>19/08/2026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7CCA5EC-E9C5-E397-BED3-64A79396DA2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7041FC9-9C2B-BFFE-5BEC-9A8C04ED075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B157FD1-BEE4-45E1-9795-C9137D5ACD0F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4635038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shape31"/>
          <p:cNvSpPr/>
          <p:nvPr/>
        </p:nvSpPr>
        <p:spPr>
          <a:xfrm>
            <a:off x="457200" y="310896"/>
            <a:ext cx="7498080" cy="475488"/>
          </a:xfrm>
          <a:prstGeom prst="rect">
            <a:avLst/>
          </a:prstGeom>
          <a:noFill/>
          <a:ln>
            <a:noFill/>
          </a:ln>
        </p:spPr>
        <p:txBody>
          <a:bodyPr wrap="square" anchor="b" lIns="0" rIns="0" tIns="27432" bIns="27432"/>
          <a:lstStyle/>
          <a:p>
            <a:pPr algn="l"/>
            <a:r>
              <a:rPr lang="en-AU" sz="2200" b="1" dirty="0">
                <a:solidFill>
                  <a:srgbClr val="0B0B0B"/>
                </a:solidFill>
                <a:latin typeface="Aptos"/>
              </a:rPr>
              <a:t>10.47  Use Cases and Scenarios</a:t>
            </a:r>
          </a:p>
        </p:txBody>
      </p:sp>
      <p:sp>
        <p:nvSpPr>
          <p:cNvPr id="32" name="shape32"/>
          <p:cNvSpPr/>
          <p:nvPr/>
        </p:nvSpPr>
        <p:spPr>
          <a:xfrm>
            <a:off x="457200" y="786384"/>
            <a:ext cx="7498080" cy="256032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27432" bIns="27432"/>
          <a:lstStyle/>
          <a:p>
            <a:pPr algn="l"/>
            <a:r>
              <a:rPr lang="en-AU" sz="1050" dirty="0">
                <a:solidFill>
                  <a:srgbClr val="6B6A66"/>
                </a:solidFill>
                <a:latin typeface="Aptos"/>
              </a:rPr>
              <a:t>Modelling and specification</a:t>
            </a:r>
          </a:p>
        </p:txBody>
      </p:sp>
      <p:sp>
        <p:nvSpPr>
          <p:cNvPr id="33" name="shape33"/>
          <p:cNvSpPr/>
          <p:nvPr/>
        </p:nvSpPr>
        <p:spPr>
          <a:xfrm>
            <a:off x="9677095" y="384048"/>
            <a:ext cx="2057400" cy="310896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2A78D6"/>
            </a:solidFill>
          </a:ln>
        </p:spPr>
        <p:txBody>
          <a:bodyPr wrap="square" anchor="ctr" lIns="54864" rIns="54864" tIns="27432" bIns="27432"/>
          <a:lstStyle/>
          <a:p>
            <a:pPr algn="ctr"/>
            <a:r>
              <a:rPr lang="en-AU" sz="950" b="1" dirty="0">
                <a:solidFill>
                  <a:srgbClr val="2A78D6"/>
                </a:solidFill>
                <a:latin typeface="Aptos"/>
              </a:rPr>
              <a:t>BLANK TEMPLATE</a:t>
            </a:r>
          </a:p>
        </p:txBody>
      </p:sp>
      <p:cxnSp>
        <p:nvCxnSpPr>
          <p:cNvPr id="34" name="conn34"/>
          <p:cNvCxnSpPr/>
          <p:nvPr/>
        </p:nvCxnSpPr>
        <p:spPr>
          <a:xfrm>
            <a:off x="457200" y="1078992"/>
            <a:ext cx="11277295" cy="1"/>
          </a:xfrm>
          <a:prstGeom prst="line">
            <a:avLst/>
          </a:prstGeom>
          <a:ln w="9525">
            <a:solidFill>
              <a:srgbClr val="D9D8D0"/>
            </a:solidFill>
          </a:ln>
        </p:spPr>
      </p:cxnSp>
      <p:sp>
        <p:nvSpPr>
          <p:cNvPr id="35" name="shape35"/>
          <p:cNvSpPr/>
          <p:nvPr/>
        </p:nvSpPr>
        <p:spPr>
          <a:xfrm>
            <a:off x="457200" y="6473952"/>
            <a:ext cx="8229600" cy="219456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rIns="0" tIns="27432" bIns="27432"/>
          <a:lstStyle/>
          <a:p>
            <a:pPr algn="l"/>
            <a:r>
              <a:rPr lang="en-AU" sz="800" dirty="0">
                <a:solidFill>
                  <a:srgbClr val="6B6A66"/>
                </a:solidFill>
                <a:latin typeface="Aptos"/>
              </a:rPr>
              <a:t>CBAP® Technique Pack · BABOK® Guide v3 · business-analyst.services</a:t>
            </a:r>
          </a:p>
        </p:txBody>
      </p:sp>
      <p:sp>
        <p:nvSpPr>
          <p:cNvPr id="36" name="shape36"/>
          <p:cNvSpPr/>
          <p:nvPr/>
        </p:nvSpPr>
        <p:spPr>
          <a:xfrm>
            <a:off x="10637215" y="6473952"/>
            <a:ext cx="1097280" cy="219456"/>
          </a:xfrm>
          <a:prstGeom prst="rect">
            <a:avLst/>
          </a:prstGeom>
          <a:noFill/>
          <a:ln>
            <a:noFill/>
          </a:ln>
        </p:spPr>
        <p:txBody>
          <a:bodyPr wrap="square" anchor="ctr" lIns="0" rIns="0" tIns="27432" bIns="27432"/>
          <a:lstStyle/>
          <a:p>
            <a:pPr algn="r"/>
            <a:r>
              <a:rPr lang="en-AU" sz="800" dirty="0">
                <a:solidFill>
                  <a:srgbClr val="6B6A66"/>
                </a:solidFill>
                <a:latin typeface="Aptos"/>
              </a:rPr>
              <a:t>10.47</a:t>
            </a:r>
          </a:p>
        </p:txBody>
      </p:sp>
      <p:sp>
        <p:nvSpPr>
          <p:cNvPr id="37" name="shape37"/>
          <p:cNvSpPr/>
          <p:nvPr/>
        </p:nvSpPr>
        <p:spPr>
          <a:xfrm>
            <a:off x="457200" y="1207008"/>
            <a:ext cx="2743200" cy="182880"/>
          </a:xfrm>
          <a:prstGeom prst="rect">
            <a:avLst/>
          </a:prstGeom>
          <a:noFill/>
          <a:ln>
            <a:noFill/>
          </a:ln>
        </p:spPr>
        <p:txBody>
          <a:bodyPr wrap="square" anchor="b" lIns="0" rIns="0" tIns="27432" bIns="27432"/>
          <a:lstStyle/>
          <a:p>
            <a:pPr algn="l"/>
            <a:r>
              <a:rPr lang="en-AU" sz="800" b="1" dirty="0">
                <a:solidFill>
                  <a:srgbClr val="6B6A66"/>
                </a:solidFill>
                <a:latin typeface="Aptos"/>
              </a:rPr>
              <a:t>HOW TO FILL IT IN</a:t>
            </a:r>
          </a:p>
        </p:txBody>
      </p:sp>
      <p:sp>
        <p:nvSpPr>
          <p:cNvPr id="38" name="shape38"/>
          <p:cNvSpPr/>
          <p:nvPr/>
        </p:nvSpPr>
        <p:spPr>
          <a:xfrm>
            <a:off x="457200" y="1408176"/>
            <a:ext cx="2743200" cy="91440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27432" bIns="27432"/>
          <a:lstStyle/>
          <a:p>
            <a:pPr algn="l"/>
            <a:r>
              <a:rPr lang="en-AU" sz="950" dirty="0">
                <a:solidFill>
                  <a:srgbClr val="0B0B0B"/>
                </a:solidFill>
                <a:latin typeface="Aptos"/>
              </a:rPr>
              <a:t>Actors outside the boundary, goals inside it. If an oval is not a goal an actor would name, it is not a use case.</a:t>
            </a:r>
          </a:p>
        </p:txBody>
      </p:sp>
      <p:sp>
        <p:nvSpPr>
          <p:cNvPr id="39" name="shape39"/>
          <p:cNvSpPr/>
          <p:nvPr/>
        </p:nvSpPr>
        <p:spPr>
          <a:xfrm>
            <a:off x="457200" y="2414016"/>
            <a:ext cx="2743200" cy="182880"/>
          </a:xfrm>
          <a:prstGeom prst="rect">
            <a:avLst/>
          </a:prstGeom>
          <a:noFill/>
          <a:ln>
            <a:noFill/>
          </a:ln>
        </p:spPr>
        <p:txBody>
          <a:bodyPr wrap="square" anchor="b" lIns="0" rIns="0" tIns="27432" bIns="27432"/>
          <a:lstStyle/>
          <a:p>
            <a:pPr algn="l"/>
            <a:r>
              <a:rPr lang="en-AU" sz="800" b="1" dirty="0">
                <a:solidFill>
                  <a:srgbClr val="6B6A66"/>
                </a:solidFill>
                <a:latin typeface="Aptos"/>
              </a:rPr>
              <a:t>WHAT IT IS FOR</a:t>
            </a:r>
          </a:p>
        </p:txBody>
      </p:sp>
      <p:sp>
        <p:nvSpPr>
          <p:cNvPr id="40" name="shape40"/>
          <p:cNvSpPr/>
          <p:nvPr/>
        </p:nvSpPr>
        <p:spPr>
          <a:xfrm>
            <a:off x="457200" y="2615184"/>
            <a:ext cx="2743200" cy="73152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27432" bIns="27432"/>
          <a:lstStyle/>
          <a:p>
            <a:pPr algn="l"/>
            <a:r>
              <a:rPr lang="en-AU" sz="950" dirty="0">
                <a:solidFill>
                  <a:srgbClr val="0B0B0B"/>
                </a:solidFill>
                <a:latin typeface="Aptos"/>
              </a:rPr>
              <a:t>Describes how an actor interacts with a solution to achieve a goal, including the main flow and the alternatives and exceptions.</a:t>
            </a:r>
          </a:p>
        </p:txBody>
      </p:sp>
      <p:sp>
        <p:nvSpPr>
          <p:cNvPr id="41" name="shape41"/>
          <p:cNvSpPr/>
          <p:nvPr/>
        </p:nvSpPr>
        <p:spPr>
          <a:xfrm>
            <a:off x="457200" y="3438144"/>
            <a:ext cx="2743200" cy="182880"/>
          </a:xfrm>
          <a:prstGeom prst="rect">
            <a:avLst/>
          </a:prstGeom>
          <a:noFill/>
          <a:ln>
            <a:noFill/>
          </a:ln>
        </p:spPr>
        <p:txBody>
          <a:bodyPr wrap="square" anchor="b" lIns="0" rIns="0" tIns="27432" bIns="27432"/>
          <a:lstStyle/>
          <a:p>
            <a:pPr algn="l"/>
            <a:r>
              <a:rPr lang="en-AU" sz="800" b="1" dirty="0">
                <a:solidFill>
                  <a:srgbClr val="6B6A66"/>
                </a:solidFill>
                <a:latin typeface="Aptos"/>
              </a:rPr>
              <a:t>MOST OFTEN CONFUSED WITH</a:t>
            </a:r>
          </a:p>
        </p:txBody>
      </p:sp>
      <p:sp>
        <p:nvSpPr>
          <p:cNvPr id="42" name="shape42"/>
          <p:cNvSpPr/>
          <p:nvPr/>
        </p:nvSpPr>
        <p:spPr>
          <a:xfrm>
            <a:off x="457200" y="3639312"/>
            <a:ext cx="2743200" cy="1737360"/>
          </a:xfrm>
          <a:prstGeom prst="rect">
            <a:avLst/>
          </a:prstGeom>
          <a:solidFill>
            <a:srgbClr val="F7F7F5"/>
          </a:solidFill>
          <a:ln>
            <a:noFill/>
          </a:ln>
        </p:spPr>
        <p:txBody>
          <a:bodyPr wrap="square" anchor="t" lIns="91440" rIns="91440" tIns="27432" bIns="27432"/>
          <a:lstStyle/>
          <a:p>
            <a:pPr algn="l"/>
            <a:r>
              <a:rPr lang="en-AU" sz="900" dirty="0">
                <a:solidFill>
                  <a:srgbClr val="0B0B0B"/>
                </a:solidFill>
                <a:latin typeface="Aptos"/>
              </a:rPr>
              <a:t>A use case is goal-oriented interaction with the solution; a process model is the flow of business work. Use cases carry alternate and exception flows, which is usually the discriminating detail in a stem.</a:t>
            </a:r>
          </a:p>
        </p:txBody>
      </p:sp>
      <p:sp>
        <p:nvSpPr>
          <p:cNvPr id="43" name="shape43"/>
          <p:cNvSpPr/>
          <p:nvPr/>
        </p:nvSpPr>
        <p:spPr>
          <a:xfrm>
            <a:off x="457200" y="3639312"/>
            <a:ext cx="32004" cy="1737360"/>
          </a:xfrm>
          <a:prstGeom prst="rect">
            <a:avLst/>
          </a:prstGeom>
          <a:solidFill>
            <a:srgbClr val="FAB219"/>
          </a:solidFill>
          <a:ln>
            <a:noFill/>
          </a:ln>
        </p:spPr>
        <p:txBody>
          <a:bodyPr wrap="square" anchor="ctr" lIns="54864" rIns="54864" tIns="27432" bIns="27432"/>
          <a:lstStyle/>
          <a:p>
            <a:pPr algn="l"/>
            <a:endParaRPr lang="en-AU" sz="1100"/>
          </a:p>
        </p:txBody>
      </p:sp>
      <p:sp>
        <p:nvSpPr>
          <p:cNvPr id="44" name="shape44"/>
          <p:cNvSpPr/>
          <p:nvPr/>
        </p:nvSpPr>
        <p:spPr>
          <a:xfrm>
            <a:off x="457200" y="5486400"/>
            <a:ext cx="2743200" cy="502920"/>
          </a:xfrm>
          <a:prstGeom prst="rect">
            <a:avLst/>
          </a:prstGeom>
          <a:noFill/>
          <a:ln>
            <a:noFill/>
          </a:ln>
        </p:spPr>
        <p:txBody>
          <a:bodyPr wrap="square" anchor="t" lIns="0" rIns="0" tIns="27432" bIns="27432"/>
          <a:lstStyle/>
          <a:p>
            <a:pPr algn="l"/>
            <a:r>
              <a:rPr lang="en-AU" sz="800" dirty="0">
                <a:solidFill>
                  <a:srgbClr val="6B6A66"/>
                </a:solidFill>
                <a:latin typeface="Aptos"/>
              </a:rPr>
              <a:t>Tasks: 7.1 Specify and Model Requirements · 7.3 Validate Requirements</a:t>
            </a:r>
          </a:p>
        </p:txBody>
      </p:sp>
      <p:sp>
        <p:nvSpPr>
          <p:cNvPr id="45" name="shape45"/>
          <p:cNvSpPr/>
          <p:nvPr/>
        </p:nvSpPr>
        <p:spPr>
          <a:xfrm>
            <a:off x="3520440" y="1188720"/>
            <a:ext cx="8214055" cy="237744"/>
          </a:xfrm>
          <a:prstGeom prst="rect">
            <a:avLst/>
          </a:prstGeom>
          <a:noFill/>
          <a:ln>
            <a:noFill/>
          </a:ln>
        </p:spPr>
        <p:txBody>
          <a:bodyPr wrap="square" anchor="b" lIns="0" rIns="0" tIns="27432" bIns="27432"/>
          <a:lstStyle/>
          <a:p>
            <a:pPr algn="l"/>
            <a:r>
              <a:rPr lang="en-AU" sz="1050" b="1" dirty="0">
                <a:solidFill>
                  <a:srgbClr val="184F95"/>
                </a:solidFill>
                <a:latin typeface="Aptos"/>
              </a:rPr>
              <a:t>Use Cases and Scenarios — blank template</a:t>
            </a:r>
          </a:p>
        </p:txBody>
      </p:sp>
      <p:sp>
        <p:nvSpPr>
          <p:cNvPr id="46" name="shape46"/>
          <p:cNvSpPr/>
          <p:nvPr/>
        </p:nvSpPr>
        <p:spPr>
          <a:xfrm>
            <a:off x="6072988" y="1499616"/>
            <a:ext cx="3108960" cy="3017520"/>
          </a:xfrm>
          <a:prstGeom prst="rect">
            <a:avLst/>
          </a:prstGeom>
          <a:noFill/>
          <a:ln w="9525">
            <a:solidFill>
              <a:srgbClr val="C3C2B7"/>
            </a:solidFill>
            <a:prstDash val="dash"/>
          </a:ln>
        </p:spPr>
        <p:txBody>
          <a:bodyPr wrap="square" anchor="ctr" lIns="54864" rIns="54864" tIns="27432" bIns="27432"/>
          <a:lstStyle/>
          <a:p>
            <a:pPr algn="l"/>
            <a:endParaRPr lang="en-AU" sz="1100"/>
          </a:p>
        </p:txBody>
      </p:sp>
      <p:sp>
        <p:nvSpPr>
          <p:cNvPr id="47" name="shape47"/>
          <p:cNvSpPr/>
          <p:nvPr/>
        </p:nvSpPr>
        <p:spPr>
          <a:xfrm>
            <a:off x="6072988" y="1517904"/>
            <a:ext cx="3108960" cy="237744"/>
          </a:xfrm>
          <a:prstGeom prst="rect">
            <a:avLst/>
          </a:prstGeom>
          <a:noFill/>
          <a:ln>
            <a:noFill/>
          </a:ln>
        </p:spPr>
        <p:txBody>
          <a:bodyPr wrap="square" anchor="ctr" lIns="54864" rIns="54864" tIns="27432" bIns="27432"/>
          <a:lstStyle/>
          <a:p>
            <a:pPr algn="ctr"/>
            <a:r>
              <a:rPr lang="en-AU" sz="900" b="1" dirty="0">
                <a:solidFill>
                  <a:srgbClr val="6B6A66"/>
                </a:solidFill>
                <a:latin typeface="Aptos"/>
              </a:rPr>
              <a:t>System</a:t>
            </a:r>
          </a:p>
        </p:txBody>
      </p:sp>
      <p:sp>
        <p:nvSpPr>
          <p:cNvPr id="48" name="shape48"/>
          <p:cNvSpPr/>
          <p:nvPr/>
        </p:nvSpPr>
        <p:spPr>
          <a:xfrm>
            <a:off x="6301588" y="1792224"/>
            <a:ext cx="2651760" cy="566928"/>
          </a:xfrm>
          <a:prstGeom prst="ellipse">
            <a:avLst/>
          </a:prstGeom>
          <a:solidFill>
            <a:srgbClr val="FFFFFF"/>
          </a:solidFill>
          <a:ln w="9525">
            <a:solidFill>
              <a:srgbClr val="C3C2B7"/>
            </a:solidFill>
          </a:ln>
        </p:spPr>
        <p:txBody>
          <a:bodyPr wrap="square" anchor="ctr" lIns="54864" rIns="54864" tIns="27432" bIns="27432"/>
          <a:lstStyle/>
          <a:p>
            <a:pPr algn="ctr"/>
            <a:endParaRPr lang="en-AU" sz="900"/>
          </a:p>
        </p:txBody>
      </p:sp>
      <p:sp>
        <p:nvSpPr>
          <p:cNvPr id="49" name="shape49"/>
          <p:cNvSpPr/>
          <p:nvPr/>
        </p:nvSpPr>
        <p:spPr>
          <a:xfrm>
            <a:off x="6301588" y="2468880"/>
            <a:ext cx="2651760" cy="566928"/>
          </a:xfrm>
          <a:prstGeom prst="ellipse">
            <a:avLst/>
          </a:prstGeom>
          <a:solidFill>
            <a:srgbClr val="FFFFFF"/>
          </a:solidFill>
          <a:ln w="9525">
            <a:solidFill>
              <a:srgbClr val="C3C2B7"/>
            </a:solidFill>
          </a:ln>
        </p:spPr>
        <p:txBody>
          <a:bodyPr wrap="square" anchor="ctr" lIns="54864" rIns="54864" tIns="27432" bIns="27432"/>
          <a:lstStyle/>
          <a:p>
            <a:pPr algn="ctr"/>
            <a:endParaRPr lang="en-AU" sz="900"/>
          </a:p>
        </p:txBody>
      </p:sp>
      <p:sp>
        <p:nvSpPr>
          <p:cNvPr id="50" name="shape50"/>
          <p:cNvSpPr/>
          <p:nvPr/>
        </p:nvSpPr>
        <p:spPr>
          <a:xfrm>
            <a:off x="6301588" y="3145536"/>
            <a:ext cx="2651760" cy="566928"/>
          </a:xfrm>
          <a:prstGeom prst="ellipse">
            <a:avLst/>
          </a:prstGeom>
          <a:solidFill>
            <a:srgbClr val="FFFFFF"/>
          </a:solidFill>
          <a:ln w="9525">
            <a:solidFill>
              <a:srgbClr val="C3C2B7"/>
            </a:solidFill>
          </a:ln>
        </p:spPr>
        <p:txBody>
          <a:bodyPr wrap="square" anchor="ctr" lIns="54864" rIns="54864" tIns="27432" bIns="27432"/>
          <a:lstStyle/>
          <a:p>
            <a:pPr algn="ctr"/>
            <a:endParaRPr lang="en-AU" sz="900"/>
          </a:p>
        </p:txBody>
      </p:sp>
      <p:sp>
        <p:nvSpPr>
          <p:cNvPr id="51" name="shape51"/>
          <p:cNvSpPr/>
          <p:nvPr/>
        </p:nvSpPr>
        <p:spPr>
          <a:xfrm>
            <a:off x="6301588" y="3822192"/>
            <a:ext cx="2651760" cy="566928"/>
          </a:xfrm>
          <a:prstGeom prst="ellipse">
            <a:avLst/>
          </a:prstGeom>
          <a:solidFill>
            <a:srgbClr val="FFFFFF"/>
          </a:solidFill>
          <a:ln w="9525">
            <a:solidFill>
              <a:srgbClr val="C3C2B7"/>
            </a:solidFill>
          </a:ln>
        </p:spPr>
        <p:txBody>
          <a:bodyPr wrap="square" anchor="ctr" lIns="54864" rIns="54864" tIns="27432" bIns="27432"/>
          <a:lstStyle/>
          <a:p>
            <a:pPr algn="ctr"/>
            <a:endParaRPr lang="en-AU" sz="900"/>
          </a:p>
        </p:txBody>
      </p:sp>
      <p:sp>
        <p:nvSpPr>
          <p:cNvPr id="52" name="shape52"/>
          <p:cNvSpPr/>
          <p:nvPr/>
        </p:nvSpPr>
        <p:spPr>
          <a:xfrm>
            <a:off x="3520440" y="1865376"/>
            <a:ext cx="1371600" cy="502920"/>
          </a:xfrm>
          <a:prstGeom prst="roundRect">
            <a:avLst>
              <a:gd name="adj" fmla="val 20000"/>
            </a:avLst>
          </a:prstGeom>
          <a:solidFill>
            <a:srgbClr val="F7F7F5"/>
          </a:solidFill>
          <a:ln w="9525">
            <a:solidFill>
              <a:srgbClr val="C3C2B7"/>
            </a:solidFill>
          </a:ln>
        </p:spPr>
        <p:txBody>
          <a:bodyPr wrap="square" anchor="ctr" lIns="54864" rIns="54864" tIns="27432" bIns="27432"/>
          <a:lstStyle/>
          <a:p>
            <a:pPr algn="ctr"/>
            <a:r>
              <a:rPr lang="en-AU" sz="850" dirty="0">
                <a:solidFill>
                  <a:srgbClr val="0B0B0B"/>
                </a:solidFill>
                <a:latin typeface="Aptos"/>
              </a:rPr>
              <a:t>Actor</a:t>
            </a:r>
          </a:p>
        </p:txBody>
      </p:sp>
      <p:sp>
        <p:nvSpPr>
          <p:cNvPr id="53" name="shape53"/>
          <p:cNvSpPr/>
          <p:nvPr/>
        </p:nvSpPr>
        <p:spPr>
          <a:xfrm>
            <a:off x="3520440" y="3145536"/>
            <a:ext cx="1371600" cy="502920"/>
          </a:xfrm>
          <a:prstGeom prst="roundRect">
            <a:avLst>
              <a:gd name="adj" fmla="val 20000"/>
            </a:avLst>
          </a:prstGeom>
          <a:solidFill>
            <a:srgbClr val="F7F7F5"/>
          </a:solidFill>
          <a:ln w="9525">
            <a:solidFill>
              <a:srgbClr val="C3C2B7"/>
            </a:solidFill>
          </a:ln>
        </p:spPr>
        <p:txBody>
          <a:bodyPr wrap="square" anchor="ctr" lIns="54864" rIns="54864" tIns="27432" bIns="27432"/>
          <a:lstStyle/>
          <a:p>
            <a:pPr algn="ctr"/>
            <a:r>
              <a:rPr lang="en-AU" sz="850" dirty="0">
                <a:solidFill>
                  <a:srgbClr val="0B0B0B"/>
                </a:solidFill>
                <a:latin typeface="Aptos"/>
              </a:rPr>
              <a:t>Actor</a:t>
            </a:r>
          </a:p>
        </p:txBody>
      </p:sp>
      <p:sp>
        <p:nvSpPr>
          <p:cNvPr id="54" name="shape54"/>
          <p:cNvSpPr/>
          <p:nvPr/>
        </p:nvSpPr>
        <p:spPr>
          <a:xfrm>
            <a:off x="10362895" y="1865376"/>
            <a:ext cx="1371600" cy="502920"/>
          </a:xfrm>
          <a:prstGeom prst="roundRect">
            <a:avLst>
              <a:gd name="adj" fmla="val 20000"/>
            </a:avLst>
          </a:prstGeom>
          <a:solidFill>
            <a:srgbClr val="F7F7F5"/>
          </a:solidFill>
          <a:ln w="9525">
            <a:solidFill>
              <a:srgbClr val="C3C2B7"/>
            </a:solidFill>
          </a:ln>
        </p:spPr>
        <p:txBody>
          <a:bodyPr wrap="square" anchor="ctr" lIns="54864" rIns="54864" tIns="27432" bIns="27432"/>
          <a:lstStyle/>
          <a:p>
            <a:pPr algn="ctr"/>
            <a:r>
              <a:rPr lang="en-AU" sz="850" dirty="0">
                <a:solidFill>
                  <a:srgbClr val="0B0B0B"/>
                </a:solidFill>
                <a:latin typeface="Aptos"/>
              </a:rPr>
              <a:t>Actor</a:t>
            </a:r>
          </a:p>
        </p:txBody>
      </p:sp>
      <p:cxnSp>
        <p:nvCxnSpPr>
          <p:cNvPr id="55" name="conn55"/>
          <p:cNvCxnSpPr/>
          <p:nvPr/>
        </p:nvCxnSpPr>
        <p:spPr>
          <a:xfrm flipV="1">
            <a:off x="4892040" y="2075688"/>
            <a:ext cx="1272388" cy="36576"/>
          </a:xfrm>
          <a:prstGeom prst="line">
            <a:avLst/>
          </a:prstGeom>
          <a:ln w="6350">
            <a:solidFill>
              <a:srgbClr val="C3C2B7"/>
            </a:solidFill>
          </a:ln>
        </p:spPr>
      </p:cxnSp>
      <p:cxnSp>
        <p:nvCxnSpPr>
          <p:cNvPr id="56" name="conn56"/>
          <p:cNvCxnSpPr/>
          <p:nvPr/>
        </p:nvCxnSpPr>
        <p:spPr>
          <a:xfrm>
            <a:off x="4892040" y="2112264"/>
            <a:ext cx="1272388" cy="1316736"/>
          </a:xfrm>
          <a:prstGeom prst="line">
            <a:avLst/>
          </a:prstGeom>
          <a:ln w="6350">
            <a:solidFill>
              <a:srgbClr val="C3C2B7"/>
            </a:solidFill>
          </a:ln>
        </p:spPr>
      </p:cxnSp>
      <p:cxnSp>
        <p:nvCxnSpPr>
          <p:cNvPr id="57" name="conn57"/>
          <p:cNvCxnSpPr/>
          <p:nvPr/>
        </p:nvCxnSpPr>
        <p:spPr>
          <a:xfrm flipH="1">
            <a:off x="9090508" y="2112264"/>
            <a:ext cx="1272388" cy="640080"/>
          </a:xfrm>
          <a:prstGeom prst="line">
            <a:avLst/>
          </a:prstGeom>
          <a:ln w="6350">
            <a:solidFill>
              <a:srgbClr val="C3C2B7"/>
            </a:solidFill>
          </a:ln>
        </p:spPr>
      </p:cxnSp>
      <p:cxnSp>
        <p:nvCxnSpPr>
          <p:cNvPr id="58" name="conn58"/>
          <p:cNvCxnSpPr/>
          <p:nvPr/>
        </p:nvCxnSpPr>
        <p:spPr>
          <a:xfrm>
            <a:off x="4892040" y="3392424"/>
            <a:ext cx="1272388" cy="713232"/>
          </a:xfrm>
          <a:prstGeom prst="line">
            <a:avLst/>
          </a:prstGeom>
          <a:ln w="6350">
            <a:solidFill>
              <a:srgbClr val="C3C2B7"/>
            </a:solidFill>
          </a:ln>
        </p:spPr>
      </p:cxn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Microsoft Office PowerPoint</Application>
  <Slides>1</Slid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10.47 Use Cases and Scenarios — blank template</dc:title>
  <dc:creator>Business Analyst Services</dc:creator>
  <cp:lastModifiedBy>Business Analyst Services</cp:lastModifiedBy>
</cp:coreProperties>
</file>