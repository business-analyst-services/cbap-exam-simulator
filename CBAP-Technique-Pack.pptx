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 Id="rId100" Type="http://schemas.openxmlformats.org/officeDocument/2006/relationships/slide" Target="slides/slide91.xml"/><Relationship Id="rId101" Type="http://schemas.openxmlformats.org/officeDocument/2006/relationships/slide" Target="slides/slide92.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95.xml"/><Relationship Id="rId105" Type="http://schemas.openxmlformats.org/officeDocument/2006/relationships/slide" Target="slides/slide96.xml"/><Relationship Id="rId106" Type="http://schemas.openxmlformats.org/officeDocument/2006/relationships/slide" Target="slides/slide97.xml"/><Relationship Id="rId107" Type="http://schemas.openxmlformats.org/officeDocument/2006/relationships/slide" Target="slides/slide98.xml"/><Relationship Id="rId108" Type="http://schemas.openxmlformats.org/officeDocument/2006/relationships/slide" Target="slides/slide99.xml"/><Relationship Id="rId109" Type="http://schemas.openxmlformats.org/officeDocument/2006/relationships/slide" Target="slides/slide100.xml"/><Relationship Id="rId110" Type="http://schemas.openxmlformats.org/officeDocument/2006/relationships/slide" Target="slides/slide101.xml"/><Relationship Id="rId111" Type="http://schemas.openxmlformats.org/officeDocument/2006/relationships/slide" Target="slides/slide1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928C-8D94-4386-AC7B-553F59AB7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2215E4E-208B-05AF-0F7D-9031FC30B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A11AB49-14DA-9592-096C-42215282051C}"/>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CB846A6-E1F2-97FD-1990-6DB3D94A2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72E879-8ADE-ADD1-561C-922DD66B1C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37434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2970-3FFA-672E-7BDF-8C39604467F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668F12-6D7A-FAC0-A8EA-015157BBB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2B7A39-1E77-649D-B8DD-65A653DA92D8}"/>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487EC7D5-C430-E2C7-F316-38EA7DAF8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CD7CAB-8C83-4E1B-163F-768A62ADF3F5}"/>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68013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571-F905-106F-44AC-06D507B8D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BDFC9-BB31-433B-931E-96E8AD41C5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D8789-1EE8-4EB2-A8D6-1CF825AACF86}"/>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29447C1-5CE4-9F76-9084-1F256878BE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8835E4-AFDF-C6D5-CD1B-FA44865F882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8484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5372-E0A7-350D-2E33-AD05CD86502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C14DD2-FD65-8F81-56D6-7CCCBFA30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BC754D9-E8E7-1862-DAE2-BA3F6E1D0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7741819-1EBC-263E-53AD-63930D5195F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5A1B7D8-7263-F629-5FCA-42BBA2DBEEF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F2436AB-10EF-5D96-2497-C60B56CD3D1C}"/>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37949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B8AB-C454-7B11-466F-81F851FE4E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7CCE9B-8BCB-3DFD-87F6-AA5CEC25B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05606-8CAC-4E3B-C6ED-4AC2B5B705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1D3C8-B3AC-1B3C-3004-08F40E1C0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F8BD6-6962-8063-AE0A-5B84622373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F2BB01-25A7-74DB-9D39-FF2497850D23}"/>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8" name="Footer Placeholder 7">
            <a:extLst>
              <a:ext uri="{FF2B5EF4-FFF2-40B4-BE49-F238E27FC236}">
                <a16:creationId xmlns:a16="http://schemas.microsoft.com/office/drawing/2014/main" id="{90EC8301-7807-EC5A-6186-22270AF9CE9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9D6DC6-AA52-6F5F-3085-E5804726737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502518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F212-4210-7349-A016-49E9913879B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14B7576-2346-127D-9DC5-8AED421B027E}"/>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4" name="Footer Placeholder 3">
            <a:extLst>
              <a:ext uri="{FF2B5EF4-FFF2-40B4-BE49-F238E27FC236}">
                <a16:creationId xmlns:a16="http://schemas.microsoft.com/office/drawing/2014/main" id="{1E14EFCF-868D-FC97-52FF-BCD0344C8A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61E5D5-7126-62BB-3AB3-D05572B6EB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6032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4B14-28BC-00E5-F4D8-4E0643C78024}"/>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3" name="Footer Placeholder 2">
            <a:extLst>
              <a:ext uri="{FF2B5EF4-FFF2-40B4-BE49-F238E27FC236}">
                <a16:creationId xmlns:a16="http://schemas.microsoft.com/office/drawing/2014/main" id="{5C9C7536-7B97-D84D-CDFB-8BC699DC596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E231F4-14C5-C859-F2BA-D048EEFAD9A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8476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E36B-C1A8-E713-D3B0-633FBD811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1836CF-9976-29CE-68C5-9599264B3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55AFBF0-4B3F-2EF1-8B31-26642E3D7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5EE40-43F3-7F72-C8F1-EDD0B50D1CD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6932FD82-A9F1-3A8F-56B3-A1634315EDA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8D54F0-0539-7BA2-BE93-05305B89F9D4}"/>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77126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4329-14C2-BCD5-7B8B-83A0D2EAE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780F7B-39E7-80A7-B597-95CE2CDC6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9E643D-14FF-D0FF-4AD7-CDCACEE3D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A30B3-6F69-EBB5-A077-12640378C51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3319E47-FC10-596B-6C48-03F211E1EB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804247-22B8-B7DE-3F1D-992336400D6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44457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F2B-D3D5-6EA6-0020-9DECD2B7FB2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EBA203-CF3F-8892-5650-4309825CF8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F26AE2-84EA-FE78-2265-F6AFE0A1905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8263697-1B9F-069E-2598-73789FDFF7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0047D5-B882-D0F3-B993-DF9EDB203BBF}"/>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463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AB66-86D0-3D3E-E607-14155BE92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5B9329-08DA-011C-50F7-CAB8B821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65844B-E496-59B2-0A32-DFDAE7DADC89}"/>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1810B4B-1C2F-C372-0353-8D20C000A8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8BC671-93AA-3D60-4FE1-A1D5BCE4B9C0}"/>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0755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5F508C-2EF1-2B88-6F34-BC6267F7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4579F1-5848-0D86-5D03-D45679A3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1C1FA1-D052-8D63-598C-3712975FF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7CCA5EC-E9C5-E397-BED3-64A79396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7041FC9-9C2B-BFFE-5BEC-9A8C04ED0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57FD1-BEE4-45E1-9795-C9137D5ACD0F}" type="slidenum">
              <a:rPr lang="en-AU" smtClean="0"/>
              <a:t>‹#›</a:t>
            </a:fld>
            <a:endParaRPr lang="en-AU"/>
          </a:p>
        </p:txBody>
      </p:sp>
    </p:spTree>
    <p:extLst>
      <p:ext uri="{BB962C8B-B14F-4D97-AF65-F5344CB8AC3E}">
        <p14:creationId xmlns:p14="http://schemas.microsoft.com/office/powerpoint/2010/main" val="146350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2"/>
          <p:cNvSpPr/>
          <p:nvPr/>
        </p:nvSpPr>
        <p:spPr>
          <a:xfrm>
            <a:off x="0" y="0"/>
            <a:ext cx="12191695" cy="6858000"/>
          </a:xfrm>
          <a:prstGeom prst="rect">
            <a:avLst/>
          </a:prstGeom>
          <a:solidFill>
            <a:srgbClr val="F7F7F5"/>
          </a:solidFill>
          <a:ln>
            <a:noFill/>
          </a:ln>
        </p:spPr>
        <p:txBody>
          <a:bodyPr wrap="square" anchor="ctr" lIns="54864" rIns="54864" tIns="27432" bIns="27432"/>
          <a:lstStyle/>
          <a:p>
            <a:pPr algn="l"/>
            <a:endParaRPr lang="en-AU" sz="1100"/>
          </a:p>
        </p:txBody>
      </p:sp>
      <p:sp>
        <p:nvSpPr>
          <p:cNvPr id="3" name="shape3"/>
          <p:cNvSpPr/>
          <p:nvPr/>
        </p:nvSpPr>
        <p:spPr>
          <a:xfrm>
            <a:off x="1005840" y="1965960"/>
            <a:ext cx="10058400" cy="822960"/>
          </a:xfrm>
          <a:prstGeom prst="rect">
            <a:avLst/>
          </a:prstGeom>
          <a:noFill/>
          <a:ln>
            <a:noFill/>
          </a:ln>
        </p:spPr>
        <p:txBody>
          <a:bodyPr wrap="square" anchor="ctr" lIns="54864" rIns="54864" tIns="27432" bIns="27432"/>
          <a:lstStyle/>
          <a:p>
            <a:pPr algn="l"/>
            <a:r>
              <a:rPr lang="en-AU" sz="4400" b="1" dirty="0">
                <a:solidFill>
                  <a:srgbClr val="0B0B0B"/>
                </a:solidFill>
                <a:latin typeface="Aptos"/>
              </a:rPr>
              <a:t>CBAP® Technique Pack</a:t>
            </a:r>
          </a:p>
        </p:txBody>
      </p:sp>
      <p:sp>
        <p:nvSpPr>
          <p:cNvPr id="4" name="shape4"/>
          <p:cNvSpPr/>
          <p:nvPr/>
        </p:nvSpPr>
        <p:spPr>
          <a:xfrm>
            <a:off x="1005840" y="2788920"/>
            <a:ext cx="10058400" cy="457200"/>
          </a:xfrm>
          <a:prstGeom prst="rect">
            <a:avLst/>
          </a:prstGeom>
          <a:noFill/>
          <a:ln>
            <a:noFill/>
          </a:ln>
        </p:spPr>
        <p:txBody>
          <a:bodyPr wrap="square" anchor="ctr" lIns="54864" rIns="54864" tIns="27432" bIns="27432"/>
          <a:lstStyle/>
          <a:p>
            <a:pPr algn="l"/>
            <a:r>
              <a:rPr lang="en-AU" sz="1600" dirty="0">
                <a:solidFill>
                  <a:srgbClr val="6B6A66"/>
                </a:solidFill>
                <a:latin typeface="Aptos"/>
              </a:rPr>
              <a:t>All 50 BABOK® Guide v3 techniques — a worked example and a blank template for each</a:t>
            </a:r>
          </a:p>
        </p:txBody>
      </p:sp>
      <p:cxnSp>
        <p:nvCxnSpPr>
          <p:cNvPr id="5" name="conn5"/>
          <p:cNvCxnSpPr/>
          <p:nvPr/>
        </p:nvCxnSpPr>
        <p:spPr>
          <a:xfrm>
            <a:off x="1005840" y="3429000"/>
            <a:ext cx="3749040" cy="1"/>
          </a:xfrm>
          <a:prstGeom prst="line">
            <a:avLst/>
          </a:prstGeom>
          <a:ln w="28575">
            <a:solidFill>
              <a:srgbClr val="2A78D6"/>
            </a:solidFill>
          </a:ln>
        </p:spPr>
      </p:cxnSp>
      <p:sp>
        <p:nvSpPr>
          <p:cNvPr id="6" name="shape6"/>
          <p:cNvSpPr/>
          <p:nvPr/>
        </p:nvSpPr>
        <p:spPr>
          <a:xfrm>
            <a:off x="1005840" y="3657600"/>
            <a:ext cx="10058400" cy="822960"/>
          </a:xfrm>
          <a:prstGeom prst="rect">
            <a:avLst/>
          </a:prstGeom>
          <a:noFill/>
          <a:ln>
            <a:noFill/>
          </a:ln>
        </p:spPr>
        <p:txBody>
          <a:bodyPr wrap="square" anchor="ctr" lIns="54864" rIns="54864" tIns="27432" bIns="27432"/>
          <a:lstStyle/>
          <a:p>
            <a:pPr algn="l"/>
            <a:r>
              <a:rPr lang="en-AU" sz="1100" dirty="0">
                <a:solidFill>
                  <a:srgbClr val="0B0B0B"/>
                </a:solidFill>
                <a:latin typeface="Aptos"/>
              </a:rPr>
              <a:t>Every diagram and table on the following slides is a native PowerPoint object.</a:t>
            </a:r>
          </a:p>
          <a:p>
            <a:pPr algn="l"/>
            <a:r>
              <a:rPr lang="en-AU" sz="1100" dirty="0">
                <a:solidFill>
                  <a:srgbClr val="0B0B0B"/>
                </a:solidFill>
                <a:latin typeface="Aptos"/>
              </a:rPr>
              <a:t>Select it, type over it, recolour it, delete what you do not need.</a:t>
            </a:r>
          </a:p>
        </p:txBody>
      </p:sp>
      <p:sp>
        <p:nvSpPr>
          <p:cNvPr id="7" name="shape7"/>
          <p:cNvSpPr/>
          <p:nvPr/>
        </p:nvSpPr>
        <p:spPr>
          <a:xfrm>
            <a:off x="1005840" y="5760720"/>
            <a:ext cx="10058400" cy="365760"/>
          </a:xfrm>
          <a:prstGeom prst="rect">
            <a:avLst/>
          </a:prstGeom>
          <a:noFill/>
          <a:ln>
            <a:noFill/>
          </a:ln>
        </p:spPr>
        <p:txBody>
          <a:bodyPr wrap="square" anchor="ctr" lIns="54864" rIns="54864" tIns="27432" bIns="27432"/>
          <a:lstStyle/>
          <a:p>
            <a:pPr algn="l"/>
            <a:r>
              <a:rPr lang="en-AU" sz="950" dirty="0">
                <a:solidFill>
                  <a:srgbClr val="6B6A66"/>
                </a:solidFill>
                <a:latin typeface="Aptos"/>
              </a:rPr>
              <a:t>business-analyst.services  ·  generated from techniques.json  ·  not affiliated with IIBA®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8"/>
          <p:cNvSpPr/>
          <p:nvPr/>
        </p:nvSpPr>
        <p:spPr>
          <a:xfrm>
            <a:off x="457200" y="365760"/>
            <a:ext cx="10058400" cy="548640"/>
          </a:xfrm>
          <a:prstGeom prst="rect">
            <a:avLst/>
          </a:prstGeom>
          <a:noFill/>
          <a:ln>
            <a:noFill/>
          </a:ln>
        </p:spPr>
        <p:txBody>
          <a:bodyPr wrap="square" anchor="ctr" lIns="54864" rIns="54864" tIns="27432" bIns="27432"/>
          <a:lstStyle/>
          <a:p>
            <a:pPr algn="l"/>
            <a:r>
              <a:rPr lang="en-AU" sz="2600" b="1" dirty="0">
                <a:solidFill>
                  <a:srgbClr val="0B0B0B"/>
                </a:solidFill>
                <a:latin typeface="Aptos"/>
              </a:rPr>
              <a:t>Contents</a:t>
            </a:r>
          </a:p>
        </p:txBody>
      </p:sp>
      <p:cxnSp>
        <p:nvCxnSpPr>
          <p:cNvPr id="9" name="conn9"/>
          <p:cNvCxnSpPr/>
          <p:nvPr/>
        </p:nvCxnSpPr>
        <p:spPr>
          <a:xfrm>
            <a:off x="457200" y="1024128"/>
            <a:ext cx="11277295" cy="1"/>
          </a:xfrm>
          <a:prstGeom prst="line">
            <a:avLst/>
          </a:prstGeom>
          <a:ln w="12700">
            <a:solidFill>
              <a:srgbClr val="D9D8D0"/>
            </a:solidFill>
          </a:ln>
        </p:spPr>
      </p:cxnSp>
      <p:sp>
        <p:nvSpPr>
          <p:cNvPr id="10" name="shape10"/>
          <p:cNvSpPr/>
          <p:nvPr/>
        </p:nvSpPr>
        <p:spPr>
          <a:xfrm>
            <a:off x="457200" y="11887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MEASUREMENT AND EVALUATION</a:t>
            </a:r>
          </a:p>
        </p:txBody>
      </p:sp>
      <p:sp>
        <p:nvSpPr>
          <p:cNvPr id="11" name="shape11"/>
          <p:cNvSpPr/>
          <p:nvPr/>
        </p:nvSpPr>
        <p:spPr>
          <a:xfrm>
            <a:off x="457200" y="14264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10.1  Acceptance and Evaluation Criteria</a:t>
            </a:r>
          </a:p>
          <a:p>
            <a:pPr algn="l"/>
            <a:r>
              <a:rPr lang="en-AU" sz="850" dirty="0">
                <a:solidFill>
                  <a:srgbClr val="0B0B0B"/>
                </a:solidFill>
                <a:latin typeface="Aptos"/>
              </a:rPr>
              <a:t>10.3  Balanced Scorecard</a:t>
            </a:r>
          </a:p>
          <a:p>
            <a:pPr algn="l"/>
            <a:r>
              <a:rPr lang="en-AU" sz="850" dirty="0">
                <a:solidFill>
                  <a:srgbClr val="0B0B0B"/>
                </a:solidFill>
                <a:latin typeface="Aptos"/>
              </a:rPr>
              <a:t>10.28  Metrics and Key Performance Indicators</a:t>
            </a:r>
          </a:p>
        </p:txBody>
      </p:sp>
      <p:sp>
        <p:nvSpPr>
          <p:cNvPr id="12" name="shape12"/>
          <p:cNvSpPr/>
          <p:nvPr/>
        </p:nvSpPr>
        <p:spPr>
          <a:xfrm>
            <a:off x="6217920" y="11887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PLANNING, GOVERNANCE AND TRACKING</a:t>
            </a:r>
          </a:p>
        </p:txBody>
      </p:sp>
      <p:sp>
        <p:nvSpPr>
          <p:cNvPr id="13" name="shape13"/>
          <p:cNvSpPr/>
          <p:nvPr/>
        </p:nvSpPr>
        <p:spPr>
          <a:xfrm>
            <a:off x="6217920" y="14264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10.2  Backlog Management</a:t>
            </a:r>
          </a:p>
          <a:p>
            <a:pPr algn="l"/>
            <a:r>
              <a:rPr lang="en-AU" sz="850" dirty="0">
                <a:solidFill>
                  <a:srgbClr val="0B0B0B"/>
                </a:solidFill>
                <a:latin typeface="Aptos"/>
              </a:rPr>
              <a:t>10.26  Item Tracking</a:t>
            </a:r>
          </a:p>
          <a:p>
            <a:pPr algn="l"/>
            <a:r>
              <a:rPr lang="en-AU" sz="850" dirty="0">
                <a:solidFill>
                  <a:srgbClr val="0B0B0B"/>
                </a:solidFill>
                <a:latin typeface="Aptos"/>
              </a:rPr>
              <a:t>10.27  Lessons Learned</a:t>
            </a:r>
          </a:p>
          <a:p>
            <a:pPr algn="l"/>
            <a:r>
              <a:rPr lang="en-AU" sz="850" dirty="0">
                <a:solidFill>
                  <a:srgbClr val="0B0B0B"/>
                </a:solidFill>
                <a:latin typeface="Aptos"/>
              </a:rPr>
              <a:t>10.33  Prioritisation</a:t>
            </a:r>
          </a:p>
          <a:p>
            <a:pPr algn="l"/>
            <a:r>
              <a:rPr lang="en-AU" sz="850" dirty="0">
                <a:solidFill>
                  <a:srgbClr val="0B0B0B"/>
                </a:solidFill>
                <a:latin typeface="Aptos"/>
              </a:rPr>
              <a:t>10.37  Reviews</a:t>
            </a:r>
          </a:p>
          <a:p>
            <a:pPr algn="l"/>
            <a:r>
              <a:rPr lang="en-AU" sz="850" dirty="0">
                <a:solidFill>
                  <a:srgbClr val="0B0B0B"/>
                </a:solidFill>
                <a:latin typeface="Aptos"/>
              </a:rPr>
              <a:t>10.43  Stakeholder List, Map, or Personas</a:t>
            </a:r>
          </a:p>
        </p:txBody>
      </p:sp>
      <p:sp>
        <p:nvSpPr>
          <p:cNvPr id="14" name="shape14"/>
          <p:cNvSpPr/>
          <p:nvPr/>
        </p:nvSpPr>
        <p:spPr>
          <a:xfrm>
            <a:off x="457200" y="30175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STRATEGY AND DISCOVERY</a:t>
            </a:r>
          </a:p>
        </p:txBody>
      </p:sp>
      <p:sp>
        <p:nvSpPr>
          <p:cNvPr id="15" name="shape15"/>
          <p:cNvSpPr/>
          <p:nvPr/>
        </p:nvSpPr>
        <p:spPr>
          <a:xfrm>
            <a:off x="457200" y="32552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10.4  Benchmarking and Market Analysis</a:t>
            </a:r>
          </a:p>
          <a:p>
            <a:pPr algn="l"/>
            <a:r>
              <a:rPr lang="en-AU" sz="850" dirty="0">
                <a:solidFill>
                  <a:srgbClr val="0B0B0B"/>
                </a:solidFill>
                <a:latin typeface="Aptos"/>
              </a:rPr>
              <a:t>10.6  Business Capability Analysis</a:t>
            </a:r>
          </a:p>
          <a:p>
            <a:pPr algn="l"/>
            <a:r>
              <a:rPr lang="en-AU" sz="850" dirty="0">
                <a:solidFill>
                  <a:srgbClr val="0B0B0B"/>
                </a:solidFill>
                <a:latin typeface="Aptos"/>
              </a:rPr>
              <a:t>10.8  Business Model Canvas</a:t>
            </a:r>
          </a:p>
          <a:p>
            <a:pPr algn="l"/>
            <a:r>
              <a:rPr lang="en-AU" sz="850" dirty="0">
                <a:solidFill>
                  <a:srgbClr val="0B0B0B"/>
                </a:solidFill>
                <a:latin typeface="Aptos"/>
              </a:rPr>
              <a:t>10.14  Data Mining</a:t>
            </a:r>
          </a:p>
          <a:p>
            <a:pPr algn="l"/>
            <a:r>
              <a:rPr lang="en-AU" sz="850" dirty="0">
                <a:solidFill>
                  <a:srgbClr val="0B0B0B"/>
                </a:solidFill>
                <a:latin typeface="Aptos"/>
              </a:rPr>
              <a:t>10.32  Organisational Modelling</a:t>
            </a:r>
          </a:p>
          <a:p>
            <a:pPr algn="l"/>
            <a:r>
              <a:rPr lang="en-AU" sz="850" dirty="0">
                <a:solidFill>
                  <a:srgbClr val="0B0B0B"/>
                </a:solidFill>
                <a:latin typeface="Aptos"/>
              </a:rPr>
              <a:t>10.34  Process Analysis</a:t>
            </a:r>
          </a:p>
          <a:p>
            <a:pPr algn="l"/>
            <a:r>
              <a:rPr lang="en-AU" sz="850" dirty="0">
                <a:solidFill>
                  <a:srgbClr val="0B0B0B"/>
                </a:solidFill>
                <a:latin typeface="Aptos"/>
              </a:rPr>
              <a:t>10.40  Root Cause Analysis</a:t>
            </a:r>
          </a:p>
          <a:p>
            <a:pPr algn="l"/>
            <a:r>
              <a:rPr lang="en-AU" sz="850" dirty="0">
                <a:solidFill>
                  <a:srgbClr val="0B0B0B"/>
                </a:solidFill>
                <a:latin typeface="Aptos"/>
              </a:rPr>
              <a:t>10.46  SWOT Analysis</a:t>
            </a:r>
          </a:p>
        </p:txBody>
      </p:sp>
      <p:sp>
        <p:nvSpPr>
          <p:cNvPr id="16" name="shape16"/>
          <p:cNvSpPr/>
          <p:nvPr/>
        </p:nvSpPr>
        <p:spPr>
          <a:xfrm>
            <a:off x="6217920" y="30175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ELICITATION AND COLLABORATION</a:t>
            </a:r>
          </a:p>
        </p:txBody>
      </p:sp>
      <p:sp>
        <p:nvSpPr>
          <p:cNvPr id="17" name="shape17"/>
          <p:cNvSpPr/>
          <p:nvPr/>
        </p:nvSpPr>
        <p:spPr>
          <a:xfrm>
            <a:off x="6217920" y="32552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10.5  Brainstorming</a:t>
            </a:r>
          </a:p>
          <a:p>
            <a:pPr algn="l"/>
            <a:r>
              <a:rPr lang="en-AU" sz="850" dirty="0">
                <a:solidFill>
                  <a:srgbClr val="0B0B0B"/>
                </a:solidFill>
                <a:latin typeface="Aptos"/>
              </a:rPr>
              <a:t>10.10  Collaborative Games</a:t>
            </a:r>
          </a:p>
          <a:p>
            <a:pPr algn="l"/>
            <a:r>
              <a:rPr lang="en-AU" sz="850" dirty="0">
                <a:solidFill>
                  <a:srgbClr val="0B0B0B"/>
                </a:solidFill>
                <a:latin typeface="Aptos"/>
              </a:rPr>
              <a:t>10.18  Document Analysis</a:t>
            </a:r>
          </a:p>
          <a:p>
            <a:pPr algn="l"/>
            <a:r>
              <a:rPr lang="en-AU" sz="850" dirty="0">
                <a:solidFill>
                  <a:srgbClr val="0B0B0B"/>
                </a:solidFill>
                <a:latin typeface="Aptos"/>
              </a:rPr>
              <a:t>10.21  Focus Groups</a:t>
            </a:r>
          </a:p>
          <a:p>
            <a:pPr algn="l"/>
            <a:r>
              <a:rPr lang="en-AU" sz="850" dirty="0">
                <a:solidFill>
                  <a:srgbClr val="0B0B0B"/>
                </a:solidFill>
                <a:latin typeface="Aptos"/>
              </a:rPr>
              <a:t>10.25  Interviews</a:t>
            </a:r>
          </a:p>
          <a:p>
            <a:pPr algn="l"/>
            <a:r>
              <a:rPr lang="en-AU" sz="850" dirty="0">
                <a:solidFill>
                  <a:srgbClr val="0B0B0B"/>
                </a:solidFill>
                <a:latin typeface="Aptos"/>
              </a:rPr>
              <a:t>10.29  Mind Mapping</a:t>
            </a:r>
          </a:p>
          <a:p>
            <a:pPr algn="l"/>
            <a:r>
              <a:rPr lang="en-AU" sz="850" dirty="0">
                <a:solidFill>
                  <a:srgbClr val="0B0B0B"/>
                </a:solidFill>
                <a:latin typeface="Aptos"/>
              </a:rPr>
              <a:t>10.31  Observation</a:t>
            </a:r>
          </a:p>
          <a:p>
            <a:pPr algn="l"/>
            <a:r>
              <a:rPr lang="en-AU" sz="850" dirty="0">
                <a:solidFill>
                  <a:srgbClr val="0B0B0B"/>
                </a:solidFill>
                <a:latin typeface="Aptos"/>
              </a:rPr>
              <a:t>10.36  Prototyping</a:t>
            </a:r>
          </a:p>
          <a:p>
            <a:pPr algn="l"/>
            <a:r>
              <a:rPr lang="en-AU" sz="850" dirty="0">
                <a:solidFill>
                  <a:srgbClr val="0B0B0B"/>
                </a:solidFill>
                <a:latin typeface="Aptos"/>
              </a:rPr>
              <a:t>10.45  Survey or Questionnaire</a:t>
            </a:r>
          </a:p>
          <a:p>
            <a:pPr algn="l"/>
            <a:r>
              <a:rPr lang="en-AU" sz="850" dirty="0">
                <a:solidFill>
                  <a:srgbClr val="0B0B0B"/>
                </a:solidFill>
                <a:latin typeface="Aptos"/>
              </a:rPr>
              <a:t>10.50  Workshops</a:t>
            </a:r>
          </a:p>
        </p:txBody>
      </p:sp>
      <p:sp>
        <p:nvSpPr>
          <p:cNvPr id="18" name="shape18"/>
          <p:cNvSpPr/>
          <p:nvPr/>
        </p:nvSpPr>
        <p:spPr>
          <a:xfrm>
            <a:off x="457200" y="48463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VALUATION AND DECISION</a:t>
            </a:r>
          </a:p>
        </p:txBody>
      </p:sp>
      <p:sp>
        <p:nvSpPr>
          <p:cNvPr id="19" name="shape19"/>
          <p:cNvSpPr/>
          <p:nvPr/>
        </p:nvSpPr>
        <p:spPr>
          <a:xfrm>
            <a:off x="457200" y="50840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10.7  Business Cases</a:t>
            </a:r>
          </a:p>
          <a:p>
            <a:pPr algn="l"/>
            <a:r>
              <a:rPr lang="en-AU" sz="850" dirty="0">
                <a:solidFill>
                  <a:srgbClr val="0B0B0B"/>
                </a:solidFill>
                <a:latin typeface="Aptos"/>
              </a:rPr>
              <a:t>10.16  Decision Analysis</a:t>
            </a:r>
          </a:p>
          <a:p>
            <a:pPr algn="l"/>
            <a:r>
              <a:rPr lang="en-AU" sz="850" dirty="0">
                <a:solidFill>
                  <a:srgbClr val="0B0B0B"/>
                </a:solidFill>
                <a:latin typeface="Aptos"/>
              </a:rPr>
              <a:t>10.19  Estimation</a:t>
            </a:r>
          </a:p>
          <a:p>
            <a:pPr algn="l"/>
            <a:r>
              <a:rPr lang="en-AU" sz="850" dirty="0">
                <a:solidFill>
                  <a:srgbClr val="0B0B0B"/>
                </a:solidFill>
                <a:latin typeface="Aptos"/>
              </a:rPr>
              <a:t>10.20  Financial Analysis</a:t>
            </a:r>
          </a:p>
          <a:p>
            <a:pPr algn="l"/>
            <a:r>
              <a:rPr lang="en-AU" sz="850" dirty="0">
                <a:solidFill>
                  <a:srgbClr val="0B0B0B"/>
                </a:solidFill>
                <a:latin typeface="Aptos"/>
              </a:rPr>
              <a:t>10.38  Risk Analysis and Management</a:t>
            </a:r>
          </a:p>
          <a:p>
            <a:pPr algn="l"/>
            <a:r>
              <a:rPr lang="en-AU" sz="850" dirty="0">
                <a:solidFill>
                  <a:srgbClr val="0B0B0B"/>
                </a:solidFill>
                <a:latin typeface="Aptos"/>
              </a:rPr>
              <a:t>10.49  Vendor Assessment</a:t>
            </a:r>
          </a:p>
        </p:txBody>
      </p:sp>
      <p:sp>
        <p:nvSpPr>
          <p:cNvPr id="20" name="shape20"/>
          <p:cNvSpPr/>
          <p:nvPr/>
        </p:nvSpPr>
        <p:spPr>
          <a:xfrm>
            <a:off x="6217920" y="4846320"/>
            <a:ext cx="5486400" cy="237744"/>
          </a:xfrm>
          <a:prstGeom prst="rect">
            <a:avLst/>
          </a:prstGeom>
          <a:noFill/>
          <a:ln>
            <a:noFill/>
          </a:ln>
        </p:spPr>
        <p:txBody>
          <a:bodyPr wrap="square" anchor="ctr" lIns="54864" rIns="54864" tIns="27432" bIns="27432"/>
          <a:lstStyle/>
          <a:p>
            <a:pPr algn="l"/>
            <a:r>
              <a:rPr lang="en-AU" sz="900" b="1" dirty="0">
                <a:solidFill>
                  <a:srgbClr val="184F95"/>
                </a:solidFill>
                <a:latin typeface="Aptos"/>
              </a:rPr>
              <a:t>MODELLING AND SPECIFICATION</a:t>
            </a:r>
          </a:p>
        </p:txBody>
      </p:sp>
      <p:sp>
        <p:nvSpPr>
          <p:cNvPr id="21" name="shape21"/>
          <p:cNvSpPr/>
          <p:nvPr/>
        </p:nvSpPr>
        <p:spPr>
          <a:xfrm>
            <a:off x="6217920" y="5084064"/>
            <a:ext cx="5486400" cy="1463040"/>
          </a:xfrm>
          <a:prstGeom prst="rect">
            <a:avLst/>
          </a:prstGeom>
          <a:noFill/>
          <a:ln>
            <a:noFill/>
          </a:ln>
        </p:spPr>
        <p:txBody>
          <a:bodyPr wrap="square" anchor="t" lIns="0" rIns="0" tIns="27432" bIns="27432"/>
          <a:lstStyle/>
          <a:p>
            <a:pPr algn="l"/>
            <a:r>
              <a:rPr lang="en-AU" sz="850" dirty="0">
                <a:solidFill>
                  <a:srgbClr val="0B0B0B"/>
                </a:solidFill>
                <a:latin typeface="Aptos"/>
              </a:rPr>
              <a:t>10.9  Business Rules Analysis</a:t>
            </a:r>
          </a:p>
          <a:p>
            <a:pPr algn="l"/>
            <a:r>
              <a:rPr lang="en-AU" sz="850" dirty="0">
                <a:solidFill>
                  <a:srgbClr val="0B0B0B"/>
                </a:solidFill>
                <a:latin typeface="Aptos"/>
              </a:rPr>
              <a:t>10.11  Concept Modelling</a:t>
            </a:r>
          </a:p>
          <a:p>
            <a:pPr algn="l"/>
            <a:r>
              <a:rPr lang="en-AU" sz="850" dirty="0">
                <a:solidFill>
                  <a:srgbClr val="0B0B0B"/>
                </a:solidFill>
                <a:latin typeface="Aptos"/>
              </a:rPr>
              <a:t>10.12  Data Dictionary</a:t>
            </a:r>
          </a:p>
          <a:p>
            <a:pPr algn="l"/>
            <a:r>
              <a:rPr lang="en-AU" sz="850" dirty="0">
                <a:solidFill>
                  <a:srgbClr val="0B0B0B"/>
                </a:solidFill>
                <a:latin typeface="Aptos"/>
              </a:rPr>
              <a:t>10.13  Data Flow Diagrams</a:t>
            </a:r>
          </a:p>
          <a:p>
            <a:pPr algn="l"/>
            <a:r>
              <a:rPr lang="en-AU" sz="850" dirty="0">
                <a:solidFill>
                  <a:srgbClr val="0B0B0B"/>
                </a:solidFill>
                <a:latin typeface="Aptos"/>
              </a:rPr>
              <a:t>10.15  Data Modelling</a:t>
            </a:r>
          </a:p>
          <a:p>
            <a:pPr algn="l"/>
            <a:r>
              <a:rPr lang="en-AU" sz="850" dirty="0">
                <a:solidFill>
                  <a:srgbClr val="0B0B0B"/>
                </a:solidFill>
                <a:latin typeface="Aptos"/>
              </a:rPr>
              <a:t>10.17  Decision Modelling</a:t>
            </a:r>
          </a:p>
          <a:p>
            <a:pPr algn="l"/>
            <a:r>
              <a:rPr lang="en-AU" sz="850" dirty="0">
                <a:solidFill>
                  <a:srgbClr val="0B0B0B"/>
                </a:solidFill>
                <a:latin typeface="Aptos"/>
              </a:rPr>
              <a:t>10.22  Functional Decomposition</a:t>
            </a:r>
          </a:p>
          <a:p>
            <a:pPr algn="l"/>
            <a:r>
              <a:rPr lang="en-AU" sz="850" dirty="0">
                <a:solidFill>
                  <a:srgbClr val="0B0B0B"/>
                </a:solidFill>
                <a:latin typeface="Aptos"/>
              </a:rPr>
              <a:t>10.23  Glossary</a:t>
            </a:r>
          </a:p>
          <a:p>
            <a:pPr algn="l"/>
            <a:r>
              <a:rPr lang="en-AU" sz="850" dirty="0">
                <a:solidFill>
                  <a:srgbClr val="0B0B0B"/>
                </a:solidFill>
                <a:latin typeface="Aptos"/>
              </a:rPr>
              <a:t>10.24  Interface Analysis</a:t>
            </a:r>
          </a:p>
          <a:p>
            <a:pPr algn="l"/>
            <a:r>
              <a:rPr lang="en-AU" sz="850" dirty="0">
                <a:solidFill>
                  <a:srgbClr val="0B0B0B"/>
                </a:solidFill>
                <a:latin typeface="Aptos"/>
              </a:rPr>
              <a:t>10.30  Non-Functional Requirements Analysis</a:t>
            </a:r>
          </a:p>
          <a:p>
            <a:pPr algn="l"/>
            <a:r>
              <a:rPr lang="en-AU" sz="850" dirty="0">
                <a:solidFill>
                  <a:srgbClr val="0B0B0B"/>
                </a:solidFill>
                <a:latin typeface="Aptos"/>
              </a:rPr>
              <a:t>10.35  Process Modelling</a:t>
            </a:r>
          </a:p>
          <a:p>
            <a:pPr algn="l"/>
            <a:r>
              <a:rPr lang="en-AU" sz="850" dirty="0">
                <a:solidFill>
                  <a:srgbClr val="0B0B0B"/>
                </a:solidFill>
                <a:latin typeface="Aptos"/>
              </a:rPr>
              <a:t>10.39  Roles and Permissions Matrix</a:t>
            </a:r>
          </a:p>
          <a:p>
            <a:pPr algn="l"/>
            <a:r>
              <a:rPr lang="en-AU" sz="850" dirty="0">
                <a:solidFill>
                  <a:srgbClr val="0B0B0B"/>
                </a:solidFill>
                <a:latin typeface="Aptos"/>
              </a:rPr>
              <a:t>10.41  Scope Modelling</a:t>
            </a:r>
          </a:p>
          <a:p>
            <a:pPr algn="l"/>
            <a:r>
              <a:rPr lang="en-AU" sz="850" dirty="0">
                <a:solidFill>
                  <a:srgbClr val="0B0B0B"/>
                </a:solidFill>
                <a:latin typeface="Aptos"/>
              </a:rPr>
              <a:t>10.42  Sequence Diagrams</a:t>
            </a:r>
          </a:p>
          <a:p>
            <a:pPr algn="l"/>
            <a:r>
              <a:rPr lang="en-AU" sz="850" dirty="0">
                <a:solidFill>
                  <a:srgbClr val="0B0B0B"/>
                </a:solidFill>
                <a:latin typeface="Aptos"/>
              </a:rPr>
              <a:t>10.44  State Modelling</a:t>
            </a:r>
          </a:p>
          <a:p>
            <a:pPr algn="l"/>
            <a:r>
              <a:rPr lang="en-AU" sz="850" dirty="0">
                <a:solidFill>
                  <a:srgbClr val="0B0B0B"/>
                </a:solidFill>
                <a:latin typeface="Aptos"/>
              </a:rPr>
              <a:t>10.47  Use Cases and Scenarios</a:t>
            </a:r>
          </a:p>
          <a:p>
            <a:pPr algn="l"/>
            <a:r>
              <a:rPr lang="en-AU" sz="850" dirty="0">
                <a:solidFill>
                  <a:srgbClr val="0B0B0B"/>
                </a:solidFill>
                <a:latin typeface="Aptos"/>
              </a:rPr>
              <a:t>10.48  User Stories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2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  Acceptance and Evaluation Criteria</a:t>
            </a:r>
          </a:p>
        </p:txBody>
      </p:sp>
      <p:sp>
        <p:nvSpPr>
          <p:cNvPr id="23" name="shape2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24" name="shape2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5" name="conn25"/>
          <p:cNvCxnSpPr/>
          <p:nvPr/>
        </p:nvCxnSpPr>
        <p:spPr>
          <a:xfrm>
            <a:off x="457200" y="1078992"/>
            <a:ext cx="11277295" cy="1"/>
          </a:xfrm>
          <a:prstGeom prst="line">
            <a:avLst/>
          </a:prstGeom>
          <a:ln w="9525">
            <a:solidFill>
              <a:srgbClr val="D9D8D0"/>
            </a:solidFill>
          </a:ln>
        </p:spPr>
      </p:cxnSp>
      <p:sp>
        <p:nvSpPr>
          <p:cNvPr id="26" name="shape2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7" name="shape2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a:t>
            </a:r>
          </a:p>
        </p:txBody>
      </p:sp>
      <p:sp>
        <p:nvSpPr>
          <p:cNvPr id="28" name="shape2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9" name="shape2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States the conditions a solution must meet to be accepted, and the measures used to judge one option against another.</a:t>
            </a:r>
          </a:p>
        </p:txBody>
      </p:sp>
      <p:sp>
        <p:nvSpPr>
          <p:cNvPr id="30" name="shape3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31" name="shape3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requirement has to be testable before anyone builds against it, or when competing options need a common yardstick rather than opinion.</a:t>
            </a:r>
          </a:p>
        </p:txBody>
      </p:sp>
      <p:sp>
        <p:nvSpPr>
          <p:cNvPr id="32" name="shape3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3" name="shape3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Acceptance criteria are pass or fail and belong to a single requirement; evaluation criteria rank options against each other. An item that asks you to choose between suppliers wants evaluation, not acceptance.</a:t>
            </a:r>
          </a:p>
        </p:txBody>
      </p:sp>
      <p:sp>
        <p:nvSpPr>
          <p:cNvPr id="34" name="shape3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35" name="shape3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7.3 Validate Requirements · 8.1 Measure Solution Performance · 5.3 Prioritize Requirements</a:t>
            </a:r>
          </a:p>
        </p:txBody>
      </p:sp>
      <p:sp>
        <p:nvSpPr>
          <p:cNvPr id="36" name="shape3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Two activities, two differently built sets of criteria</a:t>
            </a:r>
          </a:p>
        </p:txBody>
      </p:sp>
      <p:sp>
        <p:nvSpPr>
          <p:cNvPr id="37" name="shape3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A zero weight removes a criterion from the ranking; it does not turn it into a threshold.</a:t>
            </a:r>
          </a:p>
        </p:txBody>
      </p:sp>
      <p:graphicFrame>
        <p:nvGraphicFramePr>
          <p:cNvPr id="38" name="table38"/>
          <p:cNvGraphicFramePr>
            <a:graphicFrameLocks noGrp="1"/>
          </p:cNvGraphicFramePr>
          <p:nvPr/>
        </p:nvGraphicFramePr>
        <p:xfrm>
          <a:off x="3520440" y="1499616"/>
          <a:ext cx="8214055" cy="1152144"/>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Purpose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Form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Example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Result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Choose a ticketing supplier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Weighted, comparative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Integration effort, weight 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 ranking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Admit a journey planner requirement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Threshold, binary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Returns a route within 2 s at peak load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Pass or fail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3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  Acceptance and Evaluation Criteria</a:t>
            </a:r>
          </a:p>
        </p:txBody>
      </p:sp>
      <p:sp>
        <p:nvSpPr>
          <p:cNvPr id="40" name="shape4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41" name="shape41"/>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42" name="conn42"/>
          <p:cNvCxnSpPr/>
          <p:nvPr/>
        </p:nvCxnSpPr>
        <p:spPr>
          <a:xfrm>
            <a:off x="457200" y="1078992"/>
            <a:ext cx="11277295" cy="1"/>
          </a:xfrm>
          <a:prstGeom prst="line">
            <a:avLst/>
          </a:prstGeom>
          <a:ln w="9525">
            <a:solidFill>
              <a:srgbClr val="D9D8D0"/>
            </a:solidFill>
          </a:ln>
        </p:spPr>
      </p:cxnSp>
      <p:sp>
        <p:nvSpPr>
          <p:cNvPr id="43" name="shape4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44" name="shape4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a:t>
            </a:r>
          </a:p>
        </p:txBody>
      </p:sp>
      <p:sp>
        <p:nvSpPr>
          <p:cNvPr id="45" name="shape4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46" name="shape46"/>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purpose.</a:t>
            </a:r>
          </a:p>
        </p:txBody>
      </p:sp>
      <p:sp>
        <p:nvSpPr>
          <p:cNvPr id="47" name="shape47"/>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48" name="shape48"/>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States the conditions a solution must meet to be accepted, and the measures used to judge one option against another.</a:t>
            </a:r>
          </a:p>
        </p:txBody>
      </p:sp>
      <p:sp>
        <p:nvSpPr>
          <p:cNvPr id="49" name="shape49"/>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0" name="shape50"/>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Acceptance criteria are pass or fail and belong to a single requirement; evaluation criteria rank options against each other. An item that asks you to choose between suppliers wants evaluation, not acceptance.</a:t>
            </a:r>
          </a:p>
        </p:txBody>
      </p:sp>
      <p:sp>
        <p:nvSpPr>
          <p:cNvPr id="51" name="shape51"/>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52" name="shape52"/>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7.3 Validate Requirements · 8.1 Measure Solution Performance · 5.3 Prioritize Requirements</a:t>
            </a:r>
          </a:p>
        </p:txBody>
      </p:sp>
      <p:sp>
        <p:nvSpPr>
          <p:cNvPr id="53" name="shape5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Acceptance and Evaluation Criteria — blank template</a:t>
            </a:r>
          </a:p>
        </p:txBody>
      </p:sp>
      <p:graphicFrame>
        <p:nvGraphicFramePr>
          <p:cNvPr id="54" name="table54"/>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Purpose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Form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Example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Result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5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  Balanced Scorecard</a:t>
            </a:r>
          </a:p>
        </p:txBody>
      </p:sp>
      <p:sp>
        <p:nvSpPr>
          <p:cNvPr id="56" name="shape5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57" name="shape57"/>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8" name="conn58"/>
          <p:cNvCxnSpPr/>
          <p:nvPr/>
        </p:nvCxnSpPr>
        <p:spPr>
          <a:xfrm>
            <a:off x="457200" y="1078992"/>
            <a:ext cx="11277295" cy="1"/>
          </a:xfrm>
          <a:prstGeom prst="line">
            <a:avLst/>
          </a:prstGeom>
          <a:ln w="9525">
            <a:solidFill>
              <a:srgbClr val="D9D8D0"/>
            </a:solidFill>
          </a:ln>
        </p:spPr>
      </p:cxnSp>
      <p:sp>
        <p:nvSpPr>
          <p:cNvPr id="59" name="shape5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60" name="shape6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a:t>
            </a:r>
          </a:p>
        </p:txBody>
      </p:sp>
      <p:sp>
        <p:nvSpPr>
          <p:cNvPr id="61" name="shape6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62" name="shape62"/>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Holds performance to four perspectives at once, financial, customer, internal process, and learning and growth, so no single dimension is optimised alone.</a:t>
            </a:r>
          </a:p>
        </p:txBody>
      </p:sp>
      <p:sp>
        <p:nvSpPr>
          <p:cNvPr id="63" name="shape63"/>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64" name="shape64"/>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an organisation is measuring itself only on money and needs the leading indicators that explain the money.</a:t>
            </a:r>
          </a:p>
        </p:txBody>
      </p:sp>
      <p:sp>
        <p:nvSpPr>
          <p:cNvPr id="65" name="shape65"/>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66" name="shape66"/>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balanced scorecard is a framework for choosing a spread of measures; metrics and KPIs are the individual measures themselves. If the scenario already has measures and asks whether they are the right ones, the scorecard is the answer.</a:t>
            </a:r>
          </a:p>
        </p:txBody>
      </p:sp>
      <p:sp>
        <p:nvSpPr>
          <p:cNvPr id="67" name="shape67"/>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68" name="shape68"/>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6.2 Define Future State · 8.1 Measure Solution Performance · 8.2 Analyze Performance Measures</a:t>
            </a:r>
          </a:p>
        </p:txBody>
      </p:sp>
      <p:sp>
        <p:nvSpPr>
          <p:cNvPr id="69" name="shape6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Contact centre, with the two empty perspectives exposed</a:t>
            </a:r>
          </a:p>
        </p:txBody>
      </p:sp>
      <p:sp>
        <p:nvSpPr>
          <p:cNvPr id="70" name="shape70"/>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Adding attrition closes one gap and leaves the customer perspective unobserved. Two perspectives are structurally missing.</a:t>
            </a:r>
          </a:p>
        </p:txBody>
      </p:sp>
      <p:sp>
        <p:nvSpPr>
          <p:cNvPr id="71" name="shape71"/>
          <p:cNvSpPr/>
          <p:nvPr/>
        </p:nvSpPr>
        <p:spPr>
          <a:xfrm>
            <a:off x="3547872" y="152704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FINANCIAL — 4 MEASURES</a:t>
            </a:r>
          </a:p>
          <a:p>
            <a:pPr algn="l"/>
            <a:r>
              <a:rPr lang="en-AU" sz="800" dirty="0">
                <a:solidFill>
                  <a:srgbClr val="0B0B0B"/>
                </a:solidFill>
                <a:latin typeface="Aptos"/>
              </a:rPr>
              <a:t>• Cost per contact $4.12, down 18%</a:t>
            </a:r>
          </a:p>
          <a:p>
            <a:pPr algn="l"/>
            <a:r>
              <a:rPr lang="en-AU" sz="800" dirty="0">
                <a:solidFill>
                  <a:srgbClr val="0B0B0B"/>
                </a:solidFill>
                <a:latin typeface="Aptos"/>
              </a:rPr>
              <a:t>• Cost per resolution</a:t>
            </a:r>
          </a:p>
          <a:p>
            <a:pPr algn="l"/>
            <a:r>
              <a:rPr lang="en-AU" sz="800" dirty="0">
                <a:solidFill>
                  <a:srgbClr val="0B0B0B"/>
                </a:solidFill>
                <a:latin typeface="Aptos"/>
              </a:rPr>
              <a:t>• Overtime spend</a:t>
            </a:r>
          </a:p>
          <a:p>
            <a:pPr algn="l"/>
            <a:r>
              <a:rPr lang="en-AU" sz="800" dirty="0">
                <a:solidFill>
                  <a:srgbClr val="0B0B0B"/>
                </a:solidFill>
                <a:latin typeface="Aptos"/>
              </a:rPr>
              <a:t>• Contacts per FTE</a:t>
            </a:r>
          </a:p>
        </p:txBody>
      </p:sp>
      <p:sp>
        <p:nvSpPr>
          <p:cNvPr id="72" name="shape72"/>
          <p:cNvSpPr/>
          <p:nvPr/>
        </p:nvSpPr>
        <p:spPr>
          <a:xfrm>
            <a:off x="7654900" y="152704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INTERNAL PROCESS — 3 MEASURES</a:t>
            </a:r>
          </a:p>
          <a:p>
            <a:pPr algn="l"/>
            <a:r>
              <a:rPr lang="en-AU" sz="800" dirty="0">
                <a:solidFill>
                  <a:srgbClr val="0B0B0B"/>
                </a:solidFill>
                <a:latin typeface="Aptos"/>
              </a:rPr>
              <a:t>• Average handle time 3m 44s, down 22%</a:t>
            </a:r>
          </a:p>
          <a:p>
            <a:pPr algn="l"/>
            <a:r>
              <a:rPr lang="en-AU" sz="800" dirty="0">
                <a:solidFill>
                  <a:srgbClr val="0B0B0B"/>
                </a:solidFill>
                <a:latin typeface="Aptos"/>
              </a:rPr>
              <a:t>• Schedule adherence 96%</a:t>
            </a:r>
          </a:p>
          <a:p>
            <a:pPr algn="l"/>
            <a:r>
              <a:rPr lang="en-AU" sz="800" dirty="0">
                <a:solidFill>
                  <a:srgbClr val="0B0B0B"/>
                </a:solidFill>
                <a:latin typeface="Aptos"/>
              </a:rPr>
              <a:t>• First-contact resolution</a:t>
            </a:r>
          </a:p>
        </p:txBody>
      </p:sp>
      <p:sp>
        <p:nvSpPr>
          <p:cNvPr id="73" name="shape73"/>
          <p:cNvSpPr/>
          <p:nvPr/>
        </p:nvSpPr>
        <p:spPr>
          <a:xfrm>
            <a:off x="3547872" y="308152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 0 MEASURES</a:t>
            </a:r>
          </a:p>
          <a:p>
            <a:pPr algn="l"/>
            <a:r>
              <a:rPr lang="en-AU" sz="800" dirty="0">
                <a:solidFill>
                  <a:srgbClr val="0B0B0B"/>
                </a:solidFill>
                <a:latin typeface="Aptos"/>
              </a:rPr>
              <a:t>• Nothing defined</a:t>
            </a:r>
          </a:p>
          <a:p>
            <a:pPr algn="l"/>
            <a:r>
              <a:rPr lang="en-AU" sz="800" dirty="0">
                <a:solidFill>
                  <a:srgbClr val="0B0B0B"/>
                </a:solidFill>
                <a:latin typeface="Aptos"/>
              </a:rPr>
              <a:t>• No satisfaction, effort or complaint measure</a:t>
            </a:r>
          </a:p>
        </p:txBody>
      </p:sp>
      <p:sp>
        <p:nvSpPr>
          <p:cNvPr id="74" name="shape74"/>
          <p:cNvSpPr/>
          <p:nvPr/>
        </p:nvSpPr>
        <p:spPr>
          <a:xfrm>
            <a:off x="7654900" y="308152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LEARNING AND GROWTH — 0 MEASURES</a:t>
            </a:r>
          </a:p>
          <a:p>
            <a:pPr algn="l"/>
            <a:r>
              <a:rPr lang="en-AU" sz="800" dirty="0">
                <a:solidFill>
                  <a:srgbClr val="0B0B0B"/>
                </a:solidFill>
                <a:latin typeface="Aptos"/>
              </a:rPr>
              <a:t>• Nothing defined</a:t>
            </a:r>
          </a:p>
          <a:p>
            <a:pPr algn="l"/>
            <a:r>
              <a:rPr lang="en-AU" sz="800" dirty="0">
                <a:solidFill>
                  <a:srgbClr val="0B0B0B"/>
                </a:solidFill>
                <a:latin typeface="Aptos"/>
              </a:rPr>
              <a:t>• Attrition rose 9% → 24% and appears nowhere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7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  Balanced Scorecard</a:t>
            </a:r>
          </a:p>
        </p:txBody>
      </p:sp>
      <p:sp>
        <p:nvSpPr>
          <p:cNvPr id="76" name="shape7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77" name="shape77"/>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78" name="conn78"/>
          <p:cNvCxnSpPr/>
          <p:nvPr/>
        </p:nvCxnSpPr>
        <p:spPr>
          <a:xfrm>
            <a:off x="457200" y="1078992"/>
            <a:ext cx="11277295" cy="1"/>
          </a:xfrm>
          <a:prstGeom prst="line">
            <a:avLst/>
          </a:prstGeom>
          <a:ln w="9525">
            <a:solidFill>
              <a:srgbClr val="D9D8D0"/>
            </a:solidFill>
          </a:ln>
        </p:spPr>
      </p:cxnSp>
      <p:sp>
        <p:nvSpPr>
          <p:cNvPr id="79" name="shape7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0" name="shape8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a:t>
            </a:r>
          </a:p>
        </p:txBody>
      </p:sp>
      <p:sp>
        <p:nvSpPr>
          <p:cNvPr id="81" name="shape8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82" name="shape82"/>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83" name="shape83"/>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4" name="shape84"/>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Holds performance to four perspectives at once, financial, customer, internal process, and learning and growth, so no single dimension is optimised alone.</a:t>
            </a:r>
          </a:p>
        </p:txBody>
      </p:sp>
      <p:sp>
        <p:nvSpPr>
          <p:cNvPr id="85" name="shape85"/>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86" name="shape86"/>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balanced scorecard is a framework for choosing a spread of measures; metrics and KPIs are the individual measures themselves. If the scenario already has measures and asks whether they are the right ones, the scorecard is the answer.</a:t>
            </a:r>
          </a:p>
        </p:txBody>
      </p:sp>
      <p:sp>
        <p:nvSpPr>
          <p:cNvPr id="87" name="shape87"/>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88" name="shape88"/>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6.2 Define Future State · 8.1 Measure Solution Performance · 8.2 Analyze Performance Measures</a:t>
            </a:r>
          </a:p>
        </p:txBody>
      </p:sp>
      <p:sp>
        <p:nvSpPr>
          <p:cNvPr id="89" name="shape8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Balanced Scorecard — blank template</a:t>
            </a:r>
          </a:p>
        </p:txBody>
      </p:sp>
      <p:sp>
        <p:nvSpPr>
          <p:cNvPr id="90" name="shape90"/>
          <p:cNvSpPr/>
          <p:nvPr/>
        </p:nvSpPr>
        <p:spPr>
          <a:xfrm>
            <a:off x="3547872" y="152704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FINANCIAL — 4 MEASURES</a:t>
            </a:r>
          </a:p>
          <a:p>
            <a:pPr algn="l"/>
            <a:endParaRPr lang="en-AU" sz="1100"/>
          </a:p>
        </p:txBody>
      </p:sp>
      <p:sp>
        <p:nvSpPr>
          <p:cNvPr id="91" name="shape91"/>
          <p:cNvSpPr/>
          <p:nvPr/>
        </p:nvSpPr>
        <p:spPr>
          <a:xfrm>
            <a:off x="7654900" y="152704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INTERNAL PROCESS — 3 MEASURES</a:t>
            </a:r>
          </a:p>
          <a:p>
            <a:pPr algn="l"/>
            <a:endParaRPr lang="en-AU" sz="1100"/>
          </a:p>
        </p:txBody>
      </p:sp>
      <p:sp>
        <p:nvSpPr>
          <p:cNvPr id="92" name="shape92"/>
          <p:cNvSpPr/>
          <p:nvPr/>
        </p:nvSpPr>
        <p:spPr>
          <a:xfrm>
            <a:off x="3547872" y="308152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 0 MEASURES</a:t>
            </a:r>
          </a:p>
          <a:p>
            <a:pPr algn="l"/>
            <a:endParaRPr lang="en-AU" sz="1100"/>
          </a:p>
        </p:txBody>
      </p:sp>
      <p:sp>
        <p:nvSpPr>
          <p:cNvPr id="93" name="shape93"/>
          <p:cNvSpPr/>
          <p:nvPr/>
        </p:nvSpPr>
        <p:spPr>
          <a:xfrm>
            <a:off x="7654900" y="3081528"/>
            <a:ext cx="405216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LEARNING AND GROWTH — 0 MEASURES</a:t>
            </a:r>
          </a:p>
          <a:p>
            <a:pPr algn="l"/>
            <a:endParaRPr lang="en-AU"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9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10.28  Metrics and Key Performance Indicators</a:t>
            </a:r>
          </a:p>
        </p:txBody>
      </p:sp>
      <p:sp>
        <p:nvSpPr>
          <p:cNvPr id="95" name="shape9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96" name="shape9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97" name="conn97"/>
          <p:cNvCxnSpPr/>
          <p:nvPr/>
        </p:nvCxnSpPr>
        <p:spPr>
          <a:xfrm>
            <a:off x="457200" y="1078992"/>
            <a:ext cx="11277295" cy="1"/>
          </a:xfrm>
          <a:prstGeom prst="line">
            <a:avLst/>
          </a:prstGeom>
          <a:ln w="9525">
            <a:solidFill>
              <a:srgbClr val="D9D8D0"/>
            </a:solidFill>
          </a:ln>
        </p:spPr>
      </p:cxnSp>
      <p:sp>
        <p:nvSpPr>
          <p:cNvPr id="98" name="shape9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9" name="shape9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10.28</a:t>
            </a:r>
          </a:p>
        </p:txBody>
      </p:sp>
      <p:sp>
        <p:nvSpPr>
          <p:cNvPr id="100" name="shape10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01" name="shape10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Defines what will be measured, how, how often and against what target, so performance can be judged rather than asserted.</a:t>
            </a:r>
          </a:p>
        </p:txBody>
      </p:sp>
      <p:sp>
        <p:nvSpPr>
          <p:cNvPr id="102" name="shape10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03" name="shape10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success has been described in adjectives, or when data is being collected that nobody has tied to an objective.</a:t>
            </a:r>
          </a:p>
        </p:txBody>
      </p:sp>
      <p:sp>
        <p:nvSpPr>
          <p:cNvPr id="104" name="shape10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05" name="shape10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metric is a raw measure; a KPI is a metric tied to an objective with a target. An indicator that nobody would act on is a metric, not a KPI, however prominently it is displayed.</a:t>
            </a:r>
          </a:p>
        </p:txBody>
      </p:sp>
      <p:sp>
        <p:nvSpPr>
          <p:cNvPr id="106" name="shape10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07" name="shape10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8.1 Measure Solution Performance · 8.2 Analyze Performance Measures · 6.2 Define Future State</a:t>
            </a:r>
          </a:p>
        </p:txBody>
      </p:sp>
      <p:sp>
        <p:nvSpPr>
          <p:cNvPr id="108" name="shape10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From objective down to the indicator someone must act on</a:t>
            </a:r>
          </a:p>
        </p:txBody>
      </p:sp>
      <p:sp>
        <p:nvSpPr>
          <p:cNvPr id="109" name="shape109"/>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Each leaf carries a target and the threshold at which someone is obliged to do something.</a:t>
            </a:r>
          </a:p>
        </p:txBody>
      </p:sp>
      <p:sp>
        <p:nvSpPr>
          <p:cNvPr id="110" name="shape110"/>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Objective    2. Strategy    3. Tactic    4. KPI</a:t>
            </a:r>
          </a:p>
        </p:txBody>
      </p:sp>
      <p:sp>
        <p:nvSpPr>
          <p:cNvPr id="111" name="shape111"/>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Cut cost to serve by 15% without losing service quality</a:t>
            </a:r>
          </a:p>
        </p:txBody>
      </p:sp>
      <p:sp>
        <p:nvSpPr>
          <p:cNvPr id="112" name="shape112"/>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Deflect avoidable contact</a:t>
            </a:r>
          </a:p>
        </p:txBody>
      </p:sp>
      <p:cxnSp>
        <p:nvCxnSpPr>
          <p:cNvPr id="113" name="conn113"/>
          <p:cNvCxnSpPr/>
          <p:nvPr/>
        </p:nvCxnSpPr>
        <p:spPr>
          <a:xfrm>
            <a:off x="3776472" y="2052828"/>
            <a:ext cx="128016" cy="1"/>
          </a:xfrm>
          <a:prstGeom prst="line">
            <a:avLst/>
          </a:prstGeom>
          <a:ln w="6350">
            <a:solidFill>
              <a:srgbClr val="C3C2B7"/>
            </a:solidFill>
          </a:ln>
        </p:spPr>
      </p:cxnSp>
      <p:sp>
        <p:nvSpPr>
          <p:cNvPr id="114" name="shape114"/>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Self-service for status enquiries</a:t>
            </a:r>
          </a:p>
        </p:txBody>
      </p:sp>
      <p:cxnSp>
        <p:nvCxnSpPr>
          <p:cNvPr id="115" name="conn115"/>
          <p:cNvCxnSpPr/>
          <p:nvPr/>
        </p:nvCxnSpPr>
        <p:spPr>
          <a:xfrm>
            <a:off x="4160520" y="2436876"/>
            <a:ext cx="128016" cy="1"/>
          </a:xfrm>
          <a:prstGeom prst="line">
            <a:avLst/>
          </a:prstGeom>
          <a:ln w="6350">
            <a:solidFill>
              <a:srgbClr val="C3C2B7"/>
            </a:solidFill>
          </a:ln>
        </p:spPr>
      </p:cxnSp>
      <p:sp>
        <p:nvSpPr>
          <p:cNvPr id="116" name="shape116"/>
          <p:cNvSpPr/>
          <p:nvPr/>
        </p:nvSpPr>
        <p:spPr>
          <a:xfrm>
            <a:off x="4672584" y="2651760"/>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Status enquiries by phone — target ≤ 4,000/mo, act below 5,500  (leading)</a:t>
            </a:r>
          </a:p>
        </p:txBody>
      </p:sp>
      <p:cxnSp>
        <p:nvCxnSpPr>
          <p:cNvPr id="117" name="conn117"/>
          <p:cNvCxnSpPr/>
          <p:nvPr/>
        </p:nvCxnSpPr>
        <p:spPr>
          <a:xfrm>
            <a:off x="4544568" y="2820924"/>
            <a:ext cx="128016" cy="1"/>
          </a:xfrm>
          <a:prstGeom prst="line">
            <a:avLst/>
          </a:prstGeom>
          <a:ln w="6350">
            <a:solidFill>
              <a:srgbClr val="C3C2B7"/>
            </a:solidFill>
          </a:ln>
        </p:spPr>
      </p:cxnSp>
      <p:sp>
        <p:nvSpPr>
          <p:cNvPr id="118" name="shape118"/>
          <p:cNvSpPr/>
          <p:nvPr/>
        </p:nvSpPr>
        <p:spPr>
          <a:xfrm>
            <a:off x="4672584" y="3035808"/>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Self-service completion rate — target ≥ 70%, act below 60%  (leading)</a:t>
            </a:r>
          </a:p>
        </p:txBody>
      </p:sp>
      <p:cxnSp>
        <p:nvCxnSpPr>
          <p:cNvPr id="119" name="conn119"/>
          <p:cNvCxnSpPr/>
          <p:nvPr/>
        </p:nvCxnSpPr>
        <p:spPr>
          <a:xfrm>
            <a:off x="4544568" y="3204972"/>
            <a:ext cx="128016" cy="1"/>
          </a:xfrm>
          <a:prstGeom prst="line">
            <a:avLst/>
          </a:prstGeom>
          <a:ln w="6350">
            <a:solidFill>
              <a:srgbClr val="C3C2B7"/>
            </a:solidFill>
          </a:ln>
        </p:spPr>
      </p:cxnSp>
      <p:sp>
        <p:nvSpPr>
          <p:cNvPr id="120" name="shape120"/>
          <p:cNvSpPr/>
          <p:nvPr/>
        </p:nvSpPr>
        <p:spPr>
          <a:xfrm>
            <a:off x="3904488" y="3419856"/>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Resolve first time</a:t>
            </a:r>
          </a:p>
        </p:txBody>
      </p:sp>
      <p:cxnSp>
        <p:nvCxnSpPr>
          <p:cNvPr id="121" name="conn121"/>
          <p:cNvCxnSpPr/>
          <p:nvPr/>
        </p:nvCxnSpPr>
        <p:spPr>
          <a:xfrm>
            <a:off x="3776472" y="3589020"/>
            <a:ext cx="128016" cy="1"/>
          </a:xfrm>
          <a:prstGeom prst="line">
            <a:avLst/>
          </a:prstGeom>
          <a:ln w="6350">
            <a:solidFill>
              <a:srgbClr val="C3C2B7"/>
            </a:solidFill>
          </a:ln>
        </p:spPr>
      </p:cxnSp>
      <p:sp>
        <p:nvSpPr>
          <p:cNvPr id="122" name="shape122"/>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Agent access to full case history</a:t>
            </a:r>
          </a:p>
        </p:txBody>
      </p:sp>
      <p:cxnSp>
        <p:nvCxnSpPr>
          <p:cNvPr id="123" name="conn123"/>
          <p:cNvCxnSpPr/>
          <p:nvPr/>
        </p:nvCxnSpPr>
        <p:spPr>
          <a:xfrm>
            <a:off x="4160520" y="3973068"/>
            <a:ext cx="128016" cy="1"/>
          </a:xfrm>
          <a:prstGeom prst="line">
            <a:avLst/>
          </a:prstGeom>
          <a:ln w="6350">
            <a:solidFill>
              <a:srgbClr val="C3C2B7"/>
            </a:solidFill>
          </a:ln>
        </p:spPr>
      </p:cxnSp>
      <p:sp>
        <p:nvSpPr>
          <p:cNvPr id="124" name="shape124"/>
          <p:cNvSpPr/>
          <p:nvPr/>
        </p:nvSpPr>
        <p:spPr>
          <a:xfrm>
            <a:off x="4672584" y="4187952"/>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First-contact resolution — target ≥ 82%, act below 75%  (lagging)</a:t>
            </a:r>
          </a:p>
        </p:txBody>
      </p:sp>
      <p:cxnSp>
        <p:nvCxnSpPr>
          <p:cNvPr id="125" name="conn125"/>
          <p:cNvCxnSpPr/>
          <p:nvPr/>
        </p:nvCxnSpPr>
        <p:spPr>
          <a:xfrm>
            <a:off x="4544568" y="4357116"/>
            <a:ext cx="128016" cy="1"/>
          </a:xfrm>
          <a:prstGeom prst="line">
            <a:avLst/>
          </a:prstGeom>
          <a:ln w="6350">
            <a:solidFill>
              <a:srgbClr val="C3C2B7"/>
            </a:solidFill>
          </a:ln>
        </p:spPr>
      </p:cxnSp>
      <p:sp>
        <p:nvSpPr>
          <p:cNvPr id="126" name="shape126"/>
          <p:cNvSpPr/>
          <p:nvPr/>
        </p:nvSpPr>
        <p:spPr>
          <a:xfrm>
            <a:off x="4672584" y="4572000"/>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Repeat contact within 7 days — target ≤ 9%, act above 12%  (lagging)</a:t>
            </a:r>
          </a:p>
        </p:txBody>
      </p:sp>
      <p:cxnSp>
        <p:nvCxnSpPr>
          <p:cNvPr id="127" name="conn127"/>
          <p:cNvCxnSpPr/>
          <p:nvPr/>
        </p:nvCxnSpPr>
        <p:spPr>
          <a:xfrm>
            <a:off x="4544568" y="4741164"/>
            <a:ext cx="128016" cy="1"/>
          </a:xfrm>
          <a:prstGeom prst="line">
            <a:avLst/>
          </a:prstGeom>
          <a:ln w="6350">
            <a:solidFill>
              <a:srgbClr val="C3C2B7"/>
            </a:solidFill>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12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10.28  Metrics and Key Performance Indicators</a:t>
            </a:r>
          </a:p>
        </p:txBody>
      </p:sp>
      <p:sp>
        <p:nvSpPr>
          <p:cNvPr id="129" name="shape12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Measurement and evaluation</a:t>
            </a:r>
          </a:p>
        </p:txBody>
      </p:sp>
      <p:sp>
        <p:nvSpPr>
          <p:cNvPr id="130" name="shape13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31" name="conn131"/>
          <p:cNvCxnSpPr/>
          <p:nvPr/>
        </p:nvCxnSpPr>
        <p:spPr>
          <a:xfrm>
            <a:off x="457200" y="1078992"/>
            <a:ext cx="11277295" cy="1"/>
          </a:xfrm>
          <a:prstGeom prst="line">
            <a:avLst/>
          </a:prstGeom>
          <a:ln w="9525">
            <a:solidFill>
              <a:srgbClr val="D9D8D0"/>
            </a:solidFill>
          </a:ln>
        </p:spPr>
      </p:cxnSp>
      <p:sp>
        <p:nvSpPr>
          <p:cNvPr id="132" name="shape13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33" name="shape13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10.28</a:t>
            </a:r>
          </a:p>
        </p:txBody>
      </p:sp>
      <p:sp>
        <p:nvSpPr>
          <p:cNvPr id="134" name="shape13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35" name="shape13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136" name="shape13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37" name="shape13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Defines what will be measured, how, how often and against what target, so performance can be judged rather than asserted.</a:t>
            </a:r>
          </a:p>
        </p:txBody>
      </p:sp>
      <p:sp>
        <p:nvSpPr>
          <p:cNvPr id="138" name="shape13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9" name="shape13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metric is a raw measure; a KPI is a metric tied to an objective with a target. An indicator that nobody would act on is a metric, not a KPI, however prominently it is displayed.</a:t>
            </a:r>
          </a:p>
        </p:txBody>
      </p:sp>
      <p:sp>
        <p:nvSpPr>
          <p:cNvPr id="140" name="shape14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41" name="shape14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8.1 Measure Solution Performance · 8.2 Analyze Performance Measures · 6.2 Define Future State</a:t>
            </a:r>
          </a:p>
        </p:txBody>
      </p:sp>
      <p:sp>
        <p:nvSpPr>
          <p:cNvPr id="142" name="shape14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Metrics and Key Performance Indicators — blank template</a:t>
            </a:r>
          </a:p>
        </p:txBody>
      </p:sp>
      <p:sp>
        <p:nvSpPr>
          <p:cNvPr id="143" name="shape143"/>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Objective    2. Strategy    3. Tactic    4. KPI</a:t>
            </a:r>
          </a:p>
        </p:txBody>
      </p:sp>
      <p:sp>
        <p:nvSpPr>
          <p:cNvPr id="144" name="shape144"/>
          <p:cNvSpPr/>
          <p:nvPr/>
        </p:nvSpPr>
        <p:spPr>
          <a:xfrm>
            <a:off x="3520440" y="1499616"/>
            <a:ext cx="8214055" cy="204216"/>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Objective</a:t>
            </a:r>
          </a:p>
        </p:txBody>
      </p:sp>
      <p:sp>
        <p:nvSpPr>
          <p:cNvPr id="145" name="shape145"/>
          <p:cNvSpPr/>
          <p:nvPr/>
        </p:nvSpPr>
        <p:spPr>
          <a:xfrm>
            <a:off x="3904488" y="1749552"/>
            <a:ext cx="7830007"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Strategy</a:t>
            </a:r>
          </a:p>
        </p:txBody>
      </p:sp>
      <p:cxnSp>
        <p:nvCxnSpPr>
          <p:cNvPr id="146" name="conn146"/>
          <p:cNvCxnSpPr/>
          <p:nvPr/>
        </p:nvCxnSpPr>
        <p:spPr>
          <a:xfrm>
            <a:off x="3776472" y="1851660"/>
            <a:ext cx="128016" cy="1"/>
          </a:xfrm>
          <a:prstGeom prst="line">
            <a:avLst/>
          </a:prstGeom>
          <a:ln w="6350">
            <a:solidFill>
              <a:srgbClr val="C3C2B7"/>
            </a:solidFill>
          </a:ln>
        </p:spPr>
      </p:cxnSp>
      <p:sp>
        <p:nvSpPr>
          <p:cNvPr id="147" name="shape147"/>
          <p:cNvSpPr/>
          <p:nvPr/>
        </p:nvSpPr>
        <p:spPr>
          <a:xfrm>
            <a:off x="4288536" y="1999488"/>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Tactic</a:t>
            </a:r>
          </a:p>
        </p:txBody>
      </p:sp>
      <p:cxnSp>
        <p:nvCxnSpPr>
          <p:cNvPr id="148" name="conn148"/>
          <p:cNvCxnSpPr/>
          <p:nvPr/>
        </p:nvCxnSpPr>
        <p:spPr>
          <a:xfrm>
            <a:off x="4160520" y="2101596"/>
            <a:ext cx="128016" cy="1"/>
          </a:xfrm>
          <a:prstGeom prst="line">
            <a:avLst/>
          </a:prstGeom>
          <a:ln w="6350">
            <a:solidFill>
              <a:srgbClr val="C3C2B7"/>
            </a:solidFill>
          </a:ln>
        </p:spPr>
      </p:cxnSp>
      <p:sp>
        <p:nvSpPr>
          <p:cNvPr id="149" name="shape149"/>
          <p:cNvSpPr/>
          <p:nvPr/>
        </p:nvSpPr>
        <p:spPr>
          <a:xfrm>
            <a:off x="4672584" y="2249424"/>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50" name="conn150"/>
          <p:cNvCxnSpPr/>
          <p:nvPr/>
        </p:nvCxnSpPr>
        <p:spPr>
          <a:xfrm>
            <a:off x="4544568" y="2351532"/>
            <a:ext cx="128016" cy="1"/>
          </a:xfrm>
          <a:prstGeom prst="line">
            <a:avLst/>
          </a:prstGeom>
          <a:ln w="6350">
            <a:solidFill>
              <a:srgbClr val="C3C2B7"/>
            </a:solidFill>
          </a:ln>
        </p:spPr>
      </p:cxnSp>
      <p:sp>
        <p:nvSpPr>
          <p:cNvPr id="151" name="shape151"/>
          <p:cNvSpPr/>
          <p:nvPr/>
        </p:nvSpPr>
        <p:spPr>
          <a:xfrm>
            <a:off x="4672584" y="2499360"/>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52" name="conn152"/>
          <p:cNvCxnSpPr/>
          <p:nvPr/>
        </p:nvCxnSpPr>
        <p:spPr>
          <a:xfrm>
            <a:off x="4544568" y="2601468"/>
            <a:ext cx="128016" cy="1"/>
          </a:xfrm>
          <a:prstGeom prst="line">
            <a:avLst/>
          </a:prstGeom>
          <a:ln w="6350">
            <a:solidFill>
              <a:srgbClr val="C3C2B7"/>
            </a:solidFill>
          </a:ln>
        </p:spPr>
      </p:cxnSp>
      <p:sp>
        <p:nvSpPr>
          <p:cNvPr id="153" name="shape153"/>
          <p:cNvSpPr/>
          <p:nvPr/>
        </p:nvSpPr>
        <p:spPr>
          <a:xfrm>
            <a:off x="4288536" y="2749296"/>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Tactic</a:t>
            </a:r>
          </a:p>
        </p:txBody>
      </p:sp>
      <p:cxnSp>
        <p:nvCxnSpPr>
          <p:cNvPr id="154" name="conn154"/>
          <p:cNvCxnSpPr/>
          <p:nvPr/>
        </p:nvCxnSpPr>
        <p:spPr>
          <a:xfrm>
            <a:off x="4160520" y="2851404"/>
            <a:ext cx="128016" cy="1"/>
          </a:xfrm>
          <a:prstGeom prst="line">
            <a:avLst/>
          </a:prstGeom>
          <a:ln w="6350">
            <a:solidFill>
              <a:srgbClr val="C3C2B7"/>
            </a:solidFill>
          </a:ln>
        </p:spPr>
      </p:cxnSp>
      <p:sp>
        <p:nvSpPr>
          <p:cNvPr id="155" name="shape155"/>
          <p:cNvSpPr/>
          <p:nvPr/>
        </p:nvSpPr>
        <p:spPr>
          <a:xfrm>
            <a:off x="4672584" y="2999232"/>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56" name="conn156"/>
          <p:cNvCxnSpPr/>
          <p:nvPr/>
        </p:nvCxnSpPr>
        <p:spPr>
          <a:xfrm>
            <a:off x="4544568" y="3101340"/>
            <a:ext cx="128016" cy="1"/>
          </a:xfrm>
          <a:prstGeom prst="line">
            <a:avLst/>
          </a:prstGeom>
          <a:ln w="6350">
            <a:solidFill>
              <a:srgbClr val="C3C2B7"/>
            </a:solidFill>
          </a:ln>
        </p:spPr>
      </p:cxnSp>
      <p:sp>
        <p:nvSpPr>
          <p:cNvPr id="157" name="shape157"/>
          <p:cNvSpPr/>
          <p:nvPr/>
        </p:nvSpPr>
        <p:spPr>
          <a:xfrm>
            <a:off x="4672584" y="3249168"/>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58" name="conn158"/>
          <p:cNvCxnSpPr/>
          <p:nvPr/>
        </p:nvCxnSpPr>
        <p:spPr>
          <a:xfrm>
            <a:off x="4544568" y="3351276"/>
            <a:ext cx="128016" cy="1"/>
          </a:xfrm>
          <a:prstGeom prst="line">
            <a:avLst/>
          </a:prstGeom>
          <a:ln w="6350">
            <a:solidFill>
              <a:srgbClr val="C3C2B7"/>
            </a:solidFill>
          </a:ln>
        </p:spPr>
      </p:cxnSp>
      <p:sp>
        <p:nvSpPr>
          <p:cNvPr id="159" name="shape159"/>
          <p:cNvSpPr/>
          <p:nvPr/>
        </p:nvSpPr>
        <p:spPr>
          <a:xfrm>
            <a:off x="3904488" y="3499104"/>
            <a:ext cx="7830007"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Strategy</a:t>
            </a:r>
          </a:p>
        </p:txBody>
      </p:sp>
      <p:cxnSp>
        <p:nvCxnSpPr>
          <p:cNvPr id="160" name="conn160"/>
          <p:cNvCxnSpPr/>
          <p:nvPr/>
        </p:nvCxnSpPr>
        <p:spPr>
          <a:xfrm>
            <a:off x="3776472" y="3601212"/>
            <a:ext cx="128016" cy="1"/>
          </a:xfrm>
          <a:prstGeom prst="line">
            <a:avLst/>
          </a:prstGeom>
          <a:ln w="6350">
            <a:solidFill>
              <a:srgbClr val="C3C2B7"/>
            </a:solidFill>
          </a:ln>
        </p:spPr>
      </p:cxnSp>
      <p:sp>
        <p:nvSpPr>
          <p:cNvPr id="161" name="shape161"/>
          <p:cNvSpPr/>
          <p:nvPr/>
        </p:nvSpPr>
        <p:spPr>
          <a:xfrm>
            <a:off x="4288536" y="3749040"/>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Tactic</a:t>
            </a:r>
          </a:p>
        </p:txBody>
      </p:sp>
      <p:cxnSp>
        <p:nvCxnSpPr>
          <p:cNvPr id="162" name="conn162"/>
          <p:cNvCxnSpPr/>
          <p:nvPr/>
        </p:nvCxnSpPr>
        <p:spPr>
          <a:xfrm>
            <a:off x="4160520" y="3851148"/>
            <a:ext cx="128016" cy="1"/>
          </a:xfrm>
          <a:prstGeom prst="line">
            <a:avLst/>
          </a:prstGeom>
          <a:ln w="6350">
            <a:solidFill>
              <a:srgbClr val="C3C2B7"/>
            </a:solidFill>
          </a:ln>
        </p:spPr>
      </p:cxnSp>
      <p:sp>
        <p:nvSpPr>
          <p:cNvPr id="163" name="shape163"/>
          <p:cNvSpPr/>
          <p:nvPr/>
        </p:nvSpPr>
        <p:spPr>
          <a:xfrm>
            <a:off x="4672584" y="3998976"/>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64" name="conn164"/>
          <p:cNvCxnSpPr/>
          <p:nvPr/>
        </p:nvCxnSpPr>
        <p:spPr>
          <a:xfrm>
            <a:off x="4544568" y="4101084"/>
            <a:ext cx="128016" cy="1"/>
          </a:xfrm>
          <a:prstGeom prst="line">
            <a:avLst/>
          </a:prstGeom>
          <a:ln w="6350">
            <a:solidFill>
              <a:srgbClr val="C3C2B7"/>
            </a:solidFill>
          </a:ln>
        </p:spPr>
      </p:cxnSp>
      <p:sp>
        <p:nvSpPr>
          <p:cNvPr id="165" name="shape165"/>
          <p:cNvSpPr/>
          <p:nvPr/>
        </p:nvSpPr>
        <p:spPr>
          <a:xfrm>
            <a:off x="4672584" y="4248912"/>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66" name="conn166"/>
          <p:cNvCxnSpPr/>
          <p:nvPr/>
        </p:nvCxnSpPr>
        <p:spPr>
          <a:xfrm>
            <a:off x="4544568" y="4351020"/>
            <a:ext cx="128016" cy="1"/>
          </a:xfrm>
          <a:prstGeom prst="line">
            <a:avLst/>
          </a:prstGeom>
          <a:ln w="6350">
            <a:solidFill>
              <a:srgbClr val="C3C2B7"/>
            </a:solidFill>
          </a:ln>
        </p:spPr>
      </p:cxnSp>
      <p:sp>
        <p:nvSpPr>
          <p:cNvPr id="167" name="shape167"/>
          <p:cNvSpPr/>
          <p:nvPr/>
        </p:nvSpPr>
        <p:spPr>
          <a:xfrm>
            <a:off x="4288536" y="4498848"/>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Tactic</a:t>
            </a:r>
          </a:p>
        </p:txBody>
      </p:sp>
      <p:cxnSp>
        <p:nvCxnSpPr>
          <p:cNvPr id="168" name="conn168"/>
          <p:cNvCxnSpPr/>
          <p:nvPr/>
        </p:nvCxnSpPr>
        <p:spPr>
          <a:xfrm>
            <a:off x="4160520" y="4600956"/>
            <a:ext cx="128016" cy="1"/>
          </a:xfrm>
          <a:prstGeom prst="line">
            <a:avLst/>
          </a:prstGeom>
          <a:ln w="6350">
            <a:solidFill>
              <a:srgbClr val="C3C2B7"/>
            </a:solidFill>
          </a:ln>
        </p:spPr>
      </p:cxnSp>
      <p:sp>
        <p:nvSpPr>
          <p:cNvPr id="169" name="shape169"/>
          <p:cNvSpPr/>
          <p:nvPr/>
        </p:nvSpPr>
        <p:spPr>
          <a:xfrm>
            <a:off x="4672584" y="4748784"/>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70" name="conn170"/>
          <p:cNvCxnSpPr/>
          <p:nvPr/>
        </p:nvCxnSpPr>
        <p:spPr>
          <a:xfrm>
            <a:off x="4544568" y="4850892"/>
            <a:ext cx="128016" cy="1"/>
          </a:xfrm>
          <a:prstGeom prst="line">
            <a:avLst/>
          </a:prstGeom>
          <a:ln w="6350">
            <a:solidFill>
              <a:srgbClr val="C3C2B7"/>
            </a:solidFill>
          </a:ln>
        </p:spPr>
      </p:cxnSp>
      <p:sp>
        <p:nvSpPr>
          <p:cNvPr id="171" name="shape171"/>
          <p:cNvSpPr/>
          <p:nvPr/>
        </p:nvSpPr>
        <p:spPr>
          <a:xfrm>
            <a:off x="4672584" y="4998720"/>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KPI</a:t>
            </a:r>
          </a:p>
        </p:txBody>
      </p:sp>
      <p:cxnSp>
        <p:nvCxnSpPr>
          <p:cNvPr id="172" name="conn172"/>
          <p:cNvCxnSpPr/>
          <p:nvPr/>
        </p:nvCxnSpPr>
        <p:spPr>
          <a:xfrm>
            <a:off x="4544568" y="5100828"/>
            <a:ext cx="128016" cy="1"/>
          </a:xfrm>
          <a:prstGeom prst="line">
            <a:avLst/>
          </a:prstGeom>
          <a:ln w="6350">
            <a:solidFill>
              <a:srgbClr val="C3C2B7"/>
            </a:solidFill>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hape17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  Backlog Management</a:t>
            </a:r>
          </a:p>
        </p:txBody>
      </p:sp>
      <p:sp>
        <p:nvSpPr>
          <p:cNvPr id="174" name="shape17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175" name="shape17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76" name="conn176"/>
          <p:cNvCxnSpPr/>
          <p:nvPr/>
        </p:nvCxnSpPr>
        <p:spPr>
          <a:xfrm>
            <a:off x="457200" y="1078992"/>
            <a:ext cx="11277295" cy="1"/>
          </a:xfrm>
          <a:prstGeom prst="line">
            <a:avLst/>
          </a:prstGeom>
          <a:ln w="9525">
            <a:solidFill>
              <a:srgbClr val="D9D8D0"/>
            </a:solidFill>
          </a:ln>
        </p:spPr>
      </p:cxnSp>
      <p:sp>
        <p:nvSpPr>
          <p:cNvPr id="177" name="shape17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78" name="shape17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a:t>
            </a:r>
          </a:p>
        </p:txBody>
      </p:sp>
      <p:sp>
        <p:nvSpPr>
          <p:cNvPr id="179" name="shape17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0" name="shape18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Keeps a ranked, living list of outstanding work so the next most valuable item is always visible at the top.</a:t>
            </a:r>
          </a:p>
        </p:txBody>
      </p:sp>
      <p:sp>
        <p:nvSpPr>
          <p:cNvPr id="181" name="shape18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82" name="shape18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on adaptive work where scope is expected to change and the commitment is to the ordering, not to a fixed set.</a:t>
            </a:r>
          </a:p>
        </p:txBody>
      </p:sp>
      <p:sp>
        <p:nvSpPr>
          <p:cNvPr id="183" name="shape18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4" name="shape18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Backlog management is the ongoing custody of the list; prioritisation is the act of ordering it. Items about re-ranking after new information are prioritisation; items about how the list itself is maintained and drawn from are backlog management.</a:t>
            </a:r>
          </a:p>
        </p:txBody>
      </p:sp>
      <p:sp>
        <p:nvSpPr>
          <p:cNvPr id="185" name="shape18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86" name="shape18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5.2 Maintain Requirements · 5.3 Prioritize Requirements · 5.4 Assess Requirements Changes</a:t>
            </a:r>
          </a:p>
        </p:txBody>
      </p:sp>
      <p:sp>
        <p:nvSpPr>
          <p:cNvPr id="187" name="shape18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480 items, triaged before anything is ranked</a:t>
            </a:r>
          </a:p>
        </p:txBody>
      </p:sp>
      <p:sp>
        <p:nvSpPr>
          <p:cNvPr id="188" name="shape188"/>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Prioritisation presumes the list represents current need. This one did not.</a:t>
            </a:r>
          </a:p>
        </p:txBody>
      </p:sp>
      <p:graphicFrame>
        <p:nvGraphicFramePr>
          <p:cNvPr id="189" name="table189"/>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State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Items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Action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Need already met by a later release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152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Retire, with the release noted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Duplicate of another item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61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Merge, keep the earliest reference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Still valid, not reviewed this quarter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198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Re-rank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Still valid, reviewed this quarter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69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Leave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Total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480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9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shape19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  Backlog Management</a:t>
            </a:r>
          </a:p>
        </p:txBody>
      </p:sp>
      <p:sp>
        <p:nvSpPr>
          <p:cNvPr id="191" name="shape19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192" name="shape192"/>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93" name="conn193"/>
          <p:cNvCxnSpPr/>
          <p:nvPr/>
        </p:nvCxnSpPr>
        <p:spPr>
          <a:xfrm>
            <a:off x="457200" y="1078992"/>
            <a:ext cx="11277295" cy="1"/>
          </a:xfrm>
          <a:prstGeom prst="line">
            <a:avLst/>
          </a:prstGeom>
          <a:ln w="9525">
            <a:solidFill>
              <a:srgbClr val="D9D8D0"/>
            </a:solidFill>
          </a:ln>
        </p:spPr>
      </p:cxnSp>
      <p:sp>
        <p:nvSpPr>
          <p:cNvPr id="194" name="shape19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95" name="shape19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a:t>
            </a:r>
          </a:p>
        </p:txBody>
      </p:sp>
      <p:sp>
        <p:nvSpPr>
          <p:cNvPr id="196" name="shape19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97" name="shape197"/>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state.</a:t>
            </a:r>
          </a:p>
        </p:txBody>
      </p:sp>
      <p:sp>
        <p:nvSpPr>
          <p:cNvPr id="198" name="shape198"/>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99" name="shape199"/>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Keeps a ranked, living list of outstanding work so the next most valuable item is always visible at the top.</a:t>
            </a:r>
          </a:p>
        </p:txBody>
      </p:sp>
      <p:sp>
        <p:nvSpPr>
          <p:cNvPr id="200" name="shape200"/>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01" name="shape201"/>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Backlog management is the ongoing custody of the list; prioritisation is the act of ordering it. Items about re-ranking after new information are prioritisation; items about how the list itself is maintained and drawn from are backlog management.</a:t>
            </a:r>
          </a:p>
        </p:txBody>
      </p:sp>
      <p:sp>
        <p:nvSpPr>
          <p:cNvPr id="202" name="shape202"/>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03" name="shape203"/>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5.2 Maintain Requirements · 5.3 Prioritize Requirements · 5.4 Assess Requirements Changes</a:t>
            </a:r>
          </a:p>
        </p:txBody>
      </p:sp>
      <p:sp>
        <p:nvSpPr>
          <p:cNvPr id="204" name="shape20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Backlog Management — blank template</a:t>
            </a:r>
          </a:p>
        </p:txBody>
      </p:sp>
      <p:graphicFrame>
        <p:nvGraphicFramePr>
          <p:cNvPr id="205" name="table205"/>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State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Items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Action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20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10.26  Item Tracking</a:t>
            </a:r>
          </a:p>
        </p:txBody>
      </p:sp>
      <p:sp>
        <p:nvSpPr>
          <p:cNvPr id="207" name="shape20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208" name="shape20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09" name="conn209"/>
          <p:cNvCxnSpPr/>
          <p:nvPr/>
        </p:nvCxnSpPr>
        <p:spPr>
          <a:xfrm>
            <a:off x="457200" y="1078992"/>
            <a:ext cx="11277295" cy="1"/>
          </a:xfrm>
          <a:prstGeom prst="line">
            <a:avLst/>
          </a:prstGeom>
          <a:ln w="9525">
            <a:solidFill>
              <a:srgbClr val="D9D8D0"/>
            </a:solidFill>
          </a:ln>
        </p:spPr>
      </p:cxnSp>
      <p:sp>
        <p:nvSpPr>
          <p:cNvPr id="210" name="shape21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11" name="shape21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10.26</a:t>
            </a:r>
          </a:p>
        </p:txBody>
      </p:sp>
      <p:sp>
        <p:nvSpPr>
          <p:cNvPr id="212" name="shape21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13" name="shape21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Captures and follows issues, risks, conflicts and actions through to resolution, with an owner and a status on each.</a:t>
            </a:r>
          </a:p>
        </p:txBody>
      </p:sp>
      <p:sp>
        <p:nvSpPr>
          <p:cNvPr id="214" name="shape21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15" name="shape21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things raised in sessions keep going missing, and the failure is one of follow-through rather than analysis.</a:t>
            </a:r>
          </a:p>
        </p:txBody>
      </p:sp>
      <p:sp>
        <p:nvSpPr>
          <p:cNvPr id="216" name="shape21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17" name="shape21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Item tracking manages open items; risk analysis assesses and responds to risk. A raised concern with no owner is an item; a quantified threat with a response strategy is a risk.</a:t>
            </a:r>
          </a:p>
        </p:txBody>
      </p:sp>
      <p:sp>
        <p:nvSpPr>
          <p:cNvPr id="218" name="shape21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19" name="shape21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4.5 Manage Stakeholder Collaboration · 5.4 Assess Requirements Changes · 3.5 Identify Business Analysis Performance Improvements</a:t>
            </a:r>
          </a:p>
        </p:txBody>
      </p:sp>
      <p:sp>
        <p:nvSpPr>
          <p:cNvPr id="220" name="shape22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Nineteen concerns raised in four months</a:t>
            </a:r>
          </a:p>
        </p:txBody>
      </p:sp>
      <p:sp>
        <p:nvSpPr>
          <p:cNvPr id="221" name="shape221"/>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Raising something and watching nothing happen teaches people not to raise things.</a:t>
            </a:r>
          </a:p>
        </p:txBody>
      </p:sp>
      <p:graphicFrame>
        <p:nvGraphicFramePr>
          <p:cNvPr id="222" name="table222"/>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900" b="1" dirty="0">
                          <a:solidFill>
                            <a:srgbClr val="FFFFFF"/>
                          </a:solidFill>
                          <a:latin typeface="Aptos"/>
                        </a:rPr>
                        <a:t>Raised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Concern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Owner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Status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12 Mar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Assessors not consulted on field order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Issue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 Nguyen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Closed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19 Mar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Duplicate-check rule undefined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Issue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 owner, 5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02 Apr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Cutover may land in peak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Risk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Moved to register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Open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23 Apr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Who signs off migration mapping?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Question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 owner, 4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07 May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Legacy report parity not agreed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Issue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 owner, 3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22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10.26  Item Tracking</a:t>
            </a:r>
          </a:p>
        </p:txBody>
      </p:sp>
      <p:sp>
        <p:nvSpPr>
          <p:cNvPr id="224" name="shape22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225" name="shape22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26" name="conn226"/>
          <p:cNvCxnSpPr/>
          <p:nvPr/>
        </p:nvCxnSpPr>
        <p:spPr>
          <a:xfrm>
            <a:off x="457200" y="1078992"/>
            <a:ext cx="11277295" cy="1"/>
          </a:xfrm>
          <a:prstGeom prst="line">
            <a:avLst/>
          </a:prstGeom>
          <a:ln w="9525">
            <a:solidFill>
              <a:srgbClr val="D9D8D0"/>
            </a:solidFill>
          </a:ln>
        </p:spPr>
      </p:cxnSp>
      <p:sp>
        <p:nvSpPr>
          <p:cNvPr id="227" name="shape22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28" name="shape22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10.26</a:t>
            </a:r>
          </a:p>
        </p:txBody>
      </p:sp>
      <p:sp>
        <p:nvSpPr>
          <p:cNvPr id="229" name="shape22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30" name="shape23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raised.</a:t>
            </a:r>
          </a:p>
        </p:txBody>
      </p:sp>
      <p:sp>
        <p:nvSpPr>
          <p:cNvPr id="231" name="shape23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32" name="shape23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Captures and follows issues, risks, conflicts and actions through to resolution, with an owner and a status on each.</a:t>
            </a:r>
          </a:p>
        </p:txBody>
      </p:sp>
      <p:sp>
        <p:nvSpPr>
          <p:cNvPr id="233" name="shape23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34" name="shape23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Item tracking manages open items; risk analysis assesses and responds to risk. A raised concern with no owner is an item; a quantified threat with a response strategy is a risk.</a:t>
            </a:r>
          </a:p>
        </p:txBody>
      </p:sp>
      <p:sp>
        <p:nvSpPr>
          <p:cNvPr id="235" name="shape23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36" name="shape23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4.5 Manage Stakeholder Collaboration · 5.4 Assess Requirements Changes · 3.5 Identify Business Analysis Performance Improvements</a:t>
            </a:r>
          </a:p>
        </p:txBody>
      </p:sp>
      <p:sp>
        <p:nvSpPr>
          <p:cNvPr id="237" name="shape23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Item Tracking — blank template</a:t>
            </a:r>
          </a:p>
        </p:txBody>
      </p:sp>
      <p:graphicFrame>
        <p:nvGraphicFramePr>
          <p:cNvPr id="238" name="table238"/>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800" b="1" dirty="0">
                          <a:solidFill>
                            <a:srgbClr val="FFFFFF"/>
                          </a:solidFill>
                          <a:latin typeface="Aptos"/>
                        </a:rPr>
                        <a:t>Raised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Concern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Owner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Status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23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10.27  Lessons Learned</a:t>
            </a:r>
          </a:p>
        </p:txBody>
      </p:sp>
      <p:sp>
        <p:nvSpPr>
          <p:cNvPr id="240" name="shape24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241" name="shape24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42" name="conn242"/>
          <p:cNvCxnSpPr/>
          <p:nvPr/>
        </p:nvCxnSpPr>
        <p:spPr>
          <a:xfrm>
            <a:off x="457200" y="1078992"/>
            <a:ext cx="11277295" cy="1"/>
          </a:xfrm>
          <a:prstGeom prst="line">
            <a:avLst/>
          </a:prstGeom>
          <a:ln w="9525">
            <a:solidFill>
              <a:srgbClr val="D9D8D0"/>
            </a:solidFill>
          </a:ln>
        </p:spPr>
      </p:cxnSp>
      <p:sp>
        <p:nvSpPr>
          <p:cNvPr id="243" name="shape24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44" name="shape24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10.27</a:t>
            </a:r>
          </a:p>
        </p:txBody>
      </p:sp>
      <p:sp>
        <p:nvSpPr>
          <p:cNvPr id="245" name="shape24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46" name="shape24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Assembles what worked, what did not and what should change, from the people who were there, while it is still recoverable.</a:t>
            </a:r>
          </a:p>
        </p:txBody>
      </p:sp>
      <p:sp>
        <p:nvSpPr>
          <p:cNvPr id="247" name="shape24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48" name="shape24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at the close of a phase or effort, and when the same failure has now happened more than once.</a:t>
            </a:r>
          </a:p>
        </p:txBody>
      </p:sp>
      <p:sp>
        <p:nvSpPr>
          <p:cNvPr id="249" name="shape24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50" name="shape25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Lessons learned improves how the work is done next time; retrospective performance assessment of business analysis itself sits under task 3.5. The technique is the session, the task is the accountability.</a:t>
            </a:r>
          </a:p>
        </p:txBody>
      </p:sp>
      <p:sp>
        <p:nvSpPr>
          <p:cNvPr id="251" name="shape25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52" name="shape25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3.5 Identify Business Analysis Performance Improvements · 8.5 Recommend Actions to Increase Solution Value</a:t>
            </a:r>
          </a:p>
        </p:txBody>
      </p:sp>
      <p:sp>
        <p:nvSpPr>
          <p:cNvPr id="253" name="shape25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Held before the team rolled off, not after the benefits data matured</a:t>
            </a:r>
          </a:p>
        </p:txBody>
      </p:sp>
      <p:sp>
        <p:nvSpPr>
          <p:cNvPr id="254" name="shape254"/>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Change records showed what changed. Only the team could say why this programme and its predecessor churned alike.</a:t>
            </a:r>
          </a:p>
        </p:txBody>
      </p:sp>
      <p:sp>
        <p:nvSpPr>
          <p:cNvPr id="255" name="shape255"/>
          <p:cNvSpPr/>
          <p:nvPr/>
        </p:nvSpPr>
        <p:spPr>
          <a:xfrm>
            <a:off x="3547872"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WHAT WORKED</a:t>
            </a:r>
          </a:p>
          <a:p>
            <a:pPr algn="l"/>
            <a:r>
              <a:rPr lang="en-AU" sz="800" dirty="0">
                <a:solidFill>
                  <a:srgbClr val="0B0B0B"/>
                </a:solidFill>
                <a:latin typeface="Aptos"/>
              </a:rPr>
              <a:t>• Co-located analysts and testers</a:t>
            </a:r>
          </a:p>
          <a:p>
            <a:pPr algn="l"/>
            <a:r>
              <a:rPr lang="en-AU" sz="800" dirty="0">
                <a:solidFill>
                  <a:srgbClr val="0B0B0B"/>
                </a:solidFill>
                <a:latin typeface="Aptos"/>
              </a:rPr>
              <a:t>• Weekly stakeholder demo held every week wit…</a:t>
            </a:r>
          </a:p>
        </p:txBody>
      </p:sp>
      <p:sp>
        <p:nvSpPr>
          <p:cNvPr id="256" name="shape256"/>
          <p:cNvSpPr/>
          <p:nvPr/>
        </p:nvSpPr>
        <p:spPr>
          <a:xfrm>
            <a:off x="6285890"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WHAT DID NOT</a:t>
            </a:r>
          </a:p>
          <a:p>
            <a:pPr algn="l"/>
            <a:r>
              <a:rPr lang="en-AU" sz="800" dirty="0">
                <a:solidFill>
                  <a:srgbClr val="0B0B0B"/>
                </a:solidFill>
                <a:latin typeface="Aptos"/>
              </a:rPr>
              <a:t>• Requirements churn ran at 3x the norm</a:t>
            </a:r>
          </a:p>
          <a:p>
            <a:pPr algn="l"/>
            <a:r>
              <a:rPr lang="en-AU" sz="800" dirty="0">
                <a:solidFill>
                  <a:srgbClr val="0B0B0B"/>
                </a:solidFill>
                <a:latin typeface="Aptos"/>
              </a:rPr>
              <a:t>• Same pattern on the prior programme, never…</a:t>
            </a:r>
          </a:p>
          <a:p>
            <a:pPr algn="l"/>
            <a:r>
              <a:rPr lang="en-AU" sz="800" dirty="0">
                <a:solidFill>
                  <a:srgbClr val="0B0B0B"/>
                </a:solidFill>
                <a:latin typeface="Aptos"/>
              </a:rPr>
              <a:t>• Sign-off authority moved twice, undocumented</a:t>
            </a:r>
          </a:p>
        </p:txBody>
      </p:sp>
      <p:sp>
        <p:nvSpPr>
          <p:cNvPr id="257" name="shape257"/>
          <p:cNvSpPr/>
          <p:nvPr/>
        </p:nvSpPr>
        <p:spPr>
          <a:xfrm>
            <a:off x="9023909"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CHANGE NEXT TIME</a:t>
            </a:r>
          </a:p>
          <a:p>
            <a:pPr algn="l"/>
            <a:r>
              <a:rPr lang="en-AU" sz="800" dirty="0">
                <a:solidFill>
                  <a:srgbClr val="0B0B0B"/>
                </a:solidFill>
                <a:latin typeface="Aptos"/>
              </a:rPr>
              <a:t>• Name the approver per requirement type at i…</a:t>
            </a:r>
          </a:p>
          <a:p>
            <a:pPr algn="l"/>
            <a:r>
              <a:rPr lang="en-AU" sz="800" dirty="0">
                <a:solidFill>
                  <a:srgbClr val="0B0B0B"/>
                </a:solidFill>
                <a:latin typeface="Aptos"/>
              </a:rPr>
              <a:t>• Re-baseline when authority moves, not at ph…</a:t>
            </a:r>
          </a:p>
          <a:p>
            <a:pPr algn="l"/>
            <a:r>
              <a:rPr lang="en-AU" sz="800" dirty="0">
                <a:solidFill>
                  <a:srgbClr val="0B0B0B"/>
                </a:solidFill>
                <a:latin typeface="Aptos"/>
              </a:rPr>
              <a:t>• Record the reason for change, not just the…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25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10.27  Lessons Learned</a:t>
            </a:r>
          </a:p>
        </p:txBody>
      </p:sp>
      <p:sp>
        <p:nvSpPr>
          <p:cNvPr id="259" name="shape25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260" name="shape26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61" name="conn261"/>
          <p:cNvCxnSpPr/>
          <p:nvPr/>
        </p:nvCxnSpPr>
        <p:spPr>
          <a:xfrm>
            <a:off x="457200" y="1078992"/>
            <a:ext cx="11277295" cy="1"/>
          </a:xfrm>
          <a:prstGeom prst="line">
            <a:avLst/>
          </a:prstGeom>
          <a:ln w="9525">
            <a:solidFill>
              <a:srgbClr val="D9D8D0"/>
            </a:solidFill>
          </a:ln>
        </p:spPr>
      </p:cxnSp>
      <p:sp>
        <p:nvSpPr>
          <p:cNvPr id="262" name="shape26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63" name="shape26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10.27</a:t>
            </a:r>
          </a:p>
        </p:txBody>
      </p:sp>
      <p:sp>
        <p:nvSpPr>
          <p:cNvPr id="264" name="shape26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65" name="shape26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266" name="shape26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67" name="shape26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Assembles what worked, what did not and what should change, from the people who were there, while it is still recoverable.</a:t>
            </a:r>
          </a:p>
        </p:txBody>
      </p:sp>
      <p:sp>
        <p:nvSpPr>
          <p:cNvPr id="268" name="shape26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69" name="shape26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Lessons learned improves how the work is done next time; retrospective performance assessment of business analysis itself sits under task 3.5. The technique is the session, the task is the accountability.</a:t>
            </a:r>
          </a:p>
        </p:txBody>
      </p:sp>
      <p:sp>
        <p:nvSpPr>
          <p:cNvPr id="270" name="shape27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71" name="shape27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3.5 Identify Business Analysis Performance Improvements · 8.5 Recommend Actions to Increase Solution Value</a:t>
            </a:r>
          </a:p>
        </p:txBody>
      </p:sp>
      <p:sp>
        <p:nvSpPr>
          <p:cNvPr id="272" name="shape27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Lessons Learned — blank template</a:t>
            </a:r>
          </a:p>
        </p:txBody>
      </p:sp>
      <p:sp>
        <p:nvSpPr>
          <p:cNvPr id="273" name="shape273"/>
          <p:cNvSpPr/>
          <p:nvPr/>
        </p:nvSpPr>
        <p:spPr>
          <a:xfrm>
            <a:off x="3547872"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WHAT WORKED</a:t>
            </a:r>
          </a:p>
          <a:p>
            <a:pPr algn="l"/>
            <a:endParaRPr lang="en-AU" sz="1100"/>
          </a:p>
        </p:txBody>
      </p:sp>
      <p:sp>
        <p:nvSpPr>
          <p:cNvPr id="274" name="shape274"/>
          <p:cNvSpPr/>
          <p:nvPr/>
        </p:nvSpPr>
        <p:spPr>
          <a:xfrm>
            <a:off x="6285890"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WHAT DID NOT</a:t>
            </a:r>
          </a:p>
          <a:p>
            <a:pPr algn="l"/>
            <a:endParaRPr lang="en-AU" sz="1100"/>
          </a:p>
        </p:txBody>
      </p:sp>
      <p:sp>
        <p:nvSpPr>
          <p:cNvPr id="275" name="shape275"/>
          <p:cNvSpPr/>
          <p:nvPr/>
        </p:nvSpPr>
        <p:spPr>
          <a:xfrm>
            <a:off x="9023909"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CHANGE NEXT TIME</a:t>
            </a:r>
          </a:p>
          <a:p>
            <a:pPr algn="l"/>
            <a:endParaRPr lang="en-AU"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shape27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10.33  Prioritisation</a:t>
            </a:r>
          </a:p>
        </p:txBody>
      </p:sp>
      <p:sp>
        <p:nvSpPr>
          <p:cNvPr id="277" name="shape27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278" name="shape27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79" name="conn279"/>
          <p:cNvCxnSpPr/>
          <p:nvPr/>
        </p:nvCxnSpPr>
        <p:spPr>
          <a:xfrm>
            <a:off x="457200" y="1078992"/>
            <a:ext cx="11277295" cy="1"/>
          </a:xfrm>
          <a:prstGeom prst="line">
            <a:avLst/>
          </a:prstGeom>
          <a:ln w="9525">
            <a:solidFill>
              <a:srgbClr val="D9D8D0"/>
            </a:solidFill>
          </a:ln>
        </p:spPr>
      </p:cxnSp>
      <p:sp>
        <p:nvSpPr>
          <p:cNvPr id="280" name="shape28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81" name="shape28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10.33</a:t>
            </a:r>
          </a:p>
        </p:txBody>
      </p:sp>
      <p:sp>
        <p:nvSpPr>
          <p:cNvPr id="282" name="shape28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83" name="shape28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Orders requirements or work against agreed bases such as value, cost, risk, dependency, regulatory deadline or implementation difficulty.</a:t>
            </a:r>
          </a:p>
        </p:txBody>
      </p:sp>
      <p:sp>
        <p:nvSpPr>
          <p:cNvPr id="284" name="shape28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85" name="shape28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whenever demand exceeds capacity, which is nearly always, and the sequence has to be defensible to people who lose out.</a:t>
            </a:r>
          </a:p>
        </p:txBody>
      </p:sp>
      <p:sp>
        <p:nvSpPr>
          <p:cNvPr id="286" name="shape28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87" name="shape28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Prioritisation orders things you intend to do; decision analysis picks between options where some are discarded. Also watch the basis: an item where a regulatory date is in play is not decided by value.</a:t>
            </a:r>
          </a:p>
        </p:txBody>
      </p:sp>
      <p:sp>
        <p:nvSpPr>
          <p:cNvPr id="288" name="shape28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89" name="shape28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5.3 Prioritize Requirements · 5.4 Assess Requirements Changes · 6.4 Define Change Strategy</a:t>
            </a:r>
          </a:p>
        </p:txBody>
      </p:sp>
      <p:sp>
        <p:nvSpPr>
          <p:cNvPr id="290" name="shape29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Superannuation release — sequenced on constraint, not value</a:t>
            </a:r>
          </a:p>
        </p:txBody>
      </p:sp>
      <p:sp>
        <p:nvSpPr>
          <p:cNvPr id="291" name="shape291"/>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Value alone puts the portal first. The data fix is a dependency of the legislative change, and the legislative change has a 1 July date with a licence condition attached. Sequence: data fix, legislative change…</a:t>
            </a:r>
          </a:p>
        </p:txBody>
      </p:sp>
      <p:sp>
        <p:nvSpPr>
          <p:cNvPr id="292" name="shape292"/>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Effort →</a:t>
            </a:r>
          </a:p>
        </p:txBody>
      </p:sp>
      <p:sp>
        <p:nvSpPr>
          <p:cNvPr id="293" name="shape293"/>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Low</a:t>
            </a:r>
          </a:p>
        </p:txBody>
      </p:sp>
      <p:sp>
        <p:nvSpPr>
          <p:cNvPr id="294" name="shape294"/>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High</a:t>
            </a:r>
          </a:p>
        </p:txBody>
      </p:sp>
      <p:sp>
        <p:nvSpPr>
          <p:cNvPr id="295" name="shape295"/>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High</a:t>
            </a:r>
          </a:p>
        </p:txBody>
      </p:sp>
      <p:sp>
        <p:nvSpPr>
          <p:cNvPr id="296" name="shape296"/>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DO FIRST ON VALUE</a:t>
            </a:r>
          </a:p>
          <a:p>
            <a:pPr algn="l"/>
            <a:r>
              <a:rPr lang="en-AU" sz="850" dirty="0">
                <a:solidFill>
                  <a:srgbClr val="0B0B0B"/>
                </a:solidFill>
                <a:latin typeface="Aptos"/>
              </a:rPr>
              <a:t>• Member portal redesign</a:t>
            </a:r>
          </a:p>
        </p:txBody>
      </p:sp>
      <p:sp>
        <p:nvSpPr>
          <p:cNvPr id="297" name="shape297"/>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Adviser dashboard</a:t>
            </a:r>
          </a:p>
        </p:txBody>
      </p:sp>
      <p:sp>
        <p:nvSpPr>
          <p:cNvPr id="298" name="shape298"/>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Low</a:t>
            </a:r>
          </a:p>
        </p:txBody>
      </p:sp>
      <p:sp>
        <p:nvSpPr>
          <p:cNvPr id="299" name="shape299"/>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Data quality fix</a:t>
            </a:r>
          </a:p>
        </p:txBody>
      </p:sp>
      <p:sp>
        <p:nvSpPr>
          <p:cNvPr id="300" name="shape300"/>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Legislative change</a:t>
            </a:r>
          </a:p>
        </p:txBody>
      </p:sp>
      <p:sp>
        <p:nvSpPr>
          <p:cNvPr id="301" name="shape301"/>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Value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30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10.33  Prioritisation</a:t>
            </a:r>
          </a:p>
        </p:txBody>
      </p:sp>
      <p:sp>
        <p:nvSpPr>
          <p:cNvPr id="303" name="shape30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304" name="shape304"/>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305" name="conn305"/>
          <p:cNvCxnSpPr/>
          <p:nvPr/>
        </p:nvCxnSpPr>
        <p:spPr>
          <a:xfrm>
            <a:off x="457200" y="1078992"/>
            <a:ext cx="11277295" cy="1"/>
          </a:xfrm>
          <a:prstGeom prst="line">
            <a:avLst/>
          </a:prstGeom>
          <a:ln w="9525">
            <a:solidFill>
              <a:srgbClr val="D9D8D0"/>
            </a:solidFill>
          </a:ln>
        </p:spPr>
      </p:cxnSp>
      <p:sp>
        <p:nvSpPr>
          <p:cNvPr id="306" name="shape30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307" name="shape30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10.33</a:t>
            </a:r>
          </a:p>
        </p:txBody>
      </p:sp>
      <p:sp>
        <p:nvSpPr>
          <p:cNvPr id="308" name="shape30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309" name="shape309"/>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310" name="shape310"/>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11" name="shape311"/>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Orders requirements or work against agreed bases such as value, cost, risk, dependency, regulatory deadline or implementation difficulty.</a:t>
            </a:r>
          </a:p>
        </p:txBody>
      </p:sp>
      <p:sp>
        <p:nvSpPr>
          <p:cNvPr id="312" name="shape312"/>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13" name="shape313"/>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Prioritisation orders things you intend to do; decision analysis picks between options where some are discarded. Also watch the basis: an item where a regulatory date is in play is not decided by value.</a:t>
            </a:r>
          </a:p>
        </p:txBody>
      </p:sp>
      <p:sp>
        <p:nvSpPr>
          <p:cNvPr id="314" name="shape314"/>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315" name="shape315"/>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5.3 Prioritize Requirements · 5.4 Assess Requirements Changes · 6.4 Define Change Strategy</a:t>
            </a:r>
          </a:p>
        </p:txBody>
      </p:sp>
      <p:sp>
        <p:nvSpPr>
          <p:cNvPr id="316" name="shape31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Prioritisation — blank template</a:t>
            </a:r>
          </a:p>
        </p:txBody>
      </p:sp>
      <p:sp>
        <p:nvSpPr>
          <p:cNvPr id="317" name="shape317"/>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Effort →</a:t>
            </a:r>
          </a:p>
        </p:txBody>
      </p:sp>
      <p:sp>
        <p:nvSpPr>
          <p:cNvPr id="318" name="shape318"/>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Low</a:t>
            </a:r>
          </a:p>
        </p:txBody>
      </p:sp>
      <p:sp>
        <p:nvSpPr>
          <p:cNvPr id="319" name="shape319"/>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High</a:t>
            </a:r>
          </a:p>
        </p:txBody>
      </p:sp>
      <p:sp>
        <p:nvSpPr>
          <p:cNvPr id="320" name="shape320"/>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High</a:t>
            </a:r>
          </a:p>
        </p:txBody>
      </p:sp>
      <p:sp>
        <p:nvSpPr>
          <p:cNvPr id="321" name="shape321"/>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322" name="shape322"/>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323" name="shape323"/>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Low</a:t>
            </a:r>
          </a:p>
        </p:txBody>
      </p:sp>
      <p:sp>
        <p:nvSpPr>
          <p:cNvPr id="324" name="shape324"/>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325" name="shape325"/>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326" name="shape326"/>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Value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shape32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10.37  Reviews</a:t>
            </a:r>
          </a:p>
        </p:txBody>
      </p:sp>
      <p:sp>
        <p:nvSpPr>
          <p:cNvPr id="328" name="shape32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329" name="shape329"/>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330" name="conn330"/>
          <p:cNvCxnSpPr/>
          <p:nvPr/>
        </p:nvCxnSpPr>
        <p:spPr>
          <a:xfrm>
            <a:off x="457200" y="1078992"/>
            <a:ext cx="11277295" cy="1"/>
          </a:xfrm>
          <a:prstGeom prst="line">
            <a:avLst/>
          </a:prstGeom>
          <a:ln w="9525">
            <a:solidFill>
              <a:srgbClr val="D9D8D0"/>
            </a:solidFill>
          </a:ln>
        </p:spPr>
      </p:cxnSp>
      <p:sp>
        <p:nvSpPr>
          <p:cNvPr id="331" name="shape33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332" name="shape33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10.37</a:t>
            </a:r>
          </a:p>
        </p:txBody>
      </p:sp>
      <p:sp>
        <p:nvSpPr>
          <p:cNvPr id="333" name="shape33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34" name="shape334"/>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Puts a work product in front of others to find defects, confirm understanding or obtain agreement, formally or informally.</a:t>
            </a:r>
          </a:p>
        </p:txBody>
      </p:sp>
      <p:sp>
        <p:nvSpPr>
          <p:cNvPr id="335" name="shape335"/>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336" name="shape336"/>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artefact is ready enough to be examined and the cost of an undetected error is rising.</a:t>
            </a:r>
          </a:p>
        </p:txBody>
      </p:sp>
      <p:sp>
        <p:nvSpPr>
          <p:cNvPr id="337" name="shape337"/>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38" name="shape338"/>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Verification asks whether the requirement is well written; validation asks whether it delivers value. A review is the vehicle for either, so read what the reviewers are being asked to judge.</a:t>
            </a:r>
          </a:p>
        </p:txBody>
      </p:sp>
      <p:sp>
        <p:nvSpPr>
          <p:cNvPr id="339" name="shape339"/>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340" name="shape340"/>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7.2 Verify Requirements · 7.3 Validate Requirements · 5.5 Approve Requirements</a:t>
            </a:r>
          </a:p>
        </p:txBody>
      </p:sp>
      <p:sp>
        <p:nvSpPr>
          <p:cNvPr id="341" name="shape34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The same technique, two different questions</a:t>
            </a:r>
          </a:p>
        </p:txBody>
      </p:sp>
      <p:sp>
        <p:nvSpPr>
          <p:cNvPr id="342" name="shape342"/>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No quality checklist would have caught it. The obsolete requirements were well written.</a:t>
            </a:r>
          </a:p>
        </p:txBody>
      </p:sp>
      <p:graphicFrame>
        <p:nvGraphicFramePr>
          <p:cNvPr id="343" name="table343"/>
          <p:cNvGraphicFramePr>
            <a:graphicFrameLocks noGrp="1"/>
          </p:cNvGraphicFramePr>
          <p:nvPr/>
        </p:nvGraphicFramePr>
        <p:xfrm>
          <a:off x="3520440" y="1499616"/>
          <a:ext cx="8214055" cy="1152144"/>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Review</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Question asked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Participants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Found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Verification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Is each requirement well written?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Testers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Nothing — all atomic, testable, consistent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Validation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Does each requirement still deliver value?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Business stakeholders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 third describe work the redesign removed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shape34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10.37  Reviews</a:t>
            </a:r>
          </a:p>
        </p:txBody>
      </p:sp>
      <p:sp>
        <p:nvSpPr>
          <p:cNvPr id="345" name="shape34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346" name="shape346"/>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347" name="conn347"/>
          <p:cNvCxnSpPr/>
          <p:nvPr/>
        </p:nvCxnSpPr>
        <p:spPr>
          <a:xfrm>
            <a:off x="457200" y="1078992"/>
            <a:ext cx="11277295" cy="1"/>
          </a:xfrm>
          <a:prstGeom prst="line">
            <a:avLst/>
          </a:prstGeom>
          <a:ln w="9525">
            <a:solidFill>
              <a:srgbClr val="D9D8D0"/>
            </a:solidFill>
          </a:ln>
        </p:spPr>
      </p:cxnSp>
      <p:sp>
        <p:nvSpPr>
          <p:cNvPr id="348" name="shape34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349" name="shape34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10.37</a:t>
            </a:r>
          </a:p>
        </p:txBody>
      </p:sp>
      <p:sp>
        <p:nvSpPr>
          <p:cNvPr id="350" name="shape35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351" name="shape351"/>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review.</a:t>
            </a:r>
          </a:p>
        </p:txBody>
      </p:sp>
      <p:sp>
        <p:nvSpPr>
          <p:cNvPr id="352" name="shape352"/>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53" name="shape353"/>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Puts a work product in front of others to find defects, confirm understanding or obtain agreement, formally or informally.</a:t>
            </a:r>
          </a:p>
        </p:txBody>
      </p:sp>
      <p:sp>
        <p:nvSpPr>
          <p:cNvPr id="354" name="shape354"/>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55" name="shape355"/>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Verification asks whether the requirement is well written; validation asks whether it delivers value. A review is the vehicle for either, so read what the reviewers are being asked to judge.</a:t>
            </a:r>
          </a:p>
        </p:txBody>
      </p:sp>
      <p:sp>
        <p:nvSpPr>
          <p:cNvPr id="356" name="shape356"/>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357" name="shape357"/>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7.2 Verify Requirements · 7.3 Validate Requirements · 5.5 Approve Requirements</a:t>
            </a:r>
          </a:p>
        </p:txBody>
      </p:sp>
      <p:sp>
        <p:nvSpPr>
          <p:cNvPr id="358" name="shape35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Reviews — blank template</a:t>
            </a:r>
          </a:p>
        </p:txBody>
      </p:sp>
      <p:graphicFrame>
        <p:nvGraphicFramePr>
          <p:cNvPr id="359" name="table359"/>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Review</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Question asked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Participants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Found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shape36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10.43  Stakeholder List, Map, or Personas</a:t>
            </a:r>
          </a:p>
        </p:txBody>
      </p:sp>
      <p:sp>
        <p:nvSpPr>
          <p:cNvPr id="361" name="shape36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362" name="shape36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363" name="conn363"/>
          <p:cNvCxnSpPr/>
          <p:nvPr/>
        </p:nvCxnSpPr>
        <p:spPr>
          <a:xfrm>
            <a:off x="457200" y="1078992"/>
            <a:ext cx="11277295" cy="1"/>
          </a:xfrm>
          <a:prstGeom prst="line">
            <a:avLst/>
          </a:prstGeom>
          <a:ln w="9525">
            <a:solidFill>
              <a:srgbClr val="D9D8D0"/>
            </a:solidFill>
          </a:ln>
        </p:spPr>
      </p:cxnSp>
      <p:sp>
        <p:nvSpPr>
          <p:cNvPr id="364" name="shape36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365" name="shape36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10.43</a:t>
            </a:r>
          </a:p>
        </p:txBody>
      </p:sp>
      <p:sp>
        <p:nvSpPr>
          <p:cNvPr id="366" name="shape36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67" name="shape36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Identifies who is affected, positions them by influence, interest or attitude, and characterises user groups whose needs differ.</a:t>
            </a:r>
          </a:p>
        </p:txBody>
      </p:sp>
      <p:sp>
        <p:nvSpPr>
          <p:cNvPr id="368" name="shape36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369" name="shape36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at the start, and again whenever the change moves into a part of the organisation you have not analysed.</a:t>
            </a:r>
          </a:p>
        </p:txBody>
      </p:sp>
      <p:sp>
        <p:nvSpPr>
          <p:cNvPr id="370" name="shape37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71" name="shape37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Identifying and positioning stakeholders is analysis; deciding how often and how formally to deal with each is engagement planning under task 3.2. Producing a map is not the same as having a plan.</a:t>
            </a:r>
          </a:p>
        </p:txBody>
      </p:sp>
      <p:sp>
        <p:nvSpPr>
          <p:cNvPr id="372" name="shape37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373" name="shape37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3.2 Plan Stakeholder Engagement · 6.1 Analyze Current State · 4.1 Prepare for Elicitation</a:t>
            </a:r>
          </a:p>
        </p:txBody>
      </p:sp>
      <p:sp>
        <p:nvSpPr>
          <p:cNvPr id="374" name="shape37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Permit service — 200,000 users, four groups the average hides</a:t>
            </a:r>
          </a:p>
        </p:txBody>
      </p:sp>
      <p:sp>
        <p:nvSpPr>
          <p:cNvPr id="375" name="shape375"/>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Weighted by volume, the bottom-right group disappears. They are the ones with least alternative.</a:t>
            </a:r>
          </a:p>
        </p:txBody>
      </p:sp>
      <p:sp>
        <p:nvSpPr>
          <p:cNvPr id="376" name="shape376"/>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Interest →</a:t>
            </a:r>
          </a:p>
        </p:txBody>
      </p:sp>
      <p:sp>
        <p:nvSpPr>
          <p:cNvPr id="377" name="shape377"/>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Low</a:t>
            </a:r>
          </a:p>
        </p:txBody>
      </p:sp>
      <p:sp>
        <p:nvSpPr>
          <p:cNvPr id="378" name="shape378"/>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High</a:t>
            </a:r>
          </a:p>
        </p:txBody>
      </p:sp>
      <p:sp>
        <p:nvSpPr>
          <p:cNvPr id="379" name="shape379"/>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High</a:t>
            </a:r>
          </a:p>
        </p:txBody>
      </p:sp>
      <p:sp>
        <p:nvSpPr>
          <p:cNvPr id="380" name="shape380"/>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MANAGE CLOSELY</a:t>
            </a:r>
          </a:p>
          <a:p>
            <a:pPr algn="l"/>
            <a:r>
              <a:rPr lang="en-AU" sz="850" dirty="0">
                <a:solidFill>
                  <a:srgbClr val="0B0B0B"/>
                </a:solidFill>
                <a:latin typeface="Aptos"/>
              </a:rPr>
              <a:t>• Regulator</a:t>
            </a:r>
          </a:p>
          <a:p>
            <a:pPr algn="l"/>
            <a:r>
              <a:rPr lang="en-AU" sz="850" dirty="0">
                <a:solidFill>
                  <a:srgbClr val="0B0B0B"/>
                </a:solidFill>
                <a:latin typeface="Aptos"/>
              </a:rPr>
              <a:t>• Professional agents — 4% of users, 61% of…</a:t>
            </a:r>
          </a:p>
        </p:txBody>
      </p:sp>
      <p:sp>
        <p:nvSpPr>
          <p:cNvPr id="381" name="shape381"/>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Finance</a:t>
            </a:r>
          </a:p>
        </p:txBody>
      </p:sp>
      <p:sp>
        <p:nvSpPr>
          <p:cNvPr id="382" name="shape382"/>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Low</a:t>
            </a:r>
          </a:p>
        </p:txBody>
      </p:sp>
      <p:sp>
        <p:nvSpPr>
          <p:cNvPr id="383" name="shape383"/>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General public — occasional users</a:t>
            </a:r>
          </a:p>
        </p:txBody>
      </p:sp>
      <p:sp>
        <p:nvSpPr>
          <p:cNvPr id="384" name="shape384"/>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DO NOT DESIGN OUT</a:t>
            </a:r>
          </a:p>
          <a:p>
            <a:pPr algn="l"/>
            <a:r>
              <a:rPr lang="en-AU" sz="850" dirty="0">
                <a:solidFill>
                  <a:srgbClr val="0B0B0B"/>
                </a:solidFill>
                <a:latin typeface="Aptos"/>
              </a:rPr>
              <a:t>• Assistive technology users</a:t>
            </a:r>
          </a:p>
          <a:p>
            <a:pPr algn="l"/>
            <a:r>
              <a:rPr lang="en-AU" sz="850" dirty="0">
                <a:solidFill>
                  <a:srgbClr val="0B0B0B"/>
                </a:solidFill>
                <a:latin typeface="Aptos"/>
              </a:rPr>
              <a:t>• Low-connectivity households</a:t>
            </a:r>
          </a:p>
        </p:txBody>
      </p:sp>
      <p:sp>
        <p:nvSpPr>
          <p:cNvPr id="385" name="shape385"/>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Influence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shape38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10.43  Stakeholder List, Map, or Personas</a:t>
            </a:r>
          </a:p>
        </p:txBody>
      </p:sp>
      <p:sp>
        <p:nvSpPr>
          <p:cNvPr id="387" name="shape38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Planning, governance and tracking</a:t>
            </a:r>
          </a:p>
        </p:txBody>
      </p:sp>
      <p:sp>
        <p:nvSpPr>
          <p:cNvPr id="388" name="shape38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389" name="conn389"/>
          <p:cNvCxnSpPr/>
          <p:nvPr/>
        </p:nvCxnSpPr>
        <p:spPr>
          <a:xfrm>
            <a:off x="457200" y="1078992"/>
            <a:ext cx="11277295" cy="1"/>
          </a:xfrm>
          <a:prstGeom prst="line">
            <a:avLst/>
          </a:prstGeom>
          <a:ln w="9525">
            <a:solidFill>
              <a:srgbClr val="D9D8D0"/>
            </a:solidFill>
          </a:ln>
        </p:spPr>
      </p:cxnSp>
      <p:sp>
        <p:nvSpPr>
          <p:cNvPr id="390" name="shape39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391" name="shape39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10.43</a:t>
            </a:r>
          </a:p>
        </p:txBody>
      </p:sp>
      <p:sp>
        <p:nvSpPr>
          <p:cNvPr id="392" name="shape39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393" name="shape39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394" name="shape39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95" name="shape39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Identifies who is affected, positions them by influence, interest or attitude, and characterises user groups whose needs differ.</a:t>
            </a:r>
          </a:p>
        </p:txBody>
      </p:sp>
      <p:sp>
        <p:nvSpPr>
          <p:cNvPr id="396" name="shape39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97" name="shape39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Identifying and positioning stakeholders is analysis; deciding how often and how formally to deal with each is engagement planning under task 3.2. Producing a map is not the same as having a plan.</a:t>
            </a:r>
          </a:p>
        </p:txBody>
      </p:sp>
      <p:sp>
        <p:nvSpPr>
          <p:cNvPr id="398" name="shape39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399" name="shape39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3.2 Plan Stakeholder Engagement · 6.1 Analyze Current State · 4.1 Prepare for Elicitation</a:t>
            </a:r>
          </a:p>
        </p:txBody>
      </p:sp>
      <p:sp>
        <p:nvSpPr>
          <p:cNvPr id="400" name="shape40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Stakeholder List, Map, or Personas — blank template</a:t>
            </a:r>
          </a:p>
        </p:txBody>
      </p:sp>
      <p:sp>
        <p:nvSpPr>
          <p:cNvPr id="401" name="shape401"/>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Interest →</a:t>
            </a:r>
          </a:p>
        </p:txBody>
      </p:sp>
      <p:sp>
        <p:nvSpPr>
          <p:cNvPr id="402" name="shape402"/>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Low</a:t>
            </a:r>
          </a:p>
        </p:txBody>
      </p:sp>
      <p:sp>
        <p:nvSpPr>
          <p:cNvPr id="403" name="shape403"/>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High</a:t>
            </a:r>
          </a:p>
        </p:txBody>
      </p:sp>
      <p:sp>
        <p:nvSpPr>
          <p:cNvPr id="404" name="shape404"/>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High</a:t>
            </a:r>
          </a:p>
        </p:txBody>
      </p:sp>
      <p:sp>
        <p:nvSpPr>
          <p:cNvPr id="405" name="shape405"/>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06" name="shape406"/>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07" name="shape407"/>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Low</a:t>
            </a:r>
          </a:p>
        </p:txBody>
      </p:sp>
      <p:sp>
        <p:nvSpPr>
          <p:cNvPr id="408" name="shape408"/>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09" name="shape409"/>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10" name="shape410"/>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Influence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41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  Benchmarking and Market Analysis</a:t>
            </a:r>
          </a:p>
        </p:txBody>
      </p:sp>
      <p:sp>
        <p:nvSpPr>
          <p:cNvPr id="412" name="shape41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413" name="shape413"/>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414" name="conn414"/>
          <p:cNvCxnSpPr/>
          <p:nvPr/>
        </p:nvCxnSpPr>
        <p:spPr>
          <a:xfrm>
            <a:off x="457200" y="1078992"/>
            <a:ext cx="11277295" cy="1"/>
          </a:xfrm>
          <a:prstGeom prst="line">
            <a:avLst/>
          </a:prstGeom>
          <a:ln w="9525">
            <a:solidFill>
              <a:srgbClr val="D9D8D0"/>
            </a:solidFill>
          </a:ln>
        </p:spPr>
      </p:cxnSp>
      <p:sp>
        <p:nvSpPr>
          <p:cNvPr id="415" name="shape41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416" name="shape41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a:t>
            </a:r>
          </a:p>
        </p:txBody>
      </p:sp>
      <p:sp>
        <p:nvSpPr>
          <p:cNvPr id="417" name="shape41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418" name="shape418"/>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Compares the practices and results of an enterprise against peers, competitors or a recognised standard, and reads the market it operates in.</a:t>
            </a:r>
          </a:p>
        </p:txBody>
      </p:sp>
      <p:sp>
        <p:nvSpPr>
          <p:cNvPr id="419" name="shape419"/>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420" name="shape420"/>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you need an outside reference point for what good looks like, or when the case for change rests on a claim about the market.</a:t>
            </a:r>
          </a:p>
        </p:txBody>
      </p:sp>
      <p:sp>
        <p:nvSpPr>
          <p:cNvPr id="421" name="shape421"/>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422" name="shape422"/>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Benchmarking looks outward at others; measuring solution performance looks inward at your own. An item where the comparison target is another organisation is benchmarking, even if the words performance and measure appear in the stem.</a:t>
            </a:r>
          </a:p>
        </p:txBody>
      </p:sp>
      <p:sp>
        <p:nvSpPr>
          <p:cNvPr id="423" name="shape423"/>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424" name="shape424"/>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8.4 Assess Enterprise Limitations</a:t>
            </a:r>
          </a:p>
        </p:txBody>
      </p:sp>
      <p:sp>
        <p:nvSpPr>
          <p:cNvPr id="425" name="shape42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Account opening, against the market the bank competes in</a:t>
            </a:r>
          </a:p>
        </p:txBody>
      </p:sp>
      <p:sp>
        <p:nvSpPr>
          <p:cNvPr id="426" name="shape426"/>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bank improved 45% and fell further behind. Internal data alone supports the opposite conclusion.</a:t>
            </a:r>
          </a:p>
        </p:txBody>
      </p:sp>
      <p:graphicFrame>
        <p:nvGraphicFramePr>
          <p:cNvPr id="427" name="table427"/>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Measure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This bank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Peer median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Best in market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Time to open, median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6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11 minutes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Applications abandoned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Identity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Branch visit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Digital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Digital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Four-year trend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11 days → 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 days → 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 days → 11 min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shape42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  Benchmarking and Market Analysis</a:t>
            </a:r>
          </a:p>
        </p:txBody>
      </p:sp>
      <p:sp>
        <p:nvSpPr>
          <p:cNvPr id="429" name="shape42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430" name="shape43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431" name="conn431"/>
          <p:cNvCxnSpPr/>
          <p:nvPr/>
        </p:nvCxnSpPr>
        <p:spPr>
          <a:xfrm>
            <a:off x="457200" y="1078992"/>
            <a:ext cx="11277295" cy="1"/>
          </a:xfrm>
          <a:prstGeom prst="line">
            <a:avLst/>
          </a:prstGeom>
          <a:ln w="9525">
            <a:solidFill>
              <a:srgbClr val="D9D8D0"/>
            </a:solidFill>
          </a:ln>
        </p:spPr>
      </p:cxnSp>
      <p:sp>
        <p:nvSpPr>
          <p:cNvPr id="432" name="shape43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433" name="shape43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a:t>
            </a:r>
          </a:p>
        </p:txBody>
      </p:sp>
      <p:sp>
        <p:nvSpPr>
          <p:cNvPr id="434" name="shape43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435" name="shape43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measure.</a:t>
            </a:r>
          </a:p>
        </p:txBody>
      </p:sp>
      <p:sp>
        <p:nvSpPr>
          <p:cNvPr id="436" name="shape43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437" name="shape43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Compares the practices and results of an enterprise against peers, competitors or a recognised standard, and reads the market it operates in.</a:t>
            </a:r>
          </a:p>
        </p:txBody>
      </p:sp>
      <p:sp>
        <p:nvSpPr>
          <p:cNvPr id="438" name="shape43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439" name="shape43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Benchmarking looks outward at others; measuring solution performance looks inward at your own. An item where the comparison target is another organisation is benchmarking, even if the words performance and measure appear in the stem.</a:t>
            </a:r>
          </a:p>
        </p:txBody>
      </p:sp>
      <p:sp>
        <p:nvSpPr>
          <p:cNvPr id="440" name="shape44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441" name="shape44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8.4 Assess Enterprise Limitations</a:t>
            </a:r>
          </a:p>
        </p:txBody>
      </p:sp>
      <p:sp>
        <p:nvSpPr>
          <p:cNvPr id="442" name="shape44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Benchmarking and Market Analysis — blank template</a:t>
            </a:r>
          </a:p>
        </p:txBody>
      </p:sp>
      <p:graphicFrame>
        <p:nvGraphicFramePr>
          <p:cNvPr id="443" name="table443"/>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Measure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This bank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Peer median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Best in market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shape44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10.6  Business Capability Analysis</a:t>
            </a:r>
          </a:p>
        </p:txBody>
      </p:sp>
      <p:sp>
        <p:nvSpPr>
          <p:cNvPr id="445" name="shape44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446" name="shape44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447" name="conn447"/>
          <p:cNvCxnSpPr/>
          <p:nvPr/>
        </p:nvCxnSpPr>
        <p:spPr>
          <a:xfrm>
            <a:off x="457200" y="1078992"/>
            <a:ext cx="11277295" cy="1"/>
          </a:xfrm>
          <a:prstGeom prst="line">
            <a:avLst/>
          </a:prstGeom>
          <a:ln w="9525">
            <a:solidFill>
              <a:srgbClr val="D9D8D0"/>
            </a:solidFill>
          </a:ln>
        </p:spPr>
      </p:cxnSp>
      <p:sp>
        <p:nvSpPr>
          <p:cNvPr id="448" name="shape44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449" name="shape44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10.6</a:t>
            </a:r>
          </a:p>
        </p:txBody>
      </p:sp>
      <p:sp>
        <p:nvSpPr>
          <p:cNvPr id="450" name="shape45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451" name="shape45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Describes what the enterprise is able to do, independently of who does it or how, and grades each ability for performance and importance.</a:t>
            </a:r>
          </a:p>
        </p:txBody>
      </p:sp>
      <p:sp>
        <p:nvSpPr>
          <p:cNvPr id="452" name="shape45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453" name="shape45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investment has to be aimed at an outcome rather than a department, or when the same weakness keeps surfacing across several units.</a:t>
            </a:r>
          </a:p>
        </p:txBody>
      </p:sp>
      <p:sp>
        <p:nvSpPr>
          <p:cNvPr id="454" name="shape45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455" name="shape45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Capabilities are what the organisation can do; processes are how it does it. An item that keeps naming org units or hand-offs is heading for process or organisational modelling, not capability analysis.</a:t>
            </a:r>
          </a:p>
        </p:txBody>
      </p:sp>
      <p:sp>
        <p:nvSpPr>
          <p:cNvPr id="456" name="shape45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457" name="shape45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6.4 Define Change Strategy</a:t>
            </a:r>
          </a:p>
        </p:txBody>
      </p:sp>
      <p:sp>
        <p:nvSpPr>
          <p:cNvPr id="458" name="shape45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Insurer capabilities, graded after three departmental programmes</a:t>
            </a:r>
          </a:p>
        </p:txBody>
      </p:sp>
      <p:sp>
        <p:nvSpPr>
          <p:cNvPr id="459" name="shape459"/>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Decisioning consistency spans claims, underwriting and service. No department owns it, so no departmental programme fixed it.</a:t>
            </a:r>
          </a:p>
        </p:txBody>
      </p:sp>
      <p:sp>
        <p:nvSpPr>
          <p:cNvPr id="460" name="shape460"/>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Performance →</a:t>
            </a:r>
          </a:p>
        </p:txBody>
      </p:sp>
      <p:sp>
        <p:nvSpPr>
          <p:cNvPr id="461" name="shape461"/>
          <p:cNvSpPr/>
          <p:nvPr/>
        </p:nvSpPr>
        <p:spPr>
          <a:xfrm>
            <a:off x="4892040"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Weak</a:t>
            </a:r>
          </a:p>
        </p:txBody>
      </p:sp>
      <p:sp>
        <p:nvSpPr>
          <p:cNvPr id="462" name="shape462"/>
          <p:cNvSpPr/>
          <p:nvPr/>
        </p:nvSpPr>
        <p:spPr>
          <a:xfrm>
            <a:off x="7172858"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Adequate</a:t>
            </a:r>
          </a:p>
        </p:txBody>
      </p:sp>
      <p:sp>
        <p:nvSpPr>
          <p:cNvPr id="463" name="shape463"/>
          <p:cNvSpPr/>
          <p:nvPr/>
        </p:nvSpPr>
        <p:spPr>
          <a:xfrm>
            <a:off x="9453677"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Strong</a:t>
            </a:r>
          </a:p>
        </p:txBody>
      </p:sp>
      <p:sp>
        <p:nvSpPr>
          <p:cNvPr id="464" name="shape464"/>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Critical</a:t>
            </a:r>
          </a:p>
        </p:txBody>
      </p:sp>
      <p:sp>
        <p:nvSpPr>
          <p:cNvPr id="465" name="shape465"/>
          <p:cNvSpPr/>
          <p:nvPr/>
        </p:nvSpPr>
        <p:spPr>
          <a:xfrm>
            <a:off x="4928616"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INVEST HERE</a:t>
            </a:r>
          </a:p>
          <a:p>
            <a:pPr algn="l"/>
            <a:r>
              <a:rPr lang="en-AU" sz="850" dirty="0">
                <a:solidFill>
                  <a:srgbClr val="0B0B0B"/>
                </a:solidFill>
                <a:latin typeface="Aptos"/>
              </a:rPr>
              <a:t>• Decisioning consistency</a:t>
            </a:r>
          </a:p>
          <a:p>
            <a:pPr algn="l"/>
            <a:r>
              <a:rPr lang="en-AU" sz="850" dirty="0">
                <a:solidFill>
                  <a:srgbClr val="0B0B0B"/>
                </a:solidFill>
                <a:latin typeface="Aptos"/>
              </a:rPr>
              <a:t>• Customer identity resolution</a:t>
            </a:r>
          </a:p>
        </p:txBody>
      </p:sp>
      <p:sp>
        <p:nvSpPr>
          <p:cNvPr id="466" name="shape466"/>
          <p:cNvSpPr/>
          <p:nvPr/>
        </p:nvSpPr>
        <p:spPr>
          <a:xfrm>
            <a:off x="7209434"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Claims assessment</a:t>
            </a:r>
          </a:p>
        </p:txBody>
      </p:sp>
      <p:sp>
        <p:nvSpPr>
          <p:cNvPr id="467" name="shape467"/>
          <p:cNvSpPr/>
          <p:nvPr/>
        </p:nvSpPr>
        <p:spPr>
          <a:xfrm>
            <a:off x="9490253"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Premium calculation</a:t>
            </a:r>
          </a:p>
        </p:txBody>
      </p:sp>
      <p:sp>
        <p:nvSpPr>
          <p:cNvPr id="468" name="shape468"/>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Supporting</a:t>
            </a:r>
          </a:p>
        </p:txBody>
      </p:sp>
      <p:sp>
        <p:nvSpPr>
          <p:cNvPr id="469" name="shape469"/>
          <p:cNvSpPr/>
          <p:nvPr/>
        </p:nvSpPr>
        <p:spPr>
          <a:xfrm>
            <a:off x="4928616"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Document generation</a:t>
            </a:r>
          </a:p>
        </p:txBody>
      </p:sp>
      <p:sp>
        <p:nvSpPr>
          <p:cNvPr id="470" name="shape470"/>
          <p:cNvSpPr/>
          <p:nvPr/>
        </p:nvSpPr>
        <p:spPr>
          <a:xfrm>
            <a:off x="7209434"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Complaints capture</a:t>
            </a:r>
          </a:p>
        </p:txBody>
      </p:sp>
      <p:sp>
        <p:nvSpPr>
          <p:cNvPr id="471" name="shape471"/>
          <p:cNvSpPr/>
          <p:nvPr/>
        </p:nvSpPr>
        <p:spPr>
          <a:xfrm>
            <a:off x="9490253"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OVER-INVESTED</a:t>
            </a:r>
          </a:p>
          <a:p>
            <a:pPr algn="l"/>
            <a:r>
              <a:rPr lang="en-AU" sz="850" dirty="0">
                <a:solidFill>
                  <a:srgbClr val="0B0B0B"/>
                </a:solidFill>
                <a:latin typeface="Aptos"/>
              </a:rPr>
              <a:t>• Reporting</a:t>
            </a:r>
          </a:p>
        </p:txBody>
      </p:sp>
      <p:sp>
        <p:nvSpPr>
          <p:cNvPr id="472" name="shape472"/>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Importance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shape47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10.6  Business Capability Analysis</a:t>
            </a:r>
          </a:p>
        </p:txBody>
      </p:sp>
      <p:sp>
        <p:nvSpPr>
          <p:cNvPr id="474" name="shape47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475" name="shape47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476" name="conn476"/>
          <p:cNvCxnSpPr/>
          <p:nvPr/>
        </p:nvCxnSpPr>
        <p:spPr>
          <a:xfrm>
            <a:off x="457200" y="1078992"/>
            <a:ext cx="11277295" cy="1"/>
          </a:xfrm>
          <a:prstGeom prst="line">
            <a:avLst/>
          </a:prstGeom>
          <a:ln w="9525">
            <a:solidFill>
              <a:srgbClr val="D9D8D0"/>
            </a:solidFill>
          </a:ln>
        </p:spPr>
      </p:cxnSp>
      <p:sp>
        <p:nvSpPr>
          <p:cNvPr id="477" name="shape47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478" name="shape47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10.6</a:t>
            </a:r>
          </a:p>
        </p:txBody>
      </p:sp>
      <p:sp>
        <p:nvSpPr>
          <p:cNvPr id="479" name="shape47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480" name="shape48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481" name="shape48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482" name="shape48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Describes what the enterprise is able to do, independently of who does it or how, and grades each ability for performance and importance.</a:t>
            </a:r>
          </a:p>
        </p:txBody>
      </p:sp>
      <p:sp>
        <p:nvSpPr>
          <p:cNvPr id="483" name="shape48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484" name="shape48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Capabilities are what the organisation can do; processes are how it does it. An item that keeps naming org units or hand-offs is heading for process or organisational modelling, not capability analysis.</a:t>
            </a:r>
          </a:p>
        </p:txBody>
      </p:sp>
      <p:sp>
        <p:nvSpPr>
          <p:cNvPr id="485" name="shape48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486" name="shape48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6.4 Define Change Strategy</a:t>
            </a:r>
          </a:p>
        </p:txBody>
      </p:sp>
      <p:sp>
        <p:nvSpPr>
          <p:cNvPr id="487" name="shape48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Business Capability Analysis — blank template</a:t>
            </a:r>
          </a:p>
        </p:txBody>
      </p:sp>
      <p:sp>
        <p:nvSpPr>
          <p:cNvPr id="488" name="shape488"/>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Performance →</a:t>
            </a:r>
          </a:p>
        </p:txBody>
      </p:sp>
      <p:sp>
        <p:nvSpPr>
          <p:cNvPr id="489" name="shape489"/>
          <p:cNvSpPr/>
          <p:nvPr/>
        </p:nvSpPr>
        <p:spPr>
          <a:xfrm>
            <a:off x="4892040"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Weak</a:t>
            </a:r>
          </a:p>
        </p:txBody>
      </p:sp>
      <p:sp>
        <p:nvSpPr>
          <p:cNvPr id="490" name="shape490"/>
          <p:cNvSpPr/>
          <p:nvPr/>
        </p:nvSpPr>
        <p:spPr>
          <a:xfrm>
            <a:off x="7172858"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Adequate</a:t>
            </a:r>
          </a:p>
        </p:txBody>
      </p:sp>
      <p:sp>
        <p:nvSpPr>
          <p:cNvPr id="491" name="shape491"/>
          <p:cNvSpPr/>
          <p:nvPr/>
        </p:nvSpPr>
        <p:spPr>
          <a:xfrm>
            <a:off x="9453677"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Strong</a:t>
            </a:r>
          </a:p>
        </p:txBody>
      </p:sp>
      <p:sp>
        <p:nvSpPr>
          <p:cNvPr id="492" name="shape492"/>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Critical</a:t>
            </a:r>
          </a:p>
        </p:txBody>
      </p:sp>
      <p:sp>
        <p:nvSpPr>
          <p:cNvPr id="493" name="shape493"/>
          <p:cNvSpPr/>
          <p:nvPr/>
        </p:nvSpPr>
        <p:spPr>
          <a:xfrm>
            <a:off x="4928616"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94" name="shape494"/>
          <p:cNvSpPr/>
          <p:nvPr/>
        </p:nvSpPr>
        <p:spPr>
          <a:xfrm>
            <a:off x="7209434"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95" name="shape495"/>
          <p:cNvSpPr/>
          <p:nvPr/>
        </p:nvSpPr>
        <p:spPr>
          <a:xfrm>
            <a:off x="9490253" y="20025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96" name="shape496"/>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Supporting</a:t>
            </a:r>
          </a:p>
        </p:txBody>
      </p:sp>
      <p:sp>
        <p:nvSpPr>
          <p:cNvPr id="497" name="shape497"/>
          <p:cNvSpPr/>
          <p:nvPr/>
        </p:nvSpPr>
        <p:spPr>
          <a:xfrm>
            <a:off x="4928616"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98" name="shape498"/>
          <p:cNvSpPr/>
          <p:nvPr/>
        </p:nvSpPr>
        <p:spPr>
          <a:xfrm>
            <a:off x="7209434"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499" name="shape499"/>
          <p:cNvSpPr/>
          <p:nvPr/>
        </p:nvSpPr>
        <p:spPr>
          <a:xfrm>
            <a:off x="9490253" y="3374136"/>
            <a:ext cx="220766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500" name="shape500"/>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Importance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50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10.8  Business Model Canvas</a:t>
            </a:r>
          </a:p>
        </p:txBody>
      </p:sp>
      <p:sp>
        <p:nvSpPr>
          <p:cNvPr id="502" name="shape50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503" name="shape503"/>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04" name="conn504"/>
          <p:cNvCxnSpPr/>
          <p:nvPr/>
        </p:nvCxnSpPr>
        <p:spPr>
          <a:xfrm>
            <a:off x="457200" y="1078992"/>
            <a:ext cx="11277295" cy="1"/>
          </a:xfrm>
          <a:prstGeom prst="line">
            <a:avLst/>
          </a:prstGeom>
          <a:ln w="9525">
            <a:solidFill>
              <a:srgbClr val="D9D8D0"/>
            </a:solidFill>
          </a:ln>
        </p:spPr>
      </p:cxnSp>
      <p:sp>
        <p:nvSpPr>
          <p:cNvPr id="505" name="shape50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506" name="shape50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10.8</a:t>
            </a:r>
          </a:p>
        </p:txBody>
      </p:sp>
      <p:sp>
        <p:nvSpPr>
          <p:cNvPr id="507" name="shape50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508" name="shape508"/>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Lays the operating logic of a business on one page across nine blocks, from value proposition through to cost structure and revenue streams.</a:t>
            </a:r>
          </a:p>
        </p:txBody>
      </p:sp>
      <p:sp>
        <p:nvSpPr>
          <p:cNvPr id="509" name="shape509"/>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510" name="shape510"/>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early, when the question is how the enterprise creates and captures value rather than how a particular process runs.</a:t>
            </a:r>
          </a:p>
        </p:txBody>
      </p:sp>
      <p:sp>
        <p:nvSpPr>
          <p:cNvPr id="511" name="shape511"/>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12" name="shape512"/>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canvas describes a whole business model; SWOT assesses position. An item asking what would break if the revenue model changed is canvas work; one asking what threatens the organisation is SWOT.</a:t>
            </a:r>
          </a:p>
        </p:txBody>
      </p:sp>
      <p:sp>
        <p:nvSpPr>
          <p:cNvPr id="513" name="shape513"/>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514" name="shape514"/>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a:t>
            </a:r>
          </a:p>
        </p:txBody>
      </p:sp>
      <p:sp>
        <p:nvSpPr>
          <p:cNvPr id="515" name="shape51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Trade publisher — moving from distributor print to direct digital</a:t>
            </a:r>
          </a:p>
        </p:txBody>
      </p:sp>
      <p:sp>
        <p:nvSpPr>
          <p:cNvPr id="516" name="shape516"/>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publisher does not hold its own subscriber list. That is the change strategy's first problem.</a:t>
            </a:r>
          </a:p>
        </p:txBody>
      </p:sp>
      <p:sp>
        <p:nvSpPr>
          <p:cNvPr id="517" name="shape517"/>
          <p:cNvSpPr/>
          <p:nvPr/>
        </p:nvSpPr>
        <p:spPr>
          <a:xfrm>
            <a:off x="3547872"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PARTNERS</a:t>
            </a:r>
          </a:p>
          <a:p>
            <a:pPr algn="l"/>
            <a:r>
              <a:rPr lang="en-AU" sz="800" dirty="0">
                <a:solidFill>
                  <a:srgbClr val="0B0B0B"/>
                </a:solidFill>
                <a:latin typeface="Aptos"/>
              </a:rPr>
              <a:t>• Now: single distributor (80% of revenue)</a:t>
            </a:r>
          </a:p>
          <a:p>
            <a:pPr algn="l"/>
            <a:r>
              <a:rPr lang="en-AU" sz="800" dirty="0">
                <a:solidFill>
                  <a:srgbClr val="0B0B0B"/>
                </a:solidFill>
                <a:latin typeface="Aptos"/>
              </a:rPr>
              <a:t>• After: payment processor, CDN</a:t>
            </a:r>
          </a:p>
        </p:txBody>
      </p:sp>
      <p:sp>
        <p:nvSpPr>
          <p:cNvPr id="518" name="shape518"/>
          <p:cNvSpPr/>
          <p:nvPr/>
        </p:nvSpPr>
        <p:spPr>
          <a:xfrm>
            <a:off x="5190683" y="1527048"/>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ACTIVITIES</a:t>
            </a:r>
          </a:p>
          <a:p>
            <a:pPr algn="l"/>
            <a:r>
              <a:rPr lang="en-AU" sz="800" dirty="0">
                <a:solidFill>
                  <a:srgbClr val="0B0B0B"/>
                </a:solidFill>
                <a:latin typeface="Aptos"/>
              </a:rPr>
              <a:t>• Now: commissioning, print scheduling</a:t>
            </a:r>
          </a:p>
          <a:p>
            <a:pPr algn="l"/>
            <a:r>
              <a:rPr lang="en-AU" sz="800" dirty="0">
                <a:solidFill>
                  <a:srgbClr val="0B0B0B"/>
                </a:solidFill>
                <a:latin typeface="Aptos"/>
              </a:rPr>
              <a:t>• After: commissioning, platform operation</a:t>
            </a:r>
          </a:p>
        </p:txBody>
      </p:sp>
      <p:sp>
        <p:nvSpPr>
          <p:cNvPr id="519" name="shape519"/>
          <p:cNvSpPr/>
          <p:nvPr/>
        </p:nvSpPr>
        <p:spPr>
          <a:xfrm>
            <a:off x="6833494"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 PROPOSITION</a:t>
            </a:r>
          </a:p>
          <a:p>
            <a:pPr algn="l"/>
            <a:r>
              <a:rPr lang="en-AU" sz="800" dirty="0">
                <a:solidFill>
                  <a:srgbClr val="0B0B0B"/>
                </a:solidFill>
                <a:latin typeface="Aptos"/>
              </a:rPr>
              <a:t>• Unchanged: trusted trade reporting</a:t>
            </a:r>
          </a:p>
        </p:txBody>
      </p:sp>
      <p:sp>
        <p:nvSpPr>
          <p:cNvPr id="520" name="shape520"/>
          <p:cNvSpPr/>
          <p:nvPr/>
        </p:nvSpPr>
        <p:spPr>
          <a:xfrm>
            <a:off x="8476305" y="1527048"/>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RELATIONSHIP</a:t>
            </a:r>
          </a:p>
          <a:p>
            <a:pPr algn="l"/>
            <a:r>
              <a:rPr lang="en-AU" sz="800" dirty="0">
                <a:solidFill>
                  <a:srgbClr val="0B0B0B"/>
                </a:solidFill>
                <a:latin typeface="Aptos"/>
              </a:rPr>
              <a:t>• Now: none — distributor owns it</a:t>
            </a:r>
          </a:p>
          <a:p>
            <a:pPr algn="l"/>
            <a:r>
              <a:rPr lang="en-AU" sz="800" dirty="0">
                <a:solidFill>
                  <a:srgbClr val="0B0B0B"/>
                </a:solidFill>
                <a:latin typeface="Aptos"/>
              </a:rPr>
              <a:t>• After: direct, renewable</a:t>
            </a:r>
          </a:p>
        </p:txBody>
      </p:sp>
      <p:sp>
        <p:nvSpPr>
          <p:cNvPr id="521" name="shape521"/>
          <p:cNvSpPr/>
          <p:nvPr/>
        </p:nvSpPr>
        <p:spPr>
          <a:xfrm>
            <a:off x="8476305" y="2854757"/>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CHANNELS</a:t>
            </a:r>
          </a:p>
          <a:p>
            <a:pPr algn="l"/>
            <a:r>
              <a:rPr lang="en-AU" sz="800" dirty="0">
                <a:solidFill>
                  <a:srgbClr val="0B0B0B"/>
                </a:solidFill>
                <a:latin typeface="Aptos"/>
              </a:rPr>
              <a:t>• Now: print via distributor</a:t>
            </a:r>
          </a:p>
          <a:p>
            <a:pPr algn="l"/>
            <a:r>
              <a:rPr lang="en-AU" sz="800" dirty="0">
                <a:solidFill>
                  <a:srgbClr val="0B0B0B"/>
                </a:solidFill>
                <a:latin typeface="Aptos"/>
              </a:rPr>
              <a:t>• After: web and app, direct</a:t>
            </a:r>
          </a:p>
        </p:txBody>
      </p:sp>
      <p:sp>
        <p:nvSpPr>
          <p:cNvPr id="522" name="shape522"/>
          <p:cNvSpPr/>
          <p:nvPr/>
        </p:nvSpPr>
        <p:spPr>
          <a:xfrm>
            <a:off x="10119116"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SEGMENTS</a:t>
            </a:r>
          </a:p>
          <a:p>
            <a:pPr algn="l"/>
            <a:r>
              <a:rPr lang="en-AU" sz="800" dirty="0">
                <a:solidFill>
                  <a:srgbClr val="0B0B0B"/>
                </a:solidFill>
                <a:latin typeface="Aptos"/>
              </a:rPr>
              <a:t>• Unchanged: trade professionals</a:t>
            </a:r>
          </a:p>
        </p:txBody>
      </p:sp>
      <p:sp>
        <p:nvSpPr>
          <p:cNvPr id="523" name="shape523"/>
          <p:cNvSpPr/>
          <p:nvPr/>
        </p:nvSpPr>
        <p:spPr>
          <a:xfrm>
            <a:off x="8476305" y="4182466"/>
            <a:ext cx="3230758" cy="1313078"/>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REVENUE STREAMS</a:t>
            </a:r>
          </a:p>
          <a:p>
            <a:pPr algn="l"/>
            <a:r>
              <a:rPr lang="en-AU" sz="800" dirty="0">
                <a:solidFill>
                  <a:srgbClr val="0B0B0B"/>
                </a:solidFill>
                <a:latin typeface="Aptos"/>
              </a:rPr>
              <a:t>• Now: wholesale, 80% of total</a:t>
            </a:r>
          </a:p>
          <a:p>
            <a:pPr algn="l"/>
            <a:r>
              <a:rPr lang="en-AU" sz="800" dirty="0">
                <a:solidFill>
                  <a:srgbClr val="0B0B0B"/>
                </a:solidFill>
                <a:latin typeface="Aptos"/>
              </a:rPr>
              <a:t>• After: subscription, recognised monthly</a:t>
            </a:r>
          </a:p>
        </p:txBody>
      </p:sp>
      <p:sp>
        <p:nvSpPr>
          <p:cNvPr id="524" name="shape524"/>
          <p:cNvSpPr/>
          <p:nvPr/>
        </p:nvSpPr>
        <p:spPr>
          <a:xfrm>
            <a:off x="3547872" y="4182466"/>
            <a:ext cx="4873569" cy="1313078"/>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COST STRUCTURE</a:t>
            </a:r>
          </a:p>
          <a:p>
            <a:pPr algn="l"/>
            <a:r>
              <a:rPr lang="en-AU" sz="800" dirty="0">
                <a:solidFill>
                  <a:srgbClr val="0B0B0B"/>
                </a:solidFill>
                <a:latin typeface="Aptos"/>
              </a:rPr>
              <a:t>• Now: print, freight, distributor margin</a:t>
            </a:r>
          </a:p>
          <a:p>
            <a:pPr algn="l"/>
            <a:r>
              <a:rPr lang="en-AU" sz="800" dirty="0">
                <a:solidFill>
                  <a:srgbClr val="0B0B0B"/>
                </a:solidFill>
                <a:latin typeface="Aptos"/>
              </a:rPr>
              <a:t>• After: platform, support, card fees</a:t>
            </a:r>
          </a:p>
        </p:txBody>
      </p:sp>
      <p:sp>
        <p:nvSpPr>
          <p:cNvPr id="525" name="shape525"/>
          <p:cNvSpPr/>
          <p:nvPr/>
        </p:nvSpPr>
        <p:spPr>
          <a:xfrm>
            <a:off x="5190683" y="2854757"/>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RESOURCES</a:t>
            </a:r>
          </a:p>
          <a:p>
            <a:pPr algn="l"/>
            <a:r>
              <a:rPr lang="en-AU" sz="800" dirty="0">
                <a:solidFill>
                  <a:srgbClr val="0B0B0B"/>
                </a:solidFill>
                <a:latin typeface="Aptos"/>
              </a:rPr>
              <a:t>• Now: print contract</a:t>
            </a:r>
          </a:p>
          <a:p>
            <a:pPr algn="l"/>
            <a:r>
              <a:rPr lang="en-AU" sz="800" dirty="0">
                <a:solidFill>
                  <a:srgbClr val="0B0B0B"/>
                </a:solidFill>
                <a:latin typeface="Aptos"/>
              </a:rPr>
              <a:t>• After: subscriber list — currently not owned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shape52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10.8  Business Model Canvas</a:t>
            </a:r>
          </a:p>
        </p:txBody>
      </p:sp>
      <p:sp>
        <p:nvSpPr>
          <p:cNvPr id="527" name="shape52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528" name="shape52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529" name="conn529"/>
          <p:cNvCxnSpPr/>
          <p:nvPr/>
        </p:nvCxnSpPr>
        <p:spPr>
          <a:xfrm>
            <a:off x="457200" y="1078992"/>
            <a:ext cx="11277295" cy="1"/>
          </a:xfrm>
          <a:prstGeom prst="line">
            <a:avLst/>
          </a:prstGeom>
          <a:ln w="9525">
            <a:solidFill>
              <a:srgbClr val="D9D8D0"/>
            </a:solidFill>
          </a:ln>
        </p:spPr>
      </p:cxnSp>
      <p:sp>
        <p:nvSpPr>
          <p:cNvPr id="530" name="shape53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531" name="shape53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10.8</a:t>
            </a:r>
          </a:p>
        </p:txBody>
      </p:sp>
      <p:sp>
        <p:nvSpPr>
          <p:cNvPr id="532" name="shape53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533" name="shape53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534" name="shape53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535" name="shape53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Lays the operating logic of a business on one page across nine blocks, from value proposition through to cost structure and revenue streams.</a:t>
            </a:r>
          </a:p>
        </p:txBody>
      </p:sp>
      <p:sp>
        <p:nvSpPr>
          <p:cNvPr id="536" name="shape53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37" name="shape53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canvas describes a whole business model; SWOT assesses position. An item asking what would break if the revenue model changed is canvas work; one asking what threatens the organisation is SWOT.</a:t>
            </a:r>
          </a:p>
        </p:txBody>
      </p:sp>
      <p:sp>
        <p:nvSpPr>
          <p:cNvPr id="538" name="shape53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539" name="shape53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a:t>
            </a:r>
          </a:p>
        </p:txBody>
      </p:sp>
      <p:sp>
        <p:nvSpPr>
          <p:cNvPr id="540" name="shape54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Business Model Canvas — blank template</a:t>
            </a:r>
          </a:p>
        </p:txBody>
      </p:sp>
      <p:sp>
        <p:nvSpPr>
          <p:cNvPr id="541" name="shape541"/>
          <p:cNvSpPr/>
          <p:nvPr/>
        </p:nvSpPr>
        <p:spPr>
          <a:xfrm>
            <a:off x="3547872"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PARTNERS</a:t>
            </a:r>
          </a:p>
          <a:p>
            <a:pPr algn="l"/>
            <a:endParaRPr lang="en-AU" sz="1100"/>
          </a:p>
        </p:txBody>
      </p:sp>
      <p:sp>
        <p:nvSpPr>
          <p:cNvPr id="542" name="shape542"/>
          <p:cNvSpPr/>
          <p:nvPr/>
        </p:nvSpPr>
        <p:spPr>
          <a:xfrm>
            <a:off x="5190683" y="1527048"/>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ACTIVITIES</a:t>
            </a:r>
          </a:p>
          <a:p>
            <a:pPr algn="l"/>
            <a:endParaRPr lang="en-AU" sz="1100"/>
          </a:p>
        </p:txBody>
      </p:sp>
      <p:sp>
        <p:nvSpPr>
          <p:cNvPr id="543" name="shape543"/>
          <p:cNvSpPr/>
          <p:nvPr/>
        </p:nvSpPr>
        <p:spPr>
          <a:xfrm>
            <a:off x="6833494"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 PROPOSITION</a:t>
            </a:r>
          </a:p>
          <a:p>
            <a:pPr algn="l"/>
            <a:endParaRPr lang="en-AU" sz="1100"/>
          </a:p>
        </p:txBody>
      </p:sp>
      <p:sp>
        <p:nvSpPr>
          <p:cNvPr id="544" name="shape544"/>
          <p:cNvSpPr/>
          <p:nvPr/>
        </p:nvSpPr>
        <p:spPr>
          <a:xfrm>
            <a:off x="8476305" y="1527048"/>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RELATIONSHIP</a:t>
            </a:r>
          </a:p>
          <a:p>
            <a:pPr algn="l"/>
            <a:endParaRPr lang="en-AU" sz="1100"/>
          </a:p>
        </p:txBody>
      </p:sp>
      <p:sp>
        <p:nvSpPr>
          <p:cNvPr id="545" name="shape545"/>
          <p:cNvSpPr/>
          <p:nvPr/>
        </p:nvSpPr>
        <p:spPr>
          <a:xfrm>
            <a:off x="8476305" y="2854757"/>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CHANNELS</a:t>
            </a:r>
          </a:p>
          <a:p>
            <a:pPr algn="l"/>
            <a:endParaRPr lang="en-AU" sz="1100"/>
          </a:p>
        </p:txBody>
      </p:sp>
      <p:sp>
        <p:nvSpPr>
          <p:cNvPr id="546" name="shape546"/>
          <p:cNvSpPr/>
          <p:nvPr/>
        </p:nvSpPr>
        <p:spPr>
          <a:xfrm>
            <a:off x="10119116" y="1527048"/>
            <a:ext cx="1587947" cy="2600554"/>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CUSTOMER SEGMENTS</a:t>
            </a:r>
          </a:p>
          <a:p>
            <a:pPr algn="l"/>
            <a:endParaRPr lang="en-AU" sz="1100"/>
          </a:p>
        </p:txBody>
      </p:sp>
      <p:sp>
        <p:nvSpPr>
          <p:cNvPr id="547" name="shape547"/>
          <p:cNvSpPr/>
          <p:nvPr/>
        </p:nvSpPr>
        <p:spPr>
          <a:xfrm>
            <a:off x="8476305" y="4182466"/>
            <a:ext cx="3230758" cy="1313078"/>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REVENUE STREAMS</a:t>
            </a:r>
          </a:p>
          <a:p>
            <a:pPr algn="l"/>
            <a:endParaRPr lang="en-AU" sz="1100"/>
          </a:p>
        </p:txBody>
      </p:sp>
      <p:sp>
        <p:nvSpPr>
          <p:cNvPr id="548" name="shape548"/>
          <p:cNvSpPr/>
          <p:nvPr/>
        </p:nvSpPr>
        <p:spPr>
          <a:xfrm>
            <a:off x="3547872" y="4182466"/>
            <a:ext cx="4873569" cy="1313078"/>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COST STRUCTURE</a:t>
            </a:r>
          </a:p>
          <a:p>
            <a:pPr algn="l"/>
            <a:endParaRPr lang="en-AU" sz="1100"/>
          </a:p>
        </p:txBody>
      </p:sp>
      <p:sp>
        <p:nvSpPr>
          <p:cNvPr id="549" name="shape549"/>
          <p:cNvSpPr/>
          <p:nvPr/>
        </p:nvSpPr>
        <p:spPr>
          <a:xfrm>
            <a:off x="5190683" y="2854757"/>
            <a:ext cx="1587947" cy="1272845"/>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KEY RESOURCES</a:t>
            </a:r>
          </a:p>
          <a:p>
            <a:pPr algn="l"/>
            <a:endParaRPr lang="en-AU"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shape55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10.14  Data Mining</a:t>
            </a:r>
          </a:p>
        </p:txBody>
      </p:sp>
      <p:sp>
        <p:nvSpPr>
          <p:cNvPr id="551" name="shape55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552" name="shape55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53" name="conn553"/>
          <p:cNvCxnSpPr/>
          <p:nvPr/>
        </p:nvCxnSpPr>
        <p:spPr>
          <a:xfrm>
            <a:off x="457200" y="1078992"/>
            <a:ext cx="11277295" cy="1"/>
          </a:xfrm>
          <a:prstGeom prst="line">
            <a:avLst/>
          </a:prstGeom>
          <a:ln w="9525">
            <a:solidFill>
              <a:srgbClr val="D9D8D0"/>
            </a:solidFill>
          </a:ln>
        </p:spPr>
      </p:cxnSp>
      <p:sp>
        <p:nvSpPr>
          <p:cNvPr id="554" name="shape55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555" name="shape55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10.14</a:t>
            </a:r>
          </a:p>
        </p:txBody>
      </p:sp>
      <p:sp>
        <p:nvSpPr>
          <p:cNvPr id="556" name="shape55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557" name="shape55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Interrogates large data sets for patterns and relationships that were not hypothesised in advance.</a:t>
            </a:r>
          </a:p>
        </p:txBody>
      </p:sp>
      <p:sp>
        <p:nvSpPr>
          <p:cNvPr id="558" name="shape55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559" name="shape55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evidence for a problem or an opportunity is already sitting in operational data and nobody has looked.</a:t>
            </a:r>
          </a:p>
        </p:txBody>
      </p:sp>
      <p:sp>
        <p:nvSpPr>
          <p:cNvPr id="560" name="shape56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61" name="shape56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mining finds the pattern; metrics and KPIs track a measure you already chose. If the scenario knows what it wants to watch, it does not need mining.</a:t>
            </a:r>
          </a:p>
        </p:txBody>
      </p:sp>
      <p:sp>
        <p:nvSpPr>
          <p:cNvPr id="562" name="shape56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563" name="shape56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8.2 Analyze Performance Measures · 4.2 Conduct Elicitation</a:t>
            </a:r>
          </a:p>
        </p:txBody>
      </p:sp>
      <p:sp>
        <p:nvSpPr>
          <p:cNvPr id="564" name="shape56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Eleven years of order history, interrogated before anyone was surveyed</a:t>
            </a:r>
          </a:p>
        </p:txBody>
      </p:sp>
      <p:sp>
        <p:nvSpPr>
          <p:cNvPr id="565" name="shape565"/>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None of these was on anyone's list of suspected causes.</a:t>
            </a:r>
          </a:p>
        </p:txBody>
      </p:sp>
      <p:graphicFrame>
        <p:nvGraphicFramePr>
          <p:cNvPr id="566" name="table566"/>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Pattern found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Holds for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Lead time to churn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Two consecutive short-paid invoices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81% of churned accounts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5–7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Order frequency drops below 60% of own baseline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74%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4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Any delivery complaint unresolved past 30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69%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3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Contact person changes and is not re-engaged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8 months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shape56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10.14  Data Mining</a:t>
            </a:r>
          </a:p>
        </p:txBody>
      </p:sp>
      <p:sp>
        <p:nvSpPr>
          <p:cNvPr id="568" name="shape56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569" name="shape56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570" name="conn570"/>
          <p:cNvCxnSpPr/>
          <p:nvPr/>
        </p:nvCxnSpPr>
        <p:spPr>
          <a:xfrm>
            <a:off x="457200" y="1078992"/>
            <a:ext cx="11277295" cy="1"/>
          </a:xfrm>
          <a:prstGeom prst="line">
            <a:avLst/>
          </a:prstGeom>
          <a:ln w="9525">
            <a:solidFill>
              <a:srgbClr val="D9D8D0"/>
            </a:solidFill>
          </a:ln>
        </p:spPr>
      </p:cxnSp>
      <p:sp>
        <p:nvSpPr>
          <p:cNvPr id="571" name="shape57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572" name="shape57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10.14</a:t>
            </a:r>
          </a:p>
        </p:txBody>
      </p:sp>
      <p:sp>
        <p:nvSpPr>
          <p:cNvPr id="573" name="shape57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574" name="shape57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pattern found.</a:t>
            </a:r>
          </a:p>
        </p:txBody>
      </p:sp>
      <p:sp>
        <p:nvSpPr>
          <p:cNvPr id="575" name="shape57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576" name="shape57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Interrogates large data sets for patterns and relationships that were not hypothesised in advance.</a:t>
            </a:r>
          </a:p>
        </p:txBody>
      </p:sp>
      <p:sp>
        <p:nvSpPr>
          <p:cNvPr id="577" name="shape57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78" name="shape57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mining finds the pattern; metrics and KPIs track a measure you already chose. If the scenario knows what it wants to watch, it does not need mining.</a:t>
            </a:r>
          </a:p>
        </p:txBody>
      </p:sp>
      <p:sp>
        <p:nvSpPr>
          <p:cNvPr id="579" name="shape57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580" name="shape58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8.2 Analyze Performance Measures · 4.2 Conduct Elicitation</a:t>
            </a:r>
          </a:p>
        </p:txBody>
      </p:sp>
      <p:sp>
        <p:nvSpPr>
          <p:cNvPr id="581" name="shape58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Data Mining — blank template</a:t>
            </a:r>
          </a:p>
        </p:txBody>
      </p:sp>
      <p:graphicFrame>
        <p:nvGraphicFramePr>
          <p:cNvPr id="582" name="table582"/>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Pattern found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Holds for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Lead time to churn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shape58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10.32  Organisational Modelling</a:t>
            </a:r>
          </a:p>
        </p:txBody>
      </p:sp>
      <p:sp>
        <p:nvSpPr>
          <p:cNvPr id="584" name="shape58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585" name="shape58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86" name="conn586"/>
          <p:cNvCxnSpPr/>
          <p:nvPr/>
        </p:nvCxnSpPr>
        <p:spPr>
          <a:xfrm>
            <a:off x="457200" y="1078992"/>
            <a:ext cx="11277295" cy="1"/>
          </a:xfrm>
          <a:prstGeom prst="line">
            <a:avLst/>
          </a:prstGeom>
          <a:ln w="9525">
            <a:solidFill>
              <a:srgbClr val="D9D8D0"/>
            </a:solidFill>
          </a:ln>
        </p:spPr>
      </p:cxnSp>
      <p:sp>
        <p:nvSpPr>
          <p:cNvPr id="587" name="shape58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588" name="shape58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10.32</a:t>
            </a:r>
          </a:p>
        </p:txBody>
      </p:sp>
      <p:sp>
        <p:nvSpPr>
          <p:cNvPr id="589" name="shape58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590" name="shape59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Describes the units, roles, reporting lines and interactions that make up an organisation, and where responsibility actually sits.</a:t>
            </a:r>
          </a:p>
        </p:txBody>
      </p:sp>
      <p:sp>
        <p:nvSpPr>
          <p:cNvPr id="591" name="shape59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592" name="shape59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change crosses boundaries, or when a decision keeps stalling because nobody can say who owns it.</a:t>
            </a:r>
          </a:p>
        </p:txBody>
      </p:sp>
      <p:sp>
        <p:nvSpPr>
          <p:cNvPr id="593" name="shape59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594" name="shape59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Organisational modelling maps structure and responsibility; a stakeholder map positions people by influence and interest for engagement purposes. Structure versus engagement is the split.</a:t>
            </a:r>
          </a:p>
        </p:txBody>
      </p:sp>
      <p:sp>
        <p:nvSpPr>
          <p:cNvPr id="595" name="shape59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596" name="shape59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3.2 Plan Stakeholder Engagement</a:t>
            </a:r>
          </a:p>
        </p:txBody>
      </p:sp>
      <p:sp>
        <p:nvSpPr>
          <p:cNvPr id="597" name="shape59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Where the mandate actually sits, after the undocumented restructure</a:t>
            </a:r>
          </a:p>
        </p:txBody>
      </p:sp>
      <p:sp>
        <p:nvSpPr>
          <p:cNvPr id="598" name="shape598"/>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Division    2. Unit    3. Decision right</a:t>
            </a:r>
          </a:p>
        </p:txBody>
      </p:sp>
      <p:sp>
        <p:nvSpPr>
          <p:cNvPr id="599" name="shape599"/>
          <p:cNvSpPr/>
          <p:nvPr/>
        </p:nvSpPr>
        <p:spPr>
          <a:xfrm>
            <a:off x="3520440" y="1499616"/>
            <a:ext cx="8214055" cy="329184"/>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Customer Group</a:t>
            </a:r>
          </a:p>
        </p:txBody>
      </p:sp>
      <p:sp>
        <p:nvSpPr>
          <p:cNvPr id="600" name="shape600"/>
          <p:cNvSpPr/>
          <p:nvPr/>
        </p:nvSpPr>
        <p:spPr>
          <a:xfrm>
            <a:off x="3904488" y="1874520"/>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Service Design</a:t>
            </a:r>
          </a:p>
        </p:txBody>
      </p:sp>
      <p:cxnSp>
        <p:nvCxnSpPr>
          <p:cNvPr id="601" name="conn601"/>
          <p:cNvCxnSpPr/>
          <p:nvPr/>
        </p:nvCxnSpPr>
        <p:spPr>
          <a:xfrm>
            <a:off x="3776472" y="2039112"/>
            <a:ext cx="128016" cy="1"/>
          </a:xfrm>
          <a:prstGeom prst="line">
            <a:avLst/>
          </a:prstGeom>
          <a:ln w="6350">
            <a:solidFill>
              <a:srgbClr val="C3C2B7"/>
            </a:solidFill>
          </a:ln>
        </p:spPr>
      </p:cxnSp>
      <p:sp>
        <p:nvSpPr>
          <p:cNvPr id="602" name="shape602"/>
          <p:cNvSpPr/>
          <p:nvPr/>
        </p:nvSpPr>
        <p:spPr>
          <a:xfrm>
            <a:off x="4288536" y="2249424"/>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Channel policy — held here since the 2024 restructure</a:t>
            </a:r>
          </a:p>
        </p:txBody>
      </p:sp>
      <p:cxnSp>
        <p:nvCxnSpPr>
          <p:cNvPr id="603" name="conn603"/>
          <p:cNvCxnSpPr/>
          <p:nvPr/>
        </p:nvCxnSpPr>
        <p:spPr>
          <a:xfrm>
            <a:off x="4160520" y="2414016"/>
            <a:ext cx="128016" cy="1"/>
          </a:xfrm>
          <a:prstGeom prst="line">
            <a:avLst/>
          </a:prstGeom>
          <a:ln w="6350">
            <a:solidFill>
              <a:srgbClr val="C3C2B7"/>
            </a:solidFill>
          </a:ln>
        </p:spPr>
      </p:cxnSp>
      <p:sp>
        <p:nvSpPr>
          <p:cNvPr id="604" name="shape604"/>
          <p:cNvSpPr/>
          <p:nvPr/>
        </p:nvSpPr>
        <p:spPr>
          <a:xfrm>
            <a:off x="3904488" y="2624328"/>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Operations</a:t>
            </a:r>
          </a:p>
        </p:txBody>
      </p:sp>
      <p:cxnSp>
        <p:nvCxnSpPr>
          <p:cNvPr id="605" name="conn605"/>
          <p:cNvCxnSpPr/>
          <p:nvPr/>
        </p:nvCxnSpPr>
        <p:spPr>
          <a:xfrm>
            <a:off x="3776472" y="2788920"/>
            <a:ext cx="128016" cy="1"/>
          </a:xfrm>
          <a:prstGeom prst="line">
            <a:avLst/>
          </a:prstGeom>
          <a:ln w="6350">
            <a:solidFill>
              <a:srgbClr val="C3C2B7"/>
            </a:solidFill>
          </a:ln>
        </p:spPr>
      </p:cxnSp>
      <p:sp>
        <p:nvSpPr>
          <p:cNvPr id="606" name="shape606"/>
          <p:cNvSpPr/>
          <p:nvPr/>
        </p:nvSpPr>
        <p:spPr>
          <a:xfrm>
            <a:off x="4288536" y="2999232"/>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Believed it held channel policy. Does not.</a:t>
            </a:r>
          </a:p>
        </p:txBody>
      </p:sp>
      <p:cxnSp>
        <p:nvCxnSpPr>
          <p:cNvPr id="607" name="conn607"/>
          <p:cNvCxnSpPr/>
          <p:nvPr/>
        </p:nvCxnSpPr>
        <p:spPr>
          <a:xfrm>
            <a:off x="4160520" y="3163824"/>
            <a:ext cx="128016" cy="1"/>
          </a:xfrm>
          <a:prstGeom prst="line">
            <a:avLst/>
          </a:prstGeom>
          <a:ln w="6350">
            <a:solidFill>
              <a:srgbClr val="C3C2B7"/>
            </a:solidFill>
          </a:ln>
        </p:spPr>
      </p:cxnSp>
      <p:sp>
        <p:nvSpPr>
          <p:cNvPr id="608" name="shape608"/>
          <p:cNvSpPr/>
          <p:nvPr/>
        </p:nvSpPr>
        <p:spPr>
          <a:xfrm>
            <a:off x="3520440" y="3374136"/>
            <a:ext cx="8214055" cy="329184"/>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Technology Group</a:t>
            </a:r>
          </a:p>
        </p:txBody>
      </p:sp>
      <p:sp>
        <p:nvSpPr>
          <p:cNvPr id="609" name="shape609"/>
          <p:cNvSpPr/>
          <p:nvPr/>
        </p:nvSpPr>
        <p:spPr>
          <a:xfrm>
            <a:off x="3904488" y="3749040"/>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Platform</a:t>
            </a:r>
          </a:p>
        </p:txBody>
      </p:sp>
      <p:cxnSp>
        <p:nvCxnSpPr>
          <p:cNvPr id="610" name="conn610"/>
          <p:cNvCxnSpPr/>
          <p:nvPr/>
        </p:nvCxnSpPr>
        <p:spPr>
          <a:xfrm>
            <a:off x="3776472" y="3913632"/>
            <a:ext cx="128016" cy="1"/>
          </a:xfrm>
          <a:prstGeom prst="line">
            <a:avLst/>
          </a:prstGeom>
          <a:ln w="6350">
            <a:solidFill>
              <a:srgbClr val="C3C2B7"/>
            </a:solidFill>
          </a:ln>
        </p:spPr>
      </p:cxnSp>
      <p:sp>
        <p:nvSpPr>
          <p:cNvPr id="611" name="shape611"/>
          <p:cNvSpPr/>
          <p:nvPr/>
        </p:nvSpPr>
        <p:spPr>
          <a:xfrm>
            <a:off x="4288536" y="4123944"/>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Integration standards</a:t>
            </a:r>
          </a:p>
        </p:txBody>
      </p:sp>
      <p:cxnSp>
        <p:nvCxnSpPr>
          <p:cNvPr id="612" name="conn612"/>
          <p:cNvCxnSpPr/>
          <p:nvPr/>
        </p:nvCxnSpPr>
        <p:spPr>
          <a:xfrm>
            <a:off x="4160520" y="4288536"/>
            <a:ext cx="128016" cy="1"/>
          </a:xfrm>
          <a:prstGeom prst="line">
            <a:avLst/>
          </a:prstGeom>
          <a:ln w="6350">
            <a:solidFill>
              <a:srgbClr val="C3C2B7"/>
            </a:solidFill>
          </a:ln>
        </p:spPr>
      </p:cxnSp>
      <p:sp>
        <p:nvSpPr>
          <p:cNvPr id="613" name="shape613"/>
          <p:cNvSpPr/>
          <p:nvPr/>
        </p:nvSpPr>
        <p:spPr>
          <a:xfrm>
            <a:off x="3904488" y="4498848"/>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Data Office</a:t>
            </a:r>
          </a:p>
        </p:txBody>
      </p:sp>
      <p:cxnSp>
        <p:nvCxnSpPr>
          <p:cNvPr id="614" name="conn614"/>
          <p:cNvCxnSpPr/>
          <p:nvPr/>
        </p:nvCxnSpPr>
        <p:spPr>
          <a:xfrm>
            <a:off x="3776472" y="4663440"/>
            <a:ext cx="128016" cy="1"/>
          </a:xfrm>
          <a:prstGeom prst="line">
            <a:avLst/>
          </a:prstGeom>
          <a:ln w="6350">
            <a:solidFill>
              <a:srgbClr val="C3C2B7"/>
            </a:solidFill>
          </a:ln>
        </p:spPr>
      </p:cxnSp>
      <p:sp>
        <p:nvSpPr>
          <p:cNvPr id="615" name="shape615"/>
          <p:cNvSpPr/>
          <p:nvPr/>
        </p:nvSpPr>
        <p:spPr>
          <a:xfrm>
            <a:off x="4288536" y="4873752"/>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Retention and privacy — moved here in 2024, never recorded</a:t>
            </a:r>
          </a:p>
        </p:txBody>
      </p:sp>
      <p:cxnSp>
        <p:nvCxnSpPr>
          <p:cNvPr id="616" name="conn616"/>
          <p:cNvCxnSpPr/>
          <p:nvPr/>
        </p:nvCxnSpPr>
        <p:spPr>
          <a:xfrm>
            <a:off x="4160520" y="5038344"/>
            <a:ext cx="128016" cy="1"/>
          </a:xfrm>
          <a:prstGeom prst="line">
            <a:avLst/>
          </a:prstGeom>
          <a:ln w="6350">
            <a:solidFill>
              <a:srgbClr val="C3C2B7"/>
            </a:solidFill>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shape61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10.32  Organisational Modelling</a:t>
            </a:r>
          </a:p>
        </p:txBody>
      </p:sp>
      <p:sp>
        <p:nvSpPr>
          <p:cNvPr id="618" name="shape61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619" name="shape61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620" name="conn620"/>
          <p:cNvCxnSpPr/>
          <p:nvPr/>
        </p:nvCxnSpPr>
        <p:spPr>
          <a:xfrm>
            <a:off x="457200" y="1078992"/>
            <a:ext cx="11277295" cy="1"/>
          </a:xfrm>
          <a:prstGeom prst="line">
            <a:avLst/>
          </a:prstGeom>
          <a:ln w="9525">
            <a:solidFill>
              <a:srgbClr val="D9D8D0"/>
            </a:solidFill>
          </a:ln>
        </p:spPr>
      </p:cxnSp>
      <p:sp>
        <p:nvSpPr>
          <p:cNvPr id="621" name="shape62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622" name="shape62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10.32</a:t>
            </a:r>
          </a:p>
        </p:txBody>
      </p:sp>
      <p:sp>
        <p:nvSpPr>
          <p:cNvPr id="623" name="shape62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624" name="shape62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625" name="shape62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626" name="shape62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Describes the units, roles, reporting lines and interactions that make up an organisation, and where responsibility actually sits.</a:t>
            </a:r>
          </a:p>
        </p:txBody>
      </p:sp>
      <p:sp>
        <p:nvSpPr>
          <p:cNvPr id="627" name="shape62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628" name="shape62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Organisational modelling maps structure and responsibility; a stakeholder map positions people by influence and interest for engagement purposes. Structure versus engagement is the split.</a:t>
            </a:r>
          </a:p>
        </p:txBody>
      </p:sp>
      <p:sp>
        <p:nvSpPr>
          <p:cNvPr id="629" name="shape62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630" name="shape63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3.2 Plan Stakeholder Engagement</a:t>
            </a:r>
          </a:p>
        </p:txBody>
      </p:sp>
      <p:sp>
        <p:nvSpPr>
          <p:cNvPr id="631" name="shape63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Organisational Modelling — blank template</a:t>
            </a:r>
          </a:p>
        </p:txBody>
      </p:sp>
      <p:sp>
        <p:nvSpPr>
          <p:cNvPr id="632" name="shape632"/>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Division    2. Unit    3. Decision right</a:t>
            </a:r>
          </a:p>
        </p:txBody>
      </p:sp>
      <p:sp>
        <p:nvSpPr>
          <p:cNvPr id="633" name="shape633"/>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Division</a:t>
            </a:r>
          </a:p>
        </p:txBody>
      </p:sp>
      <p:sp>
        <p:nvSpPr>
          <p:cNvPr id="634" name="shape634"/>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Unit</a:t>
            </a:r>
          </a:p>
        </p:txBody>
      </p:sp>
      <p:cxnSp>
        <p:nvCxnSpPr>
          <p:cNvPr id="635" name="conn635"/>
          <p:cNvCxnSpPr/>
          <p:nvPr/>
        </p:nvCxnSpPr>
        <p:spPr>
          <a:xfrm>
            <a:off x="3776472" y="2052828"/>
            <a:ext cx="128016" cy="1"/>
          </a:xfrm>
          <a:prstGeom prst="line">
            <a:avLst/>
          </a:prstGeom>
          <a:ln w="6350">
            <a:solidFill>
              <a:srgbClr val="C3C2B7"/>
            </a:solidFill>
          </a:ln>
        </p:spPr>
      </p:cxnSp>
      <p:sp>
        <p:nvSpPr>
          <p:cNvPr id="636" name="shape636"/>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Decision right</a:t>
            </a:r>
          </a:p>
        </p:txBody>
      </p:sp>
      <p:cxnSp>
        <p:nvCxnSpPr>
          <p:cNvPr id="637" name="conn637"/>
          <p:cNvCxnSpPr/>
          <p:nvPr/>
        </p:nvCxnSpPr>
        <p:spPr>
          <a:xfrm>
            <a:off x="4160520" y="2436876"/>
            <a:ext cx="128016" cy="1"/>
          </a:xfrm>
          <a:prstGeom prst="line">
            <a:avLst/>
          </a:prstGeom>
          <a:ln w="6350">
            <a:solidFill>
              <a:srgbClr val="C3C2B7"/>
            </a:solidFill>
          </a:ln>
        </p:spPr>
      </p:cxnSp>
      <p:sp>
        <p:nvSpPr>
          <p:cNvPr id="638" name="shape638"/>
          <p:cNvSpPr/>
          <p:nvPr/>
        </p:nvSpPr>
        <p:spPr>
          <a:xfrm>
            <a:off x="4288536" y="2651760"/>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Decision right</a:t>
            </a:r>
          </a:p>
        </p:txBody>
      </p:sp>
      <p:cxnSp>
        <p:nvCxnSpPr>
          <p:cNvPr id="639" name="conn639"/>
          <p:cNvCxnSpPr/>
          <p:nvPr/>
        </p:nvCxnSpPr>
        <p:spPr>
          <a:xfrm>
            <a:off x="4160520" y="2820924"/>
            <a:ext cx="128016" cy="1"/>
          </a:xfrm>
          <a:prstGeom prst="line">
            <a:avLst/>
          </a:prstGeom>
          <a:ln w="6350">
            <a:solidFill>
              <a:srgbClr val="C3C2B7"/>
            </a:solidFill>
          </a:ln>
        </p:spPr>
      </p:cxnSp>
      <p:sp>
        <p:nvSpPr>
          <p:cNvPr id="640" name="shape640"/>
          <p:cNvSpPr/>
          <p:nvPr/>
        </p:nvSpPr>
        <p:spPr>
          <a:xfrm>
            <a:off x="3904488" y="3035808"/>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Unit</a:t>
            </a:r>
          </a:p>
        </p:txBody>
      </p:sp>
      <p:cxnSp>
        <p:nvCxnSpPr>
          <p:cNvPr id="641" name="conn641"/>
          <p:cNvCxnSpPr/>
          <p:nvPr/>
        </p:nvCxnSpPr>
        <p:spPr>
          <a:xfrm>
            <a:off x="3776472" y="3204972"/>
            <a:ext cx="128016" cy="1"/>
          </a:xfrm>
          <a:prstGeom prst="line">
            <a:avLst/>
          </a:prstGeom>
          <a:ln w="6350">
            <a:solidFill>
              <a:srgbClr val="C3C2B7"/>
            </a:solidFill>
          </a:ln>
        </p:spPr>
      </p:cxnSp>
      <p:sp>
        <p:nvSpPr>
          <p:cNvPr id="642" name="shape642"/>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Decision right</a:t>
            </a:r>
          </a:p>
        </p:txBody>
      </p:sp>
      <p:cxnSp>
        <p:nvCxnSpPr>
          <p:cNvPr id="643" name="conn643"/>
          <p:cNvCxnSpPr/>
          <p:nvPr/>
        </p:nvCxnSpPr>
        <p:spPr>
          <a:xfrm>
            <a:off x="4160520" y="3589020"/>
            <a:ext cx="128016" cy="1"/>
          </a:xfrm>
          <a:prstGeom prst="line">
            <a:avLst/>
          </a:prstGeom>
          <a:ln w="6350">
            <a:solidFill>
              <a:srgbClr val="C3C2B7"/>
            </a:solidFill>
          </a:ln>
        </p:spPr>
      </p:cxnSp>
      <p:sp>
        <p:nvSpPr>
          <p:cNvPr id="644" name="shape644"/>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Decision right</a:t>
            </a:r>
          </a:p>
        </p:txBody>
      </p:sp>
      <p:cxnSp>
        <p:nvCxnSpPr>
          <p:cNvPr id="645" name="conn645"/>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shape64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10.34  Process Analysis</a:t>
            </a:r>
          </a:p>
        </p:txBody>
      </p:sp>
      <p:sp>
        <p:nvSpPr>
          <p:cNvPr id="647" name="shape64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648" name="shape64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649" name="conn649"/>
          <p:cNvCxnSpPr/>
          <p:nvPr/>
        </p:nvCxnSpPr>
        <p:spPr>
          <a:xfrm>
            <a:off x="457200" y="1078992"/>
            <a:ext cx="11277295" cy="1"/>
          </a:xfrm>
          <a:prstGeom prst="line">
            <a:avLst/>
          </a:prstGeom>
          <a:ln w="9525">
            <a:solidFill>
              <a:srgbClr val="D9D8D0"/>
            </a:solidFill>
          </a:ln>
        </p:spPr>
      </p:cxnSp>
      <p:sp>
        <p:nvSpPr>
          <p:cNvPr id="650" name="shape65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651" name="shape65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10.34</a:t>
            </a:r>
          </a:p>
        </p:txBody>
      </p:sp>
      <p:sp>
        <p:nvSpPr>
          <p:cNvPr id="652" name="shape65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653" name="shape65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Examines an existing process for waste, delay, variation and gaps against its intended outcome, and identifies where improvement is available.</a:t>
            </a:r>
          </a:p>
        </p:txBody>
      </p:sp>
      <p:sp>
        <p:nvSpPr>
          <p:cNvPr id="654" name="shape65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655" name="shape65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process is known and the question is what is wrong with it, rather than what it is.</a:t>
            </a:r>
          </a:p>
        </p:txBody>
      </p:sp>
      <p:sp>
        <p:nvSpPr>
          <p:cNvPr id="656" name="shape65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657" name="shape65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Process analysis evaluates a process; process modelling depicts it. If the scenario has no model yet, you cannot analyse it, which is why the ordering matters in exam items.</a:t>
            </a:r>
          </a:p>
        </p:txBody>
      </p:sp>
      <p:sp>
        <p:nvSpPr>
          <p:cNvPr id="658" name="shape65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659" name="shape65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8.5 Recommend Actions to Increase Solution Value · 8.3 Assess Solution Limitations</a:t>
            </a:r>
          </a:p>
        </p:txBody>
      </p:sp>
      <p:sp>
        <p:nvSpPr>
          <p:cNvPr id="660" name="shape66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Development approval, once the end-to-end model existed</a:t>
            </a:r>
          </a:p>
        </p:txBody>
      </p:sp>
      <p:sp>
        <p:nvSpPr>
          <p:cNvPr id="661" name="shape661"/>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Doubling assessor capacity addresses 7 of the 43 days.</a:t>
            </a:r>
          </a:p>
        </p:txBody>
      </p:sp>
      <p:graphicFrame>
        <p:nvGraphicFramePr>
          <p:cNvPr id="662" name="table662"/>
          <p:cNvGraphicFramePr>
            <a:graphicFrameLocks noGrp="1"/>
          </p:cNvGraphicFramePr>
          <p:nvPr/>
        </p:nvGraphicFramePr>
        <p:xfrm>
          <a:off x="3520440" y="1499616"/>
          <a:ext cx="8214055" cy="2688336"/>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Step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Elapsed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Touch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Verdict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Lodgement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20 min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Queue, not work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Referral to services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19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Waiting on 3 parallel referrals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Assessment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6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7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Value-adding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Peer review</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11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Queue; single reviewer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Determination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30 min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Value-adding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Total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43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10.8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Touch time is 3% of elapsed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shape66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10.34  Process Analysis</a:t>
            </a:r>
          </a:p>
        </p:txBody>
      </p:sp>
      <p:sp>
        <p:nvSpPr>
          <p:cNvPr id="664" name="shape66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665" name="shape66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666" name="conn666"/>
          <p:cNvCxnSpPr/>
          <p:nvPr/>
        </p:nvCxnSpPr>
        <p:spPr>
          <a:xfrm>
            <a:off x="457200" y="1078992"/>
            <a:ext cx="11277295" cy="1"/>
          </a:xfrm>
          <a:prstGeom prst="line">
            <a:avLst/>
          </a:prstGeom>
          <a:ln w="9525">
            <a:solidFill>
              <a:srgbClr val="D9D8D0"/>
            </a:solidFill>
          </a:ln>
        </p:spPr>
      </p:cxnSp>
      <p:sp>
        <p:nvSpPr>
          <p:cNvPr id="667" name="shape66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668" name="shape66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10.34</a:t>
            </a:r>
          </a:p>
        </p:txBody>
      </p:sp>
      <p:sp>
        <p:nvSpPr>
          <p:cNvPr id="669" name="shape66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670" name="shape67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step.</a:t>
            </a:r>
          </a:p>
        </p:txBody>
      </p:sp>
      <p:sp>
        <p:nvSpPr>
          <p:cNvPr id="671" name="shape67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672" name="shape67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Examines an existing process for waste, delay, variation and gaps against its intended outcome, and identifies where improvement is available.</a:t>
            </a:r>
          </a:p>
        </p:txBody>
      </p:sp>
      <p:sp>
        <p:nvSpPr>
          <p:cNvPr id="673" name="shape67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674" name="shape67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Process analysis evaluates a process; process modelling depicts it. If the scenario has no model yet, you cannot analyse it, which is why the ordering matters in exam items.</a:t>
            </a:r>
          </a:p>
        </p:txBody>
      </p:sp>
      <p:sp>
        <p:nvSpPr>
          <p:cNvPr id="675" name="shape67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676" name="shape67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8.5 Recommend Actions to Increase Solution Value · 8.3 Assess Solution Limitations</a:t>
            </a:r>
          </a:p>
        </p:txBody>
      </p:sp>
      <p:sp>
        <p:nvSpPr>
          <p:cNvPr id="677" name="shape67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Process Analysis — blank template</a:t>
            </a:r>
          </a:p>
        </p:txBody>
      </p:sp>
      <p:graphicFrame>
        <p:nvGraphicFramePr>
          <p:cNvPr id="678" name="table678"/>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Step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Elapsed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Touch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Verdict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shape67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10.40  Root Cause Analysis</a:t>
            </a:r>
          </a:p>
        </p:txBody>
      </p:sp>
      <p:sp>
        <p:nvSpPr>
          <p:cNvPr id="680" name="shape68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681" name="shape68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682" name="conn682"/>
          <p:cNvCxnSpPr/>
          <p:nvPr/>
        </p:nvCxnSpPr>
        <p:spPr>
          <a:xfrm>
            <a:off x="457200" y="1078992"/>
            <a:ext cx="11277295" cy="1"/>
          </a:xfrm>
          <a:prstGeom prst="line">
            <a:avLst/>
          </a:prstGeom>
          <a:ln w="9525">
            <a:solidFill>
              <a:srgbClr val="D9D8D0"/>
            </a:solidFill>
          </a:ln>
        </p:spPr>
      </p:cxnSp>
      <p:sp>
        <p:nvSpPr>
          <p:cNvPr id="683" name="shape68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684" name="shape68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10.40</a:t>
            </a:r>
          </a:p>
        </p:txBody>
      </p:sp>
      <p:sp>
        <p:nvSpPr>
          <p:cNvPr id="685" name="shape68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686" name="shape68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Traces a problem back past its symptoms to the condition that produces it, using structured questioning or cause-and-effect mapping.</a:t>
            </a:r>
          </a:p>
        </p:txBody>
      </p:sp>
      <p:sp>
        <p:nvSpPr>
          <p:cNvPr id="687" name="shape68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688" name="shape68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fix keeps failing, when the same defect recurs, or when the stated problem is plainly a symptom.</a:t>
            </a:r>
          </a:p>
        </p:txBody>
      </p:sp>
      <p:sp>
        <p:nvSpPr>
          <p:cNvPr id="689" name="shape68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690" name="shape69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Root cause analysis explains why the current state underperforms; it does not design the future state. An item that jumps from a recurring failure to a solution is testing whether you stopped to find the cause.</a:t>
            </a:r>
          </a:p>
        </p:txBody>
      </p:sp>
      <p:sp>
        <p:nvSpPr>
          <p:cNvPr id="691" name="shape69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692" name="shape69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8.3 Assess Solution Limitations · 8.4 Assess Enterprise Limitations</a:t>
            </a:r>
          </a:p>
        </p:txBody>
      </p:sp>
      <p:sp>
        <p:nvSpPr>
          <p:cNvPr id="693" name="shape69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Duplicate invoices, three occurrences, three patches</a:t>
            </a:r>
          </a:p>
        </p:txBody>
      </p:sp>
      <p:sp>
        <p:nvSpPr>
          <p:cNvPr id="694" name="shape694"/>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Symptom    2. Why    3. Why again    4. Root cause</a:t>
            </a:r>
          </a:p>
        </p:txBody>
      </p:sp>
      <p:sp>
        <p:nvSpPr>
          <p:cNvPr id="695" name="shape695"/>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Duplicate invoices issued, 3 times in 18 months</a:t>
            </a:r>
          </a:p>
        </p:txBody>
      </p:sp>
      <p:sp>
        <p:nvSpPr>
          <p:cNvPr id="696" name="shape696"/>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 batch job ran twice</a:t>
            </a:r>
          </a:p>
        </p:txBody>
      </p:sp>
      <p:cxnSp>
        <p:nvCxnSpPr>
          <p:cNvPr id="697" name="conn697"/>
          <p:cNvCxnSpPr/>
          <p:nvPr/>
        </p:nvCxnSpPr>
        <p:spPr>
          <a:xfrm>
            <a:off x="3776472" y="2052828"/>
            <a:ext cx="128016" cy="1"/>
          </a:xfrm>
          <a:prstGeom prst="line">
            <a:avLst/>
          </a:prstGeom>
          <a:ln w="6350">
            <a:solidFill>
              <a:srgbClr val="C3C2B7"/>
            </a:solidFill>
          </a:ln>
        </p:spPr>
      </p:cxnSp>
      <p:sp>
        <p:nvSpPr>
          <p:cNvPr id="698" name="shape698"/>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The job restarted after a timeout</a:t>
            </a:r>
          </a:p>
        </p:txBody>
      </p:sp>
      <p:cxnSp>
        <p:nvCxnSpPr>
          <p:cNvPr id="699" name="conn699"/>
          <p:cNvCxnSpPr/>
          <p:nvPr/>
        </p:nvCxnSpPr>
        <p:spPr>
          <a:xfrm>
            <a:off x="4160520" y="2436876"/>
            <a:ext cx="128016" cy="1"/>
          </a:xfrm>
          <a:prstGeom prst="line">
            <a:avLst/>
          </a:prstGeom>
          <a:ln w="6350">
            <a:solidFill>
              <a:srgbClr val="C3C2B7"/>
            </a:solidFill>
          </a:ln>
        </p:spPr>
      </p:cxnSp>
      <p:sp>
        <p:nvSpPr>
          <p:cNvPr id="700" name="shape700"/>
          <p:cNvSpPr/>
          <p:nvPr/>
        </p:nvSpPr>
        <p:spPr>
          <a:xfrm>
            <a:off x="4672584" y="2651760"/>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Restart is automatic and unconditional</a:t>
            </a:r>
          </a:p>
        </p:txBody>
      </p:sp>
      <p:cxnSp>
        <p:nvCxnSpPr>
          <p:cNvPr id="701" name="conn701"/>
          <p:cNvCxnSpPr/>
          <p:nvPr/>
        </p:nvCxnSpPr>
        <p:spPr>
          <a:xfrm>
            <a:off x="4544568" y="2820924"/>
            <a:ext cx="128016" cy="1"/>
          </a:xfrm>
          <a:prstGeom prst="line">
            <a:avLst/>
          </a:prstGeom>
          <a:ln w="6350">
            <a:solidFill>
              <a:srgbClr val="C3C2B7"/>
            </a:solidFill>
          </a:ln>
        </p:spPr>
      </p:cxnSp>
      <p:sp>
        <p:nvSpPr>
          <p:cNvPr id="702" name="shape702"/>
          <p:cNvSpPr/>
          <p:nvPr/>
        </p:nvSpPr>
        <p:spPr>
          <a:xfrm>
            <a:off x="4672584" y="3035808"/>
            <a:ext cx="706191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No job writes an idempotency key — the shared cause</a:t>
            </a:r>
          </a:p>
        </p:txBody>
      </p:sp>
      <p:cxnSp>
        <p:nvCxnSpPr>
          <p:cNvPr id="703" name="conn703"/>
          <p:cNvCxnSpPr/>
          <p:nvPr/>
        </p:nvCxnSpPr>
        <p:spPr>
          <a:xfrm>
            <a:off x="4544568" y="3204972"/>
            <a:ext cx="128016" cy="1"/>
          </a:xfrm>
          <a:prstGeom prst="line">
            <a:avLst/>
          </a:prstGeom>
          <a:ln w="6350">
            <a:solidFill>
              <a:srgbClr val="C3C2B7"/>
            </a:solidFill>
          </a:ln>
        </p:spPr>
      </p:cxnSp>
      <p:sp>
        <p:nvSpPr>
          <p:cNvPr id="704" name="shape704"/>
          <p:cNvSpPr/>
          <p:nvPr/>
        </p:nvSpPr>
        <p:spPr>
          <a:xfrm>
            <a:off x="3904488" y="3419856"/>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Three different jobs, each patched separately</a:t>
            </a:r>
          </a:p>
        </p:txBody>
      </p:sp>
      <p:cxnSp>
        <p:nvCxnSpPr>
          <p:cNvPr id="705" name="conn705"/>
          <p:cNvCxnSpPr/>
          <p:nvPr/>
        </p:nvCxnSpPr>
        <p:spPr>
          <a:xfrm>
            <a:off x="3776472" y="3589020"/>
            <a:ext cx="128016" cy="1"/>
          </a:xfrm>
          <a:prstGeom prst="line">
            <a:avLst/>
          </a:prstGeom>
          <a:ln w="6350">
            <a:solidFill>
              <a:srgbClr val="C3C2B7"/>
            </a:solidFill>
          </a:ln>
        </p:spPr>
      </p:cxnSp>
      <p:sp>
        <p:nvSpPr>
          <p:cNvPr id="706" name="shape706"/>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No standard for restart safety across batch</a:t>
            </a:r>
          </a:p>
        </p:txBody>
      </p:sp>
      <p:cxnSp>
        <p:nvCxnSpPr>
          <p:cNvPr id="707" name="conn707"/>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shape70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10.40  Root Cause Analysis</a:t>
            </a:r>
          </a:p>
        </p:txBody>
      </p:sp>
      <p:sp>
        <p:nvSpPr>
          <p:cNvPr id="709" name="shape70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710" name="shape71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711" name="conn711"/>
          <p:cNvCxnSpPr/>
          <p:nvPr/>
        </p:nvCxnSpPr>
        <p:spPr>
          <a:xfrm>
            <a:off x="457200" y="1078992"/>
            <a:ext cx="11277295" cy="1"/>
          </a:xfrm>
          <a:prstGeom prst="line">
            <a:avLst/>
          </a:prstGeom>
          <a:ln w="9525">
            <a:solidFill>
              <a:srgbClr val="D9D8D0"/>
            </a:solidFill>
          </a:ln>
        </p:spPr>
      </p:cxnSp>
      <p:sp>
        <p:nvSpPr>
          <p:cNvPr id="712" name="shape71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713" name="shape71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10.40</a:t>
            </a:r>
          </a:p>
        </p:txBody>
      </p:sp>
      <p:sp>
        <p:nvSpPr>
          <p:cNvPr id="714" name="shape71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715" name="shape71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716" name="shape71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717" name="shape71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Traces a problem back past its symptoms to the condition that produces it, using structured questioning or cause-and-effect mapping.</a:t>
            </a:r>
          </a:p>
        </p:txBody>
      </p:sp>
      <p:sp>
        <p:nvSpPr>
          <p:cNvPr id="718" name="shape71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719" name="shape71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Root cause analysis explains why the current state underperforms; it does not design the future state. An item that jumps from a recurring failure to a solution is testing whether you stopped to find the cause.</a:t>
            </a:r>
          </a:p>
        </p:txBody>
      </p:sp>
      <p:sp>
        <p:nvSpPr>
          <p:cNvPr id="720" name="shape72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721" name="shape72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8.3 Assess Solution Limitations · 8.4 Assess Enterprise Limitations</a:t>
            </a:r>
          </a:p>
        </p:txBody>
      </p:sp>
      <p:sp>
        <p:nvSpPr>
          <p:cNvPr id="722" name="shape72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Root Cause Analysis — blank template</a:t>
            </a:r>
          </a:p>
        </p:txBody>
      </p:sp>
      <p:sp>
        <p:nvSpPr>
          <p:cNvPr id="723" name="shape723"/>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Symptom    2. Why    3. Why again    4. Root cause</a:t>
            </a:r>
          </a:p>
        </p:txBody>
      </p:sp>
      <p:sp>
        <p:nvSpPr>
          <p:cNvPr id="724" name="shape724"/>
          <p:cNvSpPr/>
          <p:nvPr/>
        </p:nvSpPr>
        <p:spPr>
          <a:xfrm>
            <a:off x="3520440" y="1499616"/>
            <a:ext cx="8214055" cy="204216"/>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Symptom</a:t>
            </a:r>
          </a:p>
        </p:txBody>
      </p:sp>
      <p:sp>
        <p:nvSpPr>
          <p:cNvPr id="725" name="shape725"/>
          <p:cNvSpPr/>
          <p:nvPr/>
        </p:nvSpPr>
        <p:spPr>
          <a:xfrm>
            <a:off x="3904488" y="1749552"/>
            <a:ext cx="7830007"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a:t>
            </a:r>
          </a:p>
        </p:txBody>
      </p:sp>
      <p:cxnSp>
        <p:nvCxnSpPr>
          <p:cNvPr id="726" name="conn726"/>
          <p:cNvCxnSpPr/>
          <p:nvPr/>
        </p:nvCxnSpPr>
        <p:spPr>
          <a:xfrm>
            <a:off x="3776472" y="1851660"/>
            <a:ext cx="128016" cy="1"/>
          </a:xfrm>
          <a:prstGeom prst="line">
            <a:avLst/>
          </a:prstGeom>
          <a:ln w="6350">
            <a:solidFill>
              <a:srgbClr val="C3C2B7"/>
            </a:solidFill>
          </a:ln>
        </p:spPr>
      </p:cxnSp>
      <p:sp>
        <p:nvSpPr>
          <p:cNvPr id="727" name="shape727"/>
          <p:cNvSpPr/>
          <p:nvPr/>
        </p:nvSpPr>
        <p:spPr>
          <a:xfrm>
            <a:off x="4288536" y="1999488"/>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again</a:t>
            </a:r>
          </a:p>
        </p:txBody>
      </p:sp>
      <p:cxnSp>
        <p:nvCxnSpPr>
          <p:cNvPr id="728" name="conn728"/>
          <p:cNvCxnSpPr/>
          <p:nvPr/>
        </p:nvCxnSpPr>
        <p:spPr>
          <a:xfrm>
            <a:off x="4160520" y="2101596"/>
            <a:ext cx="128016" cy="1"/>
          </a:xfrm>
          <a:prstGeom prst="line">
            <a:avLst/>
          </a:prstGeom>
          <a:ln w="6350">
            <a:solidFill>
              <a:srgbClr val="C3C2B7"/>
            </a:solidFill>
          </a:ln>
        </p:spPr>
      </p:cxnSp>
      <p:sp>
        <p:nvSpPr>
          <p:cNvPr id="729" name="shape729"/>
          <p:cNvSpPr/>
          <p:nvPr/>
        </p:nvSpPr>
        <p:spPr>
          <a:xfrm>
            <a:off x="4672584" y="2249424"/>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30" name="conn730"/>
          <p:cNvCxnSpPr/>
          <p:nvPr/>
        </p:nvCxnSpPr>
        <p:spPr>
          <a:xfrm>
            <a:off x="4544568" y="2351532"/>
            <a:ext cx="128016" cy="1"/>
          </a:xfrm>
          <a:prstGeom prst="line">
            <a:avLst/>
          </a:prstGeom>
          <a:ln w="6350">
            <a:solidFill>
              <a:srgbClr val="C3C2B7"/>
            </a:solidFill>
          </a:ln>
        </p:spPr>
      </p:cxnSp>
      <p:sp>
        <p:nvSpPr>
          <p:cNvPr id="731" name="shape731"/>
          <p:cNvSpPr/>
          <p:nvPr/>
        </p:nvSpPr>
        <p:spPr>
          <a:xfrm>
            <a:off x="4672584" y="2499360"/>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32" name="conn732"/>
          <p:cNvCxnSpPr/>
          <p:nvPr/>
        </p:nvCxnSpPr>
        <p:spPr>
          <a:xfrm>
            <a:off x="4544568" y="2601468"/>
            <a:ext cx="128016" cy="1"/>
          </a:xfrm>
          <a:prstGeom prst="line">
            <a:avLst/>
          </a:prstGeom>
          <a:ln w="6350">
            <a:solidFill>
              <a:srgbClr val="C3C2B7"/>
            </a:solidFill>
          </a:ln>
        </p:spPr>
      </p:cxnSp>
      <p:sp>
        <p:nvSpPr>
          <p:cNvPr id="733" name="shape733"/>
          <p:cNvSpPr/>
          <p:nvPr/>
        </p:nvSpPr>
        <p:spPr>
          <a:xfrm>
            <a:off x="4288536" y="2749296"/>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again</a:t>
            </a:r>
          </a:p>
        </p:txBody>
      </p:sp>
      <p:cxnSp>
        <p:nvCxnSpPr>
          <p:cNvPr id="734" name="conn734"/>
          <p:cNvCxnSpPr/>
          <p:nvPr/>
        </p:nvCxnSpPr>
        <p:spPr>
          <a:xfrm>
            <a:off x="4160520" y="2851404"/>
            <a:ext cx="128016" cy="1"/>
          </a:xfrm>
          <a:prstGeom prst="line">
            <a:avLst/>
          </a:prstGeom>
          <a:ln w="6350">
            <a:solidFill>
              <a:srgbClr val="C3C2B7"/>
            </a:solidFill>
          </a:ln>
        </p:spPr>
      </p:cxnSp>
      <p:sp>
        <p:nvSpPr>
          <p:cNvPr id="735" name="shape735"/>
          <p:cNvSpPr/>
          <p:nvPr/>
        </p:nvSpPr>
        <p:spPr>
          <a:xfrm>
            <a:off x="4672584" y="2999232"/>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36" name="conn736"/>
          <p:cNvCxnSpPr/>
          <p:nvPr/>
        </p:nvCxnSpPr>
        <p:spPr>
          <a:xfrm>
            <a:off x="4544568" y="3101340"/>
            <a:ext cx="128016" cy="1"/>
          </a:xfrm>
          <a:prstGeom prst="line">
            <a:avLst/>
          </a:prstGeom>
          <a:ln w="6350">
            <a:solidFill>
              <a:srgbClr val="C3C2B7"/>
            </a:solidFill>
          </a:ln>
        </p:spPr>
      </p:cxnSp>
      <p:sp>
        <p:nvSpPr>
          <p:cNvPr id="737" name="shape737"/>
          <p:cNvSpPr/>
          <p:nvPr/>
        </p:nvSpPr>
        <p:spPr>
          <a:xfrm>
            <a:off x="4672584" y="3249168"/>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38" name="conn738"/>
          <p:cNvCxnSpPr/>
          <p:nvPr/>
        </p:nvCxnSpPr>
        <p:spPr>
          <a:xfrm>
            <a:off x="4544568" y="3351276"/>
            <a:ext cx="128016" cy="1"/>
          </a:xfrm>
          <a:prstGeom prst="line">
            <a:avLst/>
          </a:prstGeom>
          <a:ln w="6350">
            <a:solidFill>
              <a:srgbClr val="C3C2B7"/>
            </a:solidFill>
          </a:ln>
        </p:spPr>
      </p:cxnSp>
      <p:sp>
        <p:nvSpPr>
          <p:cNvPr id="739" name="shape739"/>
          <p:cNvSpPr/>
          <p:nvPr/>
        </p:nvSpPr>
        <p:spPr>
          <a:xfrm>
            <a:off x="3904488" y="3499104"/>
            <a:ext cx="7830007"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a:t>
            </a:r>
          </a:p>
        </p:txBody>
      </p:sp>
      <p:cxnSp>
        <p:nvCxnSpPr>
          <p:cNvPr id="740" name="conn740"/>
          <p:cNvCxnSpPr/>
          <p:nvPr/>
        </p:nvCxnSpPr>
        <p:spPr>
          <a:xfrm>
            <a:off x="3776472" y="3601212"/>
            <a:ext cx="128016" cy="1"/>
          </a:xfrm>
          <a:prstGeom prst="line">
            <a:avLst/>
          </a:prstGeom>
          <a:ln w="6350">
            <a:solidFill>
              <a:srgbClr val="C3C2B7"/>
            </a:solidFill>
          </a:ln>
        </p:spPr>
      </p:cxnSp>
      <p:sp>
        <p:nvSpPr>
          <p:cNvPr id="741" name="shape741"/>
          <p:cNvSpPr/>
          <p:nvPr/>
        </p:nvSpPr>
        <p:spPr>
          <a:xfrm>
            <a:off x="4288536" y="3749040"/>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again</a:t>
            </a:r>
          </a:p>
        </p:txBody>
      </p:sp>
      <p:cxnSp>
        <p:nvCxnSpPr>
          <p:cNvPr id="742" name="conn742"/>
          <p:cNvCxnSpPr/>
          <p:nvPr/>
        </p:nvCxnSpPr>
        <p:spPr>
          <a:xfrm>
            <a:off x="4160520" y="3851148"/>
            <a:ext cx="128016" cy="1"/>
          </a:xfrm>
          <a:prstGeom prst="line">
            <a:avLst/>
          </a:prstGeom>
          <a:ln w="6350">
            <a:solidFill>
              <a:srgbClr val="C3C2B7"/>
            </a:solidFill>
          </a:ln>
        </p:spPr>
      </p:cxnSp>
      <p:sp>
        <p:nvSpPr>
          <p:cNvPr id="743" name="shape743"/>
          <p:cNvSpPr/>
          <p:nvPr/>
        </p:nvSpPr>
        <p:spPr>
          <a:xfrm>
            <a:off x="4672584" y="3998976"/>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44" name="conn744"/>
          <p:cNvCxnSpPr/>
          <p:nvPr/>
        </p:nvCxnSpPr>
        <p:spPr>
          <a:xfrm>
            <a:off x="4544568" y="4101084"/>
            <a:ext cx="128016" cy="1"/>
          </a:xfrm>
          <a:prstGeom prst="line">
            <a:avLst/>
          </a:prstGeom>
          <a:ln w="6350">
            <a:solidFill>
              <a:srgbClr val="C3C2B7"/>
            </a:solidFill>
          </a:ln>
        </p:spPr>
      </p:cxnSp>
      <p:sp>
        <p:nvSpPr>
          <p:cNvPr id="745" name="shape745"/>
          <p:cNvSpPr/>
          <p:nvPr/>
        </p:nvSpPr>
        <p:spPr>
          <a:xfrm>
            <a:off x="4672584" y="4248912"/>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46" name="conn746"/>
          <p:cNvCxnSpPr/>
          <p:nvPr/>
        </p:nvCxnSpPr>
        <p:spPr>
          <a:xfrm>
            <a:off x="4544568" y="4351020"/>
            <a:ext cx="128016" cy="1"/>
          </a:xfrm>
          <a:prstGeom prst="line">
            <a:avLst/>
          </a:prstGeom>
          <a:ln w="6350">
            <a:solidFill>
              <a:srgbClr val="C3C2B7"/>
            </a:solidFill>
          </a:ln>
        </p:spPr>
      </p:cxnSp>
      <p:sp>
        <p:nvSpPr>
          <p:cNvPr id="747" name="shape747"/>
          <p:cNvSpPr/>
          <p:nvPr/>
        </p:nvSpPr>
        <p:spPr>
          <a:xfrm>
            <a:off x="4288536" y="4498848"/>
            <a:ext cx="7445959"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again</a:t>
            </a:r>
          </a:p>
        </p:txBody>
      </p:sp>
      <p:cxnSp>
        <p:nvCxnSpPr>
          <p:cNvPr id="748" name="conn748"/>
          <p:cNvCxnSpPr/>
          <p:nvPr/>
        </p:nvCxnSpPr>
        <p:spPr>
          <a:xfrm>
            <a:off x="4160520" y="4600956"/>
            <a:ext cx="128016" cy="1"/>
          </a:xfrm>
          <a:prstGeom prst="line">
            <a:avLst/>
          </a:prstGeom>
          <a:ln w="6350">
            <a:solidFill>
              <a:srgbClr val="C3C2B7"/>
            </a:solidFill>
          </a:ln>
        </p:spPr>
      </p:cxnSp>
      <p:sp>
        <p:nvSpPr>
          <p:cNvPr id="749" name="shape749"/>
          <p:cNvSpPr/>
          <p:nvPr/>
        </p:nvSpPr>
        <p:spPr>
          <a:xfrm>
            <a:off x="4672584" y="4748784"/>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50" name="conn750"/>
          <p:cNvCxnSpPr/>
          <p:nvPr/>
        </p:nvCxnSpPr>
        <p:spPr>
          <a:xfrm>
            <a:off x="4544568" y="4850892"/>
            <a:ext cx="128016" cy="1"/>
          </a:xfrm>
          <a:prstGeom prst="line">
            <a:avLst/>
          </a:prstGeom>
          <a:ln w="6350">
            <a:solidFill>
              <a:srgbClr val="C3C2B7"/>
            </a:solidFill>
          </a:ln>
        </p:spPr>
      </p:cxnSp>
      <p:sp>
        <p:nvSpPr>
          <p:cNvPr id="751" name="shape751"/>
          <p:cNvSpPr/>
          <p:nvPr/>
        </p:nvSpPr>
        <p:spPr>
          <a:xfrm>
            <a:off x="4672584" y="4998720"/>
            <a:ext cx="7061911" cy="204216"/>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Root cause</a:t>
            </a:r>
          </a:p>
        </p:txBody>
      </p:sp>
      <p:cxnSp>
        <p:nvCxnSpPr>
          <p:cNvPr id="752" name="conn752"/>
          <p:cNvCxnSpPr/>
          <p:nvPr/>
        </p:nvCxnSpPr>
        <p:spPr>
          <a:xfrm>
            <a:off x="4544568" y="5100828"/>
            <a:ext cx="128016" cy="1"/>
          </a:xfrm>
          <a:prstGeom prst="line">
            <a:avLst/>
          </a:prstGeom>
          <a:ln w="6350">
            <a:solidFill>
              <a:srgbClr val="C3C2B7"/>
            </a:solidFill>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shape75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10.46  SWOT Analysis</a:t>
            </a:r>
          </a:p>
        </p:txBody>
      </p:sp>
      <p:sp>
        <p:nvSpPr>
          <p:cNvPr id="754" name="shape75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755" name="shape75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756" name="conn756"/>
          <p:cNvCxnSpPr/>
          <p:nvPr/>
        </p:nvCxnSpPr>
        <p:spPr>
          <a:xfrm>
            <a:off x="457200" y="1078992"/>
            <a:ext cx="11277295" cy="1"/>
          </a:xfrm>
          <a:prstGeom prst="line">
            <a:avLst/>
          </a:prstGeom>
          <a:ln w="9525">
            <a:solidFill>
              <a:srgbClr val="D9D8D0"/>
            </a:solidFill>
          </a:ln>
        </p:spPr>
      </p:cxnSp>
      <p:sp>
        <p:nvSpPr>
          <p:cNvPr id="757" name="shape75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758" name="shape75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10.46</a:t>
            </a:r>
          </a:p>
        </p:txBody>
      </p:sp>
      <p:sp>
        <p:nvSpPr>
          <p:cNvPr id="759" name="shape75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760" name="shape76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Sorts internal strengths and weaknesses against external opportunities and threats to read the organisation's position.</a:t>
            </a:r>
          </a:p>
        </p:txBody>
      </p:sp>
      <p:sp>
        <p:nvSpPr>
          <p:cNvPr id="761" name="shape76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762" name="shape76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early in strategy analysis, when the case for change has to be located in the organisation's actual position.</a:t>
            </a:r>
          </a:p>
        </p:txBody>
      </p:sp>
      <p:sp>
        <p:nvSpPr>
          <p:cNvPr id="763" name="shape76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764" name="shape76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axis that trips people is internal versus external. A capability the organisation lacks is a weakness, not a threat; a competitor exploiting that lack is the threat.</a:t>
            </a:r>
          </a:p>
        </p:txBody>
      </p:sp>
      <p:sp>
        <p:nvSpPr>
          <p:cNvPr id="765" name="shape76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766" name="shape76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6.4 Define Change Strategy</a:t>
            </a:r>
          </a:p>
        </p:txBody>
      </p:sp>
      <p:sp>
        <p:nvSpPr>
          <p:cNvPr id="767" name="shape76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Regional airline, with the three misplaced entries corrected</a:t>
            </a:r>
          </a:p>
        </p:txBody>
      </p:sp>
      <p:sp>
        <p:nvSpPr>
          <p:cNvPr id="768" name="shape768"/>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Lacking a capability is a weakness. A competitor exploiting that lack is the threat.</a:t>
            </a:r>
          </a:p>
        </p:txBody>
      </p:sp>
      <p:sp>
        <p:nvSpPr>
          <p:cNvPr id="769" name="shape769"/>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Nature →</a:t>
            </a:r>
          </a:p>
        </p:txBody>
      </p:sp>
      <p:sp>
        <p:nvSpPr>
          <p:cNvPr id="770" name="shape770"/>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Helpful</a:t>
            </a:r>
          </a:p>
        </p:txBody>
      </p:sp>
      <p:sp>
        <p:nvSpPr>
          <p:cNvPr id="771" name="shape771"/>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Harmful</a:t>
            </a:r>
          </a:p>
        </p:txBody>
      </p:sp>
      <p:sp>
        <p:nvSpPr>
          <p:cNvPr id="772" name="shape772"/>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Internal</a:t>
            </a:r>
          </a:p>
        </p:txBody>
      </p:sp>
      <p:sp>
        <p:nvSpPr>
          <p:cNvPr id="773" name="shape773"/>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STRENGTHS</a:t>
            </a:r>
          </a:p>
          <a:p>
            <a:pPr algn="l"/>
            <a:r>
              <a:rPr lang="en-AU" sz="850" dirty="0">
                <a:solidFill>
                  <a:srgbClr val="0B0B0B"/>
                </a:solidFill>
                <a:latin typeface="Aptos"/>
              </a:rPr>
              <a:t>• Strong regional brand recognition</a:t>
            </a:r>
          </a:p>
          <a:p>
            <a:pPr algn="l"/>
            <a:r>
              <a:rPr lang="en-AU" sz="850" dirty="0">
                <a:solidFill>
                  <a:srgbClr val="0B0B0B"/>
                </a:solidFill>
                <a:latin typeface="Aptos"/>
              </a:rPr>
              <a:t>• Slot holdings at two capital airports</a:t>
            </a:r>
          </a:p>
        </p:txBody>
      </p:sp>
      <p:sp>
        <p:nvSpPr>
          <p:cNvPr id="774" name="shape774"/>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WEAKNESSES</a:t>
            </a:r>
          </a:p>
          <a:p>
            <a:pPr algn="l"/>
            <a:r>
              <a:rPr lang="en-AU" sz="850" dirty="0">
                <a:solidFill>
                  <a:srgbClr val="0B0B0B"/>
                </a:solidFill>
                <a:latin typeface="Aptos"/>
              </a:rPr>
              <a:t>• No digital booking capability</a:t>
            </a:r>
          </a:p>
          <a:p>
            <a:pPr algn="l"/>
            <a:r>
              <a:rPr lang="en-AU" sz="850" dirty="0">
                <a:solidFill>
                  <a:srgbClr val="0B0B0B"/>
                </a:solidFill>
                <a:latin typeface="Aptos"/>
              </a:rPr>
              <a:t>• Ageing fleet, high maintenance cost</a:t>
            </a:r>
          </a:p>
        </p:txBody>
      </p:sp>
      <p:sp>
        <p:nvSpPr>
          <p:cNvPr id="775" name="shape775"/>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External</a:t>
            </a:r>
          </a:p>
        </p:txBody>
      </p:sp>
      <p:sp>
        <p:nvSpPr>
          <p:cNvPr id="776" name="shape776"/>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OPPORTUNITIES</a:t>
            </a:r>
          </a:p>
          <a:p>
            <a:pPr algn="l"/>
            <a:r>
              <a:rPr lang="en-AU" sz="850" dirty="0">
                <a:solidFill>
                  <a:srgbClr val="0B0B0B"/>
                </a:solidFill>
                <a:latin typeface="Aptos"/>
              </a:rPr>
              <a:t>• Regional route subsidies extended to 2029</a:t>
            </a:r>
          </a:p>
        </p:txBody>
      </p:sp>
      <p:sp>
        <p:nvSpPr>
          <p:cNvPr id="777" name="shape777"/>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THREATS</a:t>
            </a:r>
          </a:p>
          <a:p>
            <a:pPr algn="l"/>
            <a:r>
              <a:rPr lang="en-AU" sz="850" dirty="0">
                <a:solidFill>
                  <a:srgbClr val="0B0B0B"/>
                </a:solidFill>
                <a:latin typeface="Aptos"/>
              </a:rPr>
              <a:t>• Competitor launching direct routes</a:t>
            </a:r>
          </a:p>
        </p:txBody>
      </p:sp>
      <p:sp>
        <p:nvSpPr>
          <p:cNvPr id="778" name="shape778"/>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Origin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 name="shape77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10.46  SWOT Analysis</a:t>
            </a:r>
          </a:p>
        </p:txBody>
      </p:sp>
      <p:sp>
        <p:nvSpPr>
          <p:cNvPr id="780" name="shape78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Strategy and discovery</a:t>
            </a:r>
          </a:p>
        </p:txBody>
      </p:sp>
      <p:sp>
        <p:nvSpPr>
          <p:cNvPr id="781" name="shape781"/>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782" name="conn782"/>
          <p:cNvCxnSpPr/>
          <p:nvPr/>
        </p:nvCxnSpPr>
        <p:spPr>
          <a:xfrm>
            <a:off x="457200" y="1078992"/>
            <a:ext cx="11277295" cy="1"/>
          </a:xfrm>
          <a:prstGeom prst="line">
            <a:avLst/>
          </a:prstGeom>
          <a:ln w="9525">
            <a:solidFill>
              <a:srgbClr val="D9D8D0"/>
            </a:solidFill>
          </a:ln>
        </p:spPr>
      </p:cxnSp>
      <p:sp>
        <p:nvSpPr>
          <p:cNvPr id="783" name="shape78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784" name="shape78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10.46</a:t>
            </a:r>
          </a:p>
        </p:txBody>
      </p:sp>
      <p:sp>
        <p:nvSpPr>
          <p:cNvPr id="785" name="shape78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786" name="shape786"/>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787" name="shape787"/>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788" name="shape788"/>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Sorts internal strengths and weaknesses against external opportunities and threats to read the organisation's position.</a:t>
            </a:r>
          </a:p>
        </p:txBody>
      </p:sp>
      <p:sp>
        <p:nvSpPr>
          <p:cNvPr id="789" name="shape789"/>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790" name="shape790"/>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axis that trips people is internal versus external. A capability the organisation lacks is a weakness, not a threat; a competitor exploiting that lack is the threat.</a:t>
            </a:r>
          </a:p>
        </p:txBody>
      </p:sp>
      <p:sp>
        <p:nvSpPr>
          <p:cNvPr id="791" name="shape791"/>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792" name="shape792"/>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6.1 Analyze Current State · 6.2 Define Future State · 6.4 Define Change Strategy</a:t>
            </a:r>
          </a:p>
        </p:txBody>
      </p:sp>
      <p:sp>
        <p:nvSpPr>
          <p:cNvPr id="793" name="shape79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SWOT Analysis — blank template</a:t>
            </a:r>
          </a:p>
        </p:txBody>
      </p:sp>
      <p:sp>
        <p:nvSpPr>
          <p:cNvPr id="794" name="shape794"/>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Nature →</a:t>
            </a:r>
          </a:p>
        </p:txBody>
      </p:sp>
      <p:sp>
        <p:nvSpPr>
          <p:cNvPr id="795" name="shape795"/>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Helpful</a:t>
            </a:r>
          </a:p>
        </p:txBody>
      </p:sp>
      <p:sp>
        <p:nvSpPr>
          <p:cNvPr id="796" name="shape796"/>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Harmful</a:t>
            </a:r>
          </a:p>
        </p:txBody>
      </p:sp>
      <p:sp>
        <p:nvSpPr>
          <p:cNvPr id="797" name="shape797"/>
          <p:cNvSpPr/>
          <p:nvPr/>
        </p:nvSpPr>
        <p:spPr>
          <a:xfrm>
            <a:off x="3520440" y="20025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Internal</a:t>
            </a:r>
          </a:p>
        </p:txBody>
      </p:sp>
      <p:sp>
        <p:nvSpPr>
          <p:cNvPr id="798" name="shape798"/>
          <p:cNvSpPr/>
          <p:nvPr/>
        </p:nvSpPr>
        <p:spPr>
          <a:xfrm>
            <a:off x="4928616"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STRENGTHS</a:t>
            </a:r>
          </a:p>
        </p:txBody>
      </p:sp>
      <p:sp>
        <p:nvSpPr>
          <p:cNvPr id="799" name="shape799"/>
          <p:cNvSpPr/>
          <p:nvPr/>
        </p:nvSpPr>
        <p:spPr>
          <a:xfrm>
            <a:off x="8349844" y="20025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WEAKNESSES</a:t>
            </a:r>
          </a:p>
        </p:txBody>
      </p:sp>
      <p:sp>
        <p:nvSpPr>
          <p:cNvPr id="800" name="shape800"/>
          <p:cNvSpPr/>
          <p:nvPr/>
        </p:nvSpPr>
        <p:spPr>
          <a:xfrm>
            <a:off x="3520440" y="3374136"/>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External</a:t>
            </a:r>
          </a:p>
        </p:txBody>
      </p:sp>
      <p:sp>
        <p:nvSpPr>
          <p:cNvPr id="801" name="shape801"/>
          <p:cNvSpPr/>
          <p:nvPr/>
        </p:nvSpPr>
        <p:spPr>
          <a:xfrm>
            <a:off x="4928616"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OPPORTUNITIES</a:t>
            </a:r>
          </a:p>
        </p:txBody>
      </p:sp>
      <p:sp>
        <p:nvSpPr>
          <p:cNvPr id="802" name="shape802"/>
          <p:cNvSpPr/>
          <p:nvPr/>
        </p:nvSpPr>
        <p:spPr>
          <a:xfrm>
            <a:off x="8349844" y="3374136"/>
            <a:ext cx="334807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THREATS</a:t>
            </a:r>
          </a:p>
        </p:txBody>
      </p:sp>
      <p:sp>
        <p:nvSpPr>
          <p:cNvPr id="803" name="shape803"/>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Origin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shape80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10.5  Brainstorming</a:t>
            </a:r>
          </a:p>
        </p:txBody>
      </p:sp>
      <p:sp>
        <p:nvSpPr>
          <p:cNvPr id="805" name="shape80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806" name="shape80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807" name="conn807"/>
          <p:cNvCxnSpPr/>
          <p:nvPr/>
        </p:nvCxnSpPr>
        <p:spPr>
          <a:xfrm>
            <a:off x="457200" y="1078992"/>
            <a:ext cx="11277295" cy="1"/>
          </a:xfrm>
          <a:prstGeom prst="line">
            <a:avLst/>
          </a:prstGeom>
          <a:ln w="9525">
            <a:solidFill>
              <a:srgbClr val="D9D8D0"/>
            </a:solidFill>
          </a:ln>
        </p:spPr>
      </p:cxnSp>
      <p:sp>
        <p:nvSpPr>
          <p:cNvPr id="808" name="shape80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09" name="shape80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10.5</a:t>
            </a:r>
          </a:p>
        </p:txBody>
      </p:sp>
      <p:sp>
        <p:nvSpPr>
          <p:cNvPr id="810" name="shape81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11" name="shape81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Generates a wide field of ideas quickly by separating generation from judgement.</a:t>
            </a:r>
          </a:p>
        </p:txBody>
      </p:sp>
      <p:sp>
        <p:nvSpPr>
          <p:cNvPr id="812" name="shape81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813" name="shape81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problem is that too few options are on the table, and the group has the knowledge but has not yet been asked the open question.</a:t>
            </a:r>
          </a:p>
        </p:txBody>
      </p:sp>
      <p:sp>
        <p:nvSpPr>
          <p:cNvPr id="814" name="shape81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815" name="shape81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Brainstorming diverges; decision analysis and prioritisation converge. If the scenario already has plenty of options and needs to pick one, brainstorming is the wrong tool no matter how collaborative the setting sounds.</a:t>
            </a:r>
          </a:p>
        </p:txBody>
      </p:sp>
      <p:sp>
        <p:nvSpPr>
          <p:cNvPr id="816" name="shape81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817" name="shape81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6.3 Assess Risks · 7.5 Define Design Options</a:t>
            </a:r>
          </a:p>
        </p:txBody>
      </p:sp>
      <p:sp>
        <p:nvSpPr>
          <p:cNvPr id="818" name="shape81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Widening the option set for late withdrawals</a:t>
            </a:r>
          </a:p>
        </p:txBody>
      </p:sp>
      <p:sp>
        <p:nvSpPr>
          <p:cNvPr id="819" name="shape819"/>
          <p:cNvSpPr/>
          <p:nvPr/>
        </p:nvSpPr>
        <p:spPr>
          <a:xfrm>
            <a:off x="3520440"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1</a:t>
            </a:r>
          </a:p>
          <a:p>
            <a:pPr algn="l"/>
            <a:r>
              <a:rPr lang="en-AU" sz="950" b="1" dirty="0">
                <a:solidFill>
                  <a:srgbClr val="0B0B0B"/>
                </a:solidFill>
                <a:latin typeface="Aptos"/>
              </a:rPr>
              <a:t>Diverge, 12 minutes</a:t>
            </a:r>
          </a:p>
          <a:p>
            <a:pPr algn="l"/>
            <a:r>
              <a:rPr lang="en-AU" sz="800" dirty="0">
                <a:solidFill>
                  <a:srgbClr val="6B6A66"/>
                </a:solidFill>
                <a:latin typeface="Aptos"/>
              </a:rPr>
              <a:t>41 ideas, no discussion, no evaluation</a:t>
            </a:r>
          </a:p>
        </p:txBody>
      </p:sp>
      <p:cxnSp>
        <p:nvCxnSpPr>
          <p:cNvPr id="820" name="conn820"/>
          <p:cNvCxnSpPr/>
          <p:nvPr/>
        </p:nvCxnSpPr>
        <p:spPr>
          <a:xfrm>
            <a:off x="6142634" y="2185416"/>
            <a:ext cx="164592" cy="1"/>
          </a:xfrm>
          <a:prstGeom prst="line">
            <a:avLst/>
          </a:prstGeom>
          <a:ln w="12700">
            <a:solidFill>
              <a:srgbClr val="C3C2B7"/>
            </a:solidFill>
            <a:tailEnd type="triangle" w="med" len="med"/>
          </a:ln>
        </p:spPr>
      </p:cxnSp>
      <p:sp>
        <p:nvSpPr>
          <p:cNvPr id="821" name="shape821"/>
          <p:cNvSpPr/>
          <p:nvPr/>
        </p:nvSpPr>
        <p:spPr>
          <a:xfrm>
            <a:off x="6325514"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2</a:t>
            </a:r>
          </a:p>
          <a:p>
            <a:pPr algn="l"/>
            <a:r>
              <a:rPr lang="en-AU" sz="950" b="1" dirty="0">
                <a:solidFill>
                  <a:srgbClr val="0B0B0B"/>
                </a:solidFill>
                <a:latin typeface="Aptos"/>
              </a:rPr>
              <a:t>Cluster</a:t>
            </a:r>
          </a:p>
          <a:p>
            <a:pPr algn="l"/>
            <a:r>
              <a:rPr lang="en-AU" sz="800" dirty="0">
                <a:solidFill>
                  <a:srgbClr val="6B6A66"/>
                </a:solidFill>
                <a:latin typeface="Aptos"/>
              </a:rPr>
              <a:t>41 ideas collapse to 9 distinct approaches</a:t>
            </a:r>
          </a:p>
        </p:txBody>
      </p:sp>
      <p:cxnSp>
        <p:nvCxnSpPr>
          <p:cNvPr id="822" name="conn822"/>
          <p:cNvCxnSpPr/>
          <p:nvPr/>
        </p:nvCxnSpPr>
        <p:spPr>
          <a:xfrm>
            <a:off x="8947709" y="2185416"/>
            <a:ext cx="164592" cy="1"/>
          </a:xfrm>
          <a:prstGeom prst="line">
            <a:avLst/>
          </a:prstGeom>
          <a:ln w="12700">
            <a:solidFill>
              <a:srgbClr val="C3C2B7"/>
            </a:solidFill>
            <a:tailEnd type="triangle" w="med" len="med"/>
          </a:ln>
        </p:spPr>
      </p:cxnSp>
      <p:sp>
        <p:nvSpPr>
          <p:cNvPr id="823" name="shape823"/>
          <p:cNvSpPr/>
          <p:nvPr/>
        </p:nvSpPr>
        <p:spPr>
          <a:xfrm>
            <a:off x="9130589"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3</a:t>
            </a:r>
          </a:p>
          <a:p>
            <a:pPr algn="l"/>
            <a:r>
              <a:rPr lang="en-AU" sz="950" b="1" dirty="0">
                <a:solidFill>
                  <a:srgbClr val="0B0B0B"/>
                </a:solidFill>
                <a:latin typeface="Aptos"/>
              </a:rPr>
              <a:t>Converge</a:t>
            </a:r>
          </a:p>
          <a:p>
            <a:pPr algn="l"/>
            <a:r>
              <a:rPr lang="en-AU" sz="800" dirty="0">
                <a:solidFill>
                  <a:srgbClr val="6B6A66"/>
                </a:solidFill>
                <a:latin typeface="Aptos"/>
              </a:rPr>
              <a:t>9 approaches shortlisted to 3</a:t>
            </a:r>
          </a:p>
        </p:txBody>
      </p:sp>
      <p:sp>
        <p:nvSpPr>
          <p:cNvPr id="824" name="shape824"/>
          <p:cNvSpPr/>
          <p:nvPr/>
        </p:nvSpPr>
        <p:spPr>
          <a:xfrm>
            <a:off x="3520440" y="3017520"/>
            <a:ext cx="8214055" cy="256032"/>
          </a:xfrm>
          <a:prstGeom prst="rect">
            <a:avLst/>
          </a:prstGeom>
          <a:noFill/>
          <a:ln>
            <a:noFill/>
          </a:ln>
        </p:spPr>
        <p:txBody>
          <a:bodyPr wrap="square" anchor="ctr" lIns="0" rIns="0" tIns="27432" bIns="27432"/>
          <a:lstStyle/>
          <a:p>
            <a:pPr algn="l"/>
            <a:r>
              <a:rPr lang="en-AU" sz="850" dirty="0">
                <a:solidFill>
                  <a:srgbClr val="6B6A66"/>
                </a:solidFill>
                <a:latin typeface="Aptos"/>
              </a:rPr>
              <a:t>↳ Diverge, 12 minutes — — any critique here is ruled out of order, including agreement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shape82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10.5  Brainstorming</a:t>
            </a:r>
          </a:p>
        </p:txBody>
      </p:sp>
      <p:sp>
        <p:nvSpPr>
          <p:cNvPr id="826" name="shape82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827" name="shape827"/>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828" name="conn828"/>
          <p:cNvCxnSpPr/>
          <p:nvPr/>
        </p:nvCxnSpPr>
        <p:spPr>
          <a:xfrm>
            <a:off x="457200" y="1078992"/>
            <a:ext cx="11277295" cy="1"/>
          </a:xfrm>
          <a:prstGeom prst="line">
            <a:avLst/>
          </a:prstGeom>
          <a:ln w="9525">
            <a:solidFill>
              <a:srgbClr val="D9D8D0"/>
            </a:solidFill>
          </a:ln>
        </p:spPr>
      </p:cxnSp>
      <p:sp>
        <p:nvSpPr>
          <p:cNvPr id="829" name="shape82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30" name="shape83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10.5</a:t>
            </a:r>
          </a:p>
        </p:txBody>
      </p:sp>
      <p:sp>
        <p:nvSpPr>
          <p:cNvPr id="831" name="shape83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832" name="shape832"/>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Record what can go wrong at each step underneath, not only the path where everything works.</a:t>
            </a:r>
          </a:p>
        </p:txBody>
      </p:sp>
      <p:sp>
        <p:nvSpPr>
          <p:cNvPr id="833" name="shape833"/>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34" name="shape834"/>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Generates a wide field of ideas quickly by separating generation from judgement.</a:t>
            </a:r>
          </a:p>
        </p:txBody>
      </p:sp>
      <p:sp>
        <p:nvSpPr>
          <p:cNvPr id="835" name="shape835"/>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836" name="shape836"/>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Brainstorming diverges; decision analysis and prioritisation converge. If the scenario already has plenty of options and needs to pick one, brainstorming is the wrong tool no matter how collaborative the setting sounds.</a:t>
            </a:r>
          </a:p>
        </p:txBody>
      </p:sp>
      <p:sp>
        <p:nvSpPr>
          <p:cNvPr id="837" name="shape837"/>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838" name="shape838"/>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6.3 Assess Risks · 7.5 Define Design Options</a:t>
            </a:r>
          </a:p>
        </p:txBody>
      </p:sp>
      <p:sp>
        <p:nvSpPr>
          <p:cNvPr id="839" name="shape83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Brainstorming — blank template</a:t>
            </a:r>
          </a:p>
        </p:txBody>
      </p:sp>
      <p:sp>
        <p:nvSpPr>
          <p:cNvPr id="840" name="shape840"/>
          <p:cNvSpPr/>
          <p:nvPr/>
        </p:nvSpPr>
        <p:spPr>
          <a:xfrm>
            <a:off x="3520440"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1</a:t>
            </a:r>
          </a:p>
          <a:p>
            <a:pPr algn="l"/>
            <a:r>
              <a:rPr lang="en-AU" sz="950" b="1" dirty="0">
                <a:solidFill>
                  <a:srgbClr val="0B0B0B"/>
                </a:solidFill>
                <a:latin typeface="Aptos"/>
              </a:rPr>
              <a:t>Step 1</a:t>
            </a:r>
          </a:p>
        </p:txBody>
      </p:sp>
      <p:cxnSp>
        <p:nvCxnSpPr>
          <p:cNvPr id="841" name="conn841"/>
          <p:cNvCxnSpPr/>
          <p:nvPr/>
        </p:nvCxnSpPr>
        <p:spPr>
          <a:xfrm>
            <a:off x="6142634" y="2185416"/>
            <a:ext cx="164592" cy="1"/>
          </a:xfrm>
          <a:prstGeom prst="line">
            <a:avLst/>
          </a:prstGeom>
          <a:ln w="12700">
            <a:solidFill>
              <a:srgbClr val="C3C2B7"/>
            </a:solidFill>
            <a:tailEnd type="triangle" w="med" len="med"/>
          </a:ln>
        </p:spPr>
      </p:cxnSp>
      <p:sp>
        <p:nvSpPr>
          <p:cNvPr id="842" name="shape842"/>
          <p:cNvSpPr/>
          <p:nvPr/>
        </p:nvSpPr>
        <p:spPr>
          <a:xfrm>
            <a:off x="6325514"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2</a:t>
            </a:r>
          </a:p>
          <a:p>
            <a:pPr algn="l"/>
            <a:r>
              <a:rPr lang="en-AU" sz="950" b="1" dirty="0">
                <a:solidFill>
                  <a:srgbClr val="0B0B0B"/>
                </a:solidFill>
                <a:latin typeface="Aptos"/>
              </a:rPr>
              <a:t>Step 2</a:t>
            </a:r>
          </a:p>
        </p:txBody>
      </p:sp>
      <p:cxnSp>
        <p:nvCxnSpPr>
          <p:cNvPr id="843" name="conn843"/>
          <p:cNvCxnSpPr/>
          <p:nvPr/>
        </p:nvCxnSpPr>
        <p:spPr>
          <a:xfrm>
            <a:off x="8947709" y="2185416"/>
            <a:ext cx="164592" cy="1"/>
          </a:xfrm>
          <a:prstGeom prst="line">
            <a:avLst/>
          </a:prstGeom>
          <a:ln w="12700">
            <a:solidFill>
              <a:srgbClr val="C3C2B7"/>
            </a:solidFill>
            <a:tailEnd type="triangle" w="med" len="med"/>
          </a:ln>
        </p:spPr>
      </p:cxnSp>
      <p:sp>
        <p:nvSpPr>
          <p:cNvPr id="844" name="shape844"/>
          <p:cNvSpPr/>
          <p:nvPr/>
        </p:nvSpPr>
        <p:spPr>
          <a:xfrm>
            <a:off x="9130589" y="1499616"/>
            <a:ext cx="2603906"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3</a:t>
            </a:r>
          </a:p>
          <a:p>
            <a:pPr algn="l"/>
            <a:r>
              <a:rPr lang="en-AU" sz="950" b="1" dirty="0">
                <a:solidFill>
                  <a:srgbClr val="0B0B0B"/>
                </a:solidFill>
                <a:latin typeface="Aptos"/>
              </a:rPr>
              <a:t>Step 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shape84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10.10  Collaborative Games</a:t>
            </a:r>
          </a:p>
        </p:txBody>
      </p:sp>
      <p:sp>
        <p:nvSpPr>
          <p:cNvPr id="846" name="shape84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847" name="shape847"/>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848" name="conn848"/>
          <p:cNvCxnSpPr/>
          <p:nvPr/>
        </p:nvCxnSpPr>
        <p:spPr>
          <a:xfrm>
            <a:off x="457200" y="1078992"/>
            <a:ext cx="11277295" cy="1"/>
          </a:xfrm>
          <a:prstGeom prst="line">
            <a:avLst/>
          </a:prstGeom>
          <a:ln w="9525">
            <a:solidFill>
              <a:srgbClr val="D9D8D0"/>
            </a:solidFill>
          </a:ln>
        </p:spPr>
      </p:cxnSp>
      <p:sp>
        <p:nvSpPr>
          <p:cNvPr id="849" name="shape84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50" name="shape85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10.10</a:t>
            </a:r>
          </a:p>
        </p:txBody>
      </p:sp>
      <p:sp>
        <p:nvSpPr>
          <p:cNvPr id="851" name="shape85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52" name="shape852"/>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Uses a structured, playful exercise to surface assumptions and shared understanding that direct questioning does not reach.</a:t>
            </a:r>
          </a:p>
        </p:txBody>
      </p:sp>
      <p:sp>
        <p:nvSpPr>
          <p:cNvPr id="853" name="shape853"/>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854" name="shape854"/>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group is stuck, guarded, or dominated by one voice, and the obstacle is the dynamic rather than the information.</a:t>
            </a:r>
          </a:p>
        </p:txBody>
      </p:sp>
      <p:sp>
        <p:nvSpPr>
          <p:cNvPr id="855" name="shape855"/>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856" name="shape856"/>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collaborative game is a device used inside a session; the workshop is the session. If the item turns on planning, facilitating or closing the event, it is workshops.</a:t>
            </a:r>
          </a:p>
        </p:txBody>
      </p:sp>
      <p:sp>
        <p:nvSpPr>
          <p:cNvPr id="857" name="shape857"/>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858" name="shape858"/>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4.5 Manage Stakeholder Collaboration</a:t>
            </a:r>
          </a:p>
        </p:txBody>
      </p:sp>
      <p:sp>
        <p:nvSpPr>
          <p:cNvPr id="859" name="shape85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Speedboat, run to surface what is holding the release back</a:t>
            </a:r>
          </a:p>
        </p:txBody>
      </p:sp>
      <p:sp>
        <p:nvSpPr>
          <p:cNvPr id="860" name="shape860"/>
          <p:cNvSpPr/>
          <p:nvPr/>
        </p:nvSpPr>
        <p:spPr>
          <a:xfrm>
            <a:off x="3520440"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SET UP</a:t>
            </a:r>
          </a:p>
          <a:p>
            <a:pPr algn="l"/>
            <a:r>
              <a:rPr lang="en-AU" sz="950" b="1" dirty="0">
                <a:solidFill>
                  <a:srgbClr val="0B0B0B"/>
                </a:solidFill>
                <a:latin typeface="Aptos"/>
              </a:rPr>
              <a:t>Draw the boat</a:t>
            </a:r>
          </a:p>
          <a:p>
            <a:pPr algn="l"/>
            <a:r>
              <a:rPr lang="en-AU" sz="800" dirty="0">
                <a:solidFill>
                  <a:srgbClr val="6B6A66"/>
                </a:solidFill>
                <a:latin typeface="Aptos"/>
              </a:rPr>
              <a:t>Anchors below the line, wind above</a:t>
            </a:r>
          </a:p>
        </p:txBody>
      </p:sp>
      <p:cxnSp>
        <p:nvCxnSpPr>
          <p:cNvPr id="861" name="conn861"/>
          <p:cNvCxnSpPr/>
          <p:nvPr/>
        </p:nvCxnSpPr>
        <p:spPr>
          <a:xfrm>
            <a:off x="5441366" y="2185416"/>
            <a:ext cx="164592" cy="1"/>
          </a:xfrm>
          <a:prstGeom prst="line">
            <a:avLst/>
          </a:prstGeom>
          <a:ln w="12700">
            <a:solidFill>
              <a:srgbClr val="C3C2B7"/>
            </a:solidFill>
            <a:tailEnd type="triangle" w="med" len="med"/>
          </a:ln>
        </p:spPr>
      </p:cxnSp>
      <p:sp>
        <p:nvSpPr>
          <p:cNvPr id="862" name="shape862"/>
          <p:cNvSpPr/>
          <p:nvPr/>
        </p:nvSpPr>
        <p:spPr>
          <a:xfrm>
            <a:off x="5624246"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PLAY</a:t>
            </a:r>
          </a:p>
          <a:p>
            <a:pPr algn="l"/>
            <a:r>
              <a:rPr lang="en-AU" sz="950" b="1" dirty="0">
                <a:solidFill>
                  <a:srgbClr val="0B0B0B"/>
                </a:solidFill>
                <a:latin typeface="Aptos"/>
              </a:rPr>
              <a:t>Everyone writes at once</a:t>
            </a:r>
          </a:p>
          <a:p>
            <a:pPr algn="l"/>
            <a:r>
              <a:rPr lang="en-AU" sz="800" dirty="0">
                <a:solidFill>
                  <a:srgbClr val="6B6A66"/>
                </a:solidFill>
                <a:latin typeface="Aptos"/>
              </a:rPr>
              <a:t>Silent, 6 minutes, one idea per note</a:t>
            </a:r>
          </a:p>
        </p:txBody>
      </p:sp>
      <p:cxnSp>
        <p:nvCxnSpPr>
          <p:cNvPr id="863" name="conn863"/>
          <p:cNvCxnSpPr/>
          <p:nvPr/>
        </p:nvCxnSpPr>
        <p:spPr>
          <a:xfrm>
            <a:off x="7545172" y="2185416"/>
            <a:ext cx="164592" cy="1"/>
          </a:xfrm>
          <a:prstGeom prst="line">
            <a:avLst/>
          </a:prstGeom>
          <a:ln w="12700">
            <a:solidFill>
              <a:srgbClr val="C3C2B7"/>
            </a:solidFill>
            <a:tailEnd type="triangle" w="med" len="med"/>
          </a:ln>
        </p:spPr>
      </p:cxnSp>
      <p:sp>
        <p:nvSpPr>
          <p:cNvPr id="864" name="shape864"/>
          <p:cNvSpPr/>
          <p:nvPr/>
        </p:nvSpPr>
        <p:spPr>
          <a:xfrm>
            <a:off x="7728052"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CLUSTER</a:t>
            </a:r>
          </a:p>
          <a:p>
            <a:pPr algn="l"/>
            <a:r>
              <a:rPr lang="en-AU" sz="950" b="1" dirty="0">
                <a:solidFill>
                  <a:srgbClr val="0B0B0B"/>
                </a:solidFill>
                <a:latin typeface="Aptos"/>
              </a:rPr>
              <a:t>Group the anchors</a:t>
            </a:r>
          </a:p>
          <a:p>
            <a:pPr algn="l"/>
            <a:r>
              <a:rPr lang="en-AU" sz="800" dirty="0">
                <a:solidFill>
                  <a:srgbClr val="6B6A66"/>
                </a:solidFill>
                <a:latin typeface="Aptos"/>
              </a:rPr>
              <a:t>14 notes fall into 4 themes</a:t>
            </a:r>
          </a:p>
        </p:txBody>
      </p:sp>
      <p:cxnSp>
        <p:nvCxnSpPr>
          <p:cNvPr id="865" name="conn865"/>
          <p:cNvCxnSpPr/>
          <p:nvPr/>
        </p:nvCxnSpPr>
        <p:spPr>
          <a:xfrm>
            <a:off x="9648977" y="2185416"/>
            <a:ext cx="164592" cy="1"/>
          </a:xfrm>
          <a:prstGeom prst="line">
            <a:avLst/>
          </a:prstGeom>
          <a:ln w="12700">
            <a:solidFill>
              <a:srgbClr val="C3C2B7"/>
            </a:solidFill>
            <a:tailEnd type="triangle" w="med" len="med"/>
          </a:ln>
        </p:spPr>
      </p:cxnSp>
      <p:sp>
        <p:nvSpPr>
          <p:cNvPr id="866" name="shape866"/>
          <p:cNvSpPr/>
          <p:nvPr/>
        </p:nvSpPr>
        <p:spPr>
          <a:xfrm>
            <a:off x="9831857"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DEBRIEF</a:t>
            </a:r>
          </a:p>
          <a:p>
            <a:pPr algn="l"/>
            <a:r>
              <a:rPr lang="en-AU" sz="950" b="1" dirty="0">
                <a:solidFill>
                  <a:srgbClr val="0B0B0B"/>
                </a:solidFill>
                <a:latin typeface="Aptos"/>
              </a:rPr>
              <a:t>Name the top two</a:t>
            </a:r>
          </a:p>
          <a:p>
            <a:pPr algn="l"/>
            <a:r>
              <a:rPr lang="en-AU" sz="800" dirty="0">
                <a:solidFill>
                  <a:srgbClr val="6B6A66"/>
                </a:solidFill>
                <a:latin typeface="Aptos"/>
              </a:rPr>
              <a:t>Dot vote, then discuss</a:t>
            </a:r>
          </a:p>
        </p:txBody>
      </p:sp>
      <p:sp>
        <p:nvSpPr>
          <p:cNvPr id="867" name="shape867"/>
          <p:cNvSpPr/>
          <p:nvPr/>
        </p:nvSpPr>
        <p:spPr>
          <a:xfrm>
            <a:off x="3520440" y="3017520"/>
            <a:ext cx="8214055" cy="256032"/>
          </a:xfrm>
          <a:prstGeom prst="rect">
            <a:avLst/>
          </a:prstGeom>
          <a:noFill/>
          <a:ln>
            <a:noFill/>
          </a:ln>
        </p:spPr>
        <p:txBody>
          <a:bodyPr wrap="square" anchor="ctr" lIns="0" rIns="0" tIns="27432" bIns="27432"/>
          <a:lstStyle/>
          <a:p>
            <a:pPr algn="l"/>
            <a:r>
              <a:rPr lang="en-AU" sz="850" dirty="0">
                <a:solidFill>
                  <a:srgbClr val="6B6A66"/>
                </a:solidFill>
                <a:latin typeface="Aptos"/>
              </a:rPr>
              <a:t>↳ Everyone writes at once — — simultaneous writing is what stops the loudest voice framing the room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shape86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10.10  Collaborative Games</a:t>
            </a:r>
          </a:p>
        </p:txBody>
      </p:sp>
      <p:sp>
        <p:nvSpPr>
          <p:cNvPr id="869" name="shape86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870" name="shape87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871" name="conn871"/>
          <p:cNvCxnSpPr/>
          <p:nvPr/>
        </p:nvCxnSpPr>
        <p:spPr>
          <a:xfrm>
            <a:off x="457200" y="1078992"/>
            <a:ext cx="11277295" cy="1"/>
          </a:xfrm>
          <a:prstGeom prst="line">
            <a:avLst/>
          </a:prstGeom>
          <a:ln w="9525">
            <a:solidFill>
              <a:srgbClr val="D9D8D0"/>
            </a:solidFill>
          </a:ln>
        </p:spPr>
      </p:cxnSp>
      <p:sp>
        <p:nvSpPr>
          <p:cNvPr id="872" name="shape87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73" name="shape87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10.10</a:t>
            </a:r>
          </a:p>
        </p:txBody>
      </p:sp>
      <p:sp>
        <p:nvSpPr>
          <p:cNvPr id="874" name="shape87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875" name="shape87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Record what can go wrong at each step underneath, not only the path where everything works.</a:t>
            </a:r>
          </a:p>
        </p:txBody>
      </p:sp>
      <p:sp>
        <p:nvSpPr>
          <p:cNvPr id="876" name="shape87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77" name="shape87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Uses a structured, playful exercise to surface assumptions and shared understanding that direct questioning does not reach.</a:t>
            </a:r>
          </a:p>
        </p:txBody>
      </p:sp>
      <p:sp>
        <p:nvSpPr>
          <p:cNvPr id="878" name="shape87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879" name="shape87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collaborative game is a device used inside a session; the workshop is the session. If the item turns on planning, facilitating or closing the event, it is workshops.</a:t>
            </a:r>
          </a:p>
        </p:txBody>
      </p:sp>
      <p:sp>
        <p:nvSpPr>
          <p:cNvPr id="880" name="shape88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881" name="shape88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4.5 Manage Stakeholder Collaboration</a:t>
            </a:r>
          </a:p>
        </p:txBody>
      </p:sp>
      <p:sp>
        <p:nvSpPr>
          <p:cNvPr id="882" name="shape88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Collaborative Games — blank template</a:t>
            </a:r>
          </a:p>
        </p:txBody>
      </p:sp>
      <p:sp>
        <p:nvSpPr>
          <p:cNvPr id="883" name="shape883"/>
          <p:cNvSpPr/>
          <p:nvPr/>
        </p:nvSpPr>
        <p:spPr>
          <a:xfrm>
            <a:off x="3520440"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SET UP</a:t>
            </a:r>
          </a:p>
          <a:p>
            <a:pPr algn="l"/>
            <a:r>
              <a:rPr lang="en-AU" sz="950" b="1" dirty="0">
                <a:solidFill>
                  <a:srgbClr val="0B0B0B"/>
                </a:solidFill>
                <a:latin typeface="Aptos"/>
              </a:rPr>
              <a:t>Step 1</a:t>
            </a:r>
          </a:p>
        </p:txBody>
      </p:sp>
      <p:cxnSp>
        <p:nvCxnSpPr>
          <p:cNvPr id="884" name="conn884"/>
          <p:cNvCxnSpPr/>
          <p:nvPr/>
        </p:nvCxnSpPr>
        <p:spPr>
          <a:xfrm>
            <a:off x="5441366" y="2185416"/>
            <a:ext cx="164592" cy="1"/>
          </a:xfrm>
          <a:prstGeom prst="line">
            <a:avLst/>
          </a:prstGeom>
          <a:ln w="12700">
            <a:solidFill>
              <a:srgbClr val="C3C2B7"/>
            </a:solidFill>
            <a:tailEnd type="triangle" w="med" len="med"/>
          </a:ln>
        </p:spPr>
      </p:cxnSp>
      <p:sp>
        <p:nvSpPr>
          <p:cNvPr id="885" name="shape885"/>
          <p:cNvSpPr/>
          <p:nvPr/>
        </p:nvSpPr>
        <p:spPr>
          <a:xfrm>
            <a:off x="5624246"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PLAY</a:t>
            </a:r>
          </a:p>
          <a:p>
            <a:pPr algn="l"/>
            <a:r>
              <a:rPr lang="en-AU" sz="950" b="1" dirty="0">
                <a:solidFill>
                  <a:srgbClr val="0B0B0B"/>
                </a:solidFill>
                <a:latin typeface="Aptos"/>
              </a:rPr>
              <a:t>Step 2</a:t>
            </a:r>
          </a:p>
        </p:txBody>
      </p:sp>
      <p:cxnSp>
        <p:nvCxnSpPr>
          <p:cNvPr id="886" name="conn886"/>
          <p:cNvCxnSpPr/>
          <p:nvPr/>
        </p:nvCxnSpPr>
        <p:spPr>
          <a:xfrm>
            <a:off x="7545172" y="2185416"/>
            <a:ext cx="164592" cy="1"/>
          </a:xfrm>
          <a:prstGeom prst="line">
            <a:avLst/>
          </a:prstGeom>
          <a:ln w="12700">
            <a:solidFill>
              <a:srgbClr val="C3C2B7"/>
            </a:solidFill>
            <a:tailEnd type="triangle" w="med" len="med"/>
          </a:ln>
        </p:spPr>
      </p:cxnSp>
      <p:sp>
        <p:nvSpPr>
          <p:cNvPr id="887" name="shape887"/>
          <p:cNvSpPr/>
          <p:nvPr/>
        </p:nvSpPr>
        <p:spPr>
          <a:xfrm>
            <a:off x="7728052"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CLUSTER</a:t>
            </a:r>
          </a:p>
          <a:p>
            <a:pPr algn="l"/>
            <a:r>
              <a:rPr lang="en-AU" sz="950" b="1" dirty="0">
                <a:solidFill>
                  <a:srgbClr val="0B0B0B"/>
                </a:solidFill>
                <a:latin typeface="Aptos"/>
              </a:rPr>
              <a:t>Step 3</a:t>
            </a:r>
          </a:p>
        </p:txBody>
      </p:sp>
      <p:cxnSp>
        <p:nvCxnSpPr>
          <p:cNvPr id="888" name="conn888"/>
          <p:cNvCxnSpPr/>
          <p:nvPr/>
        </p:nvCxnSpPr>
        <p:spPr>
          <a:xfrm>
            <a:off x="9648977" y="2185416"/>
            <a:ext cx="164592" cy="1"/>
          </a:xfrm>
          <a:prstGeom prst="line">
            <a:avLst/>
          </a:prstGeom>
          <a:ln w="12700">
            <a:solidFill>
              <a:srgbClr val="C3C2B7"/>
            </a:solidFill>
            <a:tailEnd type="triangle" w="med" len="med"/>
          </a:ln>
        </p:spPr>
      </p:cxnSp>
      <p:sp>
        <p:nvSpPr>
          <p:cNvPr id="889" name="shape889"/>
          <p:cNvSpPr/>
          <p:nvPr/>
        </p:nvSpPr>
        <p:spPr>
          <a:xfrm>
            <a:off x="9831857"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DEBRIEF</a:t>
            </a:r>
          </a:p>
          <a:p>
            <a:pPr algn="l"/>
            <a:r>
              <a:rPr lang="en-AU" sz="950" b="1" dirty="0">
                <a:solidFill>
                  <a:srgbClr val="0B0B0B"/>
                </a:solidFill>
                <a:latin typeface="Aptos"/>
              </a:rPr>
              <a:t>Step 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shape89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10.18  Document Analysis</a:t>
            </a:r>
          </a:p>
        </p:txBody>
      </p:sp>
      <p:sp>
        <p:nvSpPr>
          <p:cNvPr id="891" name="shape89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892" name="shape89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893" name="conn893"/>
          <p:cNvCxnSpPr/>
          <p:nvPr/>
        </p:nvCxnSpPr>
        <p:spPr>
          <a:xfrm>
            <a:off x="457200" y="1078992"/>
            <a:ext cx="11277295" cy="1"/>
          </a:xfrm>
          <a:prstGeom prst="line">
            <a:avLst/>
          </a:prstGeom>
          <a:ln w="9525">
            <a:solidFill>
              <a:srgbClr val="D9D8D0"/>
            </a:solidFill>
          </a:ln>
        </p:spPr>
      </p:cxnSp>
      <p:sp>
        <p:nvSpPr>
          <p:cNvPr id="894" name="shape89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895" name="shape89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10.18</a:t>
            </a:r>
          </a:p>
        </p:txBody>
      </p:sp>
      <p:sp>
        <p:nvSpPr>
          <p:cNvPr id="896" name="shape89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897" name="shape89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Elicits information from existing material: procedures, contracts, system documentation, regulations and prior artefacts.</a:t>
            </a:r>
          </a:p>
        </p:txBody>
      </p:sp>
      <p:sp>
        <p:nvSpPr>
          <p:cNvPr id="898" name="shape89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899" name="shape89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before you take stakeholder time, so the questions you do ask are the ones the documents cannot answer.</a:t>
            </a:r>
          </a:p>
        </p:txBody>
      </p:sp>
      <p:sp>
        <p:nvSpPr>
          <p:cNvPr id="900" name="shape90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01" name="shape90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Document analysis is elicitation from artefacts, not verification of your own work. If the material being examined is the requirements you just wrote, that is reviews.</a:t>
            </a:r>
          </a:p>
        </p:txBody>
      </p:sp>
      <p:sp>
        <p:nvSpPr>
          <p:cNvPr id="902" name="shape90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903" name="shape90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4.1 Prepare for Elicitation · 4.2 Conduct Elicitation · 6.1 Analyze Current State</a:t>
            </a:r>
          </a:p>
        </p:txBody>
      </p:sp>
      <p:sp>
        <p:nvSpPr>
          <p:cNvPr id="904" name="shape90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What the artefacts answered before the pharmacist was booked</a:t>
            </a:r>
          </a:p>
        </p:txBody>
      </p:sp>
      <p:graphicFrame>
        <p:nvGraphicFramePr>
          <p:cNvPr id="905" name="table905"/>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Source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What it settled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What it could not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Dispensing procedure v6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The 9 documented steps and who signs each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Why step 4 is skipped on night shift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Regulatory schedule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Which drugs need a second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How staff decide when the checker is unavailable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System specification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Fields captured at dispense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Which of them are entered accurately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2024 review report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12 prior recommendations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Which were implemented and which 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 name="shape90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10.18  Document Analysis</a:t>
            </a:r>
          </a:p>
        </p:txBody>
      </p:sp>
      <p:sp>
        <p:nvSpPr>
          <p:cNvPr id="907" name="shape90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08" name="shape90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909" name="conn909"/>
          <p:cNvCxnSpPr/>
          <p:nvPr/>
        </p:nvCxnSpPr>
        <p:spPr>
          <a:xfrm>
            <a:off x="457200" y="1078992"/>
            <a:ext cx="11277295" cy="1"/>
          </a:xfrm>
          <a:prstGeom prst="line">
            <a:avLst/>
          </a:prstGeom>
          <a:ln w="9525">
            <a:solidFill>
              <a:srgbClr val="D9D8D0"/>
            </a:solidFill>
          </a:ln>
        </p:spPr>
      </p:cxnSp>
      <p:sp>
        <p:nvSpPr>
          <p:cNvPr id="910" name="shape91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11" name="shape91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10.18</a:t>
            </a:r>
          </a:p>
        </p:txBody>
      </p:sp>
      <p:sp>
        <p:nvSpPr>
          <p:cNvPr id="912" name="shape91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913" name="shape91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source.</a:t>
            </a:r>
          </a:p>
        </p:txBody>
      </p:sp>
      <p:sp>
        <p:nvSpPr>
          <p:cNvPr id="914" name="shape91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15" name="shape91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Elicits information from existing material: procedures, contracts, system documentation, regulations and prior artefacts.</a:t>
            </a:r>
          </a:p>
        </p:txBody>
      </p:sp>
      <p:sp>
        <p:nvSpPr>
          <p:cNvPr id="916" name="shape91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17" name="shape91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Document analysis is elicitation from artefacts, not verification of your own work. If the material being examined is the requirements you just wrote, that is reviews.</a:t>
            </a:r>
          </a:p>
        </p:txBody>
      </p:sp>
      <p:sp>
        <p:nvSpPr>
          <p:cNvPr id="918" name="shape91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919" name="shape91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4.1 Prepare for Elicitation · 4.2 Conduct Elicitation · 6.1 Analyze Current State</a:t>
            </a:r>
          </a:p>
        </p:txBody>
      </p:sp>
      <p:sp>
        <p:nvSpPr>
          <p:cNvPr id="920" name="shape92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Document Analysis — blank template</a:t>
            </a:r>
          </a:p>
        </p:txBody>
      </p:sp>
      <p:graphicFrame>
        <p:nvGraphicFramePr>
          <p:cNvPr id="921" name="table921"/>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Source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What it settled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What it could not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 name="shape92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10.21  Focus Groups</a:t>
            </a:r>
          </a:p>
        </p:txBody>
      </p:sp>
      <p:sp>
        <p:nvSpPr>
          <p:cNvPr id="923" name="shape92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24" name="shape92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925" name="conn925"/>
          <p:cNvCxnSpPr/>
          <p:nvPr/>
        </p:nvCxnSpPr>
        <p:spPr>
          <a:xfrm>
            <a:off x="457200" y="1078992"/>
            <a:ext cx="11277295" cy="1"/>
          </a:xfrm>
          <a:prstGeom prst="line">
            <a:avLst/>
          </a:prstGeom>
          <a:ln w="9525">
            <a:solidFill>
              <a:srgbClr val="D9D8D0"/>
            </a:solidFill>
          </a:ln>
        </p:spPr>
      </p:cxnSp>
      <p:sp>
        <p:nvSpPr>
          <p:cNvPr id="926" name="shape92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27" name="shape92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10.21</a:t>
            </a:r>
          </a:p>
        </p:txBody>
      </p:sp>
      <p:sp>
        <p:nvSpPr>
          <p:cNvPr id="928" name="shape92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29" name="shape92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Draws attitudes and reactions from a selected group in a moderated discussion, using the interaction between participants as part of the data.</a:t>
            </a:r>
          </a:p>
        </p:txBody>
      </p:sp>
      <p:sp>
        <p:nvSpPr>
          <p:cNvPr id="930" name="shape93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931" name="shape93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you want to know how people feel about something and why, and when hearing them disagree with each other is informative.</a:t>
            </a:r>
          </a:p>
        </p:txBody>
      </p:sp>
      <p:sp>
        <p:nvSpPr>
          <p:cNvPr id="932" name="shape93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33" name="shape93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focus group gathers opinion; a workshop produces a work product. If the session is meant to end with a decision or a signed-off model, it is a workshop.</a:t>
            </a:r>
          </a:p>
        </p:txBody>
      </p:sp>
      <p:sp>
        <p:nvSpPr>
          <p:cNvPr id="934" name="shape93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935" name="shape93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8.1 Measure Solution Performance</a:t>
            </a:r>
          </a:p>
        </p:txBody>
      </p:sp>
      <p:sp>
        <p:nvSpPr>
          <p:cNvPr id="936" name="shape93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Three groups on the redesigned rates notice</a:t>
            </a:r>
          </a:p>
        </p:txBody>
      </p:sp>
      <p:graphicFrame>
        <p:nvGraphicFramePr>
          <p:cNvPr id="937" name="table937"/>
          <p:cNvGraphicFramePr>
            <a:graphicFrameLocks noGrp="1"/>
          </p:cNvGraphicFramePr>
          <p:nvPr/>
        </p:nvGraphicFramePr>
        <p:xfrm>
          <a:off x="3520440" y="1499616"/>
          <a:ext cx="8214055" cy="1536192"/>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Group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What emerged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8 ratepayers on instalments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Due dates matter more than the total; layout was never the complaint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B</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6 pensioners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Concession line must be visible without reading further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7 agents acting for owners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Want the property reference top-right, opposite what group A preferred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shape93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10.21  Focus Groups</a:t>
            </a:r>
          </a:p>
        </p:txBody>
      </p:sp>
      <p:sp>
        <p:nvSpPr>
          <p:cNvPr id="939" name="shape93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40" name="shape94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941" name="conn941"/>
          <p:cNvCxnSpPr/>
          <p:nvPr/>
        </p:nvCxnSpPr>
        <p:spPr>
          <a:xfrm>
            <a:off x="457200" y="1078992"/>
            <a:ext cx="11277295" cy="1"/>
          </a:xfrm>
          <a:prstGeom prst="line">
            <a:avLst/>
          </a:prstGeom>
          <a:ln w="9525">
            <a:solidFill>
              <a:srgbClr val="D9D8D0"/>
            </a:solidFill>
          </a:ln>
        </p:spPr>
      </p:cxnSp>
      <p:sp>
        <p:nvSpPr>
          <p:cNvPr id="942" name="shape94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43" name="shape94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10.21</a:t>
            </a:r>
          </a:p>
        </p:txBody>
      </p:sp>
      <p:sp>
        <p:nvSpPr>
          <p:cNvPr id="944" name="shape94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945" name="shape94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group.</a:t>
            </a:r>
          </a:p>
        </p:txBody>
      </p:sp>
      <p:sp>
        <p:nvSpPr>
          <p:cNvPr id="946" name="shape94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47" name="shape94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Draws attitudes and reactions from a selected group in a moderated discussion, using the interaction between participants as part of the data.</a:t>
            </a:r>
          </a:p>
        </p:txBody>
      </p:sp>
      <p:sp>
        <p:nvSpPr>
          <p:cNvPr id="948" name="shape94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49" name="shape94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focus group gathers opinion; a workshop produces a work product. If the session is meant to end with a decision or a signed-off model, it is a workshop.</a:t>
            </a:r>
          </a:p>
        </p:txBody>
      </p:sp>
      <p:sp>
        <p:nvSpPr>
          <p:cNvPr id="950" name="shape95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951" name="shape95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8.1 Measure Solution Performance</a:t>
            </a:r>
          </a:p>
        </p:txBody>
      </p:sp>
      <p:sp>
        <p:nvSpPr>
          <p:cNvPr id="952" name="shape95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Focus Groups — blank template</a:t>
            </a:r>
          </a:p>
        </p:txBody>
      </p:sp>
      <p:graphicFrame>
        <p:nvGraphicFramePr>
          <p:cNvPr id="953" name="table953"/>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Group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Who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What emerged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 name="shape95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10.25  Interviews</a:t>
            </a:r>
          </a:p>
        </p:txBody>
      </p:sp>
      <p:sp>
        <p:nvSpPr>
          <p:cNvPr id="955" name="shape95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56" name="shape95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957" name="conn957"/>
          <p:cNvCxnSpPr/>
          <p:nvPr/>
        </p:nvCxnSpPr>
        <p:spPr>
          <a:xfrm>
            <a:off x="457200" y="1078992"/>
            <a:ext cx="11277295" cy="1"/>
          </a:xfrm>
          <a:prstGeom prst="line">
            <a:avLst/>
          </a:prstGeom>
          <a:ln w="9525">
            <a:solidFill>
              <a:srgbClr val="D9D8D0"/>
            </a:solidFill>
          </a:ln>
        </p:spPr>
      </p:cxnSp>
      <p:sp>
        <p:nvSpPr>
          <p:cNvPr id="958" name="shape95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59" name="shape95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10.25</a:t>
            </a:r>
          </a:p>
        </p:txBody>
      </p:sp>
      <p:sp>
        <p:nvSpPr>
          <p:cNvPr id="960" name="shape96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61" name="shape96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Elicits information one-to-one or in a small group through prepared and follow-up questioning.</a:t>
            </a:r>
          </a:p>
        </p:txBody>
      </p:sp>
      <p:sp>
        <p:nvSpPr>
          <p:cNvPr id="962" name="shape96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963" name="shape96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subject is sensitive, the expertise is concentrated in one person, or the group setting would suppress what needs saying.</a:t>
            </a:r>
          </a:p>
        </p:txBody>
      </p:sp>
      <p:sp>
        <p:nvSpPr>
          <p:cNvPr id="964" name="shape96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65" name="shape96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Interviews go deep with few people; surveys go wide with many. If the scenario needs coverage across hundreds of staff, interviewing them is the wrong instrument however thorough it sounds.</a:t>
            </a:r>
          </a:p>
        </p:txBody>
      </p:sp>
      <p:sp>
        <p:nvSpPr>
          <p:cNvPr id="966" name="shape96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967" name="shape96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4.1 Prepare for Elicitation · 6.1 Analyze Current State</a:t>
            </a:r>
          </a:p>
        </p:txBody>
      </p:sp>
      <p:sp>
        <p:nvSpPr>
          <p:cNvPr id="968" name="shape96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Interview guide — chief pharmacist, 90 minutes</a:t>
            </a:r>
          </a:p>
        </p:txBody>
      </p:sp>
      <p:graphicFrame>
        <p:nvGraphicFramePr>
          <p:cNvPr id="969" name="table969"/>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Question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Why it is being asked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Walk me through the last handover that went wrong.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Open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Gets a real case rather than the procedure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What did you decide not to pass on, and why?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Open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The judgement is the target; it is not written down anywhere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Who do you check with when you are unsure?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Closed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Names the informal escalation path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What would you want the new system to refuse to let you do?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Open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Surfaces constraints as the expert sees them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 name="shape97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10.25  Interviews</a:t>
            </a:r>
          </a:p>
        </p:txBody>
      </p:sp>
      <p:sp>
        <p:nvSpPr>
          <p:cNvPr id="971" name="shape97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72" name="shape972"/>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973" name="conn973"/>
          <p:cNvCxnSpPr/>
          <p:nvPr/>
        </p:nvCxnSpPr>
        <p:spPr>
          <a:xfrm>
            <a:off x="457200" y="1078992"/>
            <a:ext cx="11277295" cy="1"/>
          </a:xfrm>
          <a:prstGeom prst="line">
            <a:avLst/>
          </a:prstGeom>
          <a:ln w="9525">
            <a:solidFill>
              <a:srgbClr val="D9D8D0"/>
            </a:solidFill>
          </a:ln>
        </p:spPr>
      </p:cxnSp>
      <p:sp>
        <p:nvSpPr>
          <p:cNvPr id="974" name="shape97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75" name="shape97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10.25</a:t>
            </a:r>
          </a:p>
        </p:txBody>
      </p:sp>
      <p:sp>
        <p:nvSpPr>
          <p:cNvPr id="976" name="shape97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977" name="shape977"/>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question.</a:t>
            </a:r>
          </a:p>
        </p:txBody>
      </p:sp>
      <p:sp>
        <p:nvSpPr>
          <p:cNvPr id="978" name="shape978"/>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79" name="shape979"/>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Elicits information one-to-one or in a small group through prepared and follow-up questioning.</a:t>
            </a:r>
          </a:p>
        </p:txBody>
      </p:sp>
      <p:sp>
        <p:nvSpPr>
          <p:cNvPr id="980" name="shape980"/>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81" name="shape981"/>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Interviews go deep with few people; surveys go wide with many. If the scenario needs coverage across hundreds of staff, interviewing them is the wrong instrument however thorough it sounds.</a:t>
            </a:r>
          </a:p>
        </p:txBody>
      </p:sp>
      <p:sp>
        <p:nvSpPr>
          <p:cNvPr id="982" name="shape982"/>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983" name="shape983"/>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4.1 Prepare for Elicitation · 6.1 Analyze Current State</a:t>
            </a:r>
          </a:p>
        </p:txBody>
      </p:sp>
      <p:sp>
        <p:nvSpPr>
          <p:cNvPr id="984" name="shape98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Interviews — blank template</a:t>
            </a:r>
          </a:p>
        </p:txBody>
      </p:sp>
      <p:graphicFrame>
        <p:nvGraphicFramePr>
          <p:cNvPr id="985" name="table985"/>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Question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Why it is being asked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shape98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10.29  Mind Mapping</a:t>
            </a:r>
          </a:p>
        </p:txBody>
      </p:sp>
      <p:sp>
        <p:nvSpPr>
          <p:cNvPr id="987" name="shape98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988" name="shape98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989" name="conn989"/>
          <p:cNvCxnSpPr/>
          <p:nvPr/>
        </p:nvCxnSpPr>
        <p:spPr>
          <a:xfrm>
            <a:off x="457200" y="1078992"/>
            <a:ext cx="11277295" cy="1"/>
          </a:xfrm>
          <a:prstGeom prst="line">
            <a:avLst/>
          </a:prstGeom>
          <a:ln w="9525">
            <a:solidFill>
              <a:srgbClr val="D9D8D0"/>
            </a:solidFill>
          </a:ln>
        </p:spPr>
      </p:cxnSp>
      <p:sp>
        <p:nvSpPr>
          <p:cNvPr id="990" name="shape99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991" name="shape99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10.29</a:t>
            </a:r>
          </a:p>
        </p:txBody>
      </p:sp>
      <p:sp>
        <p:nvSpPr>
          <p:cNvPr id="992" name="shape99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93" name="shape99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Organises ideas radially around a central concept to expose structure and association during thinking.</a:t>
            </a:r>
          </a:p>
        </p:txBody>
      </p:sp>
      <p:sp>
        <p:nvSpPr>
          <p:cNvPr id="994" name="shape99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995" name="shape99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while exploring, when the shape of the problem is still forming and premature lists would close it down.</a:t>
            </a:r>
          </a:p>
        </p:txBody>
      </p:sp>
      <p:sp>
        <p:nvSpPr>
          <p:cNvPr id="996" name="shape99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997" name="shape99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Mind mapping is for exploring and organising thought; functional decomposition is a disciplined breakdown of scope into parts. A mind map is not a deliverable model.</a:t>
            </a:r>
          </a:p>
        </p:txBody>
      </p:sp>
      <p:sp>
        <p:nvSpPr>
          <p:cNvPr id="998" name="shape99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999" name="shape99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6.1 Analyze Current State</a:t>
            </a:r>
          </a:p>
        </p:txBody>
      </p:sp>
      <p:sp>
        <p:nvSpPr>
          <p:cNvPr id="1000" name="shape100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First pass on why fundraising has got harder</a:t>
            </a:r>
          </a:p>
        </p:txBody>
      </p:sp>
      <p:sp>
        <p:nvSpPr>
          <p:cNvPr id="1001" name="shape1001"/>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Centre    2. Strand    3. Detail</a:t>
            </a:r>
          </a:p>
        </p:txBody>
      </p:sp>
      <p:sp>
        <p:nvSpPr>
          <p:cNvPr id="1002" name="shape1002"/>
          <p:cNvSpPr/>
          <p:nvPr/>
        </p:nvSpPr>
        <p:spPr>
          <a:xfrm>
            <a:off x="3520440" y="1499616"/>
            <a:ext cx="8214055" cy="295102"/>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Fundraising is harder</a:t>
            </a:r>
          </a:p>
        </p:txBody>
      </p:sp>
      <p:sp>
        <p:nvSpPr>
          <p:cNvPr id="1003" name="shape1003"/>
          <p:cNvSpPr/>
          <p:nvPr/>
        </p:nvSpPr>
        <p:spPr>
          <a:xfrm>
            <a:off x="3904488" y="1840438"/>
            <a:ext cx="7830007"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Donors</a:t>
            </a:r>
          </a:p>
        </p:txBody>
      </p:sp>
      <p:cxnSp>
        <p:nvCxnSpPr>
          <p:cNvPr id="1004" name="conn1004"/>
          <p:cNvCxnSpPr/>
          <p:nvPr/>
        </p:nvCxnSpPr>
        <p:spPr>
          <a:xfrm>
            <a:off x="3776472" y="1987989"/>
            <a:ext cx="128016" cy="1"/>
          </a:xfrm>
          <a:prstGeom prst="line">
            <a:avLst/>
          </a:prstGeom>
          <a:ln w="6350">
            <a:solidFill>
              <a:srgbClr val="C3C2B7"/>
            </a:solidFill>
          </a:ln>
        </p:spPr>
      </p:cxnSp>
      <p:sp>
        <p:nvSpPr>
          <p:cNvPr id="1005" name="shape1005"/>
          <p:cNvSpPr/>
          <p:nvPr/>
        </p:nvSpPr>
        <p:spPr>
          <a:xfrm>
            <a:off x="4288536" y="2181260"/>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Regular givers ageing</a:t>
            </a:r>
          </a:p>
        </p:txBody>
      </p:sp>
      <p:cxnSp>
        <p:nvCxnSpPr>
          <p:cNvPr id="1006" name="conn1006"/>
          <p:cNvCxnSpPr/>
          <p:nvPr/>
        </p:nvCxnSpPr>
        <p:spPr>
          <a:xfrm>
            <a:off x="4160520" y="2328811"/>
            <a:ext cx="128016" cy="1"/>
          </a:xfrm>
          <a:prstGeom prst="line">
            <a:avLst/>
          </a:prstGeom>
          <a:ln w="6350">
            <a:solidFill>
              <a:srgbClr val="C3C2B7"/>
            </a:solidFill>
          </a:ln>
        </p:spPr>
      </p:cxnSp>
      <p:sp>
        <p:nvSpPr>
          <p:cNvPr id="1007" name="shape1007"/>
          <p:cNvSpPr/>
          <p:nvPr/>
        </p:nvSpPr>
        <p:spPr>
          <a:xfrm>
            <a:off x="4288536" y="2522081"/>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Younger donors give once</a:t>
            </a:r>
          </a:p>
        </p:txBody>
      </p:sp>
      <p:cxnSp>
        <p:nvCxnSpPr>
          <p:cNvPr id="1008" name="conn1008"/>
          <p:cNvCxnSpPr/>
          <p:nvPr/>
        </p:nvCxnSpPr>
        <p:spPr>
          <a:xfrm>
            <a:off x="4160520" y="2669632"/>
            <a:ext cx="128016" cy="1"/>
          </a:xfrm>
          <a:prstGeom prst="line">
            <a:avLst/>
          </a:prstGeom>
          <a:ln w="6350">
            <a:solidFill>
              <a:srgbClr val="C3C2B7"/>
            </a:solidFill>
          </a:ln>
        </p:spPr>
      </p:cxnSp>
      <p:sp>
        <p:nvSpPr>
          <p:cNvPr id="1009" name="shape1009"/>
          <p:cNvSpPr/>
          <p:nvPr/>
        </p:nvSpPr>
        <p:spPr>
          <a:xfrm>
            <a:off x="3904488" y="2862903"/>
            <a:ext cx="7830007"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Channels</a:t>
            </a:r>
          </a:p>
        </p:txBody>
      </p:sp>
      <p:cxnSp>
        <p:nvCxnSpPr>
          <p:cNvPr id="1010" name="conn1010"/>
          <p:cNvCxnSpPr/>
          <p:nvPr/>
        </p:nvCxnSpPr>
        <p:spPr>
          <a:xfrm>
            <a:off x="3776472" y="3010454"/>
            <a:ext cx="128016" cy="1"/>
          </a:xfrm>
          <a:prstGeom prst="line">
            <a:avLst/>
          </a:prstGeom>
          <a:ln w="6350">
            <a:solidFill>
              <a:srgbClr val="C3C2B7"/>
            </a:solidFill>
          </a:ln>
        </p:spPr>
      </p:cxnSp>
      <p:sp>
        <p:nvSpPr>
          <p:cNvPr id="1011" name="shape1011"/>
          <p:cNvSpPr/>
          <p:nvPr/>
        </p:nvSpPr>
        <p:spPr>
          <a:xfrm>
            <a:off x="4288536" y="3203725"/>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Direct mail response halved</a:t>
            </a:r>
          </a:p>
        </p:txBody>
      </p:sp>
      <p:cxnSp>
        <p:nvCxnSpPr>
          <p:cNvPr id="1012" name="conn1012"/>
          <p:cNvCxnSpPr/>
          <p:nvPr/>
        </p:nvCxnSpPr>
        <p:spPr>
          <a:xfrm>
            <a:off x="4160520" y="3351276"/>
            <a:ext cx="128016" cy="1"/>
          </a:xfrm>
          <a:prstGeom prst="line">
            <a:avLst/>
          </a:prstGeom>
          <a:ln w="6350">
            <a:solidFill>
              <a:srgbClr val="C3C2B7"/>
            </a:solidFill>
          </a:ln>
        </p:spPr>
      </p:cxnSp>
      <p:sp>
        <p:nvSpPr>
          <p:cNvPr id="1013" name="shape1013"/>
          <p:cNvSpPr/>
          <p:nvPr/>
        </p:nvSpPr>
        <p:spPr>
          <a:xfrm>
            <a:off x="4288536" y="3544547"/>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No recurring option online</a:t>
            </a:r>
          </a:p>
        </p:txBody>
      </p:sp>
      <p:cxnSp>
        <p:nvCxnSpPr>
          <p:cNvPr id="1014" name="conn1014"/>
          <p:cNvCxnSpPr/>
          <p:nvPr/>
        </p:nvCxnSpPr>
        <p:spPr>
          <a:xfrm>
            <a:off x="4160520" y="3692098"/>
            <a:ext cx="128016" cy="1"/>
          </a:xfrm>
          <a:prstGeom prst="line">
            <a:avLst/>
          </a:prstGeom>
          <a:ln w="6350">
            <a:solidFill>
              <a:srgbClr val="C3C2B7"/>
            </a:solidFill>
          </a:ln>
        </p:spPr>
      </p:cxnSp>
      <p:sp>
        <p:nvSpPr>
          <p:cNvPr id="1015" name="shape1015"/>
          <p:cNvSpPr/>
          <p:nvPr/>
        </p:nvSpPr>
        <p:spPr>
          <a:xfrm>
            <a:off x="3904488" y="3885369"/>
            <a:ext cx="7830007"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Capacity</a:t>
            </a:r>
          </a:p>
        </p:txBody>
      </p:sp>
      <p:cxnSp>
        <p:nvCxnSpPr>
          <p:cNvPr id="1016" name="conn1016"/>
          <p:cNvCxnSpPr/>
          <p:nvPr/>
        </p:nvCxnSpPr>
        <p:spPr>
          <a:xfrm>
            <a:off x="3776472" y="4032920"/>
            <a:ext cx="128016" cy="1"/>
          </a:xfrm>
          <a:prstGeom prst="line">
            <a:avLst/>
          </a:prstGeom>
          <a:ln w="6350">
            <a:solidFill>
              <a:srgbClr val="C3C2B7"/>
            </a:solidFill>
          </a:ln>
        </p:spPr>
      </p:cxnSp>
      <p:sp>
        <p:nvSpPr>
          <p:cNvPr id="1017" name="shape1017"/>
          <p:cNvSpPr/>
          <p:nvPr/>
        </p:nvSpPr>
        <p:spPr>
          <a:xfrm>
            <a:off x="4288536" y="4226191"/>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Two fundraisers left, not replaced</a:t>
            </a:r>
          </a:p>
        </p:txBody>
      </p:sp>
      <p:cxnSp>
        <p:nvCxnSpPr>
          <p:cNvPr id="1018" name="conn1018"/>
          <p:cNvCxnSpPr/>
          <p:nvPr/>
        </p:nvCxnSpPr>
        <p:spPr>
          <a:xfrm>
            <a:off x="4160520" y="4373741"/>
            <a:ext cx="128016" cy="1"/>
          </a:xfrm>
          <a:prstGeom prst="line">
            <a:avLst/>
          </a:prstGeom>
          <a:ln w="6350">
            <a:solidFill>
              <a:srgbClr val="C3C2B7"/>
            </a:solidFill>
          </a:ln>
        </p:spPr>
      </p:cxnSp>
      <p:sp>
        <p:nvSpPr>
          <p:cNvPr id="1019" name="shape1019"/>
          <p:cNvSpPr/>
          <p:nvPr/>
        </p:nvSpPr>
        <p:spPr>
          <a:xfrm>
            <a:off x="3904488" y="4567012"/>
            <a:ext cx="7830007"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Competition</a:t>
            </a:r>
          </a:p>
        </p:txBody>
      </p:sp>
      <p:cxnSp>
        <p:nvCxnSpPr>
          <p:cNvPr id="1020" name="conn1020"/>
          <p:cNvCxnSpPr/>
          <p:nvPr/>
        </p:nvCxnSpPr>
        <p:spPr>
          <a:xfrm>
            <a:off x="3776472" y="4714563"/>
            <a:ext cx="128016" cy="1"/>
          </a:xfrm>
          <a:prstGeom prst="line">
            <a:avLst/>
          </a:prstGeom>
          <a:ln w="6350">
            <a:solidFill>
              <a:srgbClr val="C3C2B7"/>
            </a:solidFill>
          </a:ln>
        </p:spPr>
      </p:cxnSp>
      <p:sp>
        <p:nvSpPr>
          <p:cNvPr id="1021" name="shape1021"/>
          <p:cNvSpPr/>
          <p:nvPr/>
        </p:nvSpPr>
        <p:spPr>
          <a:xfrm>
            <a:off x="4288536" y="4907834"/>
            <a:ext cx="7445959" cy="295102"/>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Two new local charities</a:t>
            </a:r>
          </a:p>
        </p:txBody>
      </p:sp>
      <p:cxnSp>
        <p:nvCxnSpPr>
          <p:cNvPr id="1022" name="conn1022"/>
          <p:cNvCxnSpPr/>
          <p:nvPr/>
        </p:nvCxnSpPr>
        <p:spPr>
          <a:xfrm>
            <a:off x="4160520" y="5055385"/>
            <a:ext cx="128016" cy="1"/>
          </a:xfrm>
          <a:prstGeom prst="line">
            <a:avLst/>
          </a:prstGeom>
          <a:ln w="6350">
            <a:solidFill>
              <a:srgbClr val="C3C2B7"/>
            </a:solidFill>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3" name="shape102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10.29  Mind Mapping</a:t>
            </a:r>
          </a:p>
        </p:txBody>
      </p:sp>
      <p:sp>
        <p:nvSpPr>
          <p:cNvPr id="1024" name="shape102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025" name="shape102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026" name="conn1026"/>
          <p:cNvCxnSpPr/>
          <p:nvPr/>
        </p:nvCxnSpPr>
        <p:spPr>
          <a:xfrm>
            <a:off x="457200" y="1078992"/>
            <a:ext cx="11277295" cy="1"/>
          </a:xfrm>
          <a:prstGeom prst="line">
            <a:avLst/>
          </a:prstGeom>
          <a:ln w="9525">
            <a:solidFill>
              <a:srgbClr val="D9D8D0"/>
            </a:solidFill>
          </a:ln>
        </p:spPr>
      </p:cxnSp>
      <p:sp>
        <p:nvSpPr>
          <p:cNvPr id="1027" name="shape102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028" name="shape102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10.29</a:t>
            </a:r>
          </a:p>
        </p:txBody>
      </p:sp>
      <p:sp>
        <p:nvSpPr>
          <p:cNvPr id="1029" name="shape102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030" name="shape103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1031" name="shape103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032" name="shape103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Organises ideas radially around a central concept to expose structure and association during thinking.</a:t>
            </a:r>
          </a:p>
        </p:txBody>
      </p:sp>
      <p:sp>
        <p:nvSpPr>
          <p:cNvPr id="1033" name="shape103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034" name="shape103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Mind mapping is for exploring and organising thought; functional decomposition is a disciplined breakdown of scope into parts. A mind map is not a deliverable model.</a:t>
            </a:r>
          </a:p>
        </p:txBody>
      </p:sp>
      <p:sp>
        <p:nvSpPr>
          <p:cNvPr id="1035" name="shape103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036" name="shape103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6.1 Analyze Current State</a:t>
            </a:r>
          </a:p>
        </p:txBody>
      </p:sp>
      <p:sp>
        <p:nvSpPr>
          <p:cNvPr id="1037" name="shape103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Mind Mapping — blank template</a:t>
            </a:r>
          </a:p>
        </p:txBody>
      </p:sp>
      <p:sp>
        <p:nvSpPr>
          <p:cNvPr id="1038" name="shape1038"/>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Centre    2. Strand    3. Detail</a:t>
            </a:r>
          </a:p>
        </p:txBody>
      </p:sp>
      <p:sp>
        <p:nvSpPr>
          <p:cNvPr id="1039" name="shape1039"/>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Centre</a:t>
            </a:r>
          </a:p>
        </p:txBody>
      </p:sp>
      <p:sp>
        <p:nvSpPr>
          <p:cNvPr id="1040" name="shape1040"/>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Strand</a:t>
            </a:r>
          </a:p>
        </p:txBody>
      </p:sp>
      <p:cxnSp>
        <p:nvCxnSpPr>
          <p:cNvPr id="1041" name="conn1041"/>
          <p:cNvCxnSpPr/>
          <p:nvPr/>
        </p:nvCxnSpPr>
        <p:spPr>
          <a:xfrm>
            <a:off x="3776472" y="2052828"/>
            <a:ext cx="128016" cy="1"/>
          </a:xfrm>
          <a:prstGeom prst="line">
            <a:avLst/>
          </a:prstGeom>
          <a:ln w="6350">
            <a:solidFill>
              <a:srgbClr val="C3C2B7"/>
            </a:solidFill>
          </a:ln>
        </p:spPr>
      </p:cxnSp>
      <p:sp>
        <p:nvSpPr>
          <p:cNvPr id="1042" name="shape1042"/>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043" name="conn1043"/>
          <p:cNvCxnSpPr/>
          <p:nvPr/>
        </p:nvCxnSpPr>
        <p:spPr>
          <a:xfrm>
            <a:off x="4160520" y="2436876"/>
            <a:ext cx="128016" cy="1"/>
          </a:xfrm>
          <a:prstGeom prst="line">
            <a:avLst/>
          </a:prstGeom>
          <a:ln w="6350">
            <a:solidFill>
              <a:srgbClr val="C3C2B7"/>
            </a:solidFill>
          </a:ln>
        </p:spPr>
      </p:cxnSp>
      <p:sp>
        <p:nvSpPr>
          <p:cNvPr id="1044" name="shape1044"/>
          <p:cNvSpPr/>
          <p:nvPr/>
        </p:nvSpPr>
        <p:spPr>
          <a:xfrm>
            <a:off x="4288536" y="2651760"/>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045" name="conn1045"/>
          <p:cNvCxnSpPr/>
          <p:nvPr/>
        </p:nvCxnSpPr>
        <p:spPr>
          <a:xfrm>
            <a:off x="4160520" y="2820924"/>
            <a:ext cx="128016" cy="1"/>
          </a:xfrm>
          <a:prstGeom prst="line">
            <a:avLst/>
          </a:prstGeom>
          <a:ln w="6350">
            <a:solidFill>
              <a:srgbClr val="C3C2B7"/>
            </a:solidFill>
          </a:ln>
        </p:spPr>
      </p:cxnSp>
      <p:sp>
        <p:nvSpPr>
          <p:cNvPr id="1046" name="shape1046"/>
          <p:cNvSpPr/>
          <p:nvPr/>
        </p:nvSpPr>
        <p:spPr>
          <a:xfrm>
            <a:off x="3904488" y="3035808"/>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Strand</a:t>
            </a:r>
          </a:p>
        </p:txBody>
      </p:sp>
      <p:cxnSp>
        <p:nvCxnSpPr>
          <p:cNvPr id="1047" name="conn1047"/>
          <p:cNvCxnSpPr/>
          <p:nvPr/>
        </p:nvCxnSpPr>
        <p:spPr>
          <a:xfrm>
            <a:off x="3776472" y="3204972"/>
            <a:ext cx="128016" cy="1"/>
          </a:xfrm>
          <a:prstGeom prst="line">
            <a:avLst/>
          </a:prstGeom>
          <a:ln w="6350">
            <a:solidFill>
              <a:srgbClr val="C3C2B7"/>
            </a:solidFill>
          </a:ln>
        </p:spPr>
      </p:cxnSp>
      <p:sp>
        <p:nvSpPr>
          <p:cNvPr id="1048" name="shape1048"/>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049" name="conn1049"/>
          <p:cNvCxnSpPr/>
          <p:nvPr/>
        </p:nvCxnSpPr>
        <p:spPr>
          <a:xfrm>
            <a:off x="4160520" y="3589020"/>
            <a:ext cx="128016" cy="1"/>
          </a:xfrm>
          <a:prstGeom prst="line">
            <a:avLst/>
          </a:prstGeom>
          <a:ln w="6350">
            <a:solidFill>
              <a:srgbClr val="C3C2B7"/>
            </a:solidFill>
          </a:ln>
        </p:spPr>
      </p:cxnSp>
      <p:sp>
        <p:nvSpPr>
          <p:cNvPr id="1050" name="shape1050"/>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051" name="conn1051"/>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 name="shape105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10.31  Observation</a:t>
            </a:r>
          </a:p>
        </p:txBody>
      </p:sp>
      <p:sp>
        <p:nvSpPr>
          <p:cNvPr id="1053" name="shape105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054" name="shape105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055" name="conn1055"/>
          <p:cNvCxnSpPr/>
          <p:nvPr/>
        </p:nvCxnSpPr>
        <p:spPr>
          <a:xfrm>
            <a:off x="457200" y="1078992"/>
            <a:ext cx="11277295" cy="1"/>
          </a:xfrm>
          <a:prstGeom prst="line">
            <a:avLst/>
          </a:prstGeom>
          <a:ln w="9525">
            <a:solidFill>
              <a:srgbClr val="D9D8D0"/>
            </a:solidFill>
          </a:ln>
        </p:spPr>
      </p:cxnSp>
      <p:sp>
        <p:nvSpPr>
          <p:cNvPr id="1056" name="shape105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057" name="shape105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10.31</a:t>
            </a:r>
          </a:p>
        </p:txBody>
      </p:sp>
      <p:sp>
        <p:nvSpPr>
          <p:cNvPr id="1058" name="shape105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059" name="shape105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Studies work as it is actually performed, rather than as it is described.</a:t>
            </a:r>
          </a:p>
        </p:txBody>
      </p:sp>
      <p:sp>
        <p:nvSpPr>
          <p:cNvPr id="1060" name="shape106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061" name="shape106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what people say they do and what the system records do not agree, or when the work is tacit and hard to articulate.</a:t>
            </a:r>
          </a:p>
        </p:txBody>
      </p:sp>
      <p:sp>
        <p:nvSpPr>
          <p:cNvPr id="1062" name="shape106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063" name="shape106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Observation elicits from the work itself; interviews elicit from the person. If the scenario stresses that the documented procedure is not being followed, the answer is almost always observation.</a:t>
            </a:r>
          </a:p>
        </p:txBody>
      </p:sp>
      <p:sp>
        <p:nvSpPr>
          <p:cNvPr id="1064" name="shape106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065" name="shape106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6.1 Analyze Current State · 8.3 Assess Solution Limitations</a:t>
            </a:r>
          </a:p>
        </p:txBody>
      </p:sp>
      <p:sp>
        <p:nvSpPr>
          <p:cNvPr id="1066" name="shape106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End-of-shift inspection, watched across four shifts</a:t>
            </a:r>
          </a:p>
        </p:txBody>
      </p:sp>
      <p:graphicFrame>
        <p:nvGraphicFramePr>
          <p:cNvPr id="1067" name="table1067"/>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Documented step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Observed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Gap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1. Visual check of seal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Done, ~8 seconds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2. Torque verification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Skipped on 3 of 4 shifts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Tool kept in a locked cupboard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3. Sample weigh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Done for first unit only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Read as per batch, not per unit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4. Log entry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Done, backfilled at shift end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Times recorded are estimates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 name="shape106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10.31  Observation</a:t>
            </a:r>
          </a:p>
        </p:txBody>
      </p:sp>
      <p:sp>
        <p:nvSpPr>
          <p:cNvPr id="1069" name="shape106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070" name="shape107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071" name="conn1071"/>
          <p:cNvCxnSpPr/>
          <p:nvPr/>
        </p:nvCxnSpPr>
        <p:spPr>
          <a:xfrm>
            <a:off x="457200" y="1078992"/>
            <a:ext cx="11277295" cy="1"/>
          </a:xfrm>
          <a:prstGeom prst="line">
            <a:avLst/>
          </a:prstGeom>
          <a:ln w="9525">
            <a:solidFill>
              <a:srgbClr val="D9D8D0"/>
            </a:solidFill>
          </a:ln>
        </p:spPr>
      </p:cxnSp>
      <p:sp>
        <p:nvSpPr>
          <p:cNvPr id="1072" name="shape107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073" name="shape107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10.31</a:t>
            </a:r>
          </a:p>
        </p:txBody>
      </p:sp>
      <p:sp>
        <p:nvSpPr>
          <p:cNvPr id="1074" name="shape107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075" name="shape107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documented step.</a:t>
            </a:r>
          </a:p>
        </p:txBody>
      </p:sp>
      <p:sp>
        <p:nvSpPr>
          <p:cNvPr id="1076" name="shape107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077" name="shape107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Studies work as it is actually performed, rather than as it is described.</a:t>
            </a:r>
          </a:p>
        </p:txBody>
      </p:sp>
      <p:sp>
        <p:nvSpPr>
          <p:cNvPr id="1078" name="shape107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079" name="shape107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Observation elicits from the work itself; interviews elicit from the person. If the scenario stresses that the documented procedure is not being followed, the answer is almost always observation.</a:t>
            </a:r>
          </a:p>
        </p:txBody>
      </p:sp>
      <p:sp>
        <p:nvSpPr>
          <p:cNvPr id="1080" name="shape108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081" name="shape108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6.1 Analyze Current State · 8.3 Assess Solution Limitations</a:t>
            </a:r>
          </a:p>
        </p:txBody>
      </p:sp>
      <p:sp>
        <p:nvSpPr>
          <p:cNvPr id="1082" name="shape108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Observation — blank template</a:t>
            </a:r>
          </a:p>
        </p:txBody>
      </p:sp>
      <p:graphicFrame>
        <p:nvGraphicFramePr>
          <p:cNvPr id="1083" name="table1083"/>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Documented step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Observed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Gap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 name="shape108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10.36  Prototyping</a:t>
            </a:r>
          </a:p>
        </p:txBody>
      </p:sp>
      <p:sp>
        <p:nvSpPr>
          <p:cNvPr id="1085" name="shape108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086" name="shape108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087" name="conn1087"/>
          <p:cNvCxnSpPr/>
          <p:nvPr/>
        </p:nvCxnSpPr>
        <p:spPr>
          <a:xfrm>
            <a:off x="457200" y="1078992"/>
            <a:ext cx="11277295" cy="1"/>
          </a:xfrm>
          <a:prstGeom prst="line">
            <a:avLst/>
          </a:prstGeom>
          <a:ln w="9525">
            <a:solidFill>
              <a:srgbClr val="D9D8D0"/>
            </a:solidFill>
          </a:ln>
        </p:spPr>
      </p:cxnSp>
      <p:sp>
        <p:nvSpPr>
          <p:cNvPr id="1088" name="shape108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089" name="shape108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10.36</a:t>
            </a:r>
          </a:p>
        </p:txBody>
      </p:sp>
      <p:sp>
        <p:nvSpPr>
          <p:cNvPr id="1090" name="shape109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091" name="shape109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Makes an early, partial version of the solution so stakeholders can react to something concrete instead of describing something abstract.</a:t>
            </a:r>
          </a:p>
        </p:txBody>
      </p:sp>
      <p:sp>
        <p:nvSpPr>
          <p:cNvPr id="1092" name="shape109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093" name="shape109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requirements are unclear because people cannot picture the outcome, or when a technical assumption needs testing before commitment.</a:t>
            </a:r>
          </a:p>
        </p:txBody>
      </p:sp>
      <p:sp>
        <p:nvSpPr>
          <p:cNvPr id="1094" name="shape109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095" name="shape109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prototype elicits and validates; it is not the solution and not a design specification. Items where the prototype quietly becomes the build are testing whether you know the difference between throwaway and evolutionary intent.</a:t>
            </a:r>
          </a:p>
        </p:txBody>
      </p:sp>
      <p:sp>
        <p:nvSpPr>
          <p:cNvPr id="1096" name="shape109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097" name="shape109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7.5 Define Design Options · 7.3 Validate Requirements</a:t>
            </a:r>
          </a:p>
        </p:txBody>
      </p:sp>
      <p:sp>
        <p:nvSpPr>
          <p:cNvPr id="1098" name="shape109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Claims intake screen, three rounds in nine days</a:t>
            </a:r>
          </a:p>
        </p:txBody>
      </p:sp>
      <p:sp>
        <p:nvSpPr>
          <p:cNvPr id="1099" name="shape1099"/>
          <p:cNvSpPr/>
          <p:nvPr/>
        </p:nvSpPr>
        <p:spPr>
          <a:xfrm>
            <a:off x="3520440"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1</a:t>
            </a:r>
          </a:p>
          <a:p>
            <a:pPr algn="l"/>
            <a:r>
              <a:rPr lang="en-AU" sz="950" b="1" dirty="0">
                <a:solidFill>
                  <a:srgbClr val="0B0B0B"/>
                </a:solidFill>
                <a:latin typeface="Aptos"/>
              </a:rPr>
              <a:t>Paper sketch</a:t>
            </a:r>
          </a:p>
          <a:p>
            <a:pPr algn="l"/>
            <a:r>
              <a:rPr lang="en-AU" sz="800" dirty="0">
                <a:solidFill>
                  <a:srgbClr val="6B6A66"/>
                </a:solidFill>
                <a:latin typeface="Aptos"/>
              </a:rPr>
              <a:t>Field order disputed by 4 of 6 assessors</a:t>
            </a:r>
          </a:p>
        </p:txBody>
      </p:sp>
      <p:cxnSp>
        <p:nvCxnSpPr>
          <p:cNvPr id="1100" name="conn1100"/>
          <p:cNvCxnSpPr/>
          <p:nvPr/>
        </p:nvCxnSpPr>
        <p:spPr>
          <a:xfrm>
            <a:off x="5441366" y="2185416"/>
            <a:ext cx="164592" cy="1"/>
          </a:xfrm>
          <a:prstGeom prst="line">
            <a:avLst/>
          </a:prstGeom>
          <a:ln w="12700">
            <a:solidFill>
              <a:srgbClr val="C3C2B7"/>
            </a:solidFill>
            <a:tailEnd type="triangle" w="med" len="med"/>
          </a:ln>
        </p:spPr>
      </p:cxnSp>
      <p:sp>
        <p:nvSpPr>
          <p:cNvPr id="1101" name="shape1101"/>
          <p:cNvSpPr/>
          <p:nvPr/>
        </p:nvSpPr>
        <p:spPr>
          <a:xfrm>
            <a:off x="5624246"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2</a:t>
            </a:r>
          </a:p>
          <a:p>
            <a:pPr algn="l"/>
            <a:r>
              <a:rPr lang="en-AU" sz="950" b="1" dirty="0">
                <a:solidFill>
                  <a:srgbClr val="0B0B0B"/>
                </a:solidFill>
                <a:latin typeface="Aptos"/>
              </a:rPr>
              <a:t>Clickable, 1 screen</a:t>
            </a:r>
          </a:p>
          <a:p>
            <a:pPr algn="l"/>
            <a:r>
              <a:rPr lang="en-AU" sz="800" dirty="0">
                <a:solidFill>
                  <a:srgbClr val="6B6A66"/>
                </a:solidFill>
                <a:latin typeface="Aptos"/>
              </a:rPr>
              <a:t>Reveals the missing duplicate-claim check</a:t>
            </a:r>
          </a:p>
        </p:txBody>
      </p:sp>
      <p:cxnSp>
        <p:nvCxnSpPr>
          <p:cNvPr id="1102" name="conn1102"/>
          <p:cNvCxnSpPr/>
          <p:nvPr/>
        </p:nvCxnSpPr>
        <p:spPr>
          <a:xfrm>
            <a:off x="7545172" y="2185416"/>
            <a:ext cx="164592" cy="1"/>
          </a:xfrm>
          <a:prstGeom prst="line">
            <a:avLst/>
          </a:prstGeom>
          <a:ln w="12700">
            <a:solidFill>
              <a:srgbClr val="C3C2B7"/>
            </a:solidFill>
            <a:tailEnd type="triangle" w="med" len="med"/>
          </a:ln>
        </p:spPr>
      </p:cxnSp>
      <p:sp>
        <p:nvSpPr>
          <p:cNvPr id="1103" name="shape1103"/>
          <p:cNvSpPr/>
          <p:nvPr/>
        </p:nvSpPr>
        <p:spPr>
          <a:xfrm>
            <a:off x="7728052"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3</a:t>
            </a:r>
          </a:p>
          <a:p>
            <a:pPr algn="l"/>
            <a:r>
              <a:rPr lang="en-AU" sz="950" b="1" dirty="0">
                <a:solidFill>
                  <a:srgbClr val="0B0B0B"/>
                </a:solidFill>
                <a:latin typeface="Aptos"/>
              </a:rPr>
              <a:t>Clickable, 4 screens</a:t>
            </a:r>
          </a:p>
          <a:p>
            <a:pPr algn="l"/>
            <a:r>
              <a:rPr lang="en-AU" sz="800" dirty="0">
                <a:solidFill>
                  <a:srgbClr val="6B6A66"/>
                </a:solidFill>
                <a:latin typeface="Aptos"/>
              </a:rPr>
              <a:t>Agreed; requirements written from it</a:t>
            </a:r>
          </a:p>
        </p:txBody>
      </p:sp>
      <p:cxnSp>
        <p:nvCxnSpPr>
          <p:cNvPr id="1104" name="conn1104"/>
          <p:cNvCxnSpPr/>
          <p:nvPr/>
        </p:nvCxnSpPr>
        <p:spPr>
          <a:xfrm>
            <a:off x="9648977" y="2185416"/>
            <a:ext cx="164592" cy="1"/>
          </a:xfrm>
          <a:prstGeom prst="line">
            <a:avLst/>
          </a:prstGeom>
          <a:ln w="12700">
            <a:solidFill>
              <a:srgbClr val="C3C2B7"/>
            </a:solidFill>
            <a:tailEnd type="triangle" w="med" len="med"/>
          </a:ln>
        </p:spPr>
      </p:cxnSp>
      <p:sp>
        <p:nvSpPr>
          <p:cNvPr id="1105" name="shape1105"/>
          <p:cNvSpPr/>
          <p:nvPr/>
        </p:nvSpPr>
        <p:spPr>
          <a:xfrm>
            <a:off x="9831857"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THEN</a:t>
            </a:r>
          </a:p>
          <a:p>
            <a:pPr algn="l"/>
            <a:r>
              <a:rPr lang="en-AU" sz="950" b="1" dirty="0">
                <a:solidFill>
                  <a:srgbClr val="0B0B0B"/>
                </a:solidFill>
                <a:latin typeface="Aptos"/>
              </a:rPr>
              <a:t>Discarded</a:t>
            </a:r>
          </a:p>
          <a:p>
            <a:pPr algn="l"/>
            <a:r>
              <a:rPr lang="en-AU" sz="800" dirty="0">
                <a:solidFill>
                  <a:srgbClr val="6B6A66"/>
                </a:solidFill>
                <a:latin typeface="Aptos"/>
              </a:rPr>
              <a:t>No error handling, no security model, no tests</a:t>
            </a:r>
          </a:p>
        </p:txBody>
      </p:sp>
      <p:sp>
        <p:nvSpPr>
          <p:cNvPr id="1106" name="shape1106"/>
          <p:cNvSpPr/>
          <p:nvPr/>
        </p:nvSpPr>
        <p:spPr>
          <a:xfrm>
            <a:off x="3520440" y="3017520"/>
            <a:ext cx="8214055" cy="256032"/>
          </a:xfrm>
          <a:prstGeom prst="rect">
            <a:avLst/>
          </a:prstGeom>
          <a:noFill/>
          <a:ln>
            <a:noFill/>
          </a:ln>
        </p:spPr>
        <p:txBody>
          <a:bodyPr wrap="square" anchor="ctr" lIns="0" rIns="0" tIns="27432" bIns="27432"/>
          <a:lstStyle/>
          <a:p>
            <a:pPr algn="l"/>
            <a:r>
              <a:rPr lang="en-AU" sz="850" dirty="0">
                <a:solidFill>
                  <a:srgbClr val="6B6A66"/>
                </a:solidFill>
                <a:latin typeface="Aptos"/>
              </a:rPr>
              <a:t>↳ Discarded — — throwaway by intent. Deciding to extend it later is a different decision, made once.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shape110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10.36  Prototyping</a:t>
            </a:r>
          </a:p>
        </p:txBody>
      </p:sp>
      <p:sp>
        <p:nvSpPr>
          <p:cNvPr id="1108" name="shape110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109" name="shape110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110" name="conn1110"/>
          <p:cNvCxnSpPr/>
          <p:nvPr/>
        </p:nvCxnSpPr>
        <p:spPr>
          <a:xfrm>
            <a:off x="457200" y="1078992"/>
            <a:ext cx="11277295" cy="1"/>
          </a:xfrm>
          <a:prstGeom prst="line">
            <a:avLst/>
          </a:prstGeom>
          <a:ln w="9525">
            <a:solidFill>
              <a:srgbClr val="D9D8D0"/>
            </a:solidFill>
          </a:ln>
        </p:spPr>
      </p:cxnSp>
      <p:sp>
        <p:nvSpPr>
          <p:cNvPr id="1111" name="shape111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112" name="shape111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10.36</a:t>
            </a:r>
          </a:p>
        </p:txBody>
      </p:sp>
      <p:sp>
        <p:nvSpPr>
          <p:cNvPr id="1113" name="shape111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114" name="shape111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Record what can go wrong at each step underneath, not only the path where everything works.</a:t>
            </a:r>
          </a:p>
        </p:txBody>
      </p:sp>
      <p:sp>
        <p:nvSpPr>
          <p:cNvPr id="1115" name="shape111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116" name="shape111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Makes an early, partial version of the solution so stakeholders can react to something concrete instead of describing something abstract.</a:t>
            </a:r>
          </a:p>
        </p:txBody>
      </p:sp>
      <p:sp>
        <p:nvSpPr>
          <p:cNvPr id="1117" name="shape111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118" name="shape111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prototype elicits and validates; it is not the solution and not a design specification. Items where the prototype quietly becomes the build are testing whether you know the difference between throwaway and evolutionary intent.</a:t>
            </a:r>
          </a:p>
        </p:txBody>
      </p:sp>
      <p:sp>
        <p:nvSpPr>
          <p:cNvPr id="1119" name="shape111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120" name="shape112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7.5 Define Design Options · 7.3 Validate Requirements</a:t>
            </a:r>
          </a:p>
        </p:txBody>
      </p:sp>
      <p:sp>
        <p:nvSpPr>
          <p:cNvPr id="1121" name="shape112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Prototyping — blank template</a:t>
            </a:r>
          </a:p>
        </p:txBody>
      </p:sp>
      <p:sp>
        <p:nvSpPr>
          <p:cNvPr id="1122" name="shape1122"/>
          <p:cNvSpPr/>
          <p:nvPr/>
        </p:nvSpPr>
        <p:spPr>
          <a:xfrm>
            <a:off x="3520440"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1</a:t>
            </a:r>
          </a:p>
          <a:p>
            <a:pPr algn="l"/>
            <a:r>
              <a:rPr lang="en-AU" sz="950" b="1" dirty="0">
                <a:solidFill>
                  <a:srgbClr val="0B0B0B"/>
                </a:solidFill>
                <a:latin typeface="Aptos"/>
              </a:rPr>
              <a:t>Step 1</a:t>
            </a:r>
          </a:p>
        </p:txBody>
      </p:sp>
      <p:cxnSp>
        <p:nvCxnSpPr>
          <p:cNvPr id="1123" name="conn1123"/>
          <p:cNvCxnSpPr/>
          <p:nvPr/>
        </p:nvCxnSpPr>
        <p:spPr>
          <a:xfrm>
            <a:off x="5441366" y="2185416"/>
            <a:ext cx="164592" cy="1"/>
          </a:xfrm>
          <a:prstGeom prst="line">
            <a:avLst/>
          </a:prstGeom>
          <a:ln w="12700">
            <a:solidFill>
              <a:srgbClr val="C3C2B7"/>
            </a:solidFill>
            <a:tailEnd type="triangle" w="med" len="med"/>
          </a:ln>
        </p:spPr>
      </p:cxnSp>
      <p:sp>
        <p:nvSpPr>
          <p:cNvPr id="1124" name="shape1124"/>
          <p:cNvSpPr/>
          <p:nvPr/>
        </p:nvSpPr>
        <p:spPr>
          <a:xfrm>
            <a:off x="5624246"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2</a:t>
            </a:r>
          </a:p>
          <a:p>
            <a:pPr algn="l"/>
            <a:r>
              <a:rPr lang="en-AU" sz="950" b="1" dirty="0">
                <a:solidFill>
                  <a:srgbClr val="0B0B0B"/>
                </a:solidFill>
                <a:latin typeface="Aptos"/>
              </a:rPr>
              <a:t>Step 2</a:t>
            </a:r>
          </a:p>
        </p:txBody>
      </p:sp>
      <p:cxnSp>
        <p:nvCxnSpPr>
          <p:cNvPr id="1125" name="conn1125"/>
          <p:cNvCxnSpPr/>
          <p:nvPr/>
        </p:nvCxnSpPr>
        <p:spPr>
          <a:xfrm>
            <a:off x="7545172" y="2185416"/>
            <a:ext cx="164592" cy="1"/>
          </a:xfrm>
          <a:prstGeom prst="line">
            <a:avLst/>
          </a:prstGeom>
          <a:ln w="12700">
            <a:solidFill>
              <a:srgbClr val="C3C2B7"/>
            </a:solidFill>
            <a:tailEnd type="triangle" w="med" len="med"/>
          </a:ln>
        </p:spPr>
      </p:cxnSp>
      <p:sp>
        <p:nvSpPr>
          <p:cNvPr id="1126" name="shape1126"/>
          <p:cNvSpPr/>
          <p:nvPr/>
        </p:nvSpPr>
        <p:spPr>
          <a:xfrm>
            <a:off x="7728052"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ROUND 3</a:t>
            </a:r>
          </a:p>
          <a:p>
            <a:pPr algn="l"/>
            <a:r>
              <a:rPr lang="en-AU" sz="950" b="1" dirty="0">
                <a:solidFill>
                  <a:srgbClr val="0B0B0B"/>
                </a:solidFill>
                <a:latin typeface="Aptos"/>
              </a:rPr>
              <a:t>Step 3</a:t>
            </a:r>
          </a:p>
        </p:txBody>
      </p:sp>
      <p:cxnSp>
        <p:nvCxnSpPr>
          <p:cNvPr id="1127" name="conn1127"/>
          <p:cNvCxnSpPr/>
          <p:nvPr/>
        </p:nvCxnSpPr>
        <p:spPr>
          <a:xfrm>
            <a:off x="9648977" y="2185416"/>
            <a:ext cx="164592" cy="1"/>
          </a:xfrm>
          <a:prstGeom prst="line">
            <a:avLst/>
          </a:prstGeom>
          <a:ln w="12700">
            <a:solidFill>
              <a:srgbClr val="C3C2B7"/>
            </a:solidFill>
            <a:tailEnd type="triangle" w="med" len="med"/>
          </a:ln>
        </p:spPr>
      </p:cxnSp>
      <p:sp>
        <p:nvSpPr>
          <p:cNvPr id="1128" name="shape1128"/>
          <p:cNvSpPr/>
          <p:nvPr/>
        </p:nvSpPr>
        <p:spPr>
          <a:xfrm>
            <a:off x="9831857" y="1499616"/>
            <a:ext cx="1902638"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THEN</a:t>
            </a:r>
          </a:p>
          <a:p>
            <a:pPr algn="l"/>
            <a:r>
              <a:rPr lang="en-AU" sz="950" b="1" dirty="0">
                <a:solidFill>
                  <a:srgbClr val="0B0B0B"/>
                </a:solidFill>
                <a:latin typeface="Aptos"/>
              </a:rPr>
              <a:t>Step 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shape112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10.45  Survey or Questionnaire</a:t>
            </a:r>
          </a:p>
        </p:txBody>
      </p:sp>
      <p:sp>
        <p:nvSpPr>
          <p:cNvPr id="1130" name="shape113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131" name="shape113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132" name="conn1132"/>
          <p:cNvCxnSpPr/>
          <p:nvPr/>
        </p:nvCxnSpPr>
        <p:spPr>
          <a:xfrm>
            <a:off x="457200" y="1078992"/>
            <a:ext cx="11277295" cy="1"/>
          </a:xfrm>
          <a:prstGeom prst="line">
            <a:avLst/>
          </a:prstGeom>
          <a:ln w="9525">
            <a:solidFill>
              <a:srgbClr val="D9D8D0"/>
            </a:solidFill>
          </a:ln>
        </p:spPr>
      </p:cxnSp>
      <p:sp>
        <p:nvSpPr>
          <p:cNvPr id="1133" name="shape113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134" name="shape113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10.45</a:t>
            </a:r>
          </a:p>
        </p:txBody>
      </p:sp>
      <p:sp>
        <p:nvSpPr>
          <p:cNvPr id="1135" name="shape113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136" name="shape113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Collects information from many respondents through a structured instrument, closed for measurement or open for exploration.</a:t>
            </a:r>
          </a:p>
        </p:txBody>
      </p:sp>
      <p:sp>
        <p:nvSpPr>
          <p:cNvPr id="1137" name="shape113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138" name="shape113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you need breadth, statistical weight, or input from people too numerous or dispersed to meet.</a:t>
            </a:r>
          </a:p>
        </p:txBody>
      </p:sp>
      <p:sp>
        <p:nvSpPr>
          <p:cNvPr id="1139" name="shape113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140" name="shape114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Surveys give breadth without depth and cannot ask the follow-up question. Items where the sample is self-selected, or the response rate is poor, are testing whether you treat the result as evidence or as a signal to go and interview.</a:t>
            </a:r>
          </a:p>
        </p:txBody>
      </p:sp>
      <p:sp>
        <p:nvSpPr>
          <p:cNvPr id="1141" name="shape114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142" name="shape114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8.1 Measure Solution Performance · 6.1 Analyze Current State</a:t>
            </a:r>
          </a:p>
        </p:txBody>
      </p:sp>
      <p:sp>
        <p:nvSpPr>
          <p:cNvPr id="1143" name="shape114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Post-launch instrument, issued to all 12,000 users</a:t>
            </a:r>
          </a:p>
        </p:txBody>
      </p:sp>
      <p:sp>
        <p:nvSpPr>
          <p:cNvPr id="1144" name="shape1144"/>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Issued by email to the full list, not by a banner on the portal, so non-users are reachable.</a:t>
            </a:r>
          </a:p>
        </p:txBody>
      </p:sp>
      <p:graphicFrame>
        <p:nvGraphicFramePr>
          <p:cNvPr id="1145" name="table1145"/>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Question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Guards against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Did you complete what you came to do?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Yes / No / Partly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Measuring satisfaction instead of success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How many attempts did it take?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1 / 2 / 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Self-reported ease, which flatters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Which channel did you try first?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Choice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Missing the people who never reached the portal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What stopped you, if anything?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Open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Closed lists that only offer failures we predicted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 name="shape114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10.45  Survey or Questionnaire</a:t>
            </a:r>
          </a:p>
        </p:txBody>
      </p:sp>
      <p:sp>
        <p:nvSpPr>
          <p:cNvPr id="1147" name="shape114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148" name="shape114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149" name="conn1149"/>
          <p:cNvCxnSpPr/>
          <p:nvPr/>
        </p:nvCxnSpPr>
        <p:spPr>
          <a:xfrm>
            <a:off x="457200" y="1078992"/>
            <a:ext cx="11277295" cy="1"/>
          </a:xfrm>
          <a:prstGeom prst="line">
            <a:avLst/>
          </a:prstGeom>
          <a:ln w="9525">
            <a:solidFill>
              <a:srgbClr val="D9D8D0"/>
            </a:solidFill>
          </a:ln>
        </p:spPr>
      </p:cxnSp>
      <p:sp>
        <p:nvSpPr>
          <p:cNvPr id="1150" name="shape115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151" name="shape115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10.45</a:t>
            </a:r>
          </a:p>
        </p:txBody>
      </p:sp>
      <p:sp>
        <p:nvSpPr>
          <p:cNvPr id="1152" name="shape115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153" name="shape115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question.</a:t>
            </a:r>
          </a:p>
        </p:txBody>
      </p:sp>
      <p:sp>
        <p:nvSpPr>
          <p:cNvPr id="1154" name="shape115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155" name="shape115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Collects information from many respondents through a structured instrument, closed for measurement or open for exploration.</a:t>
            </a:r>
          </a:p>
        </p:txBody>
      </p:sp>
      <p:sp>
        <p:nvSpPr>
          <p:cNvPr id="1156" name="shape115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157" name="shape115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Surveys give breadth without depth and cannot ask the follow-up question. Items where the sample is self-selected, or the response rate is poor, are testing whether you treat the result as evidence or as a signal to go and interview.</a:t>
            </a:r>
          </a:p>
        </p:txBody>
      </p:sp>
      <p:sp>
        <p:nvSpPr>
          <p:cNvPr id="1158" name="shape115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159" name="shape115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8.1 Measure Solution Performance · 6.1 Analyze Current State</a:t>
            </a:r>
          </a:p>
        </p:txBody>
      </p:sp>
      <p:sp>
        <p:nvSpPr>
          <p:cNvPr id="1160" name="shape116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Survey or Questionnaire — blank template</a:t>
            </a:r>
          </a:p>
        </p:txBody>
      </p:sp>
      <p:graphicFrame>
        <p:nvGraphicFramePr>
          <p:cNvPr id="1161" name="table1161"/>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Question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Guards against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 name="shape116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10.50  Workshops</a:t>
            </a:r>
          </a:p>
        </p:txBody>
      </p:sp>
      <p:sp>
        <p:nvSpPr>
          <p:cNvPr id="1163" name="shape116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164" name="shape116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165" name="conn1165"/>
          <p:cNvCxnSpPr/>
          <p:nvPr/>
        </p:nvCxnSpPr>
        <p:spPr>
          <a:xfrm>
            <a:off x="457200" y="1078992"/>
            <a:ext cx="11277295" cy="1"/>
          </a:xfrm>
          <a:prstGeom prst="line">
            <a:avLst/>
          </a:prstGeom>
          <a:ln w="9525">
            <a:solidFill>
              <a:srgbClr val="D9D8D0"/>
            </a:solidFill>
          </a:ln>
        </p:spPr>
      </p:cxnSp>
      <p:sp>
        <p:nvSpPr>
          <p:cNvPr id="1166" name="shape116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167" name="shape116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10.50</a:t>
            </a:r>
          </a:p>
        </p:txBody>
      </p:sp>
      <p:sp>
        <p:nvSpPr>
          <p:cNvPr id="1168" name="shape116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169" name="shape116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Brings the right stakeholders together in a facilitated, purposeful session that ends in a defined work product.</a:t>
            </a:r>
          </a:p>
        </p:txBody>
      </p:sp>
      <p:sp>
        <p:nvSpPr>
          <p:cNvPr id="1170" name="shape117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171" name="shape117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 or a shared model needs several parties in the room at once, and serial consultation would take too long or never converge.</a:t>
            </a:r>
          </a:p>
        </p:txBody>
      </p:sp>
      <p:sp>
        <p:nvSpPr>
          <p:cNvPr id="1172" name="shape117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173" name="shape117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workshop produces an agreed output; a focus group gathers views; a meeting has no such contract. The presence of a facilitator, a defined output and a scribe is what makes it a workshop.</a:t>
            </a:r>
          </a:p>
        </p:txBody>
      </p:sp>
      <p:sp>
        <p:nvSpPr>
          <p:cNvPr id="1174" name="shape117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175" name="shape117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4.3 Confirm Elicitation Results · 7.3 Validate Requirements</a:t>
            </a:r>
          </a:p>
        </p:txBody>
      </p:sp>
      <p:sp>
        <p:nvSpPr>
          <p:cNvPr id="1176" name="shape117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Extension rules, five faculties, one session</a:t>
            </a:r>
          </a:p>
        </p:txBody>
      </p:sp>
      <p:sp>
        <p:nvSpPr>
          <p:cNvPr id="1177" name="shape1177"/>
          <p:cNvSpPr/>
          <p:nvPr/>
        </p:nvSpPr>
        <p:spPr>
          <a:xfrm>
            <a:off x="3520440"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BEFORE</a:t>
            </a:r>
          </a:p>
          <a:p>
            <a:pPr algn="l"/>
            <a:r>
              <a:rPr lang="en-AU" sz="950" b="1" dirty="0">
                <a:solidFill>
                  <a:srgbClr val="0B0B0B"/>
                </a:solidFill>
                <a:latin typeface="Aptos"/>
              </a:rPr>
              <a:t>Circulate the five current practices</a:t>
            </a:r>
          </a:p>
          <a:p>
            <a:pPr algn="l"/>
            <a:r>
              <a:rPr lang="en-AU" sz="800" dirty="0">
                <a:solidFill>
                  <a:srgbClr val="6B6A66"/>
                </a:solidFill>
                <a:latin typeface="Aptos"/>
              </a:rPr>
              <a:t>Read in advance, not in the room</a:t>
            </a:r>
          </a:p>
        </p:txBody>
      </p:sp>
      <p:cxnSp>
        <p:nvCxnSpPr>
          <p:cNvPr id="1178" name="conn1178"/>
          <p:cNvCxnSpPr/>
          <p:nvPr/>
        </p:nvCxnSpPr>
        <p:spPr>
          <a:xfrm>
            <a:off x="5020605" y="2185416"/>
            <a:ext cx="164592" cy="1"/>
          </a:xfrm>
          <a:prstGeom prst="line">
            <a:avLst/>
          </a:prstGeom>
          <a:ln w="12700">
            <a:solidFill>
              <a:srgbClr val="C3C2B7"/>
            </a:solidFill>
            <a:tailEnd type="triangle" w="med" len="med"/>
          </a:ln>
        </p:spPr>
      </p:cxnSp>
      <p:sp>
        <p:nvSpPr>
          <p:cNvPr id="1179" name="shape1179"/>
          <p:cNvSpPr/>
          <p:nvPr/>
        </p:nvSpPr>
        <p:spPr>
          <a:xfrm>
            <a:off x="5203485"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OPEN</a:t>
            </a:r>
          </a:p>
          <a:p>
            <a:pPr algn="l"/>
            <a:r>
              <a:rPr lang="en-AU" sz="950" b="1" dirty="0">
                <a:solidFill>
                  <a:srgbClr val="0B0B0B"/>
                </a:solidFill>
                <a:latin typeface="Aptos"/>
              </a:rPr>
              <a:t>State the output</a:t>
            </a:r>
          </a:p>
          <a:p>
            <a:pPr algn="l"/>
            <a:r>
              <a:rPr lang="en-AU" sz="800" dirty="0">
                <a:solidFill>
                  <a:srgbClr val="6B6A66"/>
                </a:solidFill>
                <a:latin typeface="Aptos"/>
              </a:rPr>
              <a:t>One rule set, agreed today</a:t>
            </a:r>
          </a:p>
        </p:txBody>
      </p:sp>
      <p:cxnSp>
        <p:nvCxnSpPr>
          <p:cNvPr id="1180" name="conn1180"/>
          <p:cNvCxnSpPr/>
          <p:nvPr/>
        </p:nvCxnSpPr>
        <p:spPr>
          <a:xfrm>
            <a:off x="6703649" y="2185416"/>
            <a:ext cx="164592" cy="1"/>
          </a:xfrm>
          <a:prstGeom prst="line">
            <a:avLst/>
          </a:prstGeom>
          <a:ln w="12700">
            <a:solidFill>
              <a:srgbClr val="C3C2B7"/>
            </a:solidFill>
            <a:tailEnd type="triangle" w="med" len="med"/>
          </a:ln>
        </p:spPr>
      </p:cxnSp>
      <p:sp>
        <p:nvSpPr>
          <p:cNvPr id="1181" name="shape1181"/>
          <p:cNvSpPr/>
          <p:nvPr/>
        </p:nvSpPr>
        <p:spPr>
          <a:xfrm>
            <a:off x="6886529"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WORK</a:t>
            </a:r>
          </a:p>
          <a:p>
            <a:pPr algn="l"/>
            <a:r>
              <a:rPr lang="en-AU" sz="950" b="1" dirty="0">
                <a:solidFill>
                  <a:srgbClr val="0B0B0B"/>
                </a:solidFill>
                <a:latin typeface="Aptos"/>
              </a:rPr>
              <a:t>Reconcile clause by clause</a:t>
            </a:r>
          </a:p>
          <a:p>
            <a:pPr algn="l"/>
            <a:r>
              <a:rPr lang="en-AU" sz="800" dirty="0">
                <a:solidFill>
                  <a:srgbClr val="6B6A66"/>
                </a:solidFill>
                <a:latin typeface="Aptos"/>
              </a:rPr>
              <a:t>Divergences parked, not debated</a:t>
            </a:r>
          </a:p>
        </p:txBody>
      </p:sp>
      <p:cxnSp>
        <p:nvCxnSpPr>
          <p:cNvPr id="1182" name="conn1182"/>
          <p:cNvCxnSpPr/>
          <p:nvPr/>
        </p:nvCxnSpPr>
        <p:spPr>
          <a:xfrm>
            <a:off x="8386694" y="2185416"/>
            <a:ext cx="164592" cy="1"/>
          </a:xfrm>
          <a:prstGeom prst="line">
            <a:avLst/>
          </a:prstGeom>
          <a:ln w="12700">
            <a:solidFill>
              <a:srgbClr val="C3C2B7"/>
            </a:solidFill>
            <a:tailEnd type="triangle" w="med" len="med"/>
          </a:ln>
        </p:spPr>
      </p:cxnSp>
      <p:sp>
        <p:nvSpPr>
          <p:cNvPr id="1183" name="shape1183"/>
          <p:cNvSpPr/>
          <p:nvPr/>
        </p:nvSpPr>
        <p:spPr>
          <a:xfrm>
            <a:off x="8569574"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DECIDE</a:t>
            </a:r>
          </a:p>
          <a:p>
            <a:pPr algn="l"/>
            <a:r>
              <a:rPr lang="en-AU" sz="950" b="1" dirty="0">
                <a:solidFill>
                  <a:srgbClr val="0B0B0B"/>
                </a:solidFill>
                <a:latin typeface="Aptos"/>
              </a:rPr>
              <a:t>Resolve the parked list</a:t>
            </a:r>
          </a:p>
          <a:p>
            <a:pPr algn="l"/>
            <a:r>
              <a:rPr lang="en-AU" sz="800" dirty="0">
                <a:solidFill>
                  <a:srgbClr val="6B6A66"/>
                </a:solidFill>
                <a:latin typeface="Aptos"/>
              </a:rPr>
              <a:t>7 items, 5 agreed, 2 escalated</a:t>
            </a:r>
          </a:p>
        </p:txBody>
      </p:sp>
      <p:cxnSp>
        <p:nvCxnSpPr>
          <p:cNvPr id="1184" name="conn1184"/>
          <p:cNvCxnSpPr/>
          <p:nvPr/>
        </p:nvCxnSpPr>
        <p:spPr>
          <a:xfrm>
            <a:off x="10069739" y="2185416"/>
            <a:ext cx="164592" cy="1"/>
          </a:xfrm>
          <a:prstGeom prst="line">
            <a:avLst/>
          </a:prstGeom>
          <a:ln w="12700">
            <a:solidFill>
              <a:srgbClr val="C3C2B7"/>
            </a:solidFill>
            <a:tailEnd type="triangle" w="med" len="med"/>
          </a:ln>
        </p:spPr>
      </p:cxnSp>
      <p:sp>
        <p:nvSpPr>
          <p:cNvPr id="1185" name="shape1185"/>
          <p:cNvSpPr/>
          <p:nvPr/>
        </p:nvSpPr>
        <p:spPr>
          <a:xfrm>
            <a:off x="10252619"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CLOSE</a:t>
            </a:r>
          </a:p>
          <a:p>
            <a:pPr algn="l"/>
            <a:r>
              <a:rPr lang="en-AU" sz="950" b="1" dirty="0">
                <a:solidFill>
                  <a:srgbClr val="0B0B0B"/>
                </a:solidFill>
                <a:latin typeface="Aptos"/>
              </a:rPr>
              <a:t>Read back and confirm</a:t>
            </a:r>
          </a:p>
          <a:p>
            <a:pPr algn="l"/>
            <a:r>
              <a:rPr lang="en-AU" sz="800" dirty="0">
                <a:solidFill>
                  <a:srgbClr val="6B6A66"/>
                </a:solidFill>
                <a:latin typeface="Aptos"/>
              </a:rPr>
              <a:t>Scribe reads the decisions aloud</a:t>
            </a:r>
          </a:p>
        </p:txBody>
      </p:sp>
      <p:sp>
        <p:nvSpPr>
          <p:cNvPr id="1186" name="shape1186"/>
          <p:cNvSpPr/>
          <p:nvPr/>
        </p:nvSpPr>
        <p:spPr>
          <a:xfrm>
            <a:off x="3520440" y="3017520"/>
            <a:ext cx="8214055" cy="256032"/>
          </a:xfrm>
          <a:prstGeom prst="rect">
            <a:avLst/>
          </a:prstGeom>
          <a:noFill/>
          <a:ln>
            <a:noFill/>
          </a:ln>
        </p:spPr>
        <p:txBody>
          <a:bodyPr wrap="square" anchor="ctr" lIns="0" rIns="0" tIns="27432" bIns="27432"/>
          <a:lstStyle/>
          <a:p>
            <a:pPr algn="l"/>
            <a:r>
              <a:rPr lang="en-AU" sz="850" dirty="0">
                <a:solidFill>
                  <a:srgbClr val="6B6A66"/>
                </a:solidFill>
                <a:latin typeface="Aptos"/>
              </a:rPr>
              <a:t>↳ State the output — — without this it is a meeting, and three of them have already produced nothing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 name="shape118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10.50  Workshops</a:t>
            </a:r>
          </a:p>
        </p:txBody>
      </p:sp>
      <p:sp>
        <p:nvSpPr>
          <p:cNvPr id="1188" name="shape118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Elicitation and collaboration</a:t>
            </a:r>
          </a:p>
        </p:txBody>
      </p:sp>
      <p:sp>
        <p:nvSpPr>
          <p:cNvPr id="1189" name="shape118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190" name="conn1190"/>
          <p:cNvCxnSpPr/>
          <p:nvPr/>
        </p:nvCxnSpPr>
        <p:spPr>
          <a:xfrm>
            <a:off x="457200" y="1078992"/>
            <a:ext cx="11277295" cy="1"/>
          </a:xfrm>
          <a:prstGeom prst="line">
            <a:avLst/>
          </a:prstGeom>
          <a:ln w="9525">
            <a:solidFill>
              <a:srgbClr val="D9D8D0"/>
            </a:solidFill>
          </a:ln>
        </p:spPr>
      </p:cxnSp>
      <p:sp>
        <p:nvSpPr>
          <p:cNvPr id="1191" name="shape119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192" name="shape119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10.50</a:t>
            </a:r>
          </a:p>
        </p:txBody>
      </p:sp>
      <p:sp>
        <p:nvSpPr>
          <p:cNvPr id="1193" name="shape119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194" name="shape119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Record what can go wrong at each step underneath, not only the path where everything works.</a:t>
            </a:r>
          </a:p>
        </p:txBody>
      </p:sp>
      <p:sp>
        <p:nvSpPr>
          <p:cNvPr id="1195" name="shape119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196" name="shape119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Brings the right stakeholders together in a facilitated, purposeful session that ends in a defined work product.</a:t>
            </a:r>
          </a:p>
        </p:txBody>
      </p:sp>
      <p:sp>
        <p:nvSpPr>
          <p:cNvPr id="1197" name="shape119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198" name="shape119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workshop produces an agreed output; a focus group gathers views; a meeting has no such contract. The presence of a facilitator, a defined output and a scribe is what makes it a workshop.</a:t>
            </a:r>
          </a:p>
        </p:txBody>
      </p:sp>
      <p:sp>
        <p:nvSpPr>
          <p:cNvPr id="1199" name="shape119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200" name="shape120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4.2 Conduct Elicitation · 4.3 Confirm Elicitation Results · 7.3 Validate Requirements</a:t>
            </a:r>
          </a:p>
        </p:txBody>
      </p:sp>
      <p:sp>
        <p:nvSpPr>
          <p:cNvPr id="1201" name="shape120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Workshops — blank template</a:t>
            </a:r>
          </a:p>
        </p:txBody>
      </p:sp>
      <p:sp>
        <p:nvSpPr>
          <p:cNvPr id="1202" name="shape1202"/>
          <p:cNvSpPr/>
          <p:nvPr/>
        </p:nvSpPr>
        <p:spPr>
          <a:xfrm>
            <a:off x="3520440"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BEFORE</a:t>
            </a:r>
          </a:p>
          <a:p>
            <a:pPr algn="l"/>
            <a:r>
              <a:rPr lang="en-AU" sz="950" b="1" dirty="0">
                <a:solidFill>
                  <a:srgbClr val="0B0B0B"/>
                </a:solidFill>
                <a:latin typeface="Aptos"/>
              </a:rPr>
              <a:t>Step 1</a:t>
            </a:r>
          </a:p>
        </p:txBody>
      </p:sp>
      <p:cxnSp>
        <p:nvCxnSpPr>
          <p:cNvPr id="1203" name="conn1203"/>
          <p:cNvCxnSpPr/>
          <p:nvPr/>
        </p:nvCxnSpPr>
        <p:spPr>
          <a:xfrm>
            <a:off x="5020605" y="2185416"/>
            <a:ext cx="164592" cy="1"/>
          </a:xfrm>
          <a:prstGeom prst="line">
            <a:avLst/>
          </a:prstGeom>
          <a:ln w="12700">
            <a:solidFill>
              <a:srgbClr val="C3C2B7"/>
            </a:solidFill>
            <a:tailEnd type="triangle" w="med" len="med"/>
          </a:ln>
        </p:spPr>
      </p:cxnSp>
      <p:sp>
        <p:nvSpPr>
          <p:cNvPr id="1204" name="shape1204"/>
          <p:cNvSpPr/>
          <p:nvPr/>
        </p:nvSpPr>
        <p:spPr>
          <a:xfrm>
            <a:off x="5203485"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OPEN</a:t>
            </a:r>
          </a:p>
          <a:p>
            <a:pPr algn="l"/>
            <a:r>
              <a:rPr lang="en-AU" sz="950" b="1" dirty="0">
                <a:solidFill>
                  <a:srgbClr val="0B0B0B"/>
                </a:solidFill>
                <a:latin typeface="Aptos"/>
              </a:rPr>
              <a:t>Step 2</a:t>
            </a:r>
          </a:p>
        </p:txBody>
      </p:sp>
      <p:cxnSp>
        <p:nvCxnSpPr>
          <p:cNvPr id="1205" name="conn1205"/>
          <p:cNvCxnSpPr/>
          <p:nvPr/>
        </p:nvCxnSpPr>
        <p:spPr>
          <a:xfrm>
            <a:off x="6703649" y="2185416"/>
            <a:ext cx="164592" cy="1"/>
          </a:xfrm>
          <a:prstGeom prst="line">
            <a:avLst/>
          </a:prstGeom>
          <a:ln w="12700">
            <a:solidFill>
              <a:srgbClr val="C3C2B7"/>
            </a:solidFill>
            <a:tailEnd type="triangle" w="med" len="med"/>
          </a:ln>
        </p:spPr>
      </p:cxnSp>
      <p:sp>
        <p:nvSpPr>
          <p:cNvPr id="1206" name="shape1206"/>
          <p:cNvSpPr/>
          <p:nvPr/>
        </p:nvSpPr>
        <p:spPr>
          <a:xfrm>
            <a:off x="6886529"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WORK</a:t>
            </a:r>
          </a:p>
          <a:p>
            <a:pPr algn="l"/>
            <a:r>
              <a:rPr lang="en-AU" sz="950" b="1" dirty="0">
                <a:solidFill>
                  <a:srgbClr val="0B0B0B"/>
                </a:solidFill>
                <a:latin typeface="Aptos"/>
              </a:rPr>
              <a:t>Step 3</a:t>
            </a:r>
          </a:p>
        </p:txBody>
      </p:sp>
      <p:cxnSp>
        <p:nvCxnSpPr>
          <p:cNvPr id="1207" name="conn1207"/>
          <p:cNvCxnSpPr/>
          <p:nvPr/>
        </p:nvCxnSpPr>
        <p:spPr>
          <a:xfrm>
            <a:off x="8386694" y="2185416"/>
            <a:ext cx="164592" cy="1"/>
          </a:xfrm>
          <a:prstGeom prst="line">
            <a:avLst/>
          </a:prstGeom>
          <a:ln w="12700">
            <a:solidFill>
              <a:srgbClr val="C3C2B7"/>
            </a:solidFill>
            <a:tailEnd type="triangle" w="med" len="med"/>
          </a:ln>
        </p:spPr>
      </p:cxnSp>
      <p:sp>
        <p:nvSpPr>
          <p:cNvPr id="1208" name="shape1208"/>
          <p:cNvSpPr/>
          <p:nvPr/>
        </p:nvSpPr>
        <p:spPr>
          <a:xfrm>
            <a:off x="8569574"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DECIDE</a:t>
            </a:r>
          </a:p>
          <a:p>
            <a:pPr algn="l"/>
            <a:r>
              <a:rPr lang="en-AU" sz="950" b="1" dirty="0">
                <a:solidFill>
                  <a:srgbClr val="0B0B0B"/>
                </a:solidFill>
                <a:latin typeface="Aptos"/>
              </a:rPr>
              <a:t>Step 4</a:t>
            </a:r>
          </a:p>
        </p:txBody>
      </p:sp>
      <p:cxnSp>
        <p:nvCxnSpPr>
          <p:cNvPr id="1209" name="conn1209"/>
          <p:cNvCxnSpPr/>
          <p:nvPr/>
        </p:nvCxnSpPr>
        <p:spPr>
          <a:xfrm>
            <a:off x="10069739" y="2185416"/>
            <a:ext cx="164592" cy="1"/>
          </a:xfrm>
          <a:prstGeom prst="line">
            <a:avLst/>
          </a:prstGeom>
          <a:ln w="12700">
            <a:solidFill>
              <a:srgbClr val="C3C2B7"/>
            </a:solidFill>
            <a:tailEnd type="triangle" w="med" len="med"/>
          </a:ln>
        </p:spPr>
      </p:cxnSp>
      <p:sp>
        <p:nvSpPr>
          <p:cNvPr id="1210" name="shape1210"/>
          <p:cNvSpPr/>
          <p:nvPr/>
        </p:nvSpPr>
        <p:spPr>
          <a:xfrm>
            <a:off x="10252619" y="1499616"/>
            <a:ext cx="1481877" cy="1371600"/>
          </a:xfrm>
          <a:prstGeom prst="roundRect">
            <a:avLst>
              <a:gd name="adj" fmla="val 7000"/>
            </a:avLst>
          </a:prstGeom>
          <a:solidFill>
            <a:srgbClr val="FFFFFF"/>
          </a:solidFill>
          <a:ln w="9525">
            <a:solidFill>
              <a:srgbClr val="C3C2B7"/>
            </a:solidFill>
          </a:ln>
        </p:spPr>
        <p:txBody>
          <a:bodyPr wrap="square" anchor="t" lIns="73152" rIns="73152" tIns="27432" bIns="27432"/>
          <a:lstStyle/>
          <a:p>
            <a:pPr algn="l"/>
            <a:r>
              <a:rPr lang="en-AU" sz="750" b="1" dirty="0">
                <a:solidFill>
                  <a:srgbClr val="184F95"/>
                </a:solidFill>
                <a:latin typeface="Aptos"/>
              </a:rPr>
              <a:t>CLOSE</a:t>
            </a:r>
          </a:p>
          <a:p>
            <a:pPr algn="l"/>
            <a:r>
              <a:rPr lang="en-AU" sz="950" b="1" dirty="0">
                <a:solidFill>
                  <a:srgbClr val="0B0B0B"/>
                </a:solidFill>
                <a:latin typeface="Aptos"/>
              </a:rPr>
              <a:t>Step 5</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 name="shape121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10.7  Business Cases</a:t>
            </a:r>
          </a:p>
        </p:txBody>
      </p:sp>
      <p:sp>
        <p:nvSpPr>
          <p:cNvPr id="1212" name="shape121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213" name="shape1213"/>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214" name="conn1214"/>
          <p:cNvCxnSpPr/>
          <p:nvPr/>
        </p:nvCxnSpPr>
        <p:spPr>
          <a:xfrm>
            <a:off x="457200" y="1078992"/>
            <a:ext cx="11277295" cy="1"/>
          </a:xfrm>
          <a:prstGeom prst="line">
            <a:avLst/>
          </a:prstGeom>
          <a:ln w="9525">
            <a:solidFill>
              <a:srgbClr val="D9D8D0"/>
            </a:solidFill>
          </a:ln>
        </p:spPr>
      </p:cxnSp>
      <p:sp>
        <p:nvSpPr>
          <p:cNvPr id="1215" name="shape121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216" name="shape121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10.7</a:t>
            </a:r>
          </a:p>
        </p:txBody>
      </p:sp>
      <p:sp>
        <p:nvSpPr>
          <p:cNvPr id="1217" name="shape121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218" name="shape1218"/>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Assembles the justification for a change: the need, the options considered, the recommended option and what it is expected to be worth.</a:t>
            </a:r>
          </a:p>
        </p:txBody>
      </p:sp>
      <p:sp>
        <p:nvSpPr>
          <p:cNvPr id="1219" name="shape1219"/>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220" name="shape1220"/>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decision-maker has to approve funding and needs the need, the options and the value in one place.</a:t>
            </a:r>
          </a:p>
        </p:txBody>
      </p:sp>
      <p:sp>
        <p:nvSpPr>
          <p:cNvPr id="1221" name="shape1221"/>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222" name="shape1222"/>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business case is the container; financial analysis is one of its contents. An item that turns on how the return was calculated is financial analysis, while one that turns on whether the recommendation was justified at all is the business case.</a:t>
            </a:r>
          </a:p>
        </p:txBody>
      </p:sp>
      <p:sp>
        <p:nvSpPr>
          <p:cNvPr id="1223" name="shape1223"/>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224" name="shape1224"/>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6.2 Define Future State · 7.6 Analyze Potential Value and Recommend Solution</a:t>
            </a:r>
          </a:p>
        </p:txBody>
      </p:sp>
      <p:sp>
        <p:nvSpPr>
          <p:cNvPr id="1225" name="shape122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Grants replacement — the structure the committee asked for</a:t>
            </a:r>
          </a:p>
        </p:txBody>
      </p:sp>
      <p:sp>
        <p:nvSpPr>
          <p:cNvPr id="1226" name="shape1226"/>
          <p:cNvSpPr/>
          <p:nvPr/>
        </p:nvSpPr>
        <p:spPr>
          <a:xfrm>
            <a:off x="3547872"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NEED</a:t>
            </a:r>
          </a:p>
          <a:p>
            <a:pPr algn="l"/>
            <a:r>
              <a:rPr lang="en-AU" sz="800" dirty="0">
                <a:solidFill>
                  <a:srgbClr val="0B0B0B"/>
                </a:solidFill>
                <a:latin typeface="Aptos"/>
              </a:rPr>
              <a:t>• Vendor support ends Mar 2027</a:t>
            </a:r>
          </a:p>
          <a:p>
            <a:pPr algn="l"/>
            <a:r>
              <a:rPr lang="en-AU" sz="800" dirty="0">
                <a:solidFill>
                  <a:srgbClr val="0B0B0B"/>
                </a:solidFill>
                <a:latin typeface="Aptos"/>
              </a:rPr>
              <a:t>• Manual acquittal costs 2.1 FTE</a:t>
            </a:r>
          </a:p>
          <a:p>
            <a:pPr algn="l"/>
            <a:r>
              <a:rPr lang="en-AU" sz="800" dirty="0">
                <a:solidFill>
                  <a:srgbClr val="0B0B0B"/>
                </a:solidFill>
                <a:latin typeface="Aptos"/>
              </a:rPr>
              <a:t>• No audit trail on overrides</a:t>
            </a:r>
          </a:p>
        </p:txBody>
      </p:sp>
      <p:sp>
        <p:nvSpPr>
          <p:cNvPr id="1227" name="shape1227"/>
          <p:cNvSpPr/>
          <p:nvPr/>
        </p:nvSpPr>
        <p:spPr>
          <a:xfrm>
            <a:off x="7654900"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OPTIONS CONSIDERED</a:t>
            </a:r>
          </a:p>
          <a:p>
            <a:pPr algn="l"/>
            <a:r>
              <a:rPr lang="en-AU" sz="800" dirty="0">
                <a:solidFill>
                  <a:srgbClr val="0B0B0B"/>
                </a:solidFill>
                <a:latin typeface="Aptos"/>
              </a:rPr>
              <a:t>• Do nothing — carries unsupported software</a:t>
            </a:r>
          </a:p>
          <a:p>
            <a:pPr algn="l"/>
            <a:r>
              <a:rPr lang="en-AU" sz="800" dirty="0">
                <a:solidFill>
                  <a:srgbClr val="0B0B0B"/>
                </a:solidFill>
                <a:latin typeface="Aptos"/>
              </a:rPr>
              <a:t>• Extend support — quoted, 18 months maximum</a:t>
            </a:r>
          </a:p>
          <a:p>
            <a:pPr algn="l"/>
            <a:r>
              <a:rPr lang="en-AU" sz="800" dirty="0">
                <a:solidFill>
                  <a:srgbClr val="0B0B0B"/>
                </a:solidFill>
                <a:latin typeface="Aptos"/>
              </a:rPr>
              <a:t>• Reconfigure existing — assessed, cannot mee…</a:t>
            </a:r>
          </a:p>
          <a:p>
            <a:pPr algn="l"/>
            <a:r>
              <a:rPr lang="en-AU" sz="800" dirty="0">
                <a:solidFill>
                  <a:srgbClr val="0B0B0B"/>
                </a:solidFill>
                <a:latin typeface="Aptos"/>
              </a:rPr>
              <a:t>• Replace — recommended</a:t>
            </a:r>
          </a:p>
        </p:txBody>
      </p:sp>
      <p:sp>
        <p:nvSpPr>
          <p:cNvPr id="1228" name="shape1228"/>
          <p:cNvSpPr/>
          <p:nvPr/>
        </p:nvSpPr>
        <p:spPr>
          <a:xfrm>
            <a:off x="3547872"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WHY REPLACE</a:t>
            </a:r>
          </a:p>
          <a:p>
            <a:pPr algn="l"/>
            <a:r>
              <a:rPr lang="en-AU" sz="800" dirty="0">
                <a:solidFill>
                  <a:srgbClr val="0B0B0B"/>
                </a:solidFill>
                <a:latin typeface="Aptos"/>
              </a:rPr>
              <a:t>• Only option meeting the audit finding</a:t>
            </a:r>
          </a:p>
          <a:p>
            <a:pPr algn="l"/>
            <a:r>
              <a:rPr lang="en-AU" sz="800" dirty="0">
                <a:solidFill>
                  <a:srgbClr val="0B0B0B"/>
                </a:solidFill>
                <a:latin typeface="Aptos"/>
              </a:rPr>
              <a:t>• Extension defers the same decision at 60% o…</a:t>
            </a:r>
          </a:p>
        </p:txBody>
      </p:sp>
      <p:sp>
        <p:nvSpPr>
          <p:cNvPr id="1229" name="shape1229"/>
          <p:cNvSpPr/>
          <p:nvPr/>
        </p:nvSpPr>
        <p:spPr>
          <a:xfrm>
            <a:off x="7654900"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a:t>
            </a:r>
          </a:p>
          <a:p>
            <a:pPr algn="l"/>
            <a:r>
              <a:rPr lang="en-AU" sz="800" dirty="0">
                <a:solidFill>
                  <a:srgbClr val="0B0B0B"/>
                </a:solidFill>
                <a:latin typeface="Aptos"/>
              </a:rPr>
              <a:t>• $3.2m over 5 years</a:t>
            </a:r>
          </a:p>
          <a:p>
            <a:pPr algn="l"/>
            <a:r>
              <a:rPr lang="en-AU" sz="800" dirty="0">
                <a:solidFill>
                  <a:srgbClr val="0B0B0B"/>
                </a:solidFill>
                <a:latin typeface="Aptos"/>
              </a:rPr>
              <a:t>• 2.1 FTE released to assessment backlog</a:t>
            </a:r>
          </a:p>
        </p:txBody>
      </p:sp>
      <p:sp>
        <p:nvSpPr>
          <p:cNvPr id="1230" name="shape1230"/>
          <p:cNvSpPr/>
          <p:nvPr/>
        </p:nvSpPr>
        <p:spPr>
          <a:xfrm>
            <a:off x="3547872"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RISKS</a:t>
            </a:r>
          </a:p>
          <a:p>
            <a:pPr algn="l"/>
            <a:r>
              <a:rPr lang="en-AU" sz="800" dirty="0">
                <a:solidFill>
                  <a:srgbClr val="0B0B0B"/>
                </a:solidFill>
                <a:latin typeface="Aptos"/>
              </a:rPr>
              <a:t>• Migration of 11 years of acquittals</a:t>
            </a:r>
          </a:p>
          <a:p>
            <a:pPr algn="l"/>
            <a:r>
              <a:rPr lang="en-AU" sz="800" dirty="0">
                <a:solidFill>
                  <a:srgbClr val="0B0B0B"/>
                </a:solidFill>
                <a:latin typeface="Aptos"/>
              </a:rPr>
              <a:t>• Round in flight at cutover</a:t>
            </a:r>
          </a:p>
        </p:txBody>
      </p:sp>
      <p:sp>
        <p:nvSpPr>
          <p:cNvPr id="1231" name="shape1231"/>
          <p:cNvSpPr/>
          <p:nvPr/>
        </p:nvSpPr>
        <p:spPr>
          <a:xfrm>
            <a:off x="7654900"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TIMING</a:t>
            </a:r>
          </a:p>
          <a:p>
            <a:pPr algn="l"/>
            <a:r>
              <a:rPr lang="en-AU" sz="800" dirty="0">
                <a:solidFill>
                  <a:srgbClr val="0B0B0B"/>
                </a:solidFill>
                <a:latin typeface="Aptos"/>
              </a:rPr>
              <a:t>• Must complete before Mar 2027</a:t>
            </a:r>
          </a:p>
          <a:p>
            <a:pPr algn="l"/>
            <a:r>
              <a:rPr lang="en-AU" sz="800" dirty="0">
                <a:solidFill>
                  <a:srgbClr val="0B0B0B"/>
                </a:solidFill>
                <a:latin typeface="Aptos"/>
              </a:rPr>
              <a:t>• One clear window: Oct–Dec</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 name="shape123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10.7  Business Cases</a:t>
            </a:r>
          </a:p>
        </p:txBody>
      </p:sp>
      <p:sp>
        <p:nvSpPr>
          <p:cNvPr id="1233" name="shape123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234" name="shape1234"/>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235" name="conn1235"/>
          <p:cNvCxnSpPr/>
          <p:nvPr/>
        </p:nvCxnSpPr>
        <p:spPr>
          <a:xfrm>
            <a:off x="457200" y="1078992"/>
            <a:ext cx="11277295" cy="1"/>
          </a:xfrm>
          <a:prstGeom prst="line">
            <a:avLst/>
          </a:prstGeom>
          <a:ln w="9525">
            <a:solidFill>
              <a:srgbClr val="D9D8D0"/>
            </a:solidFill>
          </a:ln>
        </p:spPr>
      </p:cxnSp>
      <p:sp>
        <p:nvSpPr>
          <p:cNvPr id="1236" name="shape123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237" name="shape123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10.7</a:t>
            </a:r>
          </a:p>
        </p:txBody>
      </p:sp>
      <p:sp>
        <p:nvSpPr>
          <p:cNvPr id="1238" name="shape123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239" name="shape1239"/>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1240" name="shape1240"/>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241" name="shape1241"/>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Assembles the justification for a change: the need, the options considered, the recommended option and what it is expected to be worth.</a:t>
            </a:r>
          </a:p>
        </p:txBody>
      </p:sp>
      <p:sp>
        <p:nvSpPr>
          <p:cNvPr id="1242" name="shape1242"/>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243" name="shape1243"/>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business case is the container; financial analysis is one of its contents. An item that turns on how the return was calculated is financial analysis, while one that turns on whether the recommendation was justified at all is the business case.</a:t>
            </a:r>
          </a:p>
        </p:txBody>
      </p:sp>
      <p:sp>
        <p:nvSpPr>
          <p:cNvPr id="1244" name="shape1244"/>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245" name="shape1245"/>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6.2 Define Future State · 7.6 Analyze Potential Value and Recommend Solution</a:t>
            </a:r>
          </a:p>
        </p:txBody>
      </p:sp>
      <p:sp>
        <p:nvSpPr>
          <p:cNvPr id="1246" name="shape124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Business Cases — blank template</a:t>
            </a:r>
          </a:p>
        </p:txBody>
      </p:sp>
      <p:sp>
        <p:nvSpPr>
          <p:cNvPr id="1247" name="shape1247"/>
          <p:cNvSpPr/>
          <p:nvPr/>
        </p:nvSpPr>
        <p:spPr>
          <a:xfrm>
            <a:off x="3547872"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NEED</a:t>
            </a:r>
          </a:p>
          <a:p>
            <a:pPr algn="l"/>
            <a:endParaRPr lang="en-AU" sz="1100"/>
          </a:p>
        </p:txBody>
      </p:sp>
      <p:sp>
        <p:nvSpPr>
          <p:cNvPr id="1248" name="shape1248"/>
          <p:cNvSpPr/>
          <p:nvPr/>
        </p:nvSpPr>
        <p:spPr>
          <a:xfrm>
            <a:off x="7654900"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OPTIONS CONSIDERED</a:t>
            </a:r>
          </a:p>
          <a:p>
            <a:pPr algn="l"/>
            <a:endParaRPr lang="en-AU" sz="1100"/>
          </a:p>
        </p:txBody>
      </p:sp>
      <p:sp>
        <p:nvSpPr>
          <p:cNvPr id="1249" name="shape1249"/>
          <p:cNvSpPr/>
          <p:nvPr/>
        </p:nvSpPr>
        <p:spPr>
          <a:xfrm>
            <a:off x="3547872"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WHY REPLACE</a:t>
            </a:r>
          </a:p>
          <a:p>
            <a:pPr algn="l"/>
            <a:endParaRPr lang="en-AU" sz="1100"/>
          </a:p>
        </p:txBody>
      </p:sp>
      <p:sp>
        <p:nvSpPr>
          <p:cNvPr id="1250" name="shape1250"/>
          <p:cNvSpPr/>
          <p:nvPr/>
        </p:nvSpPr>
        <p:spPr>
          <a:xfrm>
            <a:off x="7654900"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a:t>
            </a:r>
          </a:p>
          <a:p>
            <a:pPr algn="l"/>
            <a:endParaRPr lang="en-AU" sz="1100"/>
          </a:p>
        </p:txBody>
      </p:sp>
      <p:sp>
        <p:nvSpPr>
          <p:cNvPr id="1251" name="shape1251"/>
          <p:cNvSpPr/>
          <p:nvPr/>
        </p:nvSpPr>
        <p:spPr>
          <a:xfrm>
            <a:off x="3547872"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RISKS</a:t>
            </a:r>
          </a:p>
          <a:p>
            <a:pPr algn="l"/>
            <a:endParaRPr lang="en-AU" sz="1100"/>
          </a:p>
        </p:txBody>
      </p:sp>
      <p:sp>
        <p:nvSpPr>
          <p:cNvPr id="1252" name="shape1252"/>
          <p:cNvSpPr/>
          <p:nvPr/>
        </p:nvSpPr>
        <p:spPr>
          <a:xfrm>
            <a:off x="7654900"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TIMING</a:t>
            </a:r>
          </a:p>
          <a:p>
            <a:pPr algn="l"/>
            <a:endParaRPr lang="en-AU" sz="11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 name="shape125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10.16  Decision Analysis</a:t>
            </a:r>
          </a:p>
        </p:txBody>
      </p:sp>
      <p:sp>
        <p:nvSpPr>
          <p:cNvPr id="1254" name="shape125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255" name="shape125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256" name="conn1256"/>
          <p:cNvCxnSpPr/>
          <p:nvPr/>
        </p:nvCxnSpPr>
        <p:spPr>
          <a:xfrm>
            <a:off x="457200" y="1078992"/>
            <a:ext cx="11277295" cy="1"/>
          </a:xfrm>
          <a:prstGeom prst="line">
            <a:avLst/>
          </a:prstGeom>
          <a:ln w="9525">
            <a:solidFill>
              <a:srgbClr val="D9D8D0"/>
            </a:solidFill>
          </a:ln>
        </p:spPr>
      </p:cxnSp>
      <p:sp>
        <p:nvSpPr>
          <p:cNvPr id="1257" name="shape125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258" name="shape125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10.16</a:t>
            </a:r>
          </a:p>
        </p:txBody>
      </p:sp>
      <p:sp>
        <p:nvSpPr>
          <p:cNvPr id="1259" name="shape125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260" name="shape126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Structures a choice under uncertainty by setting out the options, the criteria, the values and the trade-offs between them.</a:t>
            </a:r>
          </a:p>
        </p:txBody>
      </p:sp>
      <p:sp>
        <p:nvSpPr>
          <p:cNvPr id="1261" name="shape126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262" name="shape126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 is contested, the criteria are not agreed, or the outcome depends on events nobody controls.</a:t>
            </a:r>
          </a:p>
        </p:txBody>
      </p:sp>
      <p:sp>
        <p:nvSpPr>
          <p:cNvPr id="1263" name="shape126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264" name="shape126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Decision analysis chooses between options; prioritisation sequences items you have already agreed to do. If nothing is being discarded, it is prioritisation.</a:t>
            </a:r>
          </a:p>
        </p:txBody>
      </p:sp>
      <p:sp>
        <p:nvSpPr>
          <p:cNvPr id="1265" name="shape126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266" name="shape126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7.6 Analyze Potential Value and Recommend Solution · 6.4 Define Change Strategy · 7.5 Define Design Options</a:t>
            </a:r>
          </a:p>
        </p:txBody>
      </p:sp>
      <p:sp>
        <p:nvSpPr>
          <p:cNvPr id="1267" name="shape126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Four metering approaches, criteria weighted before scoring</a:t>
            </a:r>
          </a:p>
        </p:txBody>
      </p:sp>
      <p:sp>
        <p:nvSpPr>
          <p:cNvPr id="1268" name="shape1268"/>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Staged and AMI-lite tie. That is a useful result: the argument moves to a tiebreak the group can have.</a:t>
            </a:r>
          </a:p>
        </p:txBody>
      </p:sp>
      <p:graphicFrame>
        <p:nvGraphicFramePr>
          <p:cNvPr id="1269" name="table1269"/>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1167323"/>
                <a:gridCol w="1167323"/>
                <a:gridCol w="1167323"/>
                <a:gridCol w="1167323"/>
                <a:gridCol w="1167323"/>
              </a:tblGrid>
              <a:tr h="384048">
                <a:tc>
                  <a:txBody>
                    <a:bodyPr wrap="square" anchor="ctr" lIns="64008" rIns="64008" tIns="27432" bIns="27432"/>
                    <a:lstStyle/>
                    <a:p>
                      <a:pPr algn="l"/>
                      <a:r>
                        <a:rPr lang="en-AU" sz="900" b="1" dirty="0">
                          <a:solidFill>
                            <a:srgbClr val="FFFFFF"/>
                          </a:solidFill>
                          <a:latin typeface="Aptos"/>
                        </a:rPr>
                        <a:t>Criterion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Weight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Smart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Staged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Manual+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AMI-lite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Regulatory exposure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Total cost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Customer disruption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Speed to comply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Weighted total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3.80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2.90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3.80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 name="shape127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10.16  Decision Analysis</a:t>
            </a:r>
          </a:p>
        </p:txBody>
      </p:sp>
      <p:sp>
        <p:nvSpPr>
          <p:cNvPr id="1271" name="shape127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272" name="shape1272"/>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273" name="conn1273"/>
          <p:cNvCxnSpPr/>
          <p:nvPr/>
        </p:nvCxnSpPr>
        <p:spPr>
          <a:xfrm>
            <a:off x="457200" y="1078992"/>
            <a:ext cx="11277295" cy="1"/>
          </a:xfrm>
          <a:prstGeom prst="line">
            <a:avLst/>
          </a:prstGeom>
          <a:ln w="9525">
            <a:solidFill>
              <a:srgbClr val="D9D8D0"/>
            </a:solidFill>
          </a:ln>
        </p:spPr>
      </p:cxnSp>
      <p:sp>
        <p:nvSpPr>
          <p:cNvPr id="1274" name="shape127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275" name="shape127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10.16</a:t>
            </a:r>
          </a:p>
        </p:txBody>
      </p:sp>
      <p:sp>
        <p:nvSpPr>
          <p:cNvPr id="1276" name="shape127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277" name="shape1277"/>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criterion.</a:t>
            </a:r>
          </a:p>
        </p:txBody>
      </p:sp>
      <p:sp>
        <p:nvSpPr>
          <p:cNvPr id="1278" name="shape1278"/>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279" name="shape1279"/>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Structures a choice under uncertainty by setting out the options, the criteria, the values and the trade-offs between them.</a:t>
            </a:r>
          </a:p>
        </p:txBody>
      </p:sp>
      <p:sp>
        <p:nvSpPr>
          <p:cNvPr id="1280" name="shape1280"/>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281" name="shape1281"/>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Decision analysis chooses between options; prioritisation sequences items you have already agreed to do. If nothing is being discarded, it is prioritisation.</a:t>
            </a:r>
          </a:p>
        </p:txBody>
      </p:sp>
      <p:sp>
        <p:nvSpPr>
          <p:cNvPr id="1282" name="shape1282"/>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283" name="shape1283"/>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7.6 Analyze Potential Value and Recommend Solution · 6.4 Define Change Strategy · 7.5 Define Design Options</a:t>
            </a:r>
          </a:p>
        </p:txBody>
      </p:sp>
      <p:sp>
        <p:nvSpPr>
          <p:cNvPr id="1284" name="shape128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Decision Analysis — blank template</a:t>
            </a:r>
          </a:p>
        </p:txBody>
      </p:sp>
      <p:graphicFrame>
        <p:nvGraphicFramePr>
          <p:cNvPr id="1285" name="table1285"/>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167323"/>
                <a:gridCol w="1167323"/>
                <a:gridCol w="1167323"/>
                <a:gridCol w="1167323"/>
                <a:gridCol w="1167323"/>
              </a:tblGrid>
              <a:tr h="384048">
                <a:tc>
                  <a:txBody>
                    <a:bodyPr wrap="square" anchor="ctr" lIns="64008" rIns="64008" tIns="27432" bIns="27432"/>
                    <a:lstStyle/>
                    <a:p>
                      <a:pPr algn="l"/>
                      <a:r>
                        <a:rPr lang="en-AU" sz="800" b="1" dirty="0">
                          <a:solidFill>
                            <a:srgbClr val="FFFFFF"/>
                          </a:solidFill>
                          <a:latin typeface="Aptos"/>
                        </a:rPr>
                        <a:t>Criterion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Weight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Smart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Staged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Manual+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AMI-lite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 name="shape128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10.19  Estimation</a:t>
            </a:r>
          </a:p>
        </p:txBody>
      </p:sp>
      <p:sp>
        <p:nvSpPr>
          <p:cNvPr id="1287" name="shape128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288" name="shape128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289" name="conn1289"/>
          <p:cNvCxnSpPr/>
          <p:nvPr/>
        </p:nvCxnSpPr>
        <p:spPr>
          <a:xfrm>
            <a:off x="457200" y="1078992"/>
            <a:ext cx="11277295" cy="1"/>
          </a:xfrm>
          <a:prstGeom prst="line">
            <a:avLst/>
          </a:prstGeom>
          <a:ln w="9525">
            <a:solidFill>
              <a:srgbClr val="D9D8D0"/>
            </a:solidFill>
          </a:ln>
        </p:spPr>
      </p:cxnSp>
      <p:sp>
        <p:nvSpPr>
          <p:cNvPr id="1290" name="shape129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291" name="shape129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10.19</a:t>
            </a:r>
          </a:p>
        </p:txBody>
      </p:sp>
      <p:sp>
        <p:nvSpPr>
          <p:cNvPr id="1292" name="shape129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293" name="shape129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Produces a forecast of cost, effort, duration or value, together with the confidence and assumptions attached to it.</a:t>
            </a:r>
          </a:p>
        </p:txBody>
      </p:sp>
      <p:sp>
        <p:nvSpPr>
          <p:cNvPr id="1294" name="shape129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295" name="shape129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 needs a number that does not yet exist, and the honest answer is a range rather than a point.</a:t>
            </a:r>
          </a:p>
        </p:txBody>
      </p:sp>
      <p:sp>
        <p:nvSpPr>
          <p:cNvPr id="1296" name="shape129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297" name="shape129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Estimation forecasts an unknown; financial analysis works on figures you already have. An item that hands you cash flows and asks what they are worth is financial analysis.</a:t>
            </a:r>
          </a:p>
        </p:txBody>
      </p:sp>
      <p:sp>
        <p:nvSpPr>
          <p:cNvPr id="1298" name="shape129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299" name="shape129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3.1 Plan Business Analysis Approach · 5.3 Prioritize Requirements · 6.4 Define Change Strategy</a:t>
            </a:r>
          </a:p>
        </p:txBody>
      </p:sp>
      <p:sp>
        <p:nvSpPr>
          <p:cNvPr id="1300" name="shape130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Claims replacement analysis effort, three-point</a:t>
            </a:r>
          </a:p>
        </p:txBody>
      </p:sp>
      <p:sp>
        <p:nvSpPr>
          <p:cNvPr id="1301" name="shape1301"/>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Expected = (O + 4M + P) / 6. Reporting the 102 understates by 13 days and hides a range of 75 to 208.</a:t>
            </a:r>
          </a:p>
        </p:txBody>
      </p:sp>
      <p:graphicFrame>
        <p:nvGraphicFramePr>
          <p:cNvPr id="1302" name="table1302"/>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900" b="1" dirty="0">
                          <a:solidFill>
                            <a:srgbClr val="FFFFFF"/>
                          </a:solidFill>
                          <a:latin typeface="Aptos"/>
                        </a:rPr>
                        <a:t>Component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Optimistic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Likely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Pessimistic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Expected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Rules engine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90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50.0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Interfaces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40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26.7</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Reporting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12.7</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Migration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60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25.8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Total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75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102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208</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115.2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 name="shape130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10.19  Estimation</a:t>
            </a:r>
          </a:p>
        </p:txBody>
      </p:sp>
      <p:sp>
        <p:nvSpPr>
          <p:cNvPr id="1304" name="shape130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305" name="shape130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306" name="conn1306"/>
          <p:cNvCxnSpPr/>
          <p:nvPr/>
        </p:nvCxnSpPr>
        <p:spPr>
          <a:xfrm>
            <a:off x="457200" y="1078992"/>
            <a:ext cx="11277295" cy="1"/>
          </a:xfrm>
          <a:prstGeom prst="line">
            <a:avLst/>
          </a:prstGeom>
          <a:ln w="9525">
            <a:solidFill>
              <a:srgbClr val="D9D8D0"/>
            </a:solidFill>
          </a:ln>
        </p:spPr>
      </p:cxnSp>
      <p:sp>
        <p:nvSpPr>
          <p:cNvPr id="1307" name="shape130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308" name="shape130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10.19</a:t>
            </a:r>
          </a:p>
        </p:txBody>
      </p:sp>
      <p:sp>
        <p:nvSpPr>
          <p:cNvPr id="1309" name="shape130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310" name="shape131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component.</a:t>
            </a:r>
          </a:p>
        </p:txBody>
      </p:sp>
      <p:sp>
        <p:nvSpPr>
          <p:cNvPr id="1311" name="shape131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312" name="shape131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Produces a forecast of cost, effort, duration or value, together with the confidence and assumptions attached to it.</a:t>
            </a:r>
          </a:p>
        </p:txBody>
      </p:sp>
      <p:sp>
        <p:nvSpPr>
          <p:cNvPr id="1313" name="shape131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14" name="shape131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Estimation forecasts an unknown; financial analysis works on figures you already have. An item that hands you cash flows and asks what they are worth is financial analysis.</a:t>
            </a:r>
          </a:p>
        </p:txBody>
      </p:sp>
      <p:sp>
        <p:nvSpPr>
          <p:cNvPr id="1315" name="shape131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316" name="shape131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3.1 Plan Business Analysis Approach · 5.3 Prioritize Requirements · 6.4 Define Change Strategy</a:t>
            </a:r>
          </a:p>
        </p:txBody>
      </p:sp>
      <p:sp>
        <p:nvSpPr>
          <p:cNvPr id="1317" name="shape131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Estimation — blank template</a:t>
            </a:r>
          </a:p>
        </p:txBody>
      </p:sp>
      <p:graphicFrame>
        <p:nvGraphicFramePr>
          <p:cNvPr id="1318" name="table1318"/>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800" b="1" dirty="0">
                          <a:solidFill>
                            <a:srgbClr val="FFFFFF"/>
                          </a:solidFill>
                          <a:latin typeface="Aptos"/>
                        </a:rPr>
                        <a:t>Component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Optimistic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Likely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Pessimistic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Expected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 name="shape131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10.20  Financial Analysis</a:t>
            </a:r>
          </a:p>
        </p:txBody>
      </p:sp>
      <p:sp>
        <p:nvSpPr>
          <p:cNvPr id="1320" name="shape132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321" name="shape132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322" name="conn1322"/>
          <p:cNvCxnSpPr/>
          <p:nvPr/>
        </p:nvCxnSpPr>
        <p:spPr>
          <a:xfrm>
            <a:off x="457200" y="1078992"/>
            <a:ext cx="11277295" cy="1"/>
          </a:xfrm>
          <a:prstGeom prst="line">
            <a:avLst/>
          </a:prstGeom>
          <a:ln w="9525">
            <a:solidFill>
              <a:srgbClr val="D9D8D0"/>
            </a:solidFill>
          </a:ln>
        </p:spPr>
      </p:cxnSp>
      <p:sp>
        <p:nvSpPr>
          <p:cNvPr id="1323" name="shape132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324" name="shape132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10.20</a:t>
            </a:r>
          </a:p>
        </p:txBody>
      </p:sp>
      <p:sp>
        <p:nvSpPr>
          <p:cNvPr id="1325" name="shape132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326" name="shape132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Puts a monetary frame around a change: what it costs, what it returns, when the return arrives and what the money is worth once timing and risk are accounted for.</a:t>
            </a:r>
          </a:p>
        </p:txBody>
      </p:sp>
      <p:sp>
        <p:nvSpPr>
          <p:cNvPr id="1327" name="shape132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328" name="shape132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whenever an option has to be justified in money, or when two options differ mainly in the timing of their costs and benefits rather than in their size.</a:t>
            </a:r>
          </a:p>
        </p:txBody>
      </p:sp>
      <p:sp>
        <p:nvSpPr>
          <p:cNvPr id="1329" name="shape132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30" name="shape133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Financial analysis values what is already forecast; estimation produces the forecast. And a positive return is not the same as the best option: the exam repeatedly offers an option that is profitable but beaten by an alternative.</a:t>
            </a:r>
          </a:p>
        </p:txBody>
      </p:sp>
      <p:sp>
        <p:nvSpPr>
          <p:cNvPr id="1331" name="shape133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332" name="shape133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7.6 Analyze Potential Value and Recommend Solution · 8.5 Recommend Actions to Increase Solution Value</a:t>
            </a:r>
          </a:p>
        </p:txBody>
      </p:sp>
      <p:sp>
        <p:nvSpPr>
          <p:cNvPr id="1333" name="shape133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Which measure answers which question</a:t>
            </a:r>
          </a:p>
        </p:txBody>
      </p:sp>
      <p:sp>
        <p:nvSpPr>
          <p:cNvPr id="1334" name="shape1334"/>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eight blocks below work each of these through with figures.</a:t>
            </a:r>
          </a:p>
        </p:txBody>
      </p:sp>
      <p:sp>
        <p:nvSpPr>
          <p:cNvPr id="1335" name="shape1335"/>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Use it when →</a:t>
            </a:r>
          </a:p>
        </p:txBody>
      </p:sp>
      <p:sp>
        <p:nvSpPr>
          <p:cNvPr id="1336" name="shape1336"/>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answers</a:t>
            </a:r>
          </a:p>
        </p:txBody>
      </p:sp>
      <p:sp>
        <p:nvSpPr>
          <p:cNvPr id="1337" name="shape1337"/>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cannot answer</a:t>
            </a:r>
          </a:p>
        </p:txBody>
      </p:sp>
      <p:sp>
        <p:nvSpPr>
          <p:cNvPr id="1338" name="shape1338"/>
          <p:cNvSpPr/>
          <p:nvPr/>
        </p:nvSpPr>
        <p:spPr>
          <a:xfrm>
            <a:off x="3520440" y="20025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NPV</a:t>
            </a:r>
          </a:p>
        </p:txBody>
      </p:sp>
      <p:sp>
        <p:nvSpPr>
          <p:cNvPr id="1339" name="shape1339"/>
          <p:cNvSpPr/>
          <p:nvPr/>
        </p:nvSpPr>
        <p:spPr>
          <a:xfrm>
            <a:off x="4928616"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Is this worth more than it costs, allowin…</a:t>
            </a:r>
          </a:p>
        </p:txBody>
      </p:sp>
      <p:sp>
        <p:nvSpPr>
          <p:cNvPr id="1340" name="shape1340"/>
          <p:cNvSpPr/>
          <p:nvPr/>
        </p:nvSpPr>
        <p:spPr>
          <a:xfrm>
            <a:off x="8349844"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long is our cash exposed?</a:t>
            </a:r>
          </a:p>
        </p:txBody>
      </p:sp>
      <p:sp>
        <p:nvSpPr>
          <p:cNvPr id="1341" name="shape1341"/>
          <p:cNvSpPr/>
          <p:nvPr/>
        </p:nvSpPr>
        <p:spPr>
          <a:xfrm>
            <a:off x="3520440" y="29169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Payback</a:t>
            </a:r>
          </a:p>
        </p:txBody>
      </p:sp>
      <p:sp>
        <p:nvSpPr>
          <p:cNvPr id="1342" name="shape1342"/>
          <p:cNvSpPr/>
          <p:nvPr/>
        </p:nvSpPr>
        <p:spPr>
          <a:xfrm>
            <a:off x="4928616"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long until we get the money back?</a:t>
            </a:r>
          </a:p>
        </p:txBody>
      </p:sp>
      <p:sp>
        <p:nvSpPr>
          <p:cNvPr id="1343" name="shape1343"/>
          <p:cNvSpPr/>
          <p:nvPr/>
        </p:nvSpPr>
        <p:spPr>
          <a:xfrm>
            <a:off x="8349844"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Anything after break-even — where the val…</a:t>
            </a:r>
          </a:p>
        </p:txBody>
      </p:sp>
      <p:sp>
        <p:nvSpPr>
          <p:cNvPr id="1344" name="shape1344"/>
          <p:cNvSpPr/>
          <p:nvPr/>
        </p:nvSpPr>
        <p:spPr>
          <a:xfrm>
            <a:off x="3520440" y="38313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ROI</a:t>
            </a:r>
          </a:p>
        </p:txBody>
      </p:sp>
      <p:sp>
        <p:nvSpPr>
          <p:cNvPr id="1345" name="shape1345"/>
          <p:cNvSpPr/>
          <p:nvPr/>
        </p:nvSpPr>
        <p:spPr>
          <a:xfrm>
            <a:off x="4928616"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efficient is each dollar invested?</a:t>
            </a:r>
          </a:p>
        </p:txBody>
      </p:sp>
      <p:sp>
        <p:nvSpPr>
          <p:cNvPr id="1346" name="shape1346"/>
          <p:cNvSpPr/>
          <p:nvPr/>
        </p:nvSpPr>
        <p:spPr>
          <a:xfrm>
            <a:off x="8349844"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big the prize is — it is a ratio</a:t>
            </a:r>
          </a:p>
        </p:txBody>
      </p:sp>
      <p:sp>
        <p:nvSpPr>
          <p:cNvPr id="1347" name="shape1347"/>
          <p:cNvSpPr/>
          <p:nvPr/>
        </p:nvSpPr>
        <p:spPr>
          <a:xfrm>
            <a:off x="3520440" y="47457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IRR</a:t>
            </a:r>
          </a:p>
        </p:txBody>
      </p:sp>
      <p:sp>
        <p:nvSpPr>
          <p:cNvPr id="1348" name="shape1348"/>
          <p:cNvSpPr/>
          <p:nvPr/>
        </p:nvSpPr>
        <p:spPr>
          <a:xfrm>
            <a:off x="4928616"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Does it beat what our capital costs?</a:t>
            </a:r>
          </a:p>
        </p:txBody>
      </p:sp>
      <p:sp>
        <p:nvSpPr>
          <p:cNvPr id="1349" name="shape1349"/>
          <p:cNvSpPr/>
          <p:nvPr/>
        </p:nvSpPr>
        <p:spPr>
          <a:xfrm>
            <a:off x="8349844"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much value in dollars</a:t>
            </a:r>
          </a:p>
        </p:txBody>
      </p:sp>
      <p:sp>
        <p:nvSpPr>
          <p:cNvPr id="1350" name="shape1350"/>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Measure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 name="shape135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10.20  Financial Analysis</a:t>
            </a:r>
          </a:p>
        </p:txBody>
      </p:sp>
      <p:sp>
        <p:nvSpPr>
          <p:cNvPr id="1352" name="shape135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353" name="shape1353"/>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354" name="conn1354"/>
          <p:cNvCxnSpPr/>
          <p:nvPr/>
        </p:nvCxnSpPr>
        <p:spPr>
          <a:xfrm>
            <a:off x="457200" y="1078992"/>
            <a:ext cx="11277295" cy="1"/>
          </a:xfrm>
          <a:prstGeom prst="line">
            <a:avLst/>
          </a:prstGeom>
          <a:ln w="9525">
            <a:solidFill>
              <a:srgbClr val="D9D8D0"/>
            </a:solidFill>
          </a:ln>
        </p:spPr>
      </p:cxnSp>
      <p:sp>
        <p:nvSpPr>
          <p:cNvPr id="1355" name="shape135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356" name="shape135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10.20</a:t>
            </a:r>
          </a:p>
        </p:txBody>
      </p:sp>
      <p:sp>
        <p:nvSpPr>
          <p:cNvPr id="1357" name="shape135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358" name="shape1358"/>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1359" name="shape1359"/>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360" name="shape1360"/>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Puts a monetary frame around a change: what it costs, what it returns, when the return arrives and what the money is worth once timing and risk are accounted for.</a:t>
            </a:r>
          </a:p>
        </p:txBody>
      </p:sp>
      <p:sp>
        <p:nvSpPr>
          <p:cNvPr id="1361" name="shape1361"/>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62" name="shape1362"/>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Financial analysis values what is already forecast; estimation produces the forecast. And a positive return is not the same as the best option: the exam repeatedly offers an option that is profitable but beaten by an alternative.</a:t>
            </a:r>
          </a:p>
        </p:txBody>
      </p:sp>
      <p:sp>
        <p:nvSpPr>
          <p:cNvPr id="1363" name="shape1363"/>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364" name="shape1364"/>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7.6 Analyze Potential Value and Recommend Solution · 8.5 Recommend Actions to Increase Solution Value</a:t>
            </a:r>
          </a:p>
        </p:txBody>
      </p:sp>
      <p:sp>
        <p:nvSpPr>
          <p:cNvPr id="1365" name="shape136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Financial Analysis — blank template</a:t>
            </a:r>
          </a:p>
        </p:txBody>
      </p:sp>
      <p:sp>
        <p:nvSpPr>
          <p:cNvPr id="1366" name="shape1366"/>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Use it when →</a:t>
            </a:r>
          </a:p>
        </p:txBody>
      </p:sp>
      <p:sp>
        <p:nvSpPr>
          <p:cNvPr id="1367" name="shape1367"/>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answers</a:t>
            </a:r>
          </a:p>
        </p:txBody>
      </p:sp>
      <p:sp>
        <p:nvSpPr>
          <p:cNvPr id="1368" name="shape1368"/>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cannot answer</a:t>
            </a:r>
          </a:p>
        </p:txBody>
      </p:sp>
      <p:sp>
        <p:nvSpPr>
          <p:cNvPr id="1369" name="shape1369"/>
          <p:cNvSpPr/>
          <p:nvPr/>
        </p:nvSpPr>
        <p:spPr>
          <a:xfrm>
            <a:off x="3520440" y="20025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NPV</a:t>
            </a:r>
          </a:p>
        </p:txBody>
      </p:sp>
      <p:sp>
        <p:nvSpPr>
          <p:cNvPr id="1370" name="shape1370"/>
          <p:cNvSpPr/>
          <p:nvPr/>
        </p:nvSpPr>
        <p:spPr>
          <a:xfrm>
            <a:off x="4928616"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1" name="shape1371"/>
          <p:cNvSpPr/>
          <p:nvPr/>
        </p:nvSpPr>
        <p:spPr>
          <a:xfrm>
            <a:off x="8349844"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2" name="shape1372"/>
          <p:cNvSpPr/>
          <p:nvPr/>
        </p:nvSpPr>
        <p:spPr>
          <a:xfrm>
            <a:off x="3520440" y="29169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Payback</a:t>
            </a:r>
          </a:p>
        </p:txBody>
      </p:sp>
      <p:sp>
        <p:nvSpPr>
          <p:cNvPr id="1373" name="shape1373"/>
          <p:cNvSpPr/>
          <p:nvPr/>
        </p:nvSpPr>
        <p:spPr>
          <a:xfrm>
            <a:off x="4928616"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4" name="shape1374"/>
          <p:cNvSpPr/>
          <p:nvPr/>
        </p:nvSpPr>
        <p:spPr>
          <a:xfrm>
            <a:off x="8349844"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5" name="shape1375"/>
          <p:cNvSpPr/>
          <p:nvPr/>
        </p:nvSpPr>
        <p:spPr>
          <a:xfrm>
            <a:off x="3520440" y="38313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ROI</a:t>
            </a:r>
          </a:p>
        </p:txBody>
      </p:sp>
      <p:sp>
        <p:nvSpPr>
          <p:cNvPr id="1376" name="shape1376"/>
          <p:cNvSpPr/>
          <p:nvPr/>
        </p:nvSpPr>
        <p:spPr>
          <a:xfrm>
            <a:off x="4928616"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7" name="shape1377"/>
          <p:cNvSpPr/>
          <p:nvPr/>
        </p:nvSpPr>
        <p:spPr>
          <a:xfrm>
            <a:off x="8349844"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78" name="shape1378"/>
          <p:cNvSpPr/>
          <p:nvPr/>
        </p:nvSpPr>
        <p:spPr>
          <a:xfrm>
            <a:off x="3520440" y="47457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IRR</a:t>
            </a:r>
          </a:p>
        </p:txBody>
      </p:sp>
      <p:sp>
        <p:nvSpPr>
          <p:cNvPr id="1379" name="shape1379"/>
          <p:cNvSpPr/>
          <p:nvPr/>
        </p:nvSpPr>
        <p:spPr>
          <a:xfrm>
            <a:off x="4928616"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80" name="shape1380"/>
          <p:cNvSpPr/>
          <p:nvPr/>
        </p:nvSpPr>
        <p:spPr>
          <a:xfrm>
            <a:off x="8349844"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381" name="shape1381"/>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Measure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 name="shape138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10.38  Risk Analysis and Management</a:t>
            </a:r>
          </a:p>
        </p:txBody>
      </p:sp>
      <p:sp>
        <p:nvSpPr>
          <p:cNvPr id="1383" name="shape138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384" name="shape138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385" name="conn1385"/>
          <p:cNvCxnSpPr/>
          <p:nvPr/>
        </p:nvCxnSpPr>
        <p:spPr>
          <a:xfrm>
            <a:off x="457200" y="1078992"/>
            <a:ext cx="11277295" cy="1"/>
          </a:xfrm>
          <a:prstGeom prst="line">
            <a:avLst/>
          </a:prstGeom>
          <a:ln w="9525">
            <a:solidFill>
              <a:srgbClr val="D9D8D0"/>
            </a:solidFill>
          </a:ln>
        </p:spPr>
      </p:cxnSp>
      <p:sp>
        <p:nvSpPr>
          <p:cNvPr id="1386" name="shape138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387" name="shape138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10.38</a:t>
            </a:r>
          </a:p>
        </p:txBody>
      </p:sp>
      <p:sp>
        <p:nvSpPr>
          <p:cNvPr id="1388" name="shape138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389" name="shape138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Identifies uncertain events that could affect value, assesses their likelihood and impact, and settles a response for each.</a:t>
            </a:r>
          </a:p>
        </p:txBody>
      </p:sp>
      <p:sp>
        <p:nvSpPr>
          <p:cNvPr id="1390" name="shape139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391" name="shape139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change strategy depends on things nobody controls, and unnamed risk is being carried as optimism.</a:t>
            </a:r>
          </a:p>
        </p:txBody>
      </p:sp>
      <p:sp>
        <p:nvSpPr>
          <p:cNvPr id="1392" name="shape139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93" name="shape139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risk is an uncertain future event; an issue is already happening and belongs in item tracking. And the responses are avoid, transfer, mitigate, accept or increase, not simply escalate.</a:t>
            </a:r>
          </a:p>
        </p:txBody>
      </p:sp>
      <p:sp>
        <p:nvSpPr>
          <p:cNvPr id="1394" name="shape139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395" name="shape139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6.3 Assess Risks · 6.4 Define Change Strategy · 3.1 Plan Business Analysis Approach</a:t>
            </a:r>
          </a:p>
        </p:txBody>
      </p:sp>
      <p:sp>
        <p:nvSpPr>
          <p:cNvPr id="1396" name="shape139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Migration risks, post-mitigation, with residual exposure named</a:t>
            </a:r>
          </a:p>
        </p:txBody>
      </p:sp>
      <p:sp>
        <p:nvSpPr>
          <p:cNvPr id="1397" name="shape139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Expected monetary value across all outcomes is $222,500. That figure goes in the business case; the $900,000 severe case goes here.</a:t>
            </a:r>
          </a:p>
        </p:txBody>
      </p:sp>
      <p:sp>
        <p:nvSpPr>
          <p:cNvPr id="1398" name="shape1398"/>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Impact →</a:t>
            </a:r>
          </a:p>
        </p:txBody>
      </p:sp>
      <p:sp>
        <p:nvSpPr>
          <p:cNvPr id="1399" name="shape1399"/>
          <p:cNvSpPr/>
          <p:nvPr/>
        </p:nvSpPr>
        <p:spPr>
          <a:xfrm>
            <a:off x="4892040"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Moderate</a:t>
            </a:r>
          </a:p>
        </p:txBody>
      </p:sp>
      <p:sp>
        <p:nvSpPr>
          <p:cNvPr id="1400" name="shape1400"/>
          <p:cNvSpPr/>
          <p:nvPr/>
        </p:nvSpPr>
        <p:spPr>
          <a:xfrm>
            <a:off x="7172858"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Major</a:t>
            </a:r>
          </a:p>
        </p:txBody>
      </p:sp>
      <p:sp>
        <p:nvSpPr>
          <p:cNvPr id="1401" name="shape1401"/>
          <p:cNvSpPr/>
          <p:nvPr/>
        </p:nvSpPr>
        <p:spPr>
          <a:xfrm>
            <a:off x="9453677"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Severe</a:t>
            </a:r>
          </a:p>
        </p:txBody>
      </p:sp>
      <p:sp>
        <p:nvSpPr>
          <p:cNvPr id="1402" name="shape1402"/>
          <p:cNvSpPr/>
          <p:nvPr/>
        </p:nvSpPr>
        <p:spPr>
          <a:xfrm>
            <a:off x="3520440" y="20025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Likely</a:t>
            </a:r>
          </a:p>
        </p:txBody>
      </p:sp>
      <p:sp>
        <p:nvSpPr>
          <p:cNvPr id="1403" name="shape1403"/>
          <p:cNvSpPr/>
          <p:nvPr/>
        </p:nvSpPr>
        <p:spPr>
          <a:xfrm>
            <a:off x="4928616"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Data quality rework</a:t>
            </a:r>
          </a:p>
        </p:txBody>
      </p:sp>
      <p:sp>
        <p:nvSpPr>
          <p:cNvPr id="1404" name="shape1404"/>
          <p:cNvSpPr/>
          <p:nvPr/>
        </p:nvSpPr>
        <p:spPr>
          <a:xfrm>
            <a:off x="7209434"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1405" name="shape1405"/>
          <p:cNvSpPr/>
          <p:nvPr/>
        </p:nvSpPr>
        <p:spPr>
          <a:xfrm>
            <a:off x="9490253"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1406" name="shape1406"/>
          <p:cNvSpPr/>
          <p:nvPr/>
        </p:nvSpPr>
        <p:spPr>
          <a:xfrm>
            <a:off x="3520440" y="32217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Possible</a:t>
            </a:r>
          </a:p>
        </p:txBody>
      </p:sp>
      <p:sp>
        <p:nvSpPr>
          <p:cNvPr id="1407" name="shape1407"/>
          <p:cNvSpPr/>
          <p:nvPr/>
        </p:nvSpPr>
        <p:spPr>
          <a:xfrm>
            <a:off x="4928616"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Training slippage</a:t>
            </a:r>
          </a:p>
        </p:txBody>
      </p:sp>
      <p:sp>
        <p:nvSpPr>
          <p:cNvPr id="1408" name="shape1408"/>
          <p:cNvSpPr/>
          <p:nvPr/>
        </p:nvSpPr>
        <p:spPr>
          <a:xfrm>
            <a:off x="7209434"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EMV $87,500</a:t>
            </a:r>
          </a:p>
          <a:p>
            <a:pPr algn="l"/>
            <a:r>
              <a:rPr lang="en-AU" sz="850" dirty="0">
                <a:solidFill>
                  <a:srgbClr val="0B0B0B"/>
                </a:solidFill>
                <a:latin typeface="Aptos"/>
              </a:rPr>
              <a:t>• Limited remediation</a:t>
            </a:r>
          </a:p>
        </p:txBody>
      </p:sp>
      <p:sp>
        <p:nvSpPr>
          <p:cNvPr id="1409" name="shape1409"/>
          <p:cNvSpPr/>
          <p:nvPr/>
        </p:nvSpPr>
        <p:spPr>
          <a:xfrm>
            <a:off x="9490253"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1410" name="shape1410"/>
          <p:cNvSpPr/>
          <p:nvPr/>
        </p:nvSpPr>
        <p:spPr>
          <a:xfrm>
            <a:off x="3520440" y="44409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Unlikely</a:t>
            </a:r>
          </a:p>
        </p:txBody>
      </p:sp>
      <p:sp>
        <p:nvSpPr>
          <p:cNvPr id="1411" name="shape1411"/>
          <p:cNvSpPr/>
          <p:nvPr/>
        </p:nvSpPr>
        <p:spPr>
          <a:xfrm>
            <a:off x="4928616"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1412" name="shape1412"/>
          <p:cNvSpPr/>
          <p:nvPr/>
        </p:nvSpPr>
        <p:spPr>
          <a:xfrm>
            <a:off x="7209434"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Vendor resourcing</a:t>
            </a:r>
          </a:p>
        </p:txBody>
      </p:sp>
      <p:sp>
        <p:nvSpPr>
          <p:cNvPr id="1413" name="shape1413"/>
          <p:cNvSpPr/>
          <p:nvPr/>
        </p:nvSpPr>
        <p:spPr>
          <a:xfrm>
            <a:off x="9490253"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EMV $135,000</a:t>
            </a:r>
          </a:p>
          <a:p>
            <a:pPr algn="l"/>
            <a:r>
              <a:rPr lang="en-AU" sz="850" dirty="0">
                <a:solidFill>
                  <a:srgbClr val="0B0B0B"/>
                </a:solidFill>
                <a:latin typeface="Aptos"/>
              </a:rPr>
              <a:t>• Severe remediation</a:t>
            </a:r>
          </a:p>
        </p:txBody>
      </p:sp>
      <p:sp>
        <p:nvSpPr>
          <p:cNvPr id="1414" name="shape1414"/>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Likelihood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5" name="shape141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10.38  Risk Analysis and Management</a:t>
            </a:r>
          </a:p>
        </p:txBody>
      </p:sp>
      <p:sp>
        <p:nvSpPr>
          <p:cNvPr id="1416" name="shape141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417" name="shape1417"/>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418" name="conn1418"/>
          <p:cNvCxnSpPr/>
          <p:nvPr/>
        </p:nvCxnSpPr>
        <p:spPr>
          <a:xfrm>
            <a:off x="457200" y="1078992"/>
            <a:ext cx="11277295" cy="1"/>
          </a:xfrm>
          <a:prstGeom prst="line">
            <a:avLst/>
          </a:prstGeom>
          <a:ln w="9525">
            <a:solidFill>
              <a:srgbClr val="D9D8D0"/>
            </a:solidFill>
          </a:ln>
        </p:spPr>
      </p:cxnSp>
      <p:sp>
        <p:nvSpPr>
          <p:cNvPr id="1419" name="shape141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420" name="shape142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10.38</a:t>
            </a:r>
          </a:p>
        </p:txBody>
      </p:sp>
      <p:sp>
        <p:nvSpPr>
          <p:cNvPr id="1421" name="shape142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422" name="shape1422"/>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1423" name="shape1423"/>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424" name="shape1424"/>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Identifies uncertain events that could affect value, assesses their likelihood and impact, and settles a response for each.</a:t>
            </a:r>
          </a:p>
        </p:txBody>
      </p:sp>
      <p:sp>
        <p:nvSpPr>
          <p:cNvPr id="1425" name="shape1425"/>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426" name="shape1426"/>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risk is an uncertain future event; an issue is already happening and belongs in item tracking. And the responses are avoid, transfer, mitigate, accept or increase, not simply escalate.</a:t>
            </a:r>
          </a:p>
        </p:txBody>
      </p:sp>
      <p:sp>
        <p:nvSpPr>
          <p:cNvPr id="1427" name="shape1427"/>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428" name="shape1428"/>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6.3 Assess Risks · 6.4 Define Change Strategy · 3.1 Plan Business Analysis Approach</a:t>
            </a:r>
          </a:p>
        </p:txBody>
      </p:sp>
      <p:sp>
        <p:nvSpPr>
          <p:cNvPr id="1429" name="shape142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Risk Analysis and Management — blank template</a:t>
            </a:r>
          </a:p>
        </p:txBody>
      </p:sp>
      <p:sp>
        <p:nvSpPr>
          <p:cNvPr id="1430" name="shape1430"/>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Impact →</a:t>
            </a:r>
          </a:p>
        </p:txBody>
      </p:sp>
      <p:sp>
        <p:nvSpPr>
          <p:cNvPr id="1431" name="shape1431"/>
          <p:cNvSpPr/>
          <p:nvPr/>
        </p:nvSpPr>
        <p:spPr>
          <a:xfrm>
            <a:off x="4892040"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Moderate</a:t>
            </a:r>
          </a:p>
        </p:txBody>
      </p:sp>
      <p:sp>
        <p:nvSpPr>
          <p:cNvPr id="1432" name="shape1432"/>
          <p:cNvSpPr/>
          <p:nvPr/>
        </p:nvSpPr>
        <p:spPr>
          <a:xfrm>
            <a:off x="7172858"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Major</a:t>
            </a:r>
          </a:p>
        </p:txBody>
      </p:sp>
      <p:sp>
        <p:nvSpPr>
          <p:cNvPr id="1433" name="shape1433"/>
          <p:cNvSpPr/>
          <p:nvPr/>
        </p:nvSpPr>
        <p:spPr>
          <a:xfrm>
            <a:off x="9453677" y="1737360"/>
            <a:ext cx="228081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Severe</a:t>
            </a:r>
          </a:p>
        </p:txBody>
      </p:sp>
      <p:sp>
        <p:nvSpPr>
          <p:cNvPr id="1434" name="shape1434"/>
          <p:cNvSpPr/>
          <p:nvPr/>
        </p:nvSpPr>
        <p:spPr>
          <a:xfrm>
            <a:off x="3520440" y="20025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Likely</a:t>
            </a:r>
          </a:p>
        </p:txBody>
      </p:sp>
      <p:sp>
        <p:nvSpPr>
          <p:cNvPr id="1435" name="shape1435"/>
          <p:cNvSpPr/>
          <p:nvPr/>
        </p:nvSpPr>
        <p:spPr>
          <a:xfrm>
            <a:off x="4928616"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36" name="shape1436"/>
          <p:cNvSpPr/>
          <p:nvPr/>
        </p:nvSpPr>
        <p:spPr>
          <a:xfrm>
            <a:off x="7209434"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37" name="shape1437"/>
          <p:cNvSpPr/>
          <p:nvPr/>
        </p:nvSpPr>
        <p:spPr>
          <a:xfrm>
            <a:off x="9490253" y="20025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38" name="shape1438"/>
          <p:cNvSpPr/>
          <p:nvPr/>
        </p:nvSpPr>
        <p:spPr>
          <a:xfrm>
            <a:off x="3520440" y="32217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Possible</a:t>
            </a:r>
          </a:p>
        </p:txBody>
      </p:sp>
      <p:sp>
        <p:nvSpPr>
          <p:cNvPr id="1439" name="shape1439"/>
          <p:cNvSpPr/>
          <p:nvPr/>
        </p:nvSpPr>
        <p:spPr>
          <a:xfrm>
            <a:off x="4928616"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0" name="shape1440"/>
          <p:cNvSpPr/>
          <p:nvPr/>
        </p:nvSpPr>
        <p:spPr>
          <a:xfrm>
            <a:off x="7209434"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1" name="shape1441"/>
          <p:cNvSpPr/>
          <p:nvPr/>
        </p:nvSpPr>
        <p:spPr>
          <a:xfrm>
            <a:off x="9490253" y="32217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2" name="shape1442"/>
          <p:cNvSpPr/>
          <p:nvPr/>
        </p:nvSpPr>
        <p:spPr>
          <a:xfrm>
            <a:off x="3520440" y="44409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Unlikely</a:t>
            </a:r>
          </a:p>
        </p:txBody>
      </p:sp>
      <p:sp>
        <p:nvSpPr>
          <p:cNvPr id="1443" name="shape1443"/>
          <p:cNvSpPr/>
          <p:nvPr/>
        </p:nvSpPr>
        <p:spPr>
          <a:xfrm>
            <a:off x="4928616"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4" name="shape1444"/>
          <p:cNvSpPr/>
          <p:nvPr/>
        </p:nvSpPr>
        <p:spPr>
          <a:xfrm>
            <a:off x="7209434"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5" name="shape1445"/>
          <p:cNvSpPr/>
          <p:nvPr/>
        </p:nvSpPr>
        <p:spPr>
          <a:xfrm>
            <a:off x="9490253" y="4440936"/>
            <a:ext cx="2207666"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446" name="shape1446"/>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Likelihood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shape144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10.49  Vendor Assessment</a:t>
            </a:r>
          </a:p>
        </p:txBody>
      </p:sp>
      <p:sp>
        <p:nvSpPr>
          <p:cNvPr id="1448" name="shape144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449" name="shape1449"/>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450" name="conn1450"/>
          <p:cNvCxnSpPr/>
          <p:nvPr/>
        </p:nvCxnSpPr>
        <p:spPr>
          <a:xfrm>
            <a:off x="457200" y="1078992"/>
            <a:ext cx="11277295" cy="1"/>
          </a:xfrm>
          <a:prstGeom prst="line">
            <a:avLst/>
          </a:prstGeom>
          <a:ln w="9525">
            <a:solidFill>
              <a:srgbClr val="D9D8D0"/>
            </a:solidFill>
          </a:ln>
        </p:spPr>
      </p:cxnSp>
      <p:sp>
        <p:nvSpPr>
          <p:cNvPr id="1451" name="shape145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452" name="shape145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10.49</a:t>
            </a:r>
          </a:p>
        </p:txBody>
      </p:sp>
      <p:sp>
        <p:nvSpPr>
          <p:cNvPr id="1453" name="shape145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454" name="shape1454"/>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Judges whether a supplier can meet the commitment: capability, viability, cultural fit, licensing and the terms of the relationship.</a:t>
            </a:r>
          </a:p>
        </p:txBody>
      </p:sp>
      <p:sp>
        <p:nvSpPr>
          <p:cNvPr id="1455" name="shape1455"/>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456" name="shape1456"/>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whenever part of the solution will be bought or delivered by a third party, and before the product demonstration does the deciding.</a:t>
            </a:r>
          </a:p>
        </p:txBody>
      </p:sp>
      <p:sp>
        <p:nvSpPr>
          <p:cNvPr id="1457" name="shape1457"/>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458" name="shape1458"/>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Vendor assessment judges the supplier; evaluation criteria judge the product. An item where the shortlisted product fits but the supplier is thinly capitalised is testing vendor assessment.</a:t>
            </a:r>
          </a:p>
        </p:txBody>
      </p:sp>
      <p:sp>
        <p:nvSpPr>
          <p:cNvPr id="1459" name="shape1459"/>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460" name="shape1460"/>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7.5 Define Design Options · 7.6 Analyze Potential Value and Recommend Solution · 6.4 Define Change Strategy</a:t>
            </a:r>
          </a:p>
        </p:txBody>
      </p:sp>
      <p:sp>
        <p:nvSpPr>
          <p:cNvPr id="1461" name="shape146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The supplier behind the highest-scoring product</a:t>
            </a:r>
          </a:p>
        </p:txBody>
      </p:sp>
      <p:sp>
        <p:nvSpPr>
          <p:cNvPr id="1462" name="shape1462"/>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product genuinely is the best fit. Both assessments go to the decision-maker, not one folded into the other.</a:t>
            </a:r>
          </a:p>
        </p:txBody>
      </p:sp>
      <p:graphicFrame>
        <p:nvGraphicFramePr>
          <p:cNvPr id="1463" name="table1463"/>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Dimension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Finding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Bearing on a 7-year contract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Trading history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2 years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 evidence of sustaining a long engagement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Financial position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Loss-making, 9 staff</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Viability risk across the term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Reference site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One council, half our size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Capacity at our scale unproven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Continuity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 source escrow offered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Rates register is unrecoverable if the firm fails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 name="shape146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10.49  Vendor Assessment</a:t>
            </a:r>
          </a:p>
        </p:txBody>
      </p:sp>
      <p:sp>
        <p:nvSpPr>
          <p:cNvPr id="1465" name="shape146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1466" name="shape1466"/>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467" name="conn1467"/>
          <p:cNvCxnSpPr/>
          <p:nvPr/>
        </p:nvCxnSpPr>
        <p:spPr>
          <a:xfrm>
            <a:off x="457200" y="1078992"/>
            <a:ext cx="11277295" cy="1"/>
          </a:xfrm>
          <a:prstGeom prst="line">
            <a:avLst/>
          </a:prstGeom>
          <a:ln w="9525">
            <a:solidFill>
              <a:srgbClr val="D9D8D0"/>
            </a:solidFill>
          </a:ln>
        </p:spPr>
      </p:cxnSp>
      <p:sp>
        <p:nvSpPr>
          <p:cNvPr id="1468" name="shape146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469" name="shape146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10.49</a:t>
            </a:r>
          </a:p>
        </p:txBody>
      </p:sp>
      <p:sp>
        <p:nvSpPr>
          <p:cNvPr id="1470" name="shape147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471" name="shape1471"/>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dimension.</a:t>
            </a:r>
          </a:p>
        </p:txBody>
      </p:sp>
      <p:sp>
        <p:nvSpPr>
          <p:cNvPr id="1472" name="shape1472"/>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473" name="shape1473"/>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Judges whether a supplier can meet the commitment: capability, viability, cultural fit, licensing and the terms of the relationship.</a:t>
            </a:r>
          </a:p>
        </p:txBody>
      </p:sp>
      <p:sp>
        <p:nvSpPr>
          <p:cNvPr id="1474" name="shape1474"/>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475" name="shape1475"/>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Vendor assessment judges the supplier; evaluation criteria judge the product. An item where the shortlisted product fits but the supplier is thinly capitalised is testing vendor assessment.</a:t>
            </a:r>
          </a:p>
        </p:txBody>
      </p:sp>
      <p:sp>
        <p:nvSpPr>
          <p:cNvPr id="1476" name="shape1476"/>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477" name="shape1477"/>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7.5 Define Design Options · 7.6 Analyze Potential Value and Recommend Solution · 6.4 Define Change Strategy</a:t>
            </a:r>
          </a:p>
        </p:txBody>
      </p:sp>
      <p:sp>
        <p:nvSpPr>
          <p:cNvPr id="1478" name="shape147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Vendor Assessment — blank template</a:t>
            </a:r>
          </a:p>
        </p:txBody>
      </p:sp>
      <p:graphicFrame>
        <p:nvGraphicFramePr>
          <p:cNvPr id="1479" name="table1479"/>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Dimension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Finding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Bearing on a 7-year contract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 name="shape148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10.9  Business Rules Analysis</a:t>
            </a:r>
          </a:p>
        </p:txBody>
      </p:sp>
      <p:sp>
        <p:nvSpPr>
          <p:cNvPr id="1481" name="shape148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482" name="shape148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483" name="conn1483"/>
          <p:cNvCxnSpPr/>
          <p:nvPr/>
        </p:nvCxnSpPr>
        <p:spPr>
          <a:xfrm>
            <a:off x="457200" y="1078992"/>
            <a:ext cx="11277295" cy="1"/>
          </a:xfrm>
          <a:prstGeom prst="line">
            <a:avLst/>
          </a:prstGeom>
          <a:ln w="9525">
            <a:solidFill>
              <a:srgbClr val="D9D8D0"/>
            </a:solidFill>
          </a:ln>
        </p:spPr>
      </p:cxnSp>
      <p:sp>
        <p:nvSpPr>
          <p:cNvPr id="1484" name="shape148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485" name="shape148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10.9</a:t>
            </a:r>
          </a:p>
        </p:txBody>
      </p:sp>
      <p:sp>
        <p:nvSpPr>
          <p:cNvPr id="1486" name="shape148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487" name="shape148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Draws out the rules that constrain or guide behaviour and states them so they can be governed and changed independently of the process that applies them.</a:t>
            </a:r>
          </a:p>
        </p:txBody>
      </p:sp>
      <p:sp>
        <p:nvSpPr>
          <p:cNvPr id="1488" name="shape148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489" name="shape148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policy changes more often than process, or when the same rule is buried in several systems and nobody can say which version is current.</a:t>
            </a:r>
          </a:p>
        </p:txBody>
      </p:sp>
      <p:sp>
        <p:nvSpPr>
          <p:cNvPr id="1490" name="shape149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491" name="shape149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rule is a constraint on behaviour; a requirement is something the solution must do. Items where a policy is being restated as a system function are testing whether you keep the rule separate from the process that invokes it.</a:t>
            </a:r>
          </a:p>
        </p:txBody>
      </p:sp>
      <p:sp>
        <p:nvSpPr>
          <p:cNvPr id="1492" name="shape149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493" name="shape149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7.4 Define Requirements Architecture</a:t>
            </a:r>
          </a:p>
        </p:txBody>
      </p:sp>
      <p:sp>
        <p:nvSpPr>
          <p:cNvPr id="1494" name="shape149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Licensing eligibility, held apart from the assessment workflow</a:t>
            </a:r>
          </a:p>
        </p:txBody>
      </p:sp>
      <p:sp>
        <p:nvSpPr>
          <p:cNvPr id="1495" name="shape1495"/>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Eleven amendments in three years. Held in workflow code, each one would be a release.</a:t>
            </a:r>
          </a:p>
        </p:txBody>
      </p:sp>
      <p:graphicFrame>
        <p:nvGraphicFramePr>
          <p:cNvPr id="1496" name="table1496"/>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Rule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Statement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Owner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Last changed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ELIG-01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An applicant with an unpaid penalty may not be granted a licence.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Policy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Mar 2026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ELIG-02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Applicants under 18 require a nominated supervisor.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Policy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Nov 2025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ELIG-04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 refusal within 12 months requires panel referral.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Legal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Jun 2026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ELIG-07</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Interstate licences are recognised if issued after 2019.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Policy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Jun 2026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7" name="shape149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10.9  Business Rules Analysis</a:t>
            </a:r>
          </a:p>
        </p:txBody>
      </p:sp>
      <p:sp>
        <p:nvSpPr>
          <p:cNvPr id="1498" name="shape149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499" name="shape149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500" name="conn1500"/>
          <p:cNvCxnSpPr/>
          <p:nvPr/>
        </p:nvCxnSpPr>
        <p:spPr>
          <a:xfrm>
            <a:off x="457200" y="1078992"/>
            <a:ext cx="11277295" cy="1"/>
          </a:xfrm>
          <a:prstGeom prst="line">
            <a:avLst/>
          </a:prstGeom>
          <a:ln w="9525">
            <a:solidFill>
              <a:srgbClr val="D9D8D0"/>
            </a:solidFill>
          </a:ln>
        </p:spPr>
      </p:cxnSp>
      <p:sp>
        <p:nvSpPr>
          <p:cNvPr id="1501" name="shape150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502" name="shape150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10.9</a:t>
            </a:r>
          </a:p>
        </p:txBody>
      </p:sp>
      <p:sp>
        <p:nvSpPr>
          <p:cNvPr id="1503" name="shape150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504" name="shape150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rule.</a:t>
            </a:r>
          </a:p>
        </p:txBody>
      </p:sp>
      <p:sp>
        <p:nvSpPr>
          <p:cNvPr id="1505" name="shape150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506" name="shape150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Draws out the rules that constrain or guide behaviour and states them so they can be governed and changed independently of the process that applies them.</a:t>
            </a:r>
          </a:p>
        </p:txBody>
      </p:sp>
      <p:sp>
        <p:nvSpPr>
          <p:cNvPr id="1507" name="shape150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508" name="shape150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rule is a constraint on behaviour; a requirement is something the solution must do. Items where a policy is being restated as a system function are testing whether you keep the rule separate from the process that invokes it.</a:t>
            </a:r>
          </a:p>
        </p:txBody>
      </p:sp>
      <p:sp>
        <p:nvSpPr>
          <p:cNvPr id="1509" name="shape150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510" name="shape151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7.4 Define Requirements Architecture</a:t>
            </a:r>
          </a:p>
        </p:txBody>
      </p:sp>
      <p:sp>
        <p:nvSpPr>
          <p:cNvPr id="1511" name="shape151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Business Rules Analysis — blank template</a:t>
            </a:r>
          </a:p>
        </p:txBody>
      </p:sp>
      <p:graphicFrame>
        <p:nvGraphicFramePr>
          <p:cNvPr id="1512" name="table1512"/>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Rule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Statement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Owner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Last changed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shape151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10.11  Concept Modelling</a:t>
            </a:r>
          </a:p>
        </p:txBody>
      </p:sp>
      <p:sp>
        <p:nvSpPr>
          <p:cNvPr id="1514" name="shape151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515" name="shape151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516" name="conn1516"/>
          <p:cNvCxnSpPr/>
          <p:nvPr/>
        </p:nvCxnSpPr>
        <p:spPr>
          <a:xfrm>
            <a:off x="457200" y="1078992"/>
            <a:ext cx="11277295" cy="1"/>
          </a:xfrm>
          <a:prstGeom prst="line">
            <a:avLst/>
          </a:prstGeom>
          <a:ln w="9525">
            <a:solidFill>
              <a:srgbClr val="D9D8D0"/>
            </a:solidFill>
          </a:ln>
        </p:spPr>
      </p:cxnSp>
      <p:sp>
        <p:nvSpPr>
          <p:cNvPr id="1517" name="shape151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518" name="shape151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10.11</a:t>
            </a:r>
          </a:p>
        </p:txBody>
      </p:sp>
      <p:sp>
        <p:nvSpPr>
          <p:cNvPr id="1519" name="shape151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520" name="shape152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Fixes the business vocabulary and the relationships between its terms, independently of any system or database.</a:t>
            </a:r>
          </a:p>
        </p:txBody>
      </p:sp>
      <p:sp>
        <p:nvSpPr>
          <p:cNvPr id="1521" name="shape152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522" name="shape152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same word means different things in different parts of the business and the disagreement is being mistaken for a requirements dispute.</a:t>
            </a:r>
          </a:p>
        </p:txBody>
      </p:sp>
      <p:sp>
        <p:nvSpPr>
          <p:cNvPr id="1523" name="shape152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524" name="shape152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concept model is about meaning in the business; a data model is about structure for storage. Items that mention tables, keys or attributes have already left concept modelling.</a:t>
            </a:r>
          </a:p>
        </p:txBody>
      </p:sp>
      <p:sp>
        <p:nvSpPr>
          <p:cNvPr id="1525" name="shape152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526" name="shape152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1527" name="shape152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What the energy retailer means by customer</a:t>
            </a:r>
          </a:p>
        </p:txBody>
      </p:sp>
      <p:sp>
        <p:nvSpPr>
          <p:cNvPr id="1528" name="shape1528"/>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Concept    2. Relates to    3. Detail</a:t>
            </a:r>
          </a:p>
        </p:txBody>
      </p:sp>
      <p:sp>
        <p:nvSpPr>
          <p:cNvPr id="1529" name="shape1529"/>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Account holder</a:t>
            </a:r>
          </a:p>
        </p:txBody>
      </p:sp>
      <p:sp>
        <p:nvSpPr>
          <p:cNvPr id="1530" name="shape1530"/>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holds 1..* Accounts</a:t>
            </a:r>
          </a:p>
        </p:txBody>
      </p:sp>
      <p:cxnSp>
        <p:nvCxnSpPr>
          <p:cNvPr id="1531" name="conn1531"/>
          <p:cNvCxnSpPr/>
          <p:nvPr/>
        </p:nvCxnSpPr>
        <p:spPr>
          <a:xfrm>
            <a:off x="3776472" y="2052828"/>
            <a:ext cx="128016" cy="1"/>
          </a:xfrm>
          <a:prstGeom prst="line">
            <a:avLst/>
          </a:prstGeom>
          <a:ln w="6350">
            <a:solidFill>
              <a:srgbClr val="C3C2B7"/>
            </a:solidFill>
          </a:ln>
        </p:spPr>
      </p:cxnSp>
      <p:sp>
        <p:nvSpPr>
          <p:cNvPr id="1532" name="shape1532"/>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Retail counts one customer per account holder</a:t>
            </a:r>
          </a:p>
        </p:txBody>
      </p:sp>
      <p:cxnSp>
        <p:nvCxnSpPr>
          <p:cNvPr id="1533" name="conn1533"/>
          <p:cNvCxnSpPr/>
          <p:nvPr/>
        </p:nvCxnSpPr>
        <p:spPr>
          <a:xfrm>
            <a:off x="4160520" y="2436876"/>
            <a:ext cx="128016" cy="1"/>
          </a:xfrm>
          <a:prstGeom prst="line">
            <a:avLst/>
          </a:prstGeom>
          <a:ln w="6350">
            <a:solidFill>
              <a:srgbClr val="C3C2B7"/>
            </a:solidFill>
          </a:ln>
        </p:spPr>
      </p:cxnSp>
      <p:sp>
        <p:nvSpPr>
          <p:cNvPr id="1534" name="shape1534"/>
          <p:cNvSpPr/>
          <p:nvPr/>
        </p:nvSpPr>
        <p:spPr>
          <a:xfrm>
            <a:off x="3904488" y="2651760"/>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is billed for 1..* Connection points</a:t>
            </a:r>
          </a:p>
        </p:txBody>
      </p:sp>
      <p:cxnSp>
        <p:nvCxnSpPr>
          <p:cNvPr id="1535" name="conn1535"/>
          <p:cNvCxnSpPr/>
          <p:nvPr/>
        </p:nvCxnSpPr>
        <p:spPr>
          <a:xfrm>
            <a:off x="3776472" y="2820924"/>
            <a:ext cx="128016" cy="1"/>
          </a:xfrm>
          <a:prstGeom prst="line">
            <a:avLst/>
          </a:prstGeom>
          <a:ln w="6350">
            <a:solidFill>
              <a:srgbClr val="C3C2B7"/>
            </a:solidFill>
          </a:ln>
        </p:spPr>
      </p:cxnSp>
      <p:sp>
        <p:nvSpPr>
          <p:cNvPr id="1536" name="shape1536"/>
          <p:cNvSpPr/>
          <p:nvPr/>
        </p:nvSpPr>
        <p:spPr>
          <a:xfrm>
            <a:off x="4288536" y="3035808"/>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Network counts one customer per connection point</a:t>
            </a:r>
          </a:p>
        </p:txBody>
      </p:sp>
      <p:cxnSp>
        <p:nvCxnSpPr>
          <p:cNvPr id="1537" name="conn1537"/>
          <p:cNvCxnSpPr/>
          <p:nvPr/>
        </p:nvCxnSpPr>
        <p:spPr>
          <a:xfrm>
            <a:off x="4160520" y="3204972"/>
            <a:ext cx="128016" cy="1"/>
          </a:xfrm>
          <a:prstGeom prst="line">
            <a:avLst/>
          </a:prstGeom>
          <a:ln w="6350">
            <a:solidFill>
              <a:srgbClr val="C3C2B7"/>
            </a:solidFill>
          </a:ln>
        </p:spPr>
      </p:cxnSp>
      <p:sp>
        <p:nvSpPr>
          <p:cNvPr id="1538" name="shape1538"/>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 shared-care household has 2 connection points, 1 account holder</a:t>
            </a:r>
          </a:p>
        </p:txBody>
      </p:sp>
      <p:cxnSp>
        <p:nvCxnSpPr>
          <p:cNvPr id="1539" name="conn1539"/>
          <p:cNvCxnSpPr/>
          <p:nvPr/>
        </p:nvCxnSpPr>
        <p:spPr>
          <a:xfrm>
            <a:off x="4160520" y="3589020"/>
            <a:ext cx="128016" cy="1"/>
          </a:xfrm>
          <a:prstGeom prst="line">
            <a:avLst/>
          </a:prstGeom>
          <a:ln w="6350">
            <a:solidFill>
              <a:srgbClr val="C3C2B7"/>
            </a:solidFill>
          </a:ln>
        </p:spPr>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 name="shape154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10.11  Concept Modelling</a:t>
            </a:r>
          </a:p>
        </p:txBody>
      </p:sp>
      <p:sp>
        <p:nvSpPr>
          <p:cNvPr id="1541" name="shape154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542" name="shape1542"/>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543" name="conn1543"/>
          <p:cNvCxnSpPr/>
          <p:nvPr/>
        </p:nvCxnSpPr>
        <p:spPr>
          <a:xfrm>
            <a:off x="457200" y="1078992"/>
            <a:ext cx="11277295" cy="1"/>
          </a:xfrm>
          <a:prstGeom prst="line">
            <a:avLst/>
          </a:prstGeom>
          <a:ln w="9525">
            <a:solidFill>
              <a:srgbClr val="D9D8D0"/>
            </a:solidFill>
          </a:ln>
        </p:spPr>
      </p:cxnSp>
      <p:sp>
        <p:nvSpPr>
          <p:cNvPr id="1544" name="shape154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545" name="shape154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10.11</a:t>
            </a:r>
          </a:p>
        </p:txBody>
      </p:sp>
      <p:sp>
        <p:nvSpPr>
          <p:cNvPr id="1546" name="shape154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547" name="shape1547"/>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1548" name="shape1548"/>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549" name="shape1549"/>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Fixes the business vocabulary and the relationships between its terms, independently of any system or database.</a:t>
            </a:r>
          </a:p>
        </p:txBody>
      </p:sp>
      <p:sp>
        <p:nvSpPr>
          <p:cNvPr id="1550" name="shape1550"/>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551" name="shape1551"/>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concept model is about meaning in the business; a data model is about structure for storage. Items that mention tables, keys or attributes have already left concept modelling.</a:t>
            </a:r>
          </a:p>
        </p:txBody>
      </p:sp>
      <p:sp>
        <p:nvSpPr>
          <p:cNvPr id="1552" name="shape1552"/>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553" name="shape1553"/>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1554" name="shape155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Concept Modelling — blank template</a:t>
            </a:r>
          </a:p>
        </p:txBody>
      </p:sp>
      <p:sp>
        <p:nvSpPr>
          <p:cNvPr id="1555" name="shape1555"/>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Concept    2. Relates to    3. Detail</a:t>
            </a:r>
          </a:p>
        </p:txBody>
      </p:sp>
      <p:sp>
        <p:nvSpPr>
          <p:cNvPr id="1556" name="shape1556"/>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Concept</a:t>
            </a:r>
          </a:p>
        </p:txBody>
      </p:sp>
      <p:sp>
        <p:nvSpPr>
          <p:cNvPr id="1557" name="shape1557"/>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Relates to</a:t>
            </a:r>
          </a:p>
        </p:txBody>
      </p:sp>
      <p:cxnSp>
        <p:nvCxnSpPr>
          <p:cNvPr id="1558" name="conn1558"/>
          <p:cNvCxnSpPr/>
          <p:nvPr/>
        </p:nvCxnSpPr>
        <p:spPr>
          <a:xfrm>
            <a:off x="3776472" y="2052828"/>
            <a:ext cx="128016" cy="1"/>
          </a:xfrm>
          <a:prstGeom prst="line">
            <a:avLst/>
          </a:prstGeom>
          <a:ln w="6350">
            <a:solidFill>
              <a:srgbClr val="C3C2B7"/>
            </a:solidFill>
          </a:ln>
        </p:spPr>
      </p:cxnSp>
      <p:sp>
        <p:nvSpPr>
          <p:cNvPr id="1559" name="shape1559"/>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560" name="conn1560"/>
          <p:cNvCxnSpPr/>
          <p:nvPr/>
        </p:nvCxnSpPr>
        <p:spPr>
          <a:xfrm>
            <a:off x="4160520" y="2436876"/>
            <a:ext cx="128016" cy="1"/>
          </a:xfrm>
          <a:prstGeom prst="line">
            <a:avLst/>
          </a:prstGeom>
          <a:ln w="6350">
            <a:solidFill>
              <a:srgbClr val="C3C2B7"/>
            </a:solidFill>
          </a:ln>
        </p:spPr>
      </p:cxnSp>
      <p:sp>
        <p:nvSpPr>
          <p:cNvPr id="1561" name="shape1561"/>
          <p:cNvSpPr/>
          <p:nvPr/>
        </p:nvSpPr>
        <p:spPr>
          <a:xfrm>
            <a:off x="4288536" y="2651760"/>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562" name="conn1562"/>
          <p:cNvCxnSpPr/>
          <p:nvPr/>
        </p:nvCxnSpPr>
        <p:spPr>
          <a:xfrm>
            <a:off x="4160520" y="2820924"/>
            <a:ext cx="128016" cy="1"/>
          </a:xfrm>
          <a:prstGeom prst="line">
            <a:avLst/>
          </a:prstGeom>
          <a:ln w="6350">
            <a:solidFill>
              <a:srgbClr val="C3C2B7"/>
            </a:solidFill>
          </a:ln>
        </p:spPr>
      </p:cxnSp>
      <p:sp>
        <p:nvSpPr>
          <p:cNvPr id="1563" name="shape1563"/>
          <p:cNvSpPr/>
          <p:nvPr/>
        </p:nvSpPr>
        <p:spPr>
          <a:xfrm>
            <a:off x="3904488" y="3035808"/>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Relates to</a:t>
            </a:r>
          </a:p>
        </p:txBody>
      </p:sp>
      <p:cxnSp>
        <p:nvCxnSpPr>
          <p:cNvPr id="1564" name="conn1564"/>
          <p:cNvCxnSpPr/>
          <p:nvPr/>
        </p:nvCxnSpPr>
        <p:spPr>
          <a:xfrm>
            <a:off x="3776472" y="3204972"/>
            <a:ext cx="128016" cy="1"/>
          </a:xfrm>
          <a:prstGeom prst="line">
            <a:avLst/>
          </a:prstGeom>
          <a:ln w="6350">
            <a:solidFill>
              <a:srgbClr val="C3C2B7"/>
            </a:solidFill>
          </a:ln>
        </p:spPr>
      </p:cxnSp>
      <p:sp>
        <p:nvSpPr>
          <p:cNvPr id="1565" name="shape1565"/>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566" name="conn1566"/>
          <p:cNvCxnSpPr/>
          <p:nvPr/>
        </p:nvCxnSpPr>
        <p:spPr>
          <a:xfrm>
            <a:off x="4160520" y="3589020"/>
            <a:ext cx="128016" cy="1"/>
          </a:xfrm>
          <a:prstGeom prst="line">
            <a:avLst/>
          </a:prstGeom>
          <a:ln w="6350">
            <a:solidFill>
              <a:srgbClr val="C3C2B7"/>
            </a:solidFill>
          </a:ln>
        </p:spPr>
      </p:cxnSp>
      <p:sp>
        <p:nvSpPr>
          <p:cNvPr id="1567" name="shape1567"/>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Detail</a:t>
            </a:r>
          </a:p>
        </p:txBody>
      </p:sp>
      <p:cxnSp>
        <p:nvCxnSpPr>
          <p:cNvPr id="1568" name="conn1568"/>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 name="shape156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10.12  Data Dictionary</a:t>
            </a:r>
          </a:p>
        </p:txBody>
      </p:sp>
      <p:sp>
        <p:nvSpPr>
          <p:cNvPr id="1570" name="shape157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571" name="shape157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572" name="conn1572"/>
          <p:cNvCxnSpPr/>
          <p:nvPr/>
        </p:nvCxnSpPr>
        <p:spPr>
          <a:xfrm>
            <a:off x="457200" y="1078992"/>
            <a:ext cx="11277295" cy="1"/>
          </a:xfrm>
          <a:prstGeom prst="line">
            <a:avLst/>
          </a:prstGeom>
          <a:ln w="9525">
            <a:solidFill>
              <a:srgbClr val="D9D8D0"/>
            </a:solidFill>
          </a:ln>
        </p:spPr>
      </p:cxnSp>
      <p:sp>
        <p:nvSpPr>
          <p:cNvPr id="1573" name="shape157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574" name="shape157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10.12</a:t>
            </a:r>
          </a:p>
        </p:txBody>
      </p:sp>
      <p:sp>
        <p:nvSpPr>
          <p:cNvPr id="1575" name="shape157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576" name="shape157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Records the standard definition of each data element: its meaning, format, allowed values and composition.</a:t>
            </a:r>
          </a:p>
        </p:txBody>
      </p:sp>
      <p:sp>
        <p:nvSpPr>
          <p:cNvPr id="1577" name="shape157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578" name="shape157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data is being exchanged or migrated and the arguments are about what a field actually holds.</a:t>
            </a:r>
          </a:p>
        </p:txBody>
      </p:sp>
      <p:sp>
        <p:nvSpPr>
          <p:cNvPr id="1579" name="shape157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580" name="shape158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data dictionary defines elements; a glossary defines business terms. If the disputed word is a business concept rather than a stored field, the answer is glossary.</a:t>
            </a:r>
          </a:p>
        </p:txBody>
      </p:sp>
      <p:sp>
        <p:nvSpPr>
          <p:cNvPr id="1581" name="shape158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582" name="shape158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3.4 Plan Business Analysis Information Management</a:t>
            </a:r>
          </a:p>
        </p:txBody>
      </p:sp>
      <p:sp>
        <p:nvSpPr>
          <p:cNvPr id="1583" name="shape158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Policy start date, defined at element level for the migration</a:t>
            </a:r>
          </a:p>
        </p:txBody>
      </p:sp>
      <p:sp>
        <p:nvSpPr>
          <p:cNvPr id="1584" name="shape1584"/>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Reconciliation failed because one name carried two events. The target splits them.</a:t>
            </a:r>
          </a:p>
        </p:txBody>
      </p:sp>
      <p:graphicFrame>
        <p:nvGraphicFramePr>
          <p:cNvPr id="1585" name="table1585"/>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900" b="1" dirty="0">
                          <a:solidFill>
                            <a:srgbClr val="FFFFFF"/>
                          </a:solidFill>
                          <a:latin typeface="Aptos"/>
                        </a:rPr>
                        <a:t>Element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Set by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Permitted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Mandatory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policy_start_date (System 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Underwriting decision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Not future-dated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policy_start_date (System B)</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Cover commencement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0–30 days after underwriting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underwritten_on (target)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Underwriting decision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Not future-dated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cover_from (target)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Cover commencement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 underwritten_on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6" name="shape158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10.12  Data Dictionary</a:t>
            </a:r>
          </a:p>
        </p:txBody>
      </p:sp>
      <p:sp>
        <p:nvSpPr>
          <p:cNvPr id="1587" name="shape158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588" name="shape158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589" name="conn1589"/>
          <p:cNvCxnSpPr/>
          <p:nvPr/>
        </p:nvCxnSpPr>
        <p:spPr>
          <a:xfrm>
            <a:off x="457200" y="1078992"/>
            <a:ext cx="11277295" cy="1"/>
          </a:xfrm>
          <a:prstGeom prst="line">
            <a:avLst/>
          </a:prstGeom>
          <a:ln w="9525">
            <a:solidFill>
              <a:srgbClr val="D9D8D0"/>
            </a:solidFill>
          </a:ln>
        </p:spPr>
      </p:cxnSp>
      <p:sp>
        <p:nvSpPr>
          <p:cNvPr id="1590" name="shape159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591" name="shape159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10.12</a:t>
            </a:r>
          </a:p>
        </p:txBody>
      </p:sp>
      <p:sp>
        <p:nvSpPr>
          <p:cNvPr id="1592" name="shape159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593" name="shape159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element.</a:t>
            </a:r>
          </a:p>
        </p:txBody>
      </p:sp>
      <p:sp>
        <p:nvSpPr>
          <p:cNvPr id="1594" name="shape159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595" name="shape159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Records the standard definition of each data element: its meaning, format, allowed values and composition.</a:t>
            </a:r>
          </a:p>
        </p:txBody>
      </p:sp>
      <p:sp>
        <p:nvSpPr>
          <p:cNvPr id="1596" name="shape159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597" name="shape159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data dictionary defines elements; a glossary defines business terms. If the disputed word is a business concept rather than a stored field, the answer is glossary.</a:t>
            </a:r>
          </a:p>
        </p:txBody>
      </p:sp>
      <p:sp>
        <p:nvSpPr>
          <p:cNvPr id="1598" name="shape159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599" name="shape159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3.4 Plan Business Analysis Information Management</a:t>
            </a:r>
          </a:p>
        </p:txBody>
      </p:sp>
      <p:sp>
        <p:nvSpPr>
          <p:cNvPr id="1600" name="shape160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Data Dictionary — blank template</a:t>
            </a:r>
          </a:p>
        </p:txBody>
      </p:sp>
      <p:graphicFrame>
        <p:nvGraphicFramePr>
          <p:cNvPr id="1601" name="table1601"/>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459154"/>
                <a:gridCol w="1459154"/>
                <a:gridCol w="1459154"/>
                <a:gridCol w="1459154"/>
              </a:tblGrid>
              <a:tr h="384048">
                <a:tc>
                  <a:txBody>
                    <a:bodyPr wrap="square" anchor="ctr" lIns="64008" rIns="64008" tIns="27432" bIns="27432"/>
                    <a:lstStyle/>
                    <a:p>
                      <a:pPr algn="l"/>
                      <a:r>
                        <a:rPr lang="en-AU" sz="800" b="1" dirty="0">
                          <a:solidFill>
                            <a:srgbClr val="FFFFFF"/>
                          </a:solidFill>
                          <a:latin typeface="Aptos"/>
                        </a:rPr>
                        <a:t>Element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Set by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Permitted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Mandatory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2" name="shape160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10.13  Data Flow Diagrams</a:t>
            </a:r>
          </a:p>
        </p:txBody>
      </p:sp>
      <p:sp>
        <p:nvSpPr>
          <p:cNvPr id="1603" name="shape160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604" name="shape160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605" name="conn1605"/>
          <p:cNvCxnSpPr/>
          <p:nvPr/>
        </p:nvCxnSpPr>
        <p:spPr>
          <a:xfrm>
            <a:off x="457200" y="1078992"/>
            <a:ext cx="11277295" cy="1"/>
          </a:xfrm>
          <a:prstGeom prst="line">
            <a:avLst/>
          </a:prstGeom>
          <a:ln w="9525">
            <a:solidFill>
              <a:srgbClr val="D9D8D0"/>
            </a:solidFill>
          </a:ln>
        </p:spPr>
      </p:cxnSp>
      <p:sp>
        <p:nvSpPr>
          <p:cNvPr id="1606" name="shape160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607" name="shape160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10.13</a:t>
            </a:r>
          </a:p>
        </p:txBody>
      </p:sp>
      <p:sp>
        <p:nvSpPr>
          <p:cNvPr id="1608" name="shape160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609" name="shape160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Shows where data comes from, what transforms it and where it ends up, across processes, stores and external parties.</a:t>
            </a:r>
          </a:p>
        </p:txBody>
      </p:sp>
      <p:sp>
        <p:nvSpPr>
          <p:cNvPr id="1610" name="shape161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611" name="shape161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concern is movement and custody of information rather than the order in which people act.</a:t>
            </a:r>
          </a:p>
        </p:txBody>
      </p:sp>
      <p:sp>
        <p:nvSpPr>
          <p:cNvPr id="1612" name="shape161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613" name="shape161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flow diagrams follow the data; process models follow the work. An item about who does what next is process modelling even when systems are involved.</a:t>
            </a:r>
          </a:p>
        </p:txBody>
      </p:sp>
      <p:sp>
        <p:nvSpPr>
          <p:cNvPr id="1614" name="shape161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615" name="shape161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7.4 Define Requirements Architecture</a:t>
            </a:r>
          </a:p>
        </p:txBody>
      </p:sp>
      <p:sp>
        <p:nvSpPr>
          <p:cNvPr id="1616" name="shape161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Where a referral's patient identifiers travel</a:t>
            </a:r>
          </a:p>
        </p:txBody>
      </p:sp>
      <p:sp>
        <p:nvSpPr>
          <p:cNvPr id="1617" name="shape161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register also feeds a nightly warehouse extract, unmasked. That store is where the privacy question actually lands.</a:t>
            </a:r>
          </a:p>
        </p:txBody>
      </p:sp>
      <p:cxnSp>
        <p:nvCxnSpPr>
          <p:cNvPr id="1618" name="conn1618"/>
          <p:cNvCxnSpPr/>
          <p:nvPr/>
        </p:nvCxnSpPr>
        <p:spPr>
          <a:xfrm>
            <a:off x="5108387" y="2322576"/>
            <a:ext cx="68580" cy="1"/>
          </a:xfrm>
          <a:prstGeom prst="line">
            <a:avLst/>
          </a:prstGeom>
          <a:ln w="12700">
            <a:solidFill>
              <a:srgbClr val="C3C2B7"/>
            </a:solidFill>
            <a:tailEnd type="triangle" w="med" len="med"/>
          </a:ln>
        </p:spPr>
      </p:cxnSp>
      <p:sp>
        <p:nvSpPr>
          <p:cNvPr id="1619" name="shape1619"/>
          <p:cNvSpPr/>
          <p:nvPr/>
        </p:nvSpPr>
        <p:spPr>
          <a:xfrm>
            <a:off x="5016947" y="1938528"/>
            <a:ext cx="251460" cy="292608"/>
          </a:xfrm>
          <a:prstGeom prst="rect">
            <a:avLst/>
          </a:prstGeom>
          <a:noFill/>
          <a:ln>
            <a:noFill/>
          </a:ln>
        </p:spPr>
        <p:txBody>
          <a:bodyPr wrap="square" anchor="ctr" lIns="54864" rIns="54864" tIns="27432" bIns="27432"/>
          <a:lstStyle/>
          <a:p>
            <a:pPr algn="ctr"/>
            <a:r>
              <a:rPr lang="en-AU" sz="750" dirty="0">
                <a:solidFill>
                  <a:srgbClr val="6B6A66"/>
                </a:solidFill>
                <a:latin typeface="Aptos"/>
              </a:rPr>
              <a:t>referral, identifiers</a:t>
            </a:r>
          </a:p>
        </p:txBody>
      </p:sp>
      <p:cxnSp>
        <p:nvCxnSpPr>
          <p:cNvPr id="1620" name="conn1620"/>
          <p:cNvCxnSpPr/>
          <p:nvPr/>
        </p:nvCxnSpPr>
        <p:spPr>
          <a:xfrm>
            <a:off x="6764914" y="2322576"/>
            <a:ext cx="68580" cy="1"/>
          </a:xfrm>
          <a:prstGeom prst="line">
            <a:avLst/>
          </a:prstGeom>
          <a:ln w="12700">
            <a:solidFill>
              <a:srgbClr val="C3C2B7"/>
            </a:solidFill>
            <a:tailEnd type="triangle" w="med" len="med"/>
          </a:ln>
        </p:spPr>
      </p:cxnSp>
      <p:sp>
        <p:nvSpPr>
          <p:cNvPr id="1621" name="shape1621"/>
          <p:cNvSpPr/>
          <p:nvPr/>
        </p:nvSpPr>
        <p:spPr>
          <a:xfrm>
            <a:off x="6673474" y="1938528"/>
            <a:ext cx="251460" cy="292608"/>
          </a:xfrm>
          <a:prstGeom prst="rect">
            <a:avLst/>
          </a:prstGeom>
          <a:noFill/>
          <a:ln>
            <a:noFill/>
          </a:ln>
        </p:spPr>
        <p:txBody>
          <a:bodyPr wrap="square" anchor="ctr" lIns="54864" rIns="54864" tIns="27432" bIns="27432"/>
          <a:lstStyle/>
          <a:p>
            <a:pPr algn="ctr"/>
            <a:r>
              <a:rPr lang="en-AU" sz="750" dirty="0">
                <a:solidFill>
                  <a:srgbClr val="6B6A66"/>
                </a:solidFill>
                <a:latin typeface="Aptos"/>
              </a:rPr>
              <a:t>URN, full identifiers</a:t>
            </a:r>
          </a:p>
        </p:txBody>
      </p:sp>
      <p:cxnSp>
        <p:nvCxnSpPr>
          <p:cNvPr id="1622" name="conn1622"/>
          <p:cNvCxnSpPr/>
          <p:nvPr/>
        </p:nvCxnSpPr>
        <p:spPr>
          <a:xfrm>
            <a:off x="8421441" y="2322576"/>
            <a:ext cx="68580" cy="1"/>
          </a:xfrm>
          <a:prstGeom prst="line">
            <a:avLst/>
          </a:prstGeom>
          <a:ln w="12700">
            <a:solidFill>
              <a:srgbClr val="C3C2B7"/>
            </a:solidFill>
            <a:tailEnd type="triangle" w="med" len="med"/>
          </a:ln>
        </p:spPr>
      </p:cxnSp>
      <p:sp>
        <p:nvSpPr>
          <p:cNvPr id="1623" name="shape1623"/>
          <p:cNvSpPr/>
          <p:nvPr/>
        </p:nvSpPr>
        <p:spPr>
          <a:xfrm>
            <a:off x="8330001" y="1938528"/>
            <a:ext cx="251460" cy="292608"/>
          </a:xfrm>
          <a:prstGeom prst="rect">
            <a:avLst/>
          </a:prstGeom>
          <a:noFill/>
          <a:ln>
            <a:noFill/>
          </a:ln>
        </p:spPr>
        <p:txBody>
          <a:bodyPr wrap="square" anchor="ctr" lIns="54864" rIns="54864" tIns="27432" bIns="27432"/>
          <a:lstStyle/>
          <a:p>
            <a:pPr algn="ctr"/>
            <a:r>
              <a:rPr lang="en-AU" sz="750" dirty="0">
                <a:solidFill>
                  <a:srgbClr val="6B6A66"/>
                </a:solidFill>
                <a:latin typeface="Aptos"/>
              </a:rPr>
              <a:t>patient record</a:t>
            </a:r>
          </a:p>
        </p:txBody>
      </p:sp>
      <p:cxnSp>
        <p:nvCxnSpPr>
          <p:cNvPr id="1624" name="conn1624"/>
          <p:cNvCxnSpPr/>
          <p:nvPr/>
        </p:nvCxnSpPr>
        <p:spPr>
          <a:xfrm>
            <a:off x="10077968" y="2322576"/>
            <a:ext cx="68580" cy="1"/>
          </a:xfrm>
          <a:prstGeom prst="line">
            <a:avLst/>
          </a:prstGeom>
          <a:ln w="12700">
            <a:solidFill>
              <a:srgbClr val="C3C2B7"/>
            </a:solidFill>
            <a:tailEnd type="triangle" w="med" len="med"/>
          </a:ln>
        </p:spPr>
      </p:cxnSp>
      <p:sp>
        <p:nvSpPr>
          <p:cNvPr id="1625" name="shape1625"/>
          <p:cNvSpPr/>
          <p:nvPr/>
        </p:nvSpPr>
        <p:spPr>
          <a:xfrm>
            <a:off x="9986528" y="1938528"/>
            <a:ext cx="251460" cy="292608"/>
          </a:xfrm>
          <a:prstGeom prst="rect">
            <a:avLst/>
          </a:prstGeom>
          <a:noFill/>
          <a:ln>
            <a:noFill/>
          </a:ln>
        </p:spPr>
        <p:txBody>
          <a:bodyPr wrap="square" anchor="ctr" lIns="54864" rIns="54864" tIns="27432" bIns="27432"/>
          <a:lstStyle/>
          <a:p>
            <a:pPr algn="ctr"/>
            <a:r>
              <a:rPr lang="en-AU" sz="750" dirty="0">
                <a:solidFill>
                  <a:srgbClr val="6B6A66"/>
                </a:solidFill>
                <a:latin typeface="Aptos"/>
              </a:rPr>
              <a:t>name, DOB, phone</a:t>
            </a:r>
          </a:p>
        </p:txBody>
      </p:sp>
      <p:sp>
        <p:nvSpPr>
          <p:cNvPr id="1626" name="shape1626"/>
          <p:cNvSpPr/>
          <p:nvPr/>
        </p:nvSpPr>
        <p:spPr>
          <a:xfrm>
            <a:off x="3520440" y="1956816"/>
            <a:ext cx="1587947" cy="731520"/>
          </a:xfrm>
          <a:prstGeom prst="rect">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GP practice</a:t>
            </a:r>
          </a:p>
        </p:txBody>
      </p:sp>
      <p:sp>
        <p:nvSpPr>
          <p:cNvPr id="1627" name="shape1627"/>
          <p:cNvSpPr/>
          <p:nvPr/>
        </p:nvSpPr>
        <p:spPr>
          <a:xfrm>
            <a:off x="3520440"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external</a:t>
            </a:r>
          </a:p>
        </p:txBody>
      </p:sp>
      <p:sp>
        <p:nvSpPr>
          <p:cNvPr id="1628" name="shape1628"/>
          <p:cNvSpPr/>
          <p:nvPr/>
        </p:nvSpPr>
        <p:spPr>
          <a:xfrm>
            <a:off x="5176967" y="1956816"/>
            <a:ext cx="1587947" cy="731520"/>
          </a:xfrm>
          <a:prstGeom prst="roundRect">
            <a:avLst>
              <a:gd name="adj" fmla="val 45000"/>
            </a:avLst>
          </a:prstGeom>
          <a:solidFill>
            <a:srgbClr val="E9F1FD"/>
          </a:solidFill>
          <a:ln w="9525">
            <a:solidFill>
              <a:srgbClr val="2A78D6"/>
            </a:solidFill>
          </a:ln>
        </p:spPr>
        <p:txBody>
          <a:bodyPr wrap="square" anchor="ctr" lIns="54864" rIns="54864" tIns="27432" bIns="27432"/>
          <a:lstStyle/>
          <a:p>
            <a:pPr algn="ctr"/>
            <a:r>
              <a:rPr lang="en-AU" sz="850" dirty="0">
                <a:solidFill>
                  <a:srgbClr val="0B0B0B"/>
                </a:solidFill>
                <a:latin typeface="Aptos"/>
              </a:rPr>
              <a:t>Referral intake</a:t>
            </a:r>
          </a:p>
        </p:txBody>
      </p:sp>
      <p:sp>
        <p:nvSpPr>
          <p:cNvPr id="1629" name="shape1629"/>
          <p:cNvSpPr/>
          <p:nvPr/>
        </p:nvSpPr>
        <p:spPr>
          <a:xfrm>
            <a:off x="5176967"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process</a:t>
            </a:r>
          </a:p>
        </p:txBody>
      </p:sp>
      <p:sp>
        <p:nvSpPr>
          <p:cNvPr id="1630" name="shape1630"/>
          <p:cNvSpPr/>
          <p:nvPr/>
        </p:nvSpPr>
        <p:spPr>
          <a:xfrm>
            <a:off x="6833494" y="1956816"/>
            <a:ext cx="1587947" cy="731520"/>
          </a:xfrm>
          <a:prstGeom prst="flowChartMagneticDrum">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Referral register</a:t>
            </a:r>
          </a:p>
        </p:txBody>
      </p:sp>
      <p:sp>
        <p:nvSpPr>
          <p:cNvPr id="1631" name="shape1631"/>
          <p:cNvSpPr/>
          <p:nvPr/>
        </p:nvSpPr>
        <p:spPr>
          <a:xfrm>
            <a:off x="6833494"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data store</a:t>
            </a:r>
          </a:p>
        </p:txBody>
      </p:sp>
      <p:sp>
        <p:nvSpPr>
          <p:cNvPr id="1632" name="shape1632"/>
          <p:cNvSpPr/>
          <p:nvPr/>
        </p:nvSpPr>
        <p:spPr>
          <a:xfrm>
            <a:off x="8490021" y="1956816"/>
            <a:ext cx="1587947" cy="731520"/>
          </a:xfrm>
          <a:prstGeom prst="roundRect">
            <a:avLst>
              <a:gd name="adj" fmla="val 45000"/>
            </a:avLst>
          </a:prstGeom>
          <a:solidFill>
            <a:srgbClr val="E9F1FD"/>
          </a:solidFill>
          <a:ln w="9525">
            <a:solidFill>
              <a:srgbClr val="2A78D6"/>
            </a:solidFill>
          </a:ln>
        </p:spPr>
        <p:txBody>
          <a:bodyPr wrap="square" anchor="ctr" lIns="54864" rIns="54864" tIns="27432" bIns="27432"/>
          <a:lstStyle/>
          <a:p>
            <a:pPr algn="ctr"/>
            <a:r>
              <a:rPr lang="en-AU" sz="850" dirty="0">
                <a:solidFill>
                  <a:srgbClr val="0B0B0B"/>
                </a:solidFill>
                <a:latin typeface="Aptos"/>
              </a:rPr>
              <a:t>Appointment scheduling</a:t>
            </a:r>
          </a:p>
        </p:txBody>
      </p:sp>
      <p:sp>
        <p:nvSpPr>
          <p:cNvPr id="1633" name="shape1633"/>
          <p:cNvSpPr/>
          <p:nvPr/>
        </p:nvSpPr>
        <p:spPr>
          <a:xfrm>
            <a:off x="8490021"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process</a:t>
            </a:r>
          </a:p>
        </p:txBody>
      </p:sp>
      <p:sp>
        <p:nvSpPr>
          <p:cNvPr id="1634" name="shape1634"/>
          <p:cNvSpPr/>
          <p:nvPr/>
        </p:nvSpPr>
        <p:spPr>
          <a:xfrm>
            <a:off x="10146548" y="1956816"/>
            <a:ext cx="1587947" cy="731520"/>
          </a:xfrm>
          <a:prstGeom prst="rect">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Scheduling vendor</a:t>
            </a:r>
          </a:p>
        </p:txBody>
      </p:sp>
      <p:sp>
        <p:nvSpPr>
          <p:cNvPr id="1635" name="shape1635"/>
          <p:cNvSpPr/>
          <p:nvPr/>
        </p:nvSpPr>
        <p:spPr>
          <a:xfrm>
            <a:off x="10146548"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external</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6" name="shape163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10.13  Data Flow Diagrams</a:t>
            </a:r>
          </a:p>
        </p:txBody>
      </p:sp>
      <p:sp>
        <p:nvSpPr>
          <p:cNvPr id="1637" name="shape163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638" name="shape163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639" name="conn1639"/>
          <p:cNvCxnSpPr/>
          <p:nvPr/>
        </p:nvCxnSpPr>
        <p:spPr>
          <a:xfrm>
            <a:off x="457200" y="1078992"/>
            <a:ext cx="11277295" cy="1"/>
          </a:xfrm>
          <a:prstGeom prst="line">
            <a:avLst/>
          </a:prstGeom>
          <a:ln w="9525">
            <a:solidFill>
              <a:srgbClr val="D9D8D0"/>
            </a:solidFill>
          </a:ln>
        </p:spPr>
      </p:cxnSp>
      <p:sp>
        <p:nvSpPr>
          <p:cNvPr id="1640" name="shape164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641" name="shape164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10.13</a:t>
            </a:r>
          </a:p>
        </p:txBody>
      </p:sp>
      <p:sp>
        <p:nvSpPr>
          <p:cNvPr id="1642" name="shape164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643" name="shape164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Label every arrow with the data it carries. An unlabelled arrow is the one nobody has checked.</a:t>
            </a:r>
          </a:p>
        </p:txBody>
      </p:sp>
      <p:sp>
        <p:nvSpPr>
          <p:cNvPr id="1644" name="shape164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645" name="shape164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Shows where data comes from, what transforms it and where it ends up, across processes, stores and external parties.</a:t>
            </a:r>
          </a:p>
        </p:txBody>
      </p:sp>
      <p:sp>
        <p:nvSpPr>
          <p:cNvPr id="1646" name="shape164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647" name="shape164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flow diagrams follow the data; process models follow the work. An item about who does what next is process modelling even when systems are involved.</a:t>
            </a:r>
          </a:p>
        </p:txBody>
      </p:sp>
      <p:sp>
        <p:nvSpPr>
          <p:cNvPr id="1648" name="shape164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649" name="shape164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7.4 Define Requirements Architecture</a:t>
            </a:r>
          </a:p>
        </p:txBody>
      </p:sp>
      <p:sp>
        <p:nvSpPr>
          <p:cNvPr id="1650" name="shape165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Data Flow Diagrams — blank template</a:t>
            </a:r>
          </a:p>
        </p:txBody>
      </p:sp>
      <p:cxnSp>
        <p:nvCxnSpPr>
          <p:cNvPr id="1651" name="conn1651"/>
          <p:cNvCxnSpPr/>
          <p:nvPr/>
        </p:nvCxnSpPr>
        <p:spPr>
          <a:xfrm>
            <a:off x="5108387" y="2322576"/>
            <a:ext cx="68580" cy="1"/>
          </a:xfrm>
          <a:prstGeom prst="line">
            <a:avLst/>
          </a:prstGeom>
          <a:ln w="12700">
            <a:solidFill>
              <a:srgbClr val="C3C2B7"/>
            </a:solidFill>
            <a:tailEnd type="triangle" w="med" len="med"/>
          </a:ln>
        </p:spPr>
      </p:cxnSp>
      <p:cxnSp>
        <p:nvCxnSpPr>
          <p:cNvPr id="1652" name="conn1652"/>
          <p:cNvCxnSpPr/>
          <p:nvPr/>
        </p:nvCxnSpPr>
        <p:spPr>
          <a:xfrm>
            <a:off x="6764914" y="2322576"/>
            <a:ext cx="68580" cy="1"/>
          </a:xfrm>
          <a:prstGeom prst="line">
            <a:avLst/>
          </a:prstGeom>
          <a:ln w="12700">
            <a:solidFill>
              <a:srgbClr val="C3C2B7"/>
            </a:solidFill>
            <a:tailEnd type="triangle" w="med" len="med"/>
          </a:ln>
        </p:spPr>
      </p:cxnSp>
      <p:cxnSp>
        <p:nvCxnSpPr>
          <p:cNvPr id="1653" name="conn1653"/>
          <p:cNvCxnSpPr/>
          <p:nvPr/>
        </p:nvCxnSpPr>
        <p:spPr>
          <a:xfrm>
            <a:off x="8421441" y="2322576"/>
            <a:ext cx="68580" cy="1"/>
          </a:xfrm>
          <a:prstGeom prst="line">
            <a:avLst/>
          </a:prstGeom>
          <a:ln w="12700">
            <a:solidFill>
              <a:srgbClr val="C3C2B7"/>
            </a:solidFill>
            <a:tailEnd type="triangle" w="med" len="med"/>
          </a:ln>
        </p:spPr>
      </p:cxnSp>
      <p:cxnSp>
        <p:nvCxnSpPr>
          <p:cNvPr id="1654" name="conn1654"/>
          <p:cNvCxnSpPr/>
          <p:nvPr/>
        </p:nvCxnSpPr>
        <p:spPr>
          <a:xfrm>
            <a:off x="10077968" y="2322576"/>
            <a:ext cx="68580" cy="1"/>
          </a:xfrm>
          <a:prstGeom prst="line">
            <a:avLst/>
          </a:prstGeom>
          <a:ln w="12700">
            <a:solidFill>
              <a:srgbClr val="C3C2B7"/>
            </a:solidFill>
            <a:tailEnd type="triangle" w="med" len="med"/>
          </a:ln>
        </p:spPr>
      </p:cxnSp>
      <p:sp>
        <p:nvSpPr>
          <p:cNvPr id="1655" name="shape1655"/>
          <p:cNvSpPr/>
          <p:nvPr/>
        </p:nvSpPr>
        <p:spPr>
          <a:xfrm>
            <a:off x="3520440" y="1956816"/>
            <a:ext cx="1587947" cy="731520"/>
          </a:xfrm>
          <a:prstGeom prst="rect">
            <a:avLst/>
          </a:prstGeom>
          <a:solidFill>
            <a:srgbClr val="FFFFFF"/>
          </a:solidFill>
          <a:ln w="9525">
            <a:solidFill>
              <a:srgbClr val="C3C2B7"/>
            </a:solidFill>
          </a:ln>
        </p:spPr>
        <p:txBody>
          <a:bodyPr wrap="square" anchor="ctr" lIns="54864" rIns="54864" tIns="27432" bIns="27432"/>
          <a:lstStyle/>
          <a:p>
            <a:pPr algn="ctr"/>
            <a:endParaRPr lang="en-AU" sz="850"/>
          </a:p>
        </p:txBody>
      </p:sp>
      <p:sp>
        <p:nvSpPr>
          <p:cNvPr id="1656" name="shape1656"/>
          <p:cNvSpPr/>
          <p:nvPr/>
        </p:nvSpPr>
        <p:spPr>
          <a:xfrm>
            <a:off x="3520440"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external</a:t>
            </a:r>
          </a:p>
        </p:txBody>
      </p:sp>
      <p:sp>
        <p:nvSpPr>
          <p:cNvPr id="1657" name="shape1657"/>
          <p:cNvSpPr/>
          <p:nvPr/>
        </p:nvSpPr>
        <p:spPr>
          <a:xfrm>
            <a:off x="5176967" y="1956816"/>
            <a:ext cx="1587947" cy="731520"/>
          </a:xfrm>
          <a:prstGeom prst="roundRect">
            <a:avLst>
              <a:gd name="adj" fmla="val 45000"/>
            </a:avLst>
          </a:prstGeom>
          <a:solidFill>
            <a:srgbClr val="E9F1FD"/>
          </a:solidFill>
          <a:ln w="9525">
            <a:solidFill>
              <a:srgbClr val="2A78D6"/>
            </a:solidFill>
          </a:ln>
        </p:spPr>
        <p:txBody>
          <a:bodyPr wrap="square" anchor="ctr" lIns="54864" rIns="54864" tIns="27432" bIns="27432"/>
          <a:lstStyle/>
          <a:p>
            <a:pPr algn="ctr"/>
            <a:endParaRPr lang="en-AU" sz="850"/>
          </a:p>
        </p:txBody>
      </p:sp>
      <p:sp>
        <p:nvSpPr>
          <p:cNvPr id="1658" name="shape1658"/>
          <p:cNvSpPr/>
          <p:nvPr/>
        </p:nvSpPr>
        <p:spPr>
          <a:xfrm>
            <a:off x="5176967"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process</a:t>
            </a:r>
          </a:p>
        </p:txBody>
      </p:sp>
      <p:sp>
        <p:nvSpPr>
          <p:cNvPr id="1659" name="shape1659"/>
          <p:cNvSpPr/>
          <p:nvPr/>
        </p:nvSpPr>
        <p:spPr>
          <a:xfrm>
            <a:off x="6833494" y="1956816"/>
            <a:ext cx="1587947" cy="731520"/>
          </a:xfrm>
          <a:prstGeom prst="flowChartMagneticDrum">
            <a:avLst/>
          </a:prstGeom>
          <a:solidFill>
            <a:srgbClr val="FFFFFF"/>
          </a:solidFill>
          <a:ln w="9525">
            <a:solidFill>
              <a:srgbClr val="C3C2B7"/>
            </a:solidFill>
          </a:ln>
        </p:spPr>
        <p:txBody>
          <a:bodyPr wrap="square" anchor="ctr" lIns="54864" rIns="54864" tIns="27432" bIns="27432"/>
          <a:lstStyle/>
          <a:p>
            <a:pPr algn="ctr"/>
            <a:endParaRPr lang="en-AU" sz="850"/>
          </a:p>
        </p:txBody>
      </p:sp>
      <p:sp>
        <p:nvSpPr>
          <p:cNvPr id="1660" name="shape1660"/>
          <p:cNvSpPr/>
          <p:nvPr/>
        </p:nvSpPr>
        <p:spPr>
          <a:xfrm>
            <a:off x="6833494"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data store</a:t>
            </a:r>
          </a:p>
        </p:txBody>
      </p:sp>
      <p:sp>
        <p:nvSpPr>
          <p:cNvPr id="1661" name="shape1661"/>
          <p:cNvSpPr/>
          <p:nvPr/>
        </p:nvSpPr>
        <p:spPr>
          <a:xfrm>
            <a:off x="8490021" y="1956816"/>
            <a:ext cx="1587947" cy="731520"/>
          </a:xfrm>
          <a:prstGeom prst="roundRect">
            <a:avLst>
              <a:gd name="adj" fmla="val 45000"/>
            </a:avLst>
          </a:prstGeom>
          <a:solidFill>
            <a:srgbClr val="E9F1FD"/>
          </a:solidFill>
          <a:ln w="9525">
            <a:solidFill>
              <a:srgbClr val="2A78D6"/>
            </a:solidFill>
          </a:ln>
        </p:spPr>
        <p:txBody>
          <a:bodyPr wrap="square" anchor="ctr" lIns="54864" rIns="54864" tIns="27432" bIns="27432"/>
          <a:lstStyle/>
          <a:p>
            <a:pPr algn="ctr"/>
            <a:endParaRPr lang="en-AU" sz="850"/>
          </a:p>
        </p:txBody>
      </p:sp>
      <p:sp>
        <p:nvSpPr>
          <p:cNvPr id="1662" name="shape1662"/>
          <p:cNvSpPr/>
          <p:nvPr/>
        </p:nvSpPr>
        <p:spPr>
          <a:xfrm>
            <a:off x="8490021"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process</a:t>
            </a:r>
          </a:p>
        </p:txBody>
      </p:sp>
      <p:sp>
        <p:nvSpPr>
          <p:cNvPr id="1663" name="shape1663"/>
          <p:cNvSpPr/>
          <p:nvPr/>
        </p:nvSpPr>
        <p:spPr>
          <a:xfrm>
            <a:off x="10146548" y="1956816"/>
            <a:ext cx="1587947" cy="731520"/>
          </a:xfrm>
          <a:prstGeom prst="rect">
            <a:avLst/>
          </a:prstGeom>
          <a:solidFill>
            <a:srgbClr val="FFFFFF"/>
          </a:solidFill>
          <a:ln w="9525">
            <a:solidFill>
              <a:srgbClr val="C3C2B7"/>
            </a:solidFill>
          </a:ln>
        </p:spPr>
        <p:txBody>
          <a:bodyPr wrap="square" anchor="ctr" lIns="54864" rIns="54864" tIns="27432" bIns="27432"/>
          <a:lstStyle/>
          <a:p>
            <a:pPr algn="ctr"/>
            <a:endParaRPr lang="en-AU" sz="850"/>
          </a:p>
        </p:txBody>
      </p:sp>
      <p:sp>
        <p:nvSpPr>
          <p:cNvPr id="1664" name="shape1664"/>
          <p:cNvSpPr/>
          <p:nvPr/>
        </p:nvSpPr>
        <p:spPr>
          <a:xfrm>
            <a:off x="10146548" y="2715768"/>
            <a:ext cx="1587947" cy="201168"/>
          </a:xfrm>
          <a:prstGeom prst="rect">
            <a:avLst/>
          </a:prstGeom>
          <a:noFill/>
          <a:ln>
            <a:noFill/>
          </a:ln>
        </p:spPr>
        <p:txBody>
          <a:bodyPr wrap="square" anchor="ctr" lIns="54864" rIns="54864" tIns="27432" bIns="27432"/>
          <a:lstStyle/>
          <a:p>
            <a:pPr algn="ctr"/>
            <a:r>
              <a:rPr lang="en-AU" sz="750" dirty="0">
                <a:solidFill>
                  <a:srgbClr val="6B6A66"/>
                </a:solidFill>
                <a:latin typeface="Aptos"/>
              </a:rPr>
              <a:t>external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5" name="shape166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10.15  Data Modelling</a:t>
            </a:r>
          </a:p>
        </p:txBody>
      </p:sp>
      <p:sp>
        <p:nvSpPr>
          <p:cNvPr id="1666" name="shape166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667" name="shape1667"/>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668" name="conn1668"/>
          <p:cNvCxnSpPr/>
          <p:nvPr/>
        </p:nvCxnSpPr>
        <p:spPr>
          <a:xfrm>
            <a:off x="457200" y="1078992"/>
            <a:ext cx="11277295" cy="1"/>
          </a:xfrm>
          <a:prstGeom prst="line">
            <a:avLst/>
          </a:prstGeom>
          <a:ln w="9525">
            <a:solidFill>
              <a:srgbClr val="D9D8D0"/>
            </a:solidFill>
          </a:ln>
        </p:spPr>
      </p:cxnSp>
      <p:sp>
        <p:nvSpPr>
          <p:cNvPr id="1669" name="shape166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670" name="shape167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10.15</a:t>
            </a:r>
          </a:p>
        </p:txBody>
      </p:sp>
      <p:sp>
        <p:nvSpPr>
          <p:cNvPr id="1671" name="shape167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672" name="shape1672"/>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Describes the entities an organisation holds information about, their attributes and the relationships between them.</a:t>
            </a:r>
          </a:p>
        </p:txBody>
      </p:sp>
      <p:sp>
        <p:nvSpPr>
          <p:cNvPr id="1673" name="shape1673"/>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674" name="shape1674"/>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solution has to store or exchange information and the structure, cardinality and ownership of that information are in question.</a:t>
            </a:r>
          </a:p>
        </p:txBody>
      </p:sp>
      <p:sp>
        <p:nvSpPr>
          <p:cNvPr id="1675" name="shape1675"/>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676" name="shape1676"/>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modelling structures information for a solution; concept modelling settles what the business means by a term. The give-away for data modelling is cardinality: one-to-many, optionality, keys.</a:t>
            </a:r>
          </a:p>
        </p:txBody>
      </p:sp>
      <p:sp>
        <p:nvSpPr>
          <p:cNvPr id="1677" name="shape1677"/>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678" name="shape1678"/>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1679" name="shape167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Family portal — the relationships the prose could not state</a:t>
            </a:r>
          </a:p>
        </p:txBody>
      </p:sp>
      <p:sp>
        <p:nvSpPr>
          <p:cNvPr id="1680" name="shape1680"/>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Shared care is 2 households per child. A guardian need not be a parent.</a:t>
            </a:r>
          </a:p>
        </p:txBody>
      </p:sp>
      <p:graphicFrame>
        <p:nvGraphicFramePr>
          <p:cNvPr id="1681" name="table1681"/>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From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Relationship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Child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attends 1..* </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Centre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Child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belongs to 1..2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Household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Guardian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acts for 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Child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Parent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is 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Guardian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Household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has 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Guardian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2" name="shape168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10.15  Data Modelling</a:t>
            </a:r>
          </a:p>
        </p:txBody>
      </p:sp>
      <p:sp>
        <p:nvSpPr>
          <p:cNvPr id="1683" name="shape168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684" name="shape1684"/>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685" name="conn1685"/>
          <p:cNvCxnSpPr/>
          <p:nvPr/>
        </p:nvCxnSpPr>
        <p:spPr>
          <a:xfrm>
            <a:off x="457200" y="1078992"/>
            <a:ext cx="11277295" cy="1"/>
          </a:xfrm>
          <a:prstGeom prst="line">
            <a:avLst/>
          </a:prstGeom>
          <a:ln w="9525">
            <a:solidFill>
              <a:srgbClr val="D9D8D0"/>
            </a:solidFill>
          </a:ln>
        </p:spPr>
      </p:cxnSp>
      <p:sp>
        <p:nvSpPr>
          <p:cNvPr id="1686" name="shape168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687" name="shape168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10.15</a:t>
            </a:r>
          </a:p>
        </p:txBody>
      </p:sp>
      <p:sp>
        <p:nvSpPr>
          <p:cNvPr id="1688" name="shape168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689" name="shape1689"/>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from.</a:t>
            </a:r>
          </a:p>
        </p:txBody>
      </p:sp>
      <p:sp>
        <p:nvSpPr>
          <p:cNvPr id="1690" name="shape1690"/>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691" name="shape1691"/>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Describes the entities an organisation holds information about, their attributes and the relationships between them.</a:t>
            </a:r>
          </a:p>
        </p:txBody>
      </p:sp>
      <p:sp>
        <p:nvSpPr>
          <p:cNvPr id="1692" name="shape1692"/>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693" name="shape1693"/>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Data modelling structures information for a solution; concept modelling settles what the business means by a term. The give-away for data modelling is cardinality: one-to-many, optionality, keys.</a:t>
            </a:r>
          </a:p>
        </p:txBody>
      </p:sp>
      <p:sp>
        <p:nvSpPr>
          <p:cNvPr id="1694" name="shape1694"/>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695" name="shape1695"/>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1696" name="shape169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Data Modelling — blank template</a:t>
            </a:r>
          </a:p>
        </p:txBody>
      </p:sp>
      <p:graphicFrame>
        <p:nvGraphicFramePr>
          <p:cNvPr id="1697" name="table1697"/>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From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Relationship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8" name="shape169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10.17  Decision Modelling</a:t>
            </a:r>
          </a:p>
        </p:txBody>
      </p:sp>
      <p:sp>
        <p:nvSpPr>
          <p:cNvPr id="1699" name="shape169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700" name="shape1700"/>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701" name="conn1701"/>
          <p:cNvCxnSpPr/>
          <p:nvPr/>
        </p:nvCxnSpPr>
        <p:spPr>
          <a:xfrm>
            <a:off x="457200" y="1078992"/>
            <a:ext cx="11277295" cy="1"/>
          </a:xfrm>
          <a:prstGeom prst="line">
            <a:avLst/>
          </a:prstGeom>
          <a:ln w="9525">
            <a:solidFill>
              <a:srgbClr val="D9D8D0"/>
            </a:solidFill>
          </a:ln>
        </p:spPr>
      </p:cxnSp>
      <p:sp>
        <p:nvSpPr>
          <p:cNvPr id="1702" name="shape170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703" name="shape170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10.17</a:t>
            </a:r>
          </a:p>
        </p:txBody>
      </p:sp>
      <p:sp>
        <p:nvSpPr>
          <p:cNvPr id="1704" name="shape170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705" name="shape1705"/>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Represents repeatable operational decisions and the logic behind them, so the same inputs always yield the same outcome.</a:t>
            </a:r>
          </a:p>
        </p:txBody>
      </p:sp>
      <p:sp>
        <p:nvSpPr>
          <p:cNvPr id="1706" name="shape1706"/>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707" name="shape1707"/>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 is made hundreds of times a day by different people and the inconsistency is the problem.</a:t>
            </a:r>
          </a:p>
        </p:txBody>
      </p:sp>
      <p:sp>
        <p:nvSpPr>
          <p:cNvPr id="1708" name="shape1708"/>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709" name="shape1709"/>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Decision modelling documents a recurring operational decision; decision analysis supports a one-off strategic choice. Frequency is the tell.</a:t>
            </a:r>
          </a:p>
        </p:txBody>
      </p:sp>
      <p:sp>
        <p:nvSpPr>
          <p:cNvPr id="1710" name="shape1710"/>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711" name="shape1711"/>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a:t>
            </a:r>
          </a:p>
        </p:txBody>
      </p:sp>
      <p:sp>
        <p:nvSpPr>
          <p:cNvPr id="1712" name="shape171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Delegated authority, decided 400 times a day</a:t>
            </a:r>
          </a:p>
        </p:txBody>
      </p:sp>
      <p:sp>
        <p:nvSpPr>
          <p:cNvPr id="1713" name="shape1713"/>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Decision    2. Condition    3. Outcome</a:t>
            </a:r>
          </a:p>
        </p:txBody>
      </p:sp>
      <p:sp>
        <p:nvSpPr>
          <p:cNvPr id="1714" name="shape1714"/>
          <p:cNvSpPr/>
          <p:nvPr/>
        </p:nvSpPr>
        <p:spPr>
          <a:xfrm>
            <a:off x="3520440" y="1499616"/>
            <a:ext cx="8214055" cy="329184"/>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May this application be determined under delegation?</a:t>
            </a:r>
          </a:p>
        </p:txBody>
      </p:sp>
      <p:sp>
        <p:nvSpPr>
          <p:cNvPr id="1715" name="shape1715"/>
          <p:cNvSpPr/>
          <p:nvPr/>
        </p:nvSpPr>
        <p:spPr>
          <a:xfrm>
            <a:off x="3904488" y="1874520"/>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Objections received?</a:t>
            </a:r>
          </a:p>
        </p:txBody>
      </p:sp>
      <p:cxnSp>
        <p:nvCxnSpPr>
          <p:cNvPr id="1716" name="conn1716"/>
          <p:cNvCxnSpPr/>
          <p:nvPr/>
        </p:nvCxnSpPr>
        <p:spPr>
          <a:xfrm>
            <a:off x="3776472" y="2039112"/>
            <a:ext cx="128016" cy="1"/>
          </a:xfrm>
          <a:prstGeom prst="line">
            <a:avLst/>
          </a:prstGeom>
          <a:ln w="6350">
            <a:solidFill>
              <a:srgbClr val="C3C2B7"/>
            </a:solidFill>
          </a:ln>
        </p:spPr>
      </p:cxnSp>
      <p:sp>
        <p:nvSpPr>
          <p:cNvPr id="1717" name="shape1717"/>
          <p:cNvSpPr/>
          <p:nvPr/>
        </p:nvSpPr>
        <p:spPr>
          <a:xfrm>
            <a:off x="4288536" y="2249424"/>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Yes → refer to panel</a:t>
            </a:r>
          </a:p>
        </p:txBody>
      </p:sp>
      <p:cxnSp>
        <p:nvCxnSpPr>
          <p:cNvPr id="1718" name="conn1718"/>
          <p:cNvCxnSpPr/>
          <p:nvPr/>
        </p:nvCxnSpPr>
        <p:spPr>
          <a:xfrm>
            <a:off x="4160520" y="2414016"/>
            <a:ext cx="128016" cy="1"/>
          </a:xfrm>
          <a:prstGeom prst="line">
            <a:avLst/>
          </a:prstGeom>
          <a:ln w="6350">
            <a:solidFill>
              <a:srgbClr val="C3C2B7"/>
            </a:solidFill>
          </a:ln>
        </p:spPr>
      </p:cxnSp>
      <p:sp>
        <p:nvSpPr>
          <p:cNvPr id="1719" name="shape1719"/>
          <p:cNvSpPr/>
          <p:nvPr/>
        </p:nvSpPr>
        <p:spPr>
          <a:xfrm>
            <a:off x="4288536" y="2624328"/>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No → next test</a:t>
            </a:r>
          </a:p>
        </p:txBody>
      </p:sp>
      <p:cxnSp>
        <p:nvCxnSpPr>
          <p:cNvPr id="1720" name="conn1720"/>
          <p:cNvCxnSpPr/>
          <p:nvPr/>
        </p:nvCxnSpPr>
        <p:spPr>
          <a:xfrm>
            <a:off x="4160520" y="2788920"/>
            <a:ext cx="128016" cy="1"/>
          </a:xfrm>
          <a:prstGeom prst="line">
            <a:avLst/>
          </a:prstGeom>
          <a:ln w="6350">
            <a:solidFill>
              <a:srgbClr val="C3C2B7"/>
            </a:solidFill>
          </a:ln>
        </p:spPr>
      </p:cxnSp>
      <p:sp>
        <p:nvSpPr>
          <p:cNvPr id="1721" name="shape1721"/>
          <p:cNvSpPr/>
          <p:nvPr/>
        </p:nvSpPr>
        <p:spPr>
          <a:xfrm>
            <a:off x="3904488" y="2999232"/>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Variation exceeds 10%?</a:t>
            </a:r>
          </a:p>
        </p:txBody>
      </p:sp>
      <p:cxnSp>
        <p:nvCxnSpPr>
          <p:cNvPr id="1722" name="conn1722"/>
          <p:cNvCxnSpPr/>
          <p:nvPr/>
        </p:nvCxnSpPr>
        <p:spPr>
          <a:xfrm>
            <a:off x="3776472" y="3163824"/>
            <a:ext cx="128016" cy="1"/>
          </a:xfrm>
          <a:prstGeom prst="line">
            <a:avLst/>
          </a:prstGeom>
          <a:ln w="6350">
            <a:solidFill>
              <a:srgbClr val="C3C2B7"/>
            </a:solidFill>
          </a:ln>
        </p:spPr>
      </p:cxnSp>
      <p:sp>
        <p:nvSpPr>
          <p:cNvPr id="1723" name="shape1723"/>
          <p:cNvSpPr/>
          <p:nvPr/>
        </p:nvSpPr>
        <p:spPr>
          <a:xfrm>
            <a:off x="4288536" y="3374136"/>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Yes → refer to panel</a:t>
            </a:r>
          </a:p>
        </p:txBody>
      </p:sp>
      <p:cxnSp>
        <p:nvCxnSpPr>
          <p:cNvPr id="1724" name="conn1724"/>
          <p:cNvCxnSpPr/>
          <p:nvPr/>
        </p:nvCxnSpPr>
        <p:spPr>
          <a:xfrm>
            <a:off x="4160520" y="3538728"/>
            <a:ext cx="128016" cy="1"/>
          </a:xfrm>
          <a:prstGeom prst="line">
            <a:avLst/>
          </a:prstGeom>
          <a:ln w="6350">
            <a:solidFill>
              <a:srgbClr val="C3C2B7"/>
            </a:solidFill>
          </a:ln>
        </p:spPr>
      </p:cxnSp>
      <p:sp>
        <p:nvSpPr>
          <p:cNvPr id="1725" name="shape1725"/>
          <p:cNvSpPr/>
          <p:nvPr/>
        </p:nvSpPr>
        <p:spPr>
          <a:xfrm>
            <a:off x="4288536" y="3749040"/>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No → next test</a:t>
            </a:r>
          </a:p>
        </p:txBody>
      </p:sp>
      <p:cxnSp>
        <p:nvCxnSpPr>
          <p:cNvPr id="1726" name="conn1726"/>
          <p:cNvCxnSpPr/>
          <p:nvPr/>
        </p:nvCxnSpPr>
        <p:spPr>
          <a:xfrm>
            <a:off x="4160520" y="3913632"/>
            <a:ext cx="128016" cy="1"/>
          </a:xfrm>
          <a:prstGeom prst="line">
            <a:avLst/>
          </a:prstGeom>
          <a:ln w="6350">
            <a:solidFill>
              <a:srgbClr val="C3C2B7"/>
            </a:solidFill>
          </a:ln>
        </p:spPr>
      </p:cxnSp>
      <p:sp>
        <p:nvSpPr>
          <p:cNvPr id="1727" name="shape1727"/>
          <p:cNvSpPr/>
          <p:nvPr/>
        </p:nvSpPr>
        <p:spPr>
          <a:xfrm>
            <a:off x="3904488" y="4123944"/>
            <a:ext cx="7830007"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Heritage overlay applies?</a:t>
            </a:r>
          </a:p>
        </p:txBody>
      </p:sp>
      <p:cxnSp>
        <p:nvCxnSpPr>
          <p:cNvPr id="1728" name="conn1728"/>
          <p:cNvCxnSpPr/>
          <p:nvPr/>
        </p:nvCxnSpPr>
        <p:spPr>
          <a:xfrm>
            <a:off x="3776472" y="4288536"/>
            <a:ext cx="128016" cy="1"/>
          </a:xfrm>
          <a:prstGeom prst="line">
            <a:avLst/>
          </a:prstGeom>
          <a:ln w="6350">
            <a:solidFill>
              <a:srgbClr val="C3C2B7"/>
            </a:solidFill>
          </a:ln>
        </p:spPr>
      </p:cxnSp>
      <p:sp>
        <p:nvSpPr>
          <p:cNvPr id="1729" name="shape1729"/>
          <p:cNvSpPr/>
          <p:nvPr/>
        </p:nvSpPr>
        <p:spPr>
          <a:xfrm>
            <a:off x="4288536" y="4498848"/>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Yes → refer to panel</a:t>
            </a:r>
          </a:p>
        </p:txBody>
      </p:sp>
      <p:cxnSp>
        <p:nvCxnSpPr>
          <p:cNvPr id="1730" name="conn1730"/>
          <p:cNvCxnSpPr/>
          <p:nvPr/>
        </p:nvCxnSpPr>
        <p:spPr>
          <a:xfrm>
            <a:off x="4160520" y="4663440"/>
            <a:ext cx="128016" cy="1"/>
          </a:xfrm>
          <a:prstGeom prst="line">
            <a:avLst/>
          </a:prstGeom>
          <a:ln w="6350">
            <a:solidFill>
              <a:srgbClr val="C3C2B7"/>
            </a:solidFill>
          </a:ln>
        </p:spPr>
      </p:cxnSp>
      <p:sp>
        <p:nvSpPr>
          <p:cNvPr id="1731" name="shape1731"/>
          <p:cNvSpPr/>
          <p:nvPr/>
        </p:nvSpPr>
        <p:spPr>
          <a:xfrm>
            <a:off x="4288536" y="4873752"/>
            <a:ext cx="7445959" cy="329184"/>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No → determine under delegation</a:t>
            </a:r>
          </a:p>
        </p:txBody>
      </p:sp>
      <p:cxnSp>
        <p:nvCxnSpPr>
          <p:cNvPr id="1732" name="conn1732"/>
          <p:cNvCxnSpPr/>
          <p:nvPr/>
        </p:nvCxnSpPr>
        <p:spPr>
          <a:xfrm>
            <a:off x="4160520" y="5038344"/>
            <a:ext cx="128016" cy="1"/>
          </a:xfrm>
          <a:prstGeom prst="line">
            <a:avLst/>
          </a:prstGeom>
          <a:ln w="6350">
            <a:solidFill>
              <a:srgbClr val="C3C2B7"/>
            </a:solidFill>
          </a:ln>
        </p:spPr>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3" name="shape173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10.17  Decision Modelling</a:t>
            </a:r>
          </a:p>
        </p:txBody>
      </p:sp>
      <p:sp>
        <p:nvSpPr>
          <p:cNvPr id="1734" name="shape173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735" name="shape173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736" name="conn1736"/>
          <p:cNvCxnSpPr/>
          <p:nvPr/>
        </p:nvCxnSpPr>
        <p:spPr>
          <a:xfrm>
            <a:off x="457200" y="1078992"/>
            <a:ext cx="11277295" cy="1"/>
          </a:xfrm>
          <a:prstGeom prst="line">
            <a:avLst/>
          </a:prstGeom>
          <a:ln w="9525">
            <a:solidFill>
              <a:srgbClr val="D9D8D0"/>
            </a:solidFill>
          </a:ln>
        </p:spPr>
      </p:cxnSp>
      <p:sp>
        <p:nvSpPr>
          <p:cNvPr id="1737" name="shape173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738" name="shape173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10.17</a:t>
            </a:r>
          </a:p>
        </p:txBody>
      </p:sp>
      <p:sp>
        <p:nvSpPr>
          <p:cNvPr id="1739" name="shape173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740" name="shape174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1741" name="shape174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742" name="shape174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Represents repeatable operational decisions and the logic behind them, so the same inputs always yield the same outcome.</a:t>
            </a:r>
          </a:p>
        </p:txBody>
      </p:sp>
      <p:sp>
        <p:nvSpPr>
          <p:cNvPr id="1743" name="shape174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744" name="shape174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Decision modelling documents a recurring operational decision; decision analysis supports a one-off strategic choice. Frequency is the tell.</a:t>
            </a:r>
          </a:p>
        </p:txBody>
      </p:sp>
      <p:sp>
        <p:nvSpPr>
          <p:cNvPr id="1745" name="shape174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746" name="shape174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a:t>
            </a:r>
          </a:p>
        </p:txBody>
      </p:sp>
      <p:sp>
        <p:nvSpPr>
          <p:cNvPr id="1747" name="shape174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Decision Modelling — blank template</a:t>
            </a:r>
          </a:p>
        </p:txBody>
      </p:sp>
      <p:sp>
        <p:nvSpPr>
          <p:cNvPr id="1748" name="shape1748"/>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Decision    2. Condition    3. Outcome</a:t>
            </a:r>
          </a:p>
        </p:txBody>
      </p:sp>
      <p:sp>
        <p:nvSpPr>
          <p:cNvPr id="1749" name="shape1749"/>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Decision</a:t>
            </a:r>
          </a:p>
        </p:txBody>
      </p:sp>
      <p:sp>
        <p:nvSpPr>
          <p:cNvPr id="1750" name="shape1750"/>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Condition</a:t>
            </a:r>
          </a:p>
        </p:txBody>
      </p:sp>
      <p:cxnSp>
        <p:nvCxnSpPr>
          <p:cNvPr id="1751" name="conn1751"/>
          <p:cNvCxnSpPr/>
          <p:nvPr/>
        </p:nvCxnSpPr>
        <p:spPr>
          <a:xfrm>
            <a:off x="3776472" y="2052828"/>
            <a:ext cx="128016" cy="1"/>
          </a:xfrm>
          <a:prstGeom prst="line">
            <a:avLst/>
          </a:prstGeom>
          <a:ln w="6350">
            <a:solidFill>
              <a:srgbClr val="C3C2B7"/>
            </a:solidFill>
          </a:ln>
        </p:spPr>
      </p:cxnSp>
      <p:sp>
        <p:nvSpPr>
          <p:cNvPr id="1752" name="shape1752"/>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Outcome</a:t>
            </a:r>
          </a:p>
        </p:txBody>
      </p:sp>
      <p:cxnSp>
        <p:nvCxnSpPr>
          <p:cNvPr id="1753" name="conn1753"/>
          <p:cNvCxnSpPr/>
          <p:nvPr/>
        </p:nvCxnSpPr>
        <p:spPr>
          <a:xfrm>
            <a:off x="4160520" y="2436876"/>
            <a:ext cx="128016" cy="1"/>
          </a:xfrm>
          <a:prstGeom prst="line">
            <a:avLst/>
          </a:prstGeom>
          <a:ln w="6350">
            <a:solidFill>
              <a:srgbClr val="C3C2B7"/>
            </a:solidFill>
          </a:ln>
        </p:spPr>
      </p:cxnSp>
      <p:sp>
        <p:nvSpPr>
          <p:cNvPr id="1754" name="shape1754"/>
          <p:cNvSpPr/>
          <p:nvPr/>
        </p:nvSpPr>
        <p:spPr>
          <a:xfrm>
            <a:off x="4288536" y="2651760"/>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Outcome</a:t>
            </a:r>
          </a:p>
        </p:txBody>
      </p:sp>
      <p:cxnSp>
        <p:nvCxnSpPr>
          <p:cNvPr id="1755" name="conn1755"/>
          <p:cNvCxnSpPr/>
          <p:nvPr/>
        </p:nvCxnSpPr>
        <p:spPr>
          <a:xfrm>
            <a:off x="4160520" y="2820924"/>
            <a:ext cx="128016" cy="1"/>
          </a:xfrm>
          <a:prstGeom prst="line">
            <a:avLst/>
          </a:prstGeom>
          <a:ln w="6350">
            <a:solidFill>
              <a:srgbClr val="C3C2B7"/>
            </a:solidFill>
          </a:ln>
        </p:spPr>
      </p:cxnSp>
      <p:sp>
        <p:nvSpPr>
          <p:cNvPr id="1756" name="shape1756"/>
          <p:cNvSpPr/>
          <p:nvPr/>
        </p:nvSpPr>
        <p:spPr>
          <a:xfrm>
            <a:off x="3904488" y="3035808"/>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Condition</a:t>
            </a:r>
          </a:p>
        </p:txBody>
      </p:sp>
      <p:cxnSp>
        <p:nvCxnSpPr>
          <p:cNvPr id="1757" name="conn1757"/>
          <p:cNvCxnSpPr/>
          <p:nvPr/>
        </p:nvCxnSpPr>
        <p:spPr>
          <a:xfrm>
            <a:off x="3776472" y="3204972"/>
            <a:ext cx="128016" cy="1"/>
          </a:xfrm>
          <a:prstGeom prst="line">
            <a:avLst/>
          </a:prstGeom>
          <a:ln w="6350">
            <a:solidFill>
              <a:srgbClr val="C3C2B7"/>
            </a:solidFill>
          </a:ln>
        </p:spPr>
      </p:cxnSp>
      <p:sp>
        <p:nvSpPr>
          <p:cNvPr id="1758" name="shape1758"/>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Outcome</a:t>
            </a:r>
          </a:p>
        </p:txBody>
      </p:sp>
      <p:cxnSp>
        <p:nvCxnSpPr>
          <p:cNvPr id="1759" name="conn1759"/>
          <p:cNvCxnSpPr/>
          <p:nvPr/>
        </p:nvCxnSpPr>
        <p:spPr>
          <a:xfrm>
            <a:off x="4160520" y="3589020"/>
            <a:ext cx="128016" cy="1"/>
          </a:xfrm>
          <a:prstGeom prst="line">
            <a:avLst/>
          </a:prstGeom>
          <a:ln w="6350">
            <a:solidFill>
              <a:srgbClr val="C3C2B7"/>
            </a:solidFill>
          </a:ln>
        </p:spPr>
      </p:cxnSp>
      <p:sp>
        <p:nvSpPr>
          <p:cNvPr id="1760" name="shape1760"/>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Outcome</a:t>
            </a:r>
          </a:p>
        </p:txBody>
      </p:sp>
      <p:cxnSp>
        <p:nvCxnSpPr>
          <p:cNvPr id="1761" name="conn1761"/>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 name="shape176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10.22  Functional Decomposition</a:t>
            </a:r>
          </a:p>
        </p:txBody>
      </p:sp>
      <p:sp>
        <p:nvSpPr>
          <p:cNvPr id="1763" name="shape176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764" name="shape176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765" name="conn1765"/>
          <p:cNvCxnSpPr/>
          <p:nvPr/>
        </p:nvCxnSpPr>
        <p:spPr>
          <a:xfrm>
            <a:off x="457200" y="1078992"/>
            <a:ext cx="11277295" cy="1"/>
          </a:xfrm>
          <a:prstGeom prst="line">
            <a:avLst/>
          </a:prstGeom>
          <a:ln w="9525">
            <a:solidFill>
              <a:srgbClr val="D9D8D0"/>
            </a:solidFill>
          </a:ln>
        </p:spPr>
      </p:cxnSp>
      <p:sp>
        <p:nvSpPr>
          <p:cNvPr id="1766" name="shape176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767" name="shape176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10.22</a:t>
            </a:r>
          </a:p>
        </p:txBody>
      </p:sp>
      <p:sp>
        <p:nvSpPr>
          <p:cNvPr id="1768" name="shape176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769" name="shape176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Breaks a large function, scope or problem into constituent parts small enough to estimate, assign or analyse.</a:t>
            </a:r>
          </a:p>
        </p:txBody>
      </p:sp>
      <p:sp>
        <p:nvSpPr>
          <p:cNvPr id="1770" name="shape177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771" name="shape177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something is too big to reason about whole, and the parts are genuinely separable.</a:t>
            </a:r>
          </a:p>
        </p:txBody>
      </p:sp>
      <p:sp>
        <p:nvSpPr>
          <p:cNvPr id="1772" name="shape177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773" name="shape177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Decomposition breaks work down for analysis; a work breakdown structure schedules delivery. Producing one to satisfy a project manager is the classic doing-project-management trap.</a:t>
            </a:r>
          </a:p>
        </p:txBody>
      </p:sp>
      <p:sp>
        <p:nvSpPr>
          <p:cNvPr id="1774" name="shape177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775" name="shape177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3.1 Plan Business Analysis Approach · 6.2 Define Future State</a:t>
            </a:r>
          </a:p>
        </p:txBody>
      </p:sp>
      <p:sp>
        <p:nvSpPr>
          <p:cNvPr id="1776" name="shape177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The grant lifecycle, broken down far enough to estimate</a:t>
            </a:r>
          </a:p>
        </p:txBody>
      </p:sp>
      <p:sp>
        <p:nvSpPr>
          <p:cNvPr id="1777" name="shape1777"/>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Function    2. Sub-function    3. Component</a:t>
            </a:r>
          </a:p>
        </p:txBody>
      </p:sp>
      <p:sp>
        <p:nvSpPr>
          <p:cNvPr id="1778" name="shape1778"/>
          <p:cNvSpPr/>
          <p:nvPr/>
        </p:nvSpPr>
        <p:spPr>
          <a:xfrm>
            <a:off x="3520440" y="1499616"/>
            <a:ext cx="8214055" cy="222069"/>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Manage the grant lifecycle</a:t>
            </a:r>
          </a:p>
        </p:txBody>
      </p:sp>
      <p:sp>
        <p:nvSpPr>
          <p:cNvPr id="1779" name="shape1779"/>
          <p:cNvSpPr/>
          <p:nvPr/>
        </p:nvSpPr>
        <p:spPr>
          <a:xfrm>
            <a:off x="3904488" y="1767405"/>
            <a:ext cx="7830007"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Open a round</a:t>
            </a:r>
          </a:p>
        </p:txBody>
      </p:sp>
      <p:cxnSp>
        <p:nvCxnSpPr>
          <p:cNvPr id="1780" name="conn1780"/>
          <p:cNvCxnSpPr/>
          <p:nvPr/>
        </p:nvCxnSpPr>
        <p:spPr>
          <a:xfrm>
            <a:off x="3776472" y="1878439"/>
            <a:ext cx="128016" cy="1"/>
          </a:xfrm>
          <a:prstGeom prst="line">
            <a:avLst/>
          </a:prstGeom>
          <a:ln w="6350">
            <a:solidFill>
              <a:srgbClr val="C3C2B7"/>
            </a:solidFill>
          </a:ln>
        </p:spPr>
      </p:cxnSp>
      <p:sp>
        <p:nvSpPr>
          <p:cNvPr id="1781" name="shape1781"/>
          <p:cNvSpPr/>
          <p:nvPr/>
        </p:nvSpPr>
        <p:spPr>
          <a:xfrm>
            <a:off x="4288536" y="2035193"/>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Publish guidelines</a:t>
            </a:r>
          </a:p>
        </p:txBody>
      </p:sp>
      <p:cxnSp>
        <p:nvCxnSpPr>
          <p:cNvPr id="1782" name="conn1782"/>
          <p:cNvCxnSpPr/>
          <p:nvPr/>
        </p:nvCxnSpPr>
        <p:spPr>
          <a:xfrm>
            <a:off x="4160520" y="2146227"/>
            <a:ext cx="128016" cy="1"/>
          </a:xfrm>
          <a:prstGeom prst="line">
            <a:avLst/>
          </a:prstGeom>
          <a:ln w="6350">
            <a:solidFill>
              <a:srgbClr val="C3C2B7"/>
            </a:solidFill>
          </a:ln>
        </p:spPr>
      </p:cxnSp>
      <p:sp>
        <p:nvSpPr>
          <p:cNvPr id="1783" name="shape1783"/>
          <p:cNvSpPr/>
          <p:nvPr/>
        </p:nvSpPr>
        <p:spPr>
          <a:xfrm>
            <a:off x="4288536" y="2302982"/>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Configure eligibility</a:t>
            </a:r>
          </a:p>
        </p:txBody>
      </p:sp>
      <p:cxnSp>
        <p:nvCxnSpPr>
          <p:cNvPr id="1784" name="conn1784"/>
          <p:cNvCxnSpPr/>
          <p:nvPr/>
        </p:nvCxnSpPr>
        <p:spPr>
          <a:xfrm>
            <a:off x="4160520" y="2414016"/>
            <a:ext cx="128016" cy="1"/>
          </a:xfrm>
          <a:prstGeom prst="line">
            <a:avLst/>
          </a:prstGeom>
          <a:ln w="6350">
            <a:solidFill>
              <a:srgbClr val="C3C2B7"/>
            </a:solidFill>
          </a:ln>
        </p:spPr>
      </p:cxnSp>
      <p:sp>
        <p:nvSpPr>
          <p:cNvPr id="1785" name="shape1785"/>
          <p:cNvSpPr/>
          <p:nvPr/>
        </p:nvSpPr>
        <p:spPr>
          <a:xfrm>
            <a:off x="3904488" y="2570770"/>
            <a:ext cx="7830007"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Assess applications</a:t>
            </a:r>
          </a:p>
        </p:txBody>
      </p:sp>
      <p:cxnSp>
        <p:nvCxnSpPr>
          <p:cNvPr id="1786" name="conn1786"/>
          <p:cNvCxnSpPr/>
          <p:nvPr/>
        </p:nvCxnSpPr>
        <p:spPr>
          <a:xfrm>
            <a:off x="3776472" y="2681805"/>
            <a:ext cx="128016" cy="1"/>
          </a:xfrm>
          <a:prstGeom prst="line">
            <a:avLst/>
          </a:prstGeom>
          <a:ln w="6350">
            <a:solidFill>
              <a:srgbClr val="C3C2B7"/>
            </a:solidFill>
          </a:ln>
        </p:spPr>
      </p:cxnSp>
      <p:sp>
        <p:nvSpPr>
          <p:cNvPr id="1787" name="shape1787"/>
          <p:cNvSpPr/>
          <p:nvPr/>
        </p:nvSpPr>
        <p:spPr>
          <a:xfrm>
            <a:off x="4288536" y="2838559"/>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Screen eligibility</a:t>
            </a:r>
          </a:p>
        </p:txBody>
      </p:sp>
      <p:cxnSp>
        <p:nvCxnSpPr>
          <p:cNvPr id="1788" name="conn1788"/>
          <p:cNvCxnSpPr/>
          <p:nvPr/>
        </p:nvCxnSpPr>
        <p:spPr>
          <a:xfrm>
            <a:off x="4160520" y="2949593"/>
            <a:ext cx="128016" cy="1"/>
          </a:xfrm>
          <a:prstGeom prst="line">
            <a:avLst/>
          </a:prstGeom>
          <a:ln w="6350">
            <a:solidFill>
              <a:srgbClr val="C3C2B7"/>
            </a:solidFill>
          </a:ln>
        </p:spPr>
      </p:cxnSp>
      <p:sp>
        <p:nvSpPr>
          <p:cNvPr id="1789" name="shape1789"/>
          <p:cNvSpPr/>
          <p:nvPr/>
        </p:nvSpPr>
        <p:spPr>
          <a:xfrm>
            <a:off x="4288536" y="3106347"/>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Score against criteria</a:t>
            </a:r>
          </a:p>
        </p:txBody>
      </p:sp>
      <p:cxnSp>
        <p:nvCxnSpPr>
          <p:cNvPr id="1790" name="conn1790"/>
          <p:cNvCxnSpPr/>
          <p:nvPr/>
        </p:nvCxnSpPr>
        <p:spPr>
          <a:xfrm>
            <a:off x="4160520" y="3217382"/>
            <a:ext cx="128016" cy="1"/>
          </a:xfrm>
          <a:prstGeom prst="line">
            <a:avLst/>
          </a:prstGeom>
          <a:ln w="6350">
            <a:solidFill>
              <a:srgbClr val="C3C2B7"/>
            </a:solidFill>
          </a:ln>
        </p:spPr>
      </p:cxnSp>
      <p:sp>
        <p:nvSpPr>
          <p:cNvPr id="1791" name="shape1791"/>
          <p:cNvSpPr/>
          <p:nvPr/>
        </p:nvSpPr>
        <p:spPr>
          <a:xfrm>
            <a:off x="4288536" y="3374136"/>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Moderate scores</a:t>
            </a:r>
          </a:p>
        </p:txBody>
      </p:sp>
      <p:cxnSp>
        <p:nvCxnSpPr>
          <p:cNvPr id="1792" name="conn1792"/>
          <p:cNvCxnSpPr/>
          <p:nvPr/>
        </p:nvCxnSpPr>
        <p:spPr>
          <a:xfrm>
            <a:off x="4160520" y="3485170"/>
            <a:ext cx="128016" cy="1"/>
          </a:xfrm>
          <a:prstGeom prst="line">
            <a:avLst/>
          </a:prstGeom>
          <a:ln w="6350">
            <a:solidFill>
              <a:srgbClr val="C3C2B7"/>
            </a:solidFill>
          </a:ln>
        </p:spPr>
      </p:cxnSp>
      <p:sp>
        <p:nvSpPr>
          <p:cNvPr id="1793" name="shape1793"/>
          <p:cNvSpPr/>
          <p:nvPr/>
        </p:nvSpPr>
        <p:spPr>
          <a:xfrm>
            <a:off x="3904488" y="3641925"/>
            <a:ext cx="7830007"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Award and contract</a:t>
            </a:r>
          </a:p>
        </p:txBody>
      </p:sp>
      <p:cxnSp>
        <p:nvCxnSpPr>
          <p:cNvPr id="1794" name="conn1794"/>
          <p:cNvCxnSpPr/>
          <p:nvPr/>
        </p:nvCxnSpPr>
        <p:spPr>
          <a:xfrm>
            <a:off x="3776472" y="3752959"/>
            <a:ext cx="128016" cy="1"/>
          </a:xfrm>
          <a:prstGeom prst="line">
            <a:avLst/>
          </a:prstGeom>
          <a:ln w="6350">
            <a:solidFill>
              <a:srgbClr val="C3C2B7"/>
            </a:solidFill>
          </a:ln>
        </p:spPr>
      </p:cxnSp>
      <p:sp>
        <p:nvSpPr>
          <p:cNvPr id="1795" name="shape1795"/>
          <p:cNvSpPr/>
          <p:nvPr/>
        </p:nvSpPr>
        <p:spPr>
          <a:xfrm>
            <a:off x="4288536" y="3909713"/>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Approve</a:t>
            </a:r>
          </a:p>
        </p:txBody>
      </p:sp>
      <p:cxnSp>
        <p:nvCxnSpPr>
          <p:cNvPr id="1796" name="conn1796"/>
          <p:cNvCxnSpPr/>
          <p:nvPr/>
        </p:nvCxnSpPr>
        <p:spPr>
          <a:xfrm>
            <a:off x="4160520" y="4020747"/>
            <a:ext cx="128016" cy="1"/>
          </a:xfrm>
          <a:prstGeom prst="line">
            <a:avLst/>
          </a:prstGeom>
          <a:ln w="6350">
            <a:solidFill>
              <a:srgbClr val="C3C2B7"/>
            </a:solidFill>
          </a:ln>
        </p:spPr>
      </p:cxnSp>
      <p:sp>
        <p:nvSpPr>
          <p:cNvPr id="1797" name="shape1797"/>
          <p:cNvSpPr/>
          <p:nvPr/>
        </p:nvSpPr>
        <p:spPr>
          <a:xfrm>
            <a:off x="4288536" y="4177502"/>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Generate agreement</a:t>
            </a:r>
          </a:p>
        </p:txBody>
      </p:sp>
      <p:cxnSp>
        <p:nvCxnSpPr>
          <p:cNvPr id="1798" name="conn1798"/>
          <p:cNvCxnSpPr/>
          <p:nvPr/>
        </p:nvCxnSpPr>
        <p:spPr>
          <a:xfrm>
            <a:off x="4160520" y="4288536"/>
            <a:ext cx="128016" cy="1"/>
          </a:xfrm>
          <a:prstGeom prst="line">
            <a:avLst/>
          </a:prstGeom>
          <a:ln w="6350">
            <a:solidFill>
              <a:srgbClr val="C3C2B7"/>
            </a:solidFill>
          </a:ln>
        </p:spPr>
      </p:cxnSp>
      <p:sp>
        <p:nvSpPr>
          <p:cNvPr id="1799" name="shape1799"/>
          <p:cNvSpPr/>
          <p:nvPr/>
        </p:nvSpPr>
        <p:spPr>
          <a:xfrm>
            <a:off x="3904488" y="4445290"/>
            <a:ext cx="7830007"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Acquit</a:t>
            </a:r>
          </a:p>
        </p:txBody>
      </p:sp>
      <p:cxnSp>
        <p:nvCxnSpPr>
          <p:cNvPr id="1800" name="conn1800"/>
          <p:cNvCxnSpPr/>
          <p:nvPr/>
        </p:nvCxnSpPr>
        <p:spPr>
          <a:xfrm>
            <a:off x="3776472" y="4556325"/>
            <a:ext cx="128016" cy="1"/>
          </a:xfrm>
          <a:prstGeom prst="line">
            <a:avLst/>
          </a:prstGeom>
          <a:ln w="6350">
            <a:solidFill>
              <a:srgbClr val="C3C2B7"/>
            </a:solidFill>
          </a:ln>
        </p:spPr>
      </p:cxnSp>
      <p:sp>
        <p:nvSpPr>
          <p:cNvPr id="1801" name="shape1801"/>
          <p:cNvSpPr/>
          <p:nvPr/>
        </p:nvSpPr>
        <p:spPr>
          <a:xfrm>
            <a:off x="4288536" y="4713079"/>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Collect reports</a:t>
            </a:r>
          </a:p>
        </p:txBody>
      </p:sp>
      <p:cxnSp>
        <p:nvCxnSpPr>
          <p:cNvPr id="1802" name="conn1802"/>
          <p:cNvCxnSpPr/>
          <p:nvPr/>
        </p:nvCxnSpPr>
        <p:spPr>
          <a:xfrm>
            <a:off x="4160520" y="4824113"/>
            <a:ext cx="128016" cy="1"/>
          </a:xfrm>
          <a:prstGeom prst="line">
            <a:avLst/>
          </a:prstGeom>
          <a:ln w="6350">
            <a:solidFill>
              <a:srgbClr val="C3C2B7"/>
            </a:solidFill>
          </a:ln>
        </p:spPr>
      </p:cxnSp>
      <p:sp>
        <p:nvSpPr>
          <p:cNvPr id="1803" name="shape1803"/>
          <p:cNvSpPr/>
          <p:nvPr/>
        </p:nvSpPr>
        <p:spPr>
          <a:xfrm>
            <a:off x="4288536" y="4980867"/>
            <a:ext cx="7445959" cy="222069"/>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Reconcile spend</a:t>
            </a:r>
          </a:p>
        </p:txBody>
      </p:sp>
      <p:cxnSp>
        <p:nvCxnSpPr>
          <p:cNvPr id="1804" name="conn1804"/>
          <p:cNvCxnSpPr/>
          <p:nvPr/>
        </p:nvCxnSpPr>
        <p:spPr>
          <a:xfrm>
            <a:off x="4160520" y="5091902"/>
            <a:ext cx="128016" cy="1"/>
          </a:xfrm>
          <a:prstGeom prst="line">
            <a:avLst/>
          </a:prstGeom>
          <a:ln w="6350">
            <a:solidFill>
              <a:srgbClr val="C3C2B7"/>
            </a:solidFill>
          </a:ln>
        </p:spPr>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5" name="shape180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10.22  Functional Decomposition</a:t>
            </a:r>
          </a:p>
        </p:txBody>
      </p:sp>
      <p:sp>
        <p:nvSpPr>
          <p:cNvPr id="1806" name="shape180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807" name="shape1807"/>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808" name="conn1808"/>
          <p:cNvCxnSpPr/>
          <p:nvPr/>
        </p:nvCxnSpPr>
        <p:spPr>
          <a:xfrm>
            <a:off x="457200" y="1078992"/>
            <a:ext cx="11277295" cy="1"/>
          </a:xfrm>
          <a:prstGeom prst="line">
            <a:avLst/>
          </a:prstGeom>
          <a:ln w="9525">
            <a:solidFill>
              <a:srgbClr val="D9D8D0"/>
            </a:solidFill>
          </a:ln>
        </p:spPr>
      </p:cxnSp>
      <p:sp>
        <p:nvSpPr>
          <p:cNvPr id="1809" name="shape180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810" name="shape181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10.22</a:t>
            </a:r>
          </a:p>
        </p:txBody>
      </p:sp>
      <p:sp>
        <p:nvSpPr>
          <p:cNvPr id="1811" name="shape181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812" name="shape1812"/>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Placeholders name the level, not the content. Two branches shown; add as many as the subject needs.</a:t>
            </a:r>
          </a:p>
        </p:txBody>
      </p:sp>
      <p:sp>
        <p:nvSpPr>
          <p:cNvPr id="1813" name="shape1813"/>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14" name="shape1814"/>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Breaks a large function, scope or problem into constituent parts small enough to estimate, assign or analyse.</a:t>
            </a:r>
          </a:p>
        </p:txBody>
      </p:sp>
      <p:sp>
        <p:nvSpPr>
          <p:cNvPr id="1815" name="shape1815"/>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16" name="shape1816"/>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Decomposition breaks work down for analysis; a work breakdown structure schedules delivery. Producing one to satisfy a project manager is the classic doing-project-management trap.</a:t>
            </a:r>
          </a:p>
        </p:txBody>
      </p:sp>
      <p:sp>
        <p:nvSpPr>
          <p:cNvPr id="1817" name="shape1817"/>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818" name="shape1818"/>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3.1 Plan Business Analysis Approach · 6.2 Define Future State</a:t>
            </a:r>
          </a:p>
        </p:txBody>
      </p:sp>
      <p:sp>
        <p:nvSpPr>
          <p:cNvPr id="1819" name="shape181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Functional Decomposition — blank template</a:t>
            </a:r>
          </a:p>
        </p:txBody>
      </p:sp>
      <p:sp>
        <p:nvSpPr>
          <p:cNvPr id="1820" name="shape1820"/>
          <p:cNvSpPr/>
          <p:nvPr/>
        </p:nvSpPr>
        <p:spPr>
          <a:xfrm>
            <a:off x="3520440" y="1280160"/>
            <a:ext cx="821405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Function    2. Sub-function    3. Component</a:t>
            </a:r>
          </a:p>
        </p:txBody>
      </p:sp>
      <p:sp>
        <p:nvSpPr>
          <p:cNvPr id="1821" name="shape1821"/>
          <p:cNvSpPr/>
          <p:nvPr/>
        </p:nvSpPr>
        <p:spPr>
          <a:xfrm>
            <a:off x="3520440" y="1499616"/>
            <a:ext cx="821405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Function</a:t>
            </a:r>
          </a:p>
        </p:txBody>
      </p:sp>
      <p:sp>
        <p:nvSpPr>
          <p:cNvPr id="1822" name="shape1822"/>
          <p:cNvSpPr/>
          <p:nvPr/>
        </p:nvSpPr>
        <p:spPr>
          <a:xfrm>
            <a:off x="3904488" y="1883664"/>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Sub-function</a:t>
            </a:r>
          </a:p>
        </p:txBody>
      </p:sp>
      <p:cxnSp>
        <p:nvCxnSpPr>
          <p:cNvPr id="1823" name="conn1823"/>
          <p:cNvCxnSpPr/>
          <p:nvPr/>
        </p:nvCxnSpPr>
        <p:spPr>
          <a:xfrm>
            <a:off x="3776472" y="2052828"/>
            <a:ext cx="128016" cy="1"/>
          </a:xfrm>
          <a:prstGeom prst="line">
            <a:avLst/>
          </a:prstGeom>
          <a:ln w="6350">
            <a:solidFill>
              <a:srgbClr val="C3C2B7"/>
            </a:solidFill>
          </a:ln>
        </p:spPr>
      </p:cxnSp>
      <p:sp>
        <p:nvSpPr>
          <p:cNvPr id="1824" name="shape1824"/>
          <p:cNvSpPr/>
          <p:nvPr/>
        </p:nvSpPr>
        <p:spPr>
          <a:xfrm>
            <a:off x="4288536" y="2267712"/>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Component</a:t>
            </a:r>
          </a:p>
        </p:txBody>
      </p:sp>
      <p:cxnSp>
        <p:nvCxnSpPr>
          <p:cNvPr id="1825" name="conn1825"/>
          <p:cNvCxnSpPr/>
          <p:nvPr/>
        </p:nvCxnSpPr>
        <p:spPr>
          <a:xfrm>
            <a:off x="4160520" y="2436876"/>
            <a:ext cx="128016" cy="1"/>
          </a:xfrm>
          <a:prstGeom prst="line">
            <a:avLst/>
          </a:prstGeom>
          <a:ln w="6350">
            <a:solidFill>
              <a:srgbClr val="C3C2B7"/>
            </a:solidFill>
          </a:ln>
        </p:spPr>
      </p:cxnSp>
      <p:sp>
        <p:nvSpPr>
          <p:cNvPr id="1826" name="shape1826"/>
          <p:cNvSpPr/>
          <p:nvPr/>
        </p:nvSpPr>
        <p:spPr>
          <a:xfrm>
            <a:off x="4288536" y="2651760"/>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Component</a:t>
            </a:r>
          </a:p>
        </p:txBody>
      </p:sp>
      <p:cxnSp>
        <p:nvCxnSpPr>
          <p:cNvPr id="1827" name="conn1827"/>
          <p:cNvCxnSpPr/>
          <p:nvPr/>
        </p:nvCxnSpPr>
        <p:spPr>
          <a:xfrm>
            <a:off x="4160520" y="2820924"/>
            <a:ext cx="128016" cy="1"/>
          </a:xfrm>
          <a:prstGeom prst="line">
            <a:avLst/>
          </a:prstGeom>
          <a:ln w="6350">
            <a:solidFill>
              <a:srgbClr val="C3C2B7"/>
            </a:solidFill>
          </a:ln>
        </p:spPr>
      </p:cxnSp>
      <p:sp>
        <p:nvSpPr>
          <p:cNvPr id="1828" name="shape1828"/>
          <p:cNvSpPr/>
          <p:nvPr/>
        </p:nvSpPr>
        <p:spPr>
          <a:xfrm>
            <a:off x="3904488" y="3035808"/>
            <a:ext cx="783000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Sub-function</a:t>
            </a:r>
          </a:p>
        </p:txBody>
      </p:sp>
      <p:cxnSp>
        <p:nvCxnSpPr>
          <p:cNvPr id="1829" name="conn1829"/>
          <p:cNvCxnSpPr/>
          <p:nvPr/>
        </p:nvCxnSpPr>
        <p:spPr>
          <a:xfrm>
            <a:off x="3776472" y="3204972"/>
            <a:ext cx="128016" cy="1"/>
          </a:xfrm>
          <a:prstGeom prst="line">
            <a:avLst/>
          </a:prstGeom>
          <a:ln w="6350">
            <a:solidFill>
              <a:srgbClr val="C3C2B7"/>
            </a:solidFill>
          </a:ln>
        </p:spPr>
      </p:cxnSp>
      <p:sp>
        <p:nvSpPr>
          <p:cNvPr id="1830" name="shape1830"/>
          <p:cNvSpPr/>
          <p:nvPr/>
        </p:nvSpPr>
        <p:spPr>
          <a:xfrm>
            <a:off x="4288536" y="3419856"/>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Component</a:t>
            </a:r>
          </a:p>
        </p:txBody>
      </p:sp>
      <p:cxnSp>
        <p:nvCxnSpPr>
          <p:cNvPr id="1831" name="conn1831"/>
          <p:cNvCxnSpPr/>
          <p:nvPr/>
        </p:nvCxnSpPr>
        <p:spPr>
          <a:xfrm>
            <a:off x="4160520" y="3589020"/>
            <a:ext cx="128016" cy="1"/>
          </a:xfrm>
          <a:prstGeom prst="line">
            <a:avLst/>
          </a:prstGeom>
          <a:ln w="6350">
            <a:solidFill>
              <a:srgbClr val="C3C2B7"/>
            </a:solidFill>
          </a:ln>
        </p:spPr>
      </p:cxnSp>
      <p:sp>
        <p:nvSpPr>
          <p:cNvPr id="1832" name="shape1832"/>
          <p:cNvSpPr/>
          <p:nvPr/>
        </p:nvSpPr>
        <p:spPr>
          <a:xfrm>
            <a:off x="4288536" y="3803904"/>
            <a:ext cx="744595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Component</a:t>
            </a:r>
          </a:p>
        </p:txBody>
      </p:sp>
      <p:cxnSp>
        <p:nvCxnSpPr>
          <p:cNvPr id="1833" name="conn1833"/>
          <p:cNvCxnSpPr/>
          <p:nvPr/>
        </p:nvCxnSpPr>
        <p:spPr>
          <a:xfrm>
            <a:off x="4160520" y="3973068"/>
            <a:ext cx="128016" cy="1"/>
          </a:xfrm>
          <a:prstGeom prst="line">
            <a:avLst/>
          </a:prstGeom>
          <a:ln w="6350">
            <a:solidFill>
              <a:srgbClr val="C3C2B7"/>
            </a:solidFill>
          </a:ln>
        </p:spPr>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4" name="shape183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10.23  Glossary</a:t>
            </a:r>
          </a:p>
        </p:txBody>
      </p:sp>
      <p:sp>
        <p:nvSpPr>
          <p:cNvPr id="1835" name="shape183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836" name="shape1836"/>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837" name="conn1837"/>
          <p:cNvCxnSpPr/>
          <p:nvPr/>
        </p:nvCxnSpPr>
        <p:spPr>
          <a:xfrm>
            <a:off x="457200" y="1078992"/>
            <a:ext cx="11277295" cy="1"/>
          </a:xfrm>
          <a:prstGeom prst="line">
            <a:avLst/>
          </a:prstGeom>
          <a:ln w="9525">
            <a:solidFill>
              <a:srgbClr val="D9D8D0"/>
            </a:solidFill>
          </a:ln>
        </p:spPr>
      </p:cxnSp>
      <p:sp>
        <p:nvSpPr>
          <p:cNvPr id="1838" name="shape183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839" name="shape183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10.23</a:t>
            </a:r>
          </a:p>
        </p:txBody>
      </p:sp>
      <p:sp>
        <p:nvSpPr>
          <p:cNvPr id="1840" name="shape184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41" name="shape1841"/>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Holds the agreed definition of business terms so that one word carries one meaning across the whole effort.</a:t>
            </a:r>
          </a:p>
        </p:txBody>
      </p:sp>
      <p:sp>
        <p:nvSpPr>
          <p:cNvPr id="1842" name="shape1842"/>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843" name="shape1843"/>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stakeholders are using the same word for different things, and the argument is really about vocabulary.</a:t>
            </a:r>
          </a:p>
        </p:txBody>
      </p:sp>
      <p:sp>
        <p:nvSpPr>
          <p:cNvPr id="1844" name="shape1844"/>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45" name="shape1845"/>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glossary defines business terms; a data dictionary defines stored data elements. Concept modelling goes further and maps the relationships between the terms.</a:t>
            </a:r>
          </a:p>
        </p:txBody>
      </p:sp>
      <p:sp>
        <p:nvSpPr>
          <p:cNvPr id="1846" name="shape1846"/>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847" name="shape1847"/>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3.4 Plan Business Analysis Information Management · 4.3 Confirm Elicitation Results</a:t>
            </a:r>
          </a:p>
        </p:txBody>
      </p:sp>
      <p:sp>
        <p:nvSpPr>
          <p:cNvPr id="1848" name="shape184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Shipment, qualified so both records can stand</a:t>
            </a:r>
          </a:p>
        </p:txBody>
      </p:sp>
      <p:sp>
        <p:nvSpPr>
          <p:cNvPr id="1849" name="shape1849"/>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Elicitation results were confirmed against this, and both records were accurate.</a:t>
            </a:r>
          </a:p>
        </p:txBody>
      </p:sp>
      <p:graphicFrame>
        <p:nvGraphicFramePr>
          <p:cNvPr id="1850" name="table1850"/>
          <p:cNvGraphicFramePr>
            <a:graphicFrameLocks noGrp="1"/>
          </p:cNvGraphicFramePr>
          <p:nvPr/>
        </p:nvGraphicFramePr>
        <p:xfrm>
          <a:off x="3520440" y="1499616"/>
          <a:ext cx="8214055" cy="1536192"/>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Term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Agreed meaning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Used by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Shipment despatched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Goods have left the warehouse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Operations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Shipment delivered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Customer has confirmed receipt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Finance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Shipment complete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Deprecated — do not use unqualified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 name="shape185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10.23  Glossary</a:t>
            </a:r>
          </a:p>
        </p:txBody>
      </p:sp>
      <p:sp>
        <p:nvSpPr>
          <p:cNvPr id="1852" name="shape185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853" name="shape1853"/>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854" name="conn1854"/>
          <p:cNvCxnSpPr/>
          <p:nvPr/>
        </p:nvCxnSpPr>
        <p:spPr>
          <a:xfrm>
            <a:off x="457200" y="1078992"/>
            <a:ext cx="11277295" cy="1"/>
          </a:xfrm>
          <a:prstGeom prst="line">
            <a:avLst/>
          </a:prstGeom>
          <a:ln w="9525">
            <a:solidFill>
              <a:srgbClr val="D9D8D0"/>
            </a:solidFill>
          </a:ln>
        </p:spPr>
      </p:cxnSp>
      <p:sp>
        <p:nvSpPr>
          <p:cNvPr id="1855" name="shape185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856" name="shape185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10.23</a:t>
            </a:r>
          </a:p>
        </p:txBody>
      </p:sp>
      <p:sp>
        <p:nvSpPr>
          <p:cNvPr id="1857" name="shape185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858" name="shape1858"/>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term.</a:t>
            </a:r>
          </a:p>
        </p:txBody>
      </p:sp>
      <p:sp>
        <p:nvSpPr>
          <p:cNvPr id="1859" name="shape1859"/>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60" name="shape1860"/>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Holds the agreed definition of business terms so that one word carries one meaning across the whole effort.</a:t>
            </a:r>
          </a:p>
        </p:txBody>
      </p:sp>
      <p:sp>
        <p:nvSpPr>
          <p:cNvPr id="1861" name="shape1861"/>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62" name="shape1862"/>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glossary defines business terms; a data dictionary defines stored data elements. Concept modelling goes further and maps the relationships between the terms.</a:t>
            </a:r>
          </a:p>
        </p:txBody>
      </p:sp>
      <p:sp>
        <p:nvSpPr>
          <p:cNvPr id="1863" name="shape1863"/>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864" name="shape1864"/>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3.4 Plan Business Analysis Information Management · 4.3 Confirm Elicitation Results</a:t>
            </a:r>
          </a:p>
        </p:txBody>
      </p:sp>
      <p:sp>
        <p:nvSpPr>
          <p:cNvPr id="1865" name="shape186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Glossary — blank template</a:t>
            </a:r>
          </a:p>
        </p:txBody>
      </p:sp>
      <p:graphicFrame>
        <p:nvGraphicFramePr>
          <p:cNvPr id="1866" name="table1866"/>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Term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Agreed meaning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Used by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7" name="shape186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10.24  Interface Analysis</a:t>
            </a:r>
          </a:p>
        </p:txBody>
      </p:sp>
      <p:sp>
        <p:nvSpPr>
          <p:cNvPr id="1868" name="shape186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869" name="shape1869"/>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870" name="conn1870"/>
          <p:cNvCxnSpPr/>
          <p:nvPr/>
        </p:nvCxnSpPr>
        <p:spPr>
          <a:xfrm>
            <a:off x="457200" y="1078992"/>
            <a:ext cx="11277295" cy="1"/>
          </a:xfrm>
          <a:prstGeom prst="line">
            <a:avLst/>
          </a:prstGeom>
          <a:ln w="9525">
            <a:solidFill>
              <a:srgbClr val="D9D8D0"/>
            </a:solidFill>
          </a:ln>
        </p:spPr>
      </p:cxnSp>
      <p:sp>
        <p:nvSpPr>
          <p:cNvPr id="1871" name="shape187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872" name="shape187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10.24</a:t>
            </a:r>
          </a:p>
        </p:txBody>
      </p:sp>
      <p:sp>
        <p:nvSpPr>
          <p:cNvPr id="1873" name="shape187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74" name="shape1874"/>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Identifies the boundaries between the solution and everything it touches, and specifies what crosses each one.</a:t>
            </a:r>
          </a:p>
        </p:txBody>
      </p:sp>
      <p:sp>
        <p:nvSpPr>
          <p:cNvPr id="1875" name="shape1875"/>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876" name="shape1876"/>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risk sits at the seams: between systems, between organisations, or between a person and the solution.</a:t>
            </a:r>
          </a:p>
        </p:txBody>
      </p:sp>
      <p:sp>
        <p:nvSpPr>
          <p:cNvPr id="1877" name="shape1877"/>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78" name="shape1878"/>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Interface analysis defines what crosses a boundary; scope modelling defines where the boundary is. Scope first, interfaces second.</a:t>
            </a:r>
          </a:p>
        </p:txBody>
      </p:sp>
      <p:sp>
        <p:nvSpPr>
          <p:cNvPr id="1879" name="shape1879"/>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880" name="shape1880"/>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 · 6.2 Define Future State</a:t>
            </a:r>
          </a:p>
        </p:txBody>
      </p:sp>
      <p:sp>
        <p:nvSpPr>
          <p:cNvPr id="1881" name="shape188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Payments platform — what crosses each boundary</a:t>
            </a:r>
          </a:p>
        </p:txBody>
      </p:sp>
      <p:sp>
        <p:nvSpPr>
          <p:cNvPr id="1882" name="shape1882"/>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Reversal handling sits with the platform. Had it sat with core banking, rows 1, 2 and 4 would differ.</a:t>
            </a:r>
          </a:p>
        </p:txBody>
      </p:sp>
      <p:graphicFrame>
        <p:nvGraphicFramePr>
          <p:cNvPr id="1883" name="table1883"/>
          <p:cNvGraphicFramePr>
            <a:graphicFrameLocks noGrp="1"/>
          </p:cNvGraphicFramePr>
          <p:nvPr/>
        </p:nvGraphicFramePr>
        <p:xfrm>
          <a:off x="3520440" y="1499616"/>
          <a:ext cx="8214055" cy="192024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Interface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Direction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Carries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Frequency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Core banking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Both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Debit instruction, settlement confirmation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Real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Fraud service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Out, then 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Score request, decision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Real time, blocking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Partner app 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Payment initiation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Real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Partner app B</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In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Payment initiation, reversal request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Real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 name="shape188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10.24  Interface Analysis</a:t>
            </a:r>
          </a:p>
        </p:txBody>
      </p:sp>
      <p:sp>
        <p:nvSpPr>
          <p:cNvPr id="1885" name="shape188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886" name="shape1886"/>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887" name="conn1887"/>
          <p:cNvCxnSpPr/>
          <p:nvPr/>
        </p:nvCxnSpPr>
        <p:spPr>
          <a:xfrm>
            <a:off x="457200" y="1078992"/>
            <a:ext cx="11277295" cy="1"/>
          </a:xfrm>
          <a:prstGeom prst="line">
            <a:avLst/>
          </a:prstGeom>
          <a:ln w="9525">
            <a:solidFill>
              <a:srgbClr val="D9D8D0"/>
            </a:solidFill>
          </a:ln>
        </p:spPr>
      </p:cxnSp>
      <p:sp>
        <p:nvSpPr>
          <p:cNvPr id="1888" name="shape188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889" name="shape188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10.24</a:t>
            </a:r>
          </a:p>
        </p:txBody>
      </p:sp>
      <p:sp>
        <p:nvSpPr>
          <p:cNvPr id="1890" name="shape189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891" name="shape1891"/>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interface.</a:t>
            </a:r>
          </a:p>
        </p:txBody>
      </p:sp>
      <p:sp>
        <p:nvSpPr>
          <p:cNvPr id="1892" name="shape1892"/>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893" name="shape1893"/>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Identifies the boundaries between the solution and everything it touches, and specifies what crosses each one.</a:t>
            </a:r>
          </a:p>
        </p:txBody>
      </p:sp>
      <p:sp>
        <p:nvSpPr>
          <p:cNvPr id="1894" name="shape1894"/>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895" name="shape1895"/>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Interface analysis defines what crosses a boundary; scope modelling defines where the boundary is. Scope first, interfaces second.</a:t>
            </a:r>
          </a:p>
        </p:txBody>
      </p:sp>
      <p:sp>
        <p:nvSpPr>
          <p:cNvPr id="1896" name="shape1896"/>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897" name="shape1897"/>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 · 6.2 Define Future State</a:t>
            </a:r>
          </a:p>
        </p:txBody>
      </p:sp>
      <p:sp>
        <p:nvSpPr>
          <p:cNvPr id="1898" name="shape189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Interface Analysis — blank template</a:t>
            </a:r>
          </a:p>
        </p:txBody>
      </p:sp>
      <p:graphicFrame>
        <p:nvGraphicFramePr>
          <p:cNvPr id="1899" name="table1899"/>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Interface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Direction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Carries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Frequency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0" name="shape190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10.30  Non-Functional Requirements Analysis</a:t>
            </a:r>
          </a:p>
        </p:txBody>
      </p:sp>
      <p:sp>
        <p:nvSpPr>
          <p:cNvPr id="1901" name="shape190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902" name="shape190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903" name="conn1903"/>
          <p:cNvCxnSpPr/>
          <p:nvPr/>
        </p:nvCxnSpPr>
        <p:spPr>
          <a:xfrm>
            <a:off x="457200" y="1078992"/>
            <a:ext cx="11277295" cy="1"/>
          </a:xfrm>
          <a:prstGeom prst="line">
            <a:avLst/>
          </a:prstGeom>
          <a:ln w="9525">
            <a:solidFill>
              <a:srgbClr val="D9D8D0"/>
            </a:solidFill>
          </a:ln>
        </p:spPr>
      </p:cxnSp>
      <p:sp>
        <p:nvSpPr>
          <p:cNvPr id="1904" name="shape190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905" name="shape190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10.30</a:t>
            </a:r>
          </a:p>
        </p:txBody>
      </p:sp>
      <p:sp>
        <p:nvSpPr>
          <p:cNvPr id="1906" name="shape190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907" name="shape190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Specifies the qualities a solution must exhibit, such as performance, availability, security, usability and maintainability, in measurable terms.</a:t>
            </a:r>
          </a:p>
        </p:txBody>
      </p:sp>
      <p:sp>
        <p:nvSpPr>
          <p:cNvPr id="1908" name="shape190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909" name="shape190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as soon as functional requirements are stable, because the qualities usually decide the architecture.</a:t>
            </a:r>
          </a:p>
        </p:txBody>
      </p:sp>
      <p:sp>
        <p:nvSpPr>
          <p:cNvPr id="1910" name="shape191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911" name="shape191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Non-functional requirements describe how well the solution behaves; business rules constrain what the business permits. And a quality with no number attached is an aspiration, not a requirement.</a:t>
            </a:r>
          </a:p>
        </p:txBody>
      </p:sp>
      <p:sp>
        <p:nvSpPr>
          <p:cNvPr id="1912" name="shape191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913" name="shape191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7.5 Define Design Options · 7.2 Verify Requirements</a:t>
            </a:r>
          </a:p>
        </p:txBody>
      </p:sp>
      <p:sp>
        <p:nvSpPr>
          <p:cNvPr id="1914" name="shape191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Permit portal qualities, made measurable before tender</a:t>
            </a:r>
          </a:p>
        </p:txBody>
      </p:sp>
      <p:graphicFrame>
        <p:nvGraphicFramePr>
          <p:cNvPr id="1915" name="table1915"/>
          <p:cNvGraphicFramePr>
            <a:graphicFrameLocks noGrp="1"/>
          </p:cNvGraphicFramePr>
          <p:nvPr/>
        </p:nvGraphicFramePr>
        <p:xfrm>
          <a:off x="3520440" y="1499616"/>
          <a:ext cx="8214055" cy="2304288"/>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900" b="1" dirty="0">
                          <a:solidFill>
                            <a:srgbClr val="FFFFFF"/>
                          </a:solidFill>
                          <a:latin typeface="Aptos"/>
                        </a:rPr>
                        <a:t>Quality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Measure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Target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Under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Response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Page render, 95th percentile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&lt; 2.0 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400 concurrent users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Availability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Monthly uptime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99.5%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Excluding notified windows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Security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Assessed against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ASD Essential Eight, Maturity 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Annual review</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Accessibility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Conformance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WCAG 2.1 AA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All public pages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Capacity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Permits lodged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12,000 / month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Peak month, June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6" name="shape191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10.30  Non-Functional Requirements Analysis</a:t>
            </a:r>
          </a:p>
        </p:txBody>
      </p:sp>
      <p:sp>
        <p:nvSpPr>
          <p:cNvPr id="1917" name="shape191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918" name="shape1918"/>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919" name="conn1919"/>
          <p:cNvCxnSpPr/>
          <p:nvPr/>
        </p:nvCxnSpPr>
        <p:spPr>
          <a:xfrm>
            <a:off x="457200" y="1078992"/>
            <a:ext cx="11277295" cy="1"/>
          </a:xfrm>
          <a:prstGeom prst="line">
            <a:avLst/>
          </a:prstGeom>
          <a:ln w="9525">
            <a:solidFill>
              <a:srgbClr val="D9D8D0"/>
            </a:solidFill>
          </a:ln>
        </p:spPr>
      </p:cxnSp>
      <p:sp>
        <p:nvSpPr>
          <p:cNvPr id="1920" name="shape192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921" name="shape192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10.30</a:t>
            </a:r>
          </a:p>
        </p:txBody>
      </p:sp>
      <p:sp>
        <p:nvSpPr>
          <p:cNvPr id="1922" name="shape192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923" name="shape1923"/>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quality.</a:t>
            </a:r>
          </a:p>
        </p:txBody>
      </p:sp>
      <p:sp>
        <p:nvSpPr>
          <p:cNvPr id="1924" name="shape1924"/>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925" name="shape1925"/>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Specifies the qualities a solution must exhibit, such as performance, availability, security, usability and maintainability, in measurable terms.</a:t>
            </a:r>
          </a:p>
        </p:txBody>
      </p:sp>
      <p:sp>
        <p:nvSpPr>
          <p:cNvPr id="1926" name="shape1926"/>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927" name="shape1927"/>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Non-functional requirements describe how well the solution behaves; business rules constrain what the business permits. And a quality with no number attached is an aspiration, not a requirement.</a:t>
            </a:r>
          </a:p>
        </p:txBody>
      </p:sp>
      <p:sp>
        <p:nvSpPr>
          <p:cNvPr id="1928" name="shape1928"/>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929" name="shape1929"/>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7.5 Define Design Options · 7.2 Verify Requirements</a:t>
            </a:r>
          </a:p>
        </p:txBody>
      </p:sp>
      <p:sp>
        <p:nvSpPr>
          <p:cNvPr id="1930" name="shape193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Non-Functional Requirements Analysis — blank template</a:t>
            </a:r>
          </a:p>
        </p:txBody>
      </p:sp>
      <p:graphicFrame>
        <p:nvGraphicFramePr>
          <p:cNvPr id="1931" name="table1931"/>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1945538"/>
                <a:gridCol w="1945538"/>
                <a:gridCol w="1945538"/>
              </a:tblGrid>
              <a:tr h="384048">
                <a:tc>
                  <a:txBody>
                    <a:bodyPr wrap="square" anchor="ctr" lIns="64008" rIns="64008" tIns="27432" bIns="27432"/>
                    <a:lstStyle/>
                    <a:p>
                      <a:pPr algn="l"/>
                      <a:r>
                        <a:rPr lang="en-AU" sz="800" b="1" dirty="0">
                          <a:solidFill>
                            <a:srgbClr val="FFFFFF"/>
                          </a:solidFill>
                          <a:latin typeface="Aptos"/>
                        </a:rPr>
                        <a:t>Quality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Measure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Target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Under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2" name="shape193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10.35  Process Modelling</a:t>
            </a:r>
          </a:p>
        </p:txBody>
      </p:sp>
      <p:sp>
        <p:nvSpPr>
          <p:cNvPr id="1933" name="shape193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934" name="shape193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1935" name="conn1935"/>
          <p:cNvCxnSpPr/>
          <p:nvPr/>
        </p:nvCxnSpPr>
        <p:spPr>
          <a:xfrm>
            <a:off x="457200" y="1078992"/>
            <a:ext cx="11277295" cy="1"/>
          </a:xfrm>
          <a:prstGeom prst="line">
            <a:avLst/>
          </a:prstGeom>
          <a:ln w="9525">
            <a:solidFill>
              <a:srgbClr val="D9D8D0"/>
            </a:solidFill>
          </a:ln>
        </p:spPr>
      </p:cxnSp>
      <p:sp>
        <p:nvSpPr>
          <p:cNvPr id="1936" name="shape193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937" name="shape193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10.35</a:t>
            </a:r>
          </a:p>
        </p:txBody>
      </p:sp>
      <p:sp>
        <p:nvSpPr>
          <p:cNvPr id="1938" name="shape193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939" name="shape193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Depicts the sequence of activities, decisions, actors and hand-offs that produce an outcome.</a:t>
            </a:r>
          </a:p>
        </p:txBody>
      </p:sp>
      <p:sp>
        <p:nvSpPr>
          <p:cNvPr id="1940" name="shape194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941" name="shape194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order, branching or hand-off is the substance of the problem, and prose has stopped being able to carry it.</a:t>
            </a:r>
          </a:p>
        </p:txBody>
      </p:sp>
      <p:sp>
        <p:nvSpPr>
          <p:cNvPr id="1942" name="shape194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943" name="shape194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Process modelling shows the flow of work; use cases show an actor achieving a goal with the solution; data flow diagrams follow information. Hand-offs between people point to process.</a:t>
            </a:r>
          </a:p>
        </p:txBody>
      </p:sp>
      <p:sp>
        <p:nvSpPr>
          <p:cNvPr id="1944" name="shape194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945" name="shape194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6.2 Define Future State</a:t>
            </a:r>
          </a:p>
        </p:txBody>
      </p:sp>
      <p:sp>
        <p:nvSpPr>
          <p:cNvPr id="1946" name="shape194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Parcel return — six parties, and where it breaks</a:t>
            </a:r>
          </a:p>
        </p:txBody>
      </p:sp>
      <p:sp>
        <p:nvSpPr>
          <p:cNvPr id="1947" name="shape194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A use case would cut this into six disconnected actor goals and lose exactly the hand-offs that are the problem.</a:t>
            </a:r>
          </a:p>
        </p:txBody>
      </p:sp>
      <p:sp>
        <p:nvSpPr>
          <p:cNvPr id="1948" name="shape1948"/>
          <p:cNvSpPr/>
          <p:nvPr/>
        </p:nvSpPr>
        <p:spPr>
          <a:xfrm>
            <a:off x="3520440" y="1499616"/>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1949" name="shape1949"/>
          <p:cNvSpPr/>
          <p:nvPr/>
        </p:nvSpPr>
        <p:spPr>
          <a:xfrm>
            <a:off x="3557016" y="1499616"/>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Customer</a:t>
            </a:r>
          </a:p>
        </p:txBody>
      </p:sp>
      <p:sp>
        <p:nvSpPr>
          <p:cNvPr id="1950" name="shape1950"/>
          <p:cNvSpPr/>
          <p:nvPr/>
        </p:nvSpPr>
        <p:spPr>
          <a:xfrm>
            <a:off x="3520440" y="2212848"/>
            <a:ext cx="8214055" cy="713232"/>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1951" name="shape1951"/>
          <p:cNvSpPr/>
          <p:nvPr/>
        </p:nvSpPr>
        <p:spPr>
          <a:xfrm>
            <a:off x="3557016" y="2212848"/>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Courier</a:t>
            </a:r>
          </a:p>
        </p:txBody>
      </p:sp>
      <p:sp>
        <p:nvSpPr>
          <p:cNvPr id="1952" name="shape1952"/>
          <p:cNvSpPr/>
          <p:nvPr/>
        </p:nvSpPr>
        <p:spPr>
          <a:xfrm>
            <a:off x="3520440" y="2926080"/>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1953" name="shape1953"/>
          <p:cNvSpPr/>
          <p:nvPr/>
        </p:nvSpPr>
        <p:spPr>
          <a:xfrm>
            <a:off x="3557016" y="2926080"/>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Warehouse</a:t>
            </a:r>
          </a:p>
        </p:txBody>
      </p:sp>
      <p:sp>
        <p:nvSpPr>
          <p:cNvPr id="1954" name="shape1954"/>
          <p:cNvSpPr/>
          <p:nvPr/>
        </p:nvSpPr>
        <p:spPr>
          <a:xfrm>
            <a:off x="3520440" y="3639312"/>
            <a:ext cx="8214055" cy="713232"/>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1955" name="shape1955"/>
          <p:cNvSpPr/>
          <p:nvPr/>
        </p:nvSpPr>
        <p:spPr>
          <a:xfrm>
            <a:off x="3557016" y="3639312"/>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Refurbisher</a:t>
            </a:r>
          </a:p>
        </p:txBody>
      </p:sp>
      <p:sp>
        <p:nvSpPr>
          <p:cNvPr id="1956" name="shape1956"/>
          <p:cNvSpPr/>
          <p:nvPr/>
        </p:nvSpPr>
        <p:spPr>
          <a:xfrm>
            <a:off x="3520440" y="4352544"/>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1957" name="shape1957"/>
          <p:cNvSpPr/>
          <p:nvPr/>
        </p:nvSpPr>
        <p:spPr>
          <a:xfrm>
            <a:off x="3557016" y="4352544"/>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Finance</a:t>
            </a:r>
          </a:p>
        </p:txBody>
      </p:sp>
      <p:cxnSp>
        <p:nvCxnSpPr>
          <p:cNvPr id="1958" name="conn1958"/>
          <p:cNvCxnSpPr/>
          <p:nvPr/>
        </p:nvCxnSpPr>
        <p:spPr>
          <a:xfrm>
            <a:off x="5739841" y="1856232"/>
            <a:ext cx="64008" cy="1"/>
          </a:xfrm>
          <a:prstGeom prst="line">
            <a:avLst/>
          </a:prstGeom>
          <a:ln w="12700">
            <a:solidFill>
              <a:srgbClr val="C3C2B7"/>
            </a:solidFill>
          </a:ln>
        </p:spPr>
      </p:cxnSp>
      <p:cxnSp>
        <p:nvCxnSpPr>
          <p:cNvPr id="1959" name="conn1959"/>
          <p:cNvCxnSpPr/>
          <p:nvPr/>
        </p:nvCxnSpPr>
        <p:spPr>
          <a:xfrm>
            <a:off x="5803849" y="1856232"/>
            <a:ext cx="1" cy="713232"/>
          </a:xfrm>
          <a:prstGeom prst="line">
            <a:avLst/>
          </a:prstGeom>
          <a:ln w="12700">
            <a:solidFill>
              <a:srgbClr val="C3C2B7"/>
            </a:solidFill>
          </a:ln>
        </p:spPr>
      </p:cxnSp>
      <p:cxnSp>
        <p:nvCxnSpPr>
          <p:cNvPr id="1960" name="conn1960"/>
          <p:cNvCxnSpPr/>
          <p:nvPr/>
        </p:nvCxnSpPr>
        <p:spPr>
          <a:xfrm>
            <a:off x="5803849" y="2569464"/>
            <a:ext cx="64008" cy="1"/>
          </a:xfrm>
          <a:prstGeom prst="line">
            <a:avLst/>
          </a:prstGeom>
          <a:ln w="12700">
            <a:solidFill>
              <a:srgbClr val="C3C2B7"/>
            </a:solidFill>
            <a:tailEnd type="triangle" w="med" len="med"/>
          </a:ln>
        </p:spPr>
      </p:cxnSp>
      <p:cxnSp>
        <p:nvCxnSpPr>
          <p:cNvPr id="1961" name="conn1961"/>
          <p:cNvCxnSpPr/>
          <p:nvPr/>
        </p:nvCxnSpPr>
        <p:spPr>
          <a:xfrm>
            <a:off x="6925970" y="2569464"/>
            <a:ext cx="64008" cy="1"/>
          </a:xfrm>
          <a:prstGeom prst="line">
            <a:avLst/>
          </a:prstGeom>
          <a:ln w="12700">
            <a:solidFill>
              <a:srgbClr val="C3C2B7"/>
            </a:solidFill>
          </a:ln>
        </p:spPr>
      </p:cxnSp>
      <p:cxnSp>
        <p:nvCxnSpPr>
          <p:cNvPr id="1962" name="conn1962"/>
          <p:cNvCxnSpPr/>
          <p:nvPr/>
        </p:nvCxnSpPr>
        <p:spPr>
          <a:xfrm>
            <a:off x="6989978" y="2569464"/>
            <a:ext cx="1" cy="713232"/>
          </a:xfrm>
          <a:prstGeom prst="line">
            <a:avLst/>
          </a:prstGeom>
          <a:ln w="12700">
            <a:solidFill>
              <a:srgbClr val="C3C2B7"/>
            </a:solidFill>
          </a:ln>
        </p:spPr>
      </p:cxnSp>
      <p:cxnSp>
        <p:nvCxnSpPr>
          <p:cNvPr id="1963" name="conn1963"/>
          <p:cNvCxnSpPr/>
          <p:nvPr/>
        </p:nvCxnSpPr>
        <p:spPr>
          <a:xfrm>
            <a:off x="6989978" y="3282696"/>
            <a:ext cx="64008" cy="1"/>
          </a:xfrm>
          <a:prstGeom prst="line">
            <a:avLst/>
          </a:prstGeom>
          <a:ln w="12700">
            <a:solidFill>
              <a:srgbClr val="C3C2B7"/>
            </a:solidFill>
            <a:tailEnd type="triangle" w="med" len="med"/>
          </a:ln>
        </p:spPr>
      </p:cxnSp>
      <p:cxnSp>
        <p:nvCxnSpPr>
          <p:cNvPr id="1964" name="conn1964"/>
          <p:cNvCxnSpPr/>
          <p:nvPr/>
        </p:nvCxnSpPr>
        <p:spPr>
          <a:xfrm>
            <a:off x="8112100" y="3282696"/>
            <a:ext cx="64008" cy="1"/>
          </a:xfrm>
          <a:prstGeom prst="line">
            <a:avLst/>
          </a:prstGeom>
          <a:ln w="12700">
            <a:solidFill>
              <a:srgbClr val="C3C2B7"/>
            </a:solidFill>
          </a:ln>
        </p:spPr>
      </p:cxnSp>
      <p:cxnSp>
        <p:nvCxnSpPr>
          <p:cNvPr id="1965" name="conn1965"/>
          <p:cNvCxnSpPr/>
          <p:nvPr/>
        </p:nvCxnSpPr>
        <p:spPr>
          <a:xfrm>
            <a:off x="8176108" y="3282696"/>
            <a:ext cx="1" cy="713232"/>
          </a:xfrm>
          <a:prstGeom prst="line">
            <a:avLst/>
          </a:prstGeom>
          <a:ln w="12700">
            <a:solidFill>
              <a:srgbClr val="C3C2B7"/>
            </a:solidFill>
          </a:ln>
        </p:spPr>
      </p:cxnSp>
      <p:cxnSp>
        <p:nvCxnSpPr>
          <p:cNvPr id="1966" name="conn1966"/>
          <p:cNvCxnSpPr/>
          <p:nvPr/>
        </p:nvCxnSpPr>
        <p:spPr>
          <a:xfrm>
            <a:off x="8176108" y="3995928"/>
            <a:ext cx="64008" cy="1"/>
          </a:xfrm>
          <a:prstGeom prst="line">
            <a:avLst/>
          </a:prstGeom>
          <a:ln w="12700">
            <a:solidFill>
              <a:srgbClr val="C3C2B7"/>
            </a:solidFill>
            <a:tailEnd type="triangle" w="med" len="med"/>
          </a:ln>
        </p:spPr>
      </p:cxnSp>
      <p:cxnSp>
        <p:nvCxnSpPr>
          <p:cNvPr id="1967" name="conn1967"/>
          <p:cNvCxnSpPr/>
          <p:nvPr/>
        </p:nvCxnSpPr>
        <p:spPr>
          <a:xfrm>
            <a:off x="9298229" y="3995928"/>
            <a:ext cx="64008" cy="1"/>
          </a:xfrm>
          <a:prstGeom prst="line">
            <a:avLst/>
          </a:prstGeom>
          <a:ln w="12700">
            <a:solidFill>
              <a:srgbClr val="C3C2B7"/>
            </a:solidFill>
          </a:ln>
        </p:spPr>
      </p:cxnSp>
      <p:cxnSp>
        <p:nvCxnSpPr>
          <p:cNvPr id="1968" name="conn1968"/>
          <p:cNvCxnSpPr/>
          <p:nvPr/>
        </p:nvCxnSpPr>
        <p:spPr>
          <a:xfrm flipV="1">
            <a:off x="9362237" y="3282696"/>
            <a:ext cx="1" cy="713232"/>
          </a:xfrm>
          <a:prstGeom prst="line">
            <a:avLst/>
          </a:prstGeom>
          <a:ln w="12700">
            <a:solidFill>
              <a:srgbClr val="C3C2B7"/>
            </a:solidFill>
          </a:ln>
        </p:spPr>
      </p:cxnSp>
      <p:cxnSp>
        <p:nvCxnSpPr>
          <p:cNvPr id="1969" name="conn1969"/>
          <p:cNvCxnSpPr/>
          <p:nvPr/>
        </p:nvCxnSpPr>
        <p:spPr>
          <a:xfrm>
            <a:off x="9362237" y="3282696"/>
            <a:ext cx="64008" cy="1"/>
          </a:xfrm>
          <a:prstGeom prst="line">
            <a:avLst/>
          </a:prstGeom>
          <a:ln w="12700">
            <a:solidFill>
              <a:srgbClr val="C3C2B7"/>
            </a:solidFill>
            <a:tailEnd type="triangle" w="med" len="med"/>
          </a:ln>
        </p:spPr>
      </p:cxnSp>
      <p:cxnSp>
        <p:nvCxnSpPr>
          <p:cNvPr id="1970" name="conn1970"/>
          <p:cNvCxnSpPr/>
          <p:nvPr/>
        </p:nvCxnSpPr>
        <p:spPr>
          <a:xfrm>
            <a:off x="10484358" y="3282696"/>
            <a:ext cx="64008" cy="1"/>
          </a:xfrm>
          <a:prstGeom prst="line">
            <a:avLst/>
          </a:prstGeom>
          <a:ln w="12700">
            <a:solidFill>
              <a:srgbClr val="C3C2B7"/>
            </a:solidFill>
          </a:ln>
        </p:spPr>
      </p:cxnSp>
      <p:cxnSp>
        <p:nvCxnSpPr>
          <p:cNvPr id="1971" name="conn1971"/>
          <p:cNvCxnSpPr/>
          <p:nvPr/>
        </p:nvCxnSpPr>
        <p:spPr>
          <a:xfrm>
            <a:off x="10548366" y="3282696"/>
            <a:ext cx="1" cy="1426464"/>
          </a:xfrm>
          <a:prstGeom prst="line">
            <a:avLst/>
          </a:prstGeom>
          <a:ln w="12700">
            <a:solidFill>
              <a:srgbClr val="C3C2B7"/>
            </a:solidFill>
          </a:ln>
        </p:spPr>
      </p:cxnSp>
      <p:cxnSp>
        <p:nvCxnSpPr>
          <p:cNvPr id="1972" name="conn1972"/>
          <p:cNvCxnSpPr/>
          <p:nvPr/>
        </p:nvCxnSpPr>
        <p:spPr>
          <a:xfrm>
            <a:off x="10548366" y="4709160"/>
            <a:ext cx="64008" cy="1"/>
          </a:xfrm>
          <a:prstGeom prst="line">
            <a:avLst/>
          </a:prstGeom>
          <a:ln w="12700">
            <a:solidFill>
              <a:srgbClr val="C3C2B7"/>
            </a:solidFill>
            <a:tailEnd type="triangle" w="med" len="med"/>
          </a:ln>
        </p:spPr>
      </p:cxnSp>
      <p:sp>
        <p:nvSpPr>
          <p:cNvPr id="1973" name="shape1973"/>
          <p:cNvSpPr/>
          <p:nvPr/>
        </p:nvSpPr>
        <p:spPr>
          <a:xfrm>
            <a:off x="4681728" y="1618488"/>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Lodge return</a:t>
            </a:r>
          </a:p>
        </p:txBody>
      </p:sp>
      <p:sp>
        <p:nvSpPr>
          <p:cNvPr id="1974" name="shape1974"/>
          <p:cNvSpPr/>
          <p:nvPr/>
        </p:nvSpPr>
        <p:spPr>
          <a:xfrm>
            <a:off x="5867857" y="2331720"/>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Collect parcel</a:t>
            </a:r>
          </a:p>
        </p:txBody>
      </p:sp>
      <p:sp>
        <p:nvSpPr>
          <p:cNvPr id="1975" name="shape1975"/>
          <p:cNvSpPr/>
          <p:nvPr/>
        </p:nvSpPr>
        <p:spPr>
          <a:xfrm>
            <a:off x="7053986" y="3044952"/>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Receive and inspect</a:t>
            </a:r>
          </a:p>
        </p:txBody>
      </p:sp>
      <p:sp>
        <p:nvSpPr>
          <p:cNvPr id="1976" name="shape1976"/>
          <p:cNvSpPr/>
          <p:nvPr/>
        </p:nvSpPr>
        <p:spPr>
          <a:xfrm>
            <a:off x="8240116" y="3758184"/>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Assess condition</a:t>
            </a:r>
          </a:p>
        </p:txBody>
      </p:sp>
      <p:sp>
        <p:nvSpPr>
          <p:cNvPr id="1977" name="shape1977"/>
          <p:cNvSpPr/>
          <p:nvPr/>
        </p:nvSpPr>
        <p:spPr>
          <a:xfrm>
            <a:off x="9426245" y="3044952"/>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Restock or scrap</a:t>
            </a:r>
          </a:p>
        </p:txBody>
      </p:sp>
      <p:sp>
        <p:nvSpPr>
          <p:cNvPr id="1978" name="shape1978"/>
          <p:cNvSpPr/>
          <p:nvPr/>
        </p:nvSpPr>
        <p:spPr>
          <a:xfrm>
            <a:off x="10612374" y="4471416"/>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Issue refund</a:t>
            </a:r>
          </a:p>
        </p:txBody>
      </p:sp>
      <p:sp>
        <p:nvSpPr>
          <p:cNvPr id="1979" name="shape1979"/>
          <p:cNvSpPr/>
          <p:nvPr/>
        </p:nvSpPr>
        <p:spPr>
          <a:xfrm>
            <a:off x="3520440" y="5120640"/>
            <a:ext cx="8214055" cy="219456"/>
          </a:xfrm>
          <a:prstGeom prst="rect">
            <a:avLst/>
          </a:prstGeom>
          <a:noFill/>
          <a:ln>
            <a:noFill/>
          </a:ln>
        </p:spPr>
        <p:txBody>
          <a:bodyPr wrap="square" anchor="ctr" lIns="0" rIns="0" tIns="27432" bIns="27432"/>
          <a:lstStyle/>
          <a:p>
            <a:pPr algn="l"/>
            <a:r>
              <a:rPr lang="en-AU" sz="850" dirty="0">
                <a:solidFill>
                  <a:srgbClr val="D03B3B"/>
                </a:solidFill>
                <a:latin typeface="Aptos"/>
              </a:rPr>
              <a:t>↳ rejected at inwards — customer never told</a:t>
            </a:r>
          </a:p>
        </p:txBody>
      </p:sp>
      <p:sp>
        <p:nvSpPr>
          <p:cNvPr id="1980" name="shape1980"/>
          <p:cNvSpPr/>
          <p:nvPr/>
        </p:nvSpPr>
        <p:spPr>
          <a:xfrm>
            <a:off x="3520440" y="5358384"/>
            <a:ext cx="8214055" cy="219456"/>
          </a:xfrm>
          <a:prstGeom prst="rect">
            <a:avLst/>
          </a:prstGeom>
          <a:noFill/>
          <a:ln>
            <a:noFill/>
          </a:ln>
        </p:spPr>
        <p:txBody>
          <a:bodyPr wrap="square" anchor="ctr" lIns="0" rIns="0" tIns="27432" bIns="27432"/>
          <a:lstStyle/>
          <a:p>
            <a:pPr algn="l"/>
            <a:r>
              <a:rPr lang="en-AU" sz="850" dirty="0">
                <a:solidFill>
                  <a:srgbClr val="D03B3B"/>
                </a:solidFill>
                <a:latin typeface="Aptos"/>
              </a:rPr>
              <a:t>↳ scrapped after the refund was paid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1" name="shape198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10.35  Process Modelling</a:t>
            </a:r>
          </a:p>
        </p:txBody>
      </p:sp>
      <p:sp>
        <p:nvSpPr>
          <p:cNvPr id="1982" name="shape198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1983" name="shape1983"/>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1984" name="conn1984"/>
          <p:cNvCxnSpPr/>
          <p:nvPr/>
        </p:nvCxnSpPr>
        <p:spPr>
          <a:xfrm>
            <a:off x="457200" y="1078992"/>
            <a:ext cx="11277295" cy="1"/>
          </a:xfrm>
          <a:prstGeom prst="line">
            <a:avLst/>
          </a:prstGeom>
          <a:ln w="9525">
            <a:solidFill>
              <a:srgbClr val="D9D8D0"/>
            </a:solidFill>
          </a:ln>
        </p:spPr>
      </p:cxnSp>
      <p:sp>
        <p:nvSpPr>
          <p:cNvPr id="1985" name="shape198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1986" name="shape198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10.35</a:t>
            </a:r>
          </a:p>
        </p:txBody>
      </p:sp>
      <p:sp>
        <p:nvSpPr>
          <p:cNvPr id="1987" name="shape198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1988" name="shape1988"/>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Name a lane per party. Every arrow crossing a lane is a hand-off — those are where the work goes wrong.</a:t>
            </a:r>
          </a:p>
        </p:txBody>
      </p:sp>
      <p:sp>
        <p:nvSpPr>
          <p:cNvPr id="1989" name="shape1989"/>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1990" name="shape1990"/>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Depicts the sequence of activities, decisions, actors and hand-offs that produce an outcome.</a:t>
            </a:r>
          </a:p>
        </p:txBody>
      </p:sp>
      <p:sp>
        <p:nvSpPr>
          <p:cNvPr id="1991" name="shape1991"/>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992" name="shape1992"/>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Process modelling shows the flow of work; use cases show an actor achieving a goal with the solution; data flow diagrams follow information. Hand-offs between people point to process.</a:t>
            </a:r>
          </a:p>
        </p:txBody>
      </p:sp>
      <p:sp>
        <p:nvSpPr>
          <p:cNvPr id="1993" name="shape1993"/>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1994" name="shape1994"/>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 · 6.2 Define Future State</a:t>
            </a:r>
          </a:p>
        </p:txBody>
      </p:sp>
      <p:sp>
        <p:nvSpPr>
          <p:cNvPr id="1995" name="shape199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Process Modelling — blank template</a:t>
            </a:r>
          </a:p>
        </p:txBody>
      </p:sp>
      <p:sp>
        <p:nvSpPr>
          <p:cNvPr id="1996" name="shape1996"/>
          <p:cNvSpPr/>
          <p:nvPr/>
        </p:nvSpPr>
        <p:spPr>
          <a:xfrm>
            <a:off x="3520440" y="1499616"/>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1997" name="shape1997"/>
          <p:cNvSpPr/>
          <p:nvPr/>
        </p:nvSpPr>
        <p:spPr>
          <a:xfrm>
            <a:off x="3557016" y="1499616"/>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Lane 1</a:t>
            </a:r>
          </a:p>
        </p:txBody>
      </p:sp>
      <p:sp>
        <p:nvSpPr>
          <p:cNvPr id="1998" name="shape1998"/>
          <p:cNvSpPr/>
          <p:nvPr/>
        </p:nvSpPr>
        <p:spPr>
          <a:xfrm>
            <a:off x="3520440" y="2212848"/>
            <a:ext cx="8214055" cy="713232"/>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1999" name="shape1999"/>
          <p:cNvSpPr/>
          <p:nvPr/>
        </p:nvSpPr>
        <p:spPr>
          <a:xfrm>
            <a:off x="3557016" y="2212848"/>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Lane 2</a:t>
            </a:r>
          </a:p>
        </p:txBody>
      </p:sp>
      <p:sp>
        <p:nvSpPr>
          <p:cNvPr id="2000" name="shape2000"/>
          <p:cNvSpPr/>
          <p:nvPr/>
        </p:nvSpPr>
        <p:spPr>
          <a:xfrm>
            <a:off x="3520440" y="2926080"/>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2001" name="shape2001"/>
          <p:cNvSpPr/>
          <p:nvPr/>
        </p:nvSpPr>
        <p:spPr>
          <a:xfrm>
            <a:off x="3557016" y="2926080"/>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Lane 3</a:t>
            </a:r>
          </a:p>
        </p:txBody>
      </p:sp>
      <p:sp>
        <p:nvSpPr>
          <p:cNvPr id="2002" name="shape2002"/>
          <p:cNvSpPr/>
          <p:nvPr/>
        </p:nvSpPr>
        <p:spPr>
          <a:xfrm>
            <a:off x="3520440" y="3639312"/>
            <a:ext cx="8214055" cy="713232"/>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2003" name="shape2003"/>
          <p:cNvSpPr/>
          <p:nvPr/>
        </p:nvSpPr>
        <p:spPr>
          <a:xfrm>
            <a:off x="3557016" y="3639312"/>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Lane 4</a:t>
            </a:r>
          </a:p>
        </p:txBody>
      </p:sp>
      <p:sp>
        <p:nvSpPr>
          <p:cNvPr id="2004" name="shape2004"/>
          <p:cNvSpPr/>
          <p:nvPr/>
        </p:nvSpPr>
        <p:spPr>
          <a:xfrm>
            <a:off x="3520440" y="4352544"/>
            <a:ext cx="8214055" cy="713232"/>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2005" name="shape2005"/>
          <p:cNvSpPr/>
          <p:nvPr/>
        </p:nvSpPr>
        <p:spPr>
          <a:xfrm>
            <a:off x="3557016" y="4352544"/>
            <a:ext cx="1024128" cy="713232"/>
          </a:xfrm>
          <a:prstGeom prst="rect">
            <a:avLst/>
          </a:prstGeom>
          <a:noFill/>
          <a:ln>
            <a:noFill/>
          </a:ln>
        </p:spPr>
        <p:txBody>
          <a:bodyPr wrap="square" anchor="ctr" lIns="54864" rIns="54864" tIns="27432" bIns="27432"/>
          <a:lstStyle/>
          <a:p>
            <a:pPr algn="l"/>
            <a:r>
              <a:rPr lang="en-AU" sz="850" b="1" dirty="0">
                <a:solidFill>
                  <a:srgbClr val="6B6A66"/>
                </a:solidFill>
                <a:latin typeface="Aptos"/>
              </a:rPr>
              <a:t>Lane 5</a:t>
            </a:r>
          </a:p>
        </p:txBody>
      </p:sp>
      <p:cxnSp>
        <p:nvCxnSpPr>
          <p:cNvPr id="2006" name="conn2006"/>
          <p:cNvCxnSpPr/>
          <p:nvPr/>
        </p:nvCxnSpPr>
        <p:spPr>
          <a:xfrm>
            <a:off x="5739841" y="1856232"/>
            <a:ext cx="64008" cy="1"/>
          </a:xfrm>
          <a:prstGeom prst="line">
            <a:avLst/>
          </a:prstGeom>
          <a:ln w="12700">
            <a:solidFill>
              <a:srgbClr val="C3C2B7"/>
            </a:solidFill>
          </a:ln>
        </p:spPr>
      </p:cxnSp>
      <p:cxnSp>
        <p:nvCxnSpPr>
          <p:cNvPr id="2007" name="conn2007"/>
          <p:cNvCxnSpPr/>
          <p:nvPr/>
        </p:nvCxnSpPr>
        <p:spPr>
          <a:xfrm>
            <a:off x="5803849" y="1856232"/>
            <a:ext cx="1" cy="713232"/>
          </a:xfrm>
          <a:prstGeom prst="line">
            <a:avLst/>
          </a:prstGeom>
          <a:ln w="12700">
            <a:solidFill>
              <a:srgbClr val="C3C2B7"/>
            </a:solidFill>
          </a:ln>
        </p:spPr>
      </p:cxnSp>
      <p:cxnSp>
        <p:nvCxnSpPr>
          <p:cNvPr id="2008" name="conn2008"/>
          <p:cNvCxnSpPr/>
          <p:nvPr/>
        </p:nvCxnSpPr>
        <p:spPr>
          <a:xfrm>
            <a:off x="5803849" y="2569464"/>
            <a:ext cx="64008" cy="1"/>
          </a:xfrm>
          <a:prstGeom prst="line">
            <a:avLst/>
          </a:prstGeom>
          <a:ln w="12700">
            <a:solidFill>
              <a:srgbClr val="C3C2B7"/>
            </a:solidFill>
            <a:tailEnd type="triangle" w="med" len="med"/>
          </a:ln>
        </p:spPr>
      </p:cxnSp>
      <p:cxnSp>
        <p:nvCxnSpPr>
          <p:cNvPr id="2009" name="conn2009"/>
          <p:cNvCxnSpPr/>
          <p:nvPr/>
        </p:nvCxnSpPr>
        <p:spPr>
          <a:xfrm>
            <a:off x="6925970" y="2569464"/>
            <a:ext cx="64008" cy="1"/>
          </a:xfrm>
          <a:prstGeom prst="line">
            <a:avLst/>
          </a:prstGeom>
          <a:ln w="12700">
            <a:solidFill>
              <a:srgbClr val="C3C2B7"/>
            </a:solidFill>
          </a:ln>
        </p:spPr>
      </p:cxnSp>
      <p:cxnSp>
        <p:nvCxnSpPr>
          <p:cNvPr id="2010" name="conn2010"/>
          <p:cNvCxnSpPr/>
          <p:nvPr/>
        </p:nvCxnSpPr>
        <p:spPr>
          <a:xfrm>
            <a:off x="6989978" y="2569464"/>
            <a:ext cx="1" cy="713232"/>
          </a:xfrm>
          <a:prstGeom prst="line">
            <a:avLst/>
          </a:prstGeom>
          <a:ln w="12700">
            <a:solidFill>
              <a:srgbClr val="C3C2B7"/>
            </a:solidFill>
          </a:ln>
        </p:spPr>
      </p:cxnSp>
      <p:cxnSp>
        <p:nvCxnSpPr>
          <p:cNvPr id="2011" name="conn2011"/>
          <p:cNvCxnSpPr/>
          <p:nvPr/>
        </p:nvCxnSpPr>
        <p:spPr>
          <a:xfrm>
            <a:off x="6989978" y="3282696"/>
            <a:ext cx="64008" cy="1"/>
          </a:xfrm>
          <a:prstGeom prst="line">
            <a:avLst/>
          </a:prstGeom>
          <a:ln w="12700">
            <a:solidFill>
              <a:srgbClr val="C3C2B7"/>
            </a:solidFill>
            <a:tailEnd type="triangle" w="med" len="med"/>
          </a:ln>
        </p:spPr>
      </p:cxnSp>
      <p:cxnSp>
        <p:nvCxnSpPr>
          <p:cNvPr id="2012" name="conn2012"/>
          <p:cNvCxnSpPr/>
          <p:nvPr/>
        </p:nvCxnSpPr>
        <p:spPr>
          <a:xfrm>
            <a:off x="8112100" y="3282696"/>
            <a:ext cx="64008" cy="1"/>
          </a:xfrm>
          <a:prstGeom prst="line">
            <a:avLst/>
          </a:prstGeom>
          <a:ln w="12700">
            <a:solidFill>
              <a:srgbClr val="C3C2B7"/>
            </a:solidFill>
          </a:ln>
        </p:spPr>
      </p:cxnSp>
      <p:cxnSp>
        <p:nvCxnSpPr>
          <p:cNvPr id="2013" name="conn2013"/>
          <p:cNvCxnSpPr/>
          <p:nvPr/>
        </p:nvCxnSpPr>
        <p:spPr>
          <a:xfrm>
            <a:off x="8176108" y="3282696"/>
            <a:ext cx="1" cy="713232"/>
          </a:xfrm>
          <a:prstGeom prst="line">
            <a:avLst/>
          </a:prstGeom>
          <a:ln w="12700">
            <a:solidFill>
              <a:srgbClr val="C3C2B7"/>
            </a:solidFill>
          </a:ln>
        </p:spPr>
      </p:cxnSp>
      <p:cxnSp>
        <p:nvCxnSpPr>
          <p:cNvPr id="2014" name="conn2014"/>
          <p:cNvCxnSpPr/>
          <p:nvPr/>
        </p:nvCxnSpPr>
        <p:spPr>
          <a:xfrm>
            <a:off x="8176108" y="3995928"/>
            <a:ext cx="64008" cy="1"/>
          </a:xfrm>
          <a:prstGeom prst="line">
            <a:avLst/>
          </a:prstGeom>
          <a:ln w="12700">
            <a:solidFill>
              <a:srgbClr val="C3C2B7"/>
            </a:solidFill>
            <a:tailEnd type="triangle" w="med" len="med"/>
          </a:ln>
        </p:spPr>
      </p:cxnSp>
      <p:cxnSp>
        <p:nvCxnSpPr>
          <p:cNvPr id="2015" name="conn2015"/>
          <p:cNvCxnSpPr/>
          <p:nvPr/>
        </p:nvCxnSpPr>
        <p:spPr>
          <a:xfrm>
            <a:off x="9298229" y="3995928"/>
            <a:ext cx="64008" cy="1"/>
          </a:xfrm>
          <a:prstGeom prst="line">
            <a:avLst/>
          </a:prstGeom>
          <a:ln w="12700">
            <a:solidFill>
              <a:srgbClr val="C3C2B7"/>
            </a:solidFill>
          </a:ln>
        </p:spPr>
      </p:cxnSp>
      <p:cxnSp>
        <p:nvCxnSpPr>
          <p:cNvPr id="2016" name="conn2016"/>
          <p:cNvCxnSpPr/>
          <p:nvPr/>
        </p:nvCxnSpPr>
        <p:spPr>
          <a:xfrm flipV="1">
            <a:off x="9362237" y="3282696"/>
            <a:ext cx="1" cy="713232"/>
          </a:xfrm>
          <a:prstGeom prst="line">
            <a:avLst/>
          </a:prstGeom>
          <a:ln w="12700">
            <a:solidFill>
              <a:srgbClr val="C3C2B7"/>
            </a:solidFill>
          </a:ln>
        </p:spPr>
      </p:cxnSp>
      <p:cxnSp>
        <p:nvCxnSpPr>
          <p:cNvPr id="2017" name="conn2017"/>
          <p:cNvCxnSpPr/>
          <p:nvPr/>
        </p:nvCxnSpPr>
        <p:spPr>
          <a:xfrm>
            <a:off x="9362237" y="3282696"/>
            <a:ext cx="64008" cy="1"/>
          </a:xfrm>
          <a:prstGeom prst="line">
            <a:avLst/>
          </a:prstGeom>
          <a:ln w="12700">
            <a:solidFill>
              <a:srgbClr val="C3C2B7"/>
            </a:solidFill>
            <a:tailEnd type="triangle" w="med" len="med"/>
          </a:ln>
        </p:spPr>
      </p:cxnSp>
      <p:cxnSp>
        <p:nvCxnSpPr>
          <p:cNvPr id="2018" name="conn2018"/>
          <p:cNvCxnSpPr/>
          <p:nvPr/>
        </p:nvCxnSpPr>
        <p:spPr>
          <a:xfrm>
            <a:off x="10484358" y="3282696"/>
            <a:ext cx="64008" cy="1"/>
          </a:xfrm>
          <a:prstGeom prst="line">
            <a:avLst/>
          </a:prstGeom>
          <a:ln w="12700">
            <a:solidFill>
              <a:srgbClr val="C3C2B7"/>
            </a:solidFill>
          </a:ln>
        </p:spPr>
      </p:cxnSp>
      <p:cxnSp>
        <p:nvCxnSpPr>
          <p:cNvPr id="2019" name="conn2019"/>
          <p:cNvCxnSpPr/>
          <p:nvPr/>
        </p:nvCxnSpPr>
        <p:spPr>
          <a:xfrm>
            <a:off x="10548366" y="3282696"/>
            <a:ext cx="1" cy="1426464"/>
          </a:xfrm>
          <a:prstGeom prst="line">
            <a:avLst/>
          </a:prstGeom>
          <a:ln w="12700">
            <a:solidFill>
              <a:srgbClr val="C3C2B7"/>
            </a:solidFill>
          </a:ln>
        </p:spPr>
      </p:cxnSp>
      <p:cxnSp>
        <p:nvCxnSpPr>
          <p:cNvPr id="2020" name="conn2020"/>
          <p:cNvCxnSpPr/>
          <p:nvPr/>
        </p:nvCxnSpPr>
        <p:spPr>
          <a:xfrm>
            <a:off x="10548366" y="4709160"/>
            <a:ext cx="64008" cy="1"/>
          </a:xfrm>
          <a:prstGeom prst="line">
            <a:avLst/>
          </a:prstGeom>
          <a:ln w="12700">
            <a:solidFill>
              <a:srgbClr val="C3C2B7"/>
            </a:solidFill>
            <a:tailEnd type="triangle" w="med" len="med"/>
          </a:ln>
        </p:spPr>
      </p:cxnSp>
      <p:sp>
        <p:nvSpPr>
          <p:cNvPr id="2021" name="shape2021"/>
          <p:cNvSpPr/>
          <p:nvPr/>
        </p:nvSpPr>
        <p:spPr>
          <a:xfrm>
            <a:off x="4681728" y="1618488"/>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1</a:t>
            </a:r>
          </a:p>
        </p:txBody>
      </p:sp>
      <p:sp>
        <p:nvSpPr>
          <p:cNvPr id="2022" name="shape2022"/>
          <p:cNvSpPr/>
          <p:nvPr/>
        </p:nvSpPr>
        <p:spPr>
          <a:xfrm>
            <a:off x="5867857" y="2331720"/>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2</a:t>
            </a:r>
          </a:p>
        </p:txBody>
      </p:sp>
      <p:sp>
        <p:nvSpPr>
          <p:cNvPr id="2023" name="shape2023"/>
          <p:cNvSpPr/>
          <p:nvPr/>
        </p:nvSpPr>
        <p:spPr>
          <a:xfrm>
            <a:off x="7053986" y="3044952"/>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3</a:t>
            </a:r>
          </a:p>
        </p:txBody>
      </p:sp>
      <p:sp>
        <p:nvSpPr>
          <p:cNvPr id="2024" name="shape2024"/>
          <p:cNvSpPr/>
          <p:nvPr/>
        </p:nvSpPr>
        <p:spPr>
          <a:xfrm>
            <a:off x="8240116" y="3758184"/>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4</a:t>
            </a:r>
          </a:p>
        </p:txBody>
      </p:sp>
      <p:sp>
        <p:nvSpPr>
          <p:cNvPr id="2025" name="shape2025"/>
          <p:cNvSpPr/>
          <p:nvPr/>
        </p:nvSpPr>
        <p:spPr>
          <a:xfrm>
            <a:off x="9426245" y="3044952"/>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5</a:t>
            </a:r>
          </a:p>
        </p:txBody>
      </p:sp>
      <p:sp>
        <p:nvSpPr>
          <p:cNvPr id="2026" name="shape2026"/>
          <p:cNvSpPr/>
          <p:nvPr/>
        </p:nvSpPr>
        <p:spPr>
          <a:xfrm>
            <a:off x="10612374" y="4471416"/>
            <a:ext cx="1058113"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Step 6</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 name="shape202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10.39  Roles and Permissions Matrix</a:t>
            </a:r>
          </a:p>
        </p:txBody>
      </p:sp>
      <p:sp>
        <p:nvSpPr>
          <p:cNvPr id="2028" name="shape202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029" name="shape2029"/>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030" name="conn2030"/>
          <p:cNvCxnSpPr/>
          <p:nvPr/>
        </p:nvCxnSpPr>
        <p:spPr>
          <a:xfrm>
            <a:off x="457200" y="1078992"/>
            <a:ext cx="11277295" cy="1"/>
          </a:xfrm>
          <a:prstGeom prst="line">
            <a:avLst/>
          </a:prstGeom>
          <a:ln w="9525">
            <a:solidFill>
              <a:srgbClr val="D9D8D0"/>
            </a:solidFill>
          </a:ln>
        </p:spPr>
      </p:cxnSp>
      <p:sp>
        <p:nvSpPr>
          <p:cNvPr id="2031" name="shape203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032" name="shape203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10.39</a:t>
            </a:r>
          </a:p>
        </p:txBody>
      </p:sp>
      <p:sp>
        <p:nvSpPr>
          <p:cNvPr id="2033" name="shape203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034" name="shape2034"/>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Sets out which role may perform which action on which object, exposing gaps, overlaps and separation-of-duty breaches.</a:t>
            </a:r>
          </a:p>
        </p:txBody>
      </p:sp>
      <p:sp>
        <p:nvSpPr>
          <p:cNvPr id="2035" name="shape2035"/>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036" name="shape2036"/>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access, authority or segregation of duties is in question, particularly under audit or regulation.</a:t>
            </a:r>
          </a:p>
        </p:txBody>
      </p:sp>
      <p:sp>
        <p:nvSpPr>
          <p:cNvPr id="2037" name="shape2037"/>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038" name="shape2038"/>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roles and permissions matrix governs what a role may do in the solution; organisational modelling describes where the role sits. Permission versus position.</a:t>
            </a:r>
          </a:p>
        </p:txBody>
      </p:sp>
      <p:sp>
        <p:nvSpPr>
          <p:cNvPr id="2039" name="shape2039"/>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040" name="shape2040"/>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6.2 Define Future State</a:t>
            </a:r>
          </a:p>
        </p:txBody>
      </p:sp>
      <p:sp>
        <p:nvSpPr>
          <p:cNvPr id="2041" name="shape204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Grants system — where separation of duties breaks</a:t>
            </a:r>
          </a:p>
        </p:txBody>
      </p:sp>
      <p:sp>
        <p:nvSpPr>
          <p:cNvPr id="2042" name="shape2042"/>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grants officer can raise and approve the same payment. Counted across all 99 combinations, not anecdotally.</a:t>
            </a:r>
          </a:p>
        </p:txBody>
      </p:sp>
      <p:sp>
        <p:nvSpPr>
          <p:cNvPr id="2043" name="shape2043"/>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Action →</a:t>
            </a:r>
          </a:p>
        </p:txBody>
      </p:sp>
      <p:sp>
        <p:nvSpPr>
          <p:cNvPr id="2044" name="shape2044"/>
          <p:cNvSpPr/>
          <p:nvPr/>
        </p:nvSpPr>
        <p:spPr>
          <a:xfrm>
            <a:off x="4892040"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Create</a:t>
            </a:r>
          </a:p>
        </p:txBody>
      </p:sp>
      <p:sp>
        <p:nvSpPr>
          <p:cNvPr id="2045" name="shape2045"/>
          <p:cNvSpPr/>
          <p:nvPr/>
        </p:nvSpPr>
        <p:spPr>
          <a:xfrm>
            <a:off x="6602654"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Approve</a:t>
            </a:r>
          </a:p>
        </p:txBody>
      </p:sp>
      <p:sp>
        <p:nvSpPr>
          <p:cNvPr id="2046" name="shape2046"/>
          <p:cNvSpPr/>
          <p:nvPr/>
        </p:nvSpPr>
        <p:spPr>
          <a:xfrm>
            <a:off x="8313268"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Amend</a:t>
            </a:r>
          </a:p>
        </p:txBody>
      </p:sp>
      <p:sp>
        <p:nvSpPr>
          <p:cNvPr id="2047" name="shape2047"/>
          <p:cNvSpPr/>
          <p:nvPr/>
        </p:nvSpPr>
        <p:spPr>
          <a:xfrm>
            <a:off x="10023881"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Delete</a:t>
            </a:r>
          </a:p>
        </p:txBody>
      </p:sp>
      <p:sp>
        <p:nvSpPr>
          <p:cNvPr id="2048" name="shape2048"/>
          <p:cNvSpPr/>
          <p:nvPr/>
        </p:nvSpPr>
        <p:spPr>
          <a:xfrm>
            <a:off x="3520440" y="20025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Grants officer</a:t>
            </a:r>
          </a:p>
        </p:txBody>
      </p:sp>
      <p:sp>
        <p:nvSpPr>
          <p:cNvPr id="2049" name="shape2049"/>
          <p:cNvSpPr/>
          <p:nvPr/>
        </p:nvSpPr>
        <p:spPr>
          <a:xfrm>
            <a:off x="4928616"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50" name="shape2050"/>
          <p:cNvSpPr/>
          <p:nvPr/>
        </p:nvSpPr>
        <p:spPr>
          <a:xfrm>
            <a:off x="6639230"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BREACH</a:t>
            </a:r>
          </a:p>
          <a:p>
            <a:pPr algn="l"/>
            <a:r>
              <a:rPr lang="en-AU" sz="850" dirty="0">
                <a:solidFill>
                  <a:srgbClr val="0B0B0B"/>
                </a:solidFill>
                <a:latin typeface="Aptos"/>
              </a:rPr>
              <a:t>• Payment ✓</a:t>
            </a:r>
          </a:p>
        </p:txBody>
      </p:sp>
      <p:sp>
        <p:nvSpPr>
          <p:cNvPr id="2051" name="shape2051"/>
          <p:cNvSpPr/>
          <p:nvPr/>
        </p:nvSpPr>
        <p:spPr>
          <a:xfrm>
            <a:off x="8349844"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52" name="shape2052"/>
          <p:cNvSpPr/>
          <p:nvPr/>
        </p:nvSpPr>
        <p:spPr>
          <a:xfrm>
            <a:off x="10060457"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2053" name="shape2053"/>
          <p:cNvSpPr/>
          <p:nvPr/>
        </p:nvSpPr>
        <p:spPr>
          <a:xfrm>
            <a:off x="3520440" y="32217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Finance officer</a:t>
            </a:r>
          </a:p>
        </p:txBody>
      </p:sp>
      <p:sp>
        <p:nvSpPr>
          <p:cNvPr id="2054" name="shape2054"/>
          <p:cNvSpPr/>
          <p:nvPr/>
        </p:nvSpPr>
        <p:spPr>
          <a:xfrm>
            <a:off x="4928616"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55" name="shape2055"/>
          <p:cNvSpPr/>
          <p:nvPr/>
        </p:nvSpPr>
        <p:spPr>
          <a:xfrm>
            <a:off x="6639230"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2056" name="shape2056"/>
          <p:cNvSpPr/>
          <p:nvPr/>
        </p:nvSpPr>
        <p:spPr>
          <a:xfrm>
            <a:off x="8349844"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57" name="shape2057"/>
          <p:cNvSpPr/>
          <p:nvPr/>
        </p:nvSpPr>
        <p:spPr>
          <a:xfrm>
            <a:off x="10060457"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2058" name="shape2058"/>
          <p:cNvSpPr/>
          <p:nvPr/>
        </p:nvSpPr>
        <p:spPr>
          <a:xfrm>
            <a:off x="3520440" y="44409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Team leader</a:t>
            </a:r>
          </a:p>
        </p:txBody>
      </p:sp>
      <p:sp>
        <p:nvSpPr>
          <p:cNvPr id="2059" name="shape2059"/>
          <p:cNvSpPr/>
          <p:nvPr/>
        </p:nvSpPr>
        <p:spPr>
          <a:xfrm>
            <a:off x="4928616"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t>
            </a:r>
          </a:p>
        </p:txBody>
      </p:sp>
      <p:sp>
        <p:nvSpPr>
          <p:cNvPr id="2060" name="shape2060"/>
          <p:cNvSpPr/>
          <p:nvPr/>
        </p:nvSpPr>
        <p:spPr>
          <a:xfrm>
            <a:off x="6639230"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61" name="shape2061"/>
          <p:cNvSpPr/>
          <p:nvPr/>
        </p:nvSpPr>
        <p:spPr>
          <a:xfrm>
            <a:off x="8349844"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62" name="shape2062"/>
          <p:cNvSpPr/>
          <p:nvPr/>
        </p:nvSpPr>
        <p:spPr>
          <a:xfrm>
            <a:off x="10060457"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Payment ✓</a:t>
            </a:r>
          </a:p>
        </p:txBody>
      </p:sp>
      <p:sp>
        <p:nvSpPr>
          <p:cNvPr id="2063" name="shape2063"/>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Role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4" name="shape2064"/>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10.39  Roles and Permissions Matrix</a:t>
            </a:r>
          </a:p>
        </p:txBody>
      </p:sp>
      <p:sp>
        <p:nvSpPr>
          <p:cNvPr id="2065" name="shape2065"/>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066" name="shape2066"/>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067" name="conn2067"/>
          <p:cNvCxnSpPr/>
          <p:nvPr/>
        </p:nvCxnSpPr>
        <p:spPr>
          <a:xfrm>
            <a:off x="457200" y="1078992"/>
            <a:ext cx="11277295" cy="1"/>
          </a:xfrm>
          <a:prstGeom prst="line">
            <a:avLst/>
          </a:prstGeom>
          <a:ln w="9525">
            <a:solidFill>
              <a:srgbClr val="D9D8D0"/>
            </a:solidFill>
          </a:ln>
        </p:spPr>
      </p:cxnSp>
      <p:sp>
        <p:nvSpPr>
          <p:cNvPr id="2068" name="shape2068"/>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069" name="shape2069"/>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10.39</a:t>
            </a:r>
          </a:p>
        </p:txBody>
      </p:sp>
      <p:sp>
        <p:nvSpPr>
          <p:cNvPr id="2070" name="shape2070"/>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071" name="shape2071"/>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Place each item in one cell only. If it fits two, the axes are not yet sharp enough.</a:t>
            </a:r>
          </a:p>
        </p:txBody>
      </p:sp>
      <p:sp>
        <p:nvSpPr>
          <p:cNvPr id="2072" name="shape2072"/>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073" name="shape2073"/>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Sets out which role may perform which action on which object, exposing gaps, overlaps and separation-of-duty breaches.</a:t>
            </a:r>
          </a:p>
        </p:txBody>
      </p:sp>
      <p:sp>
        <p:nvSpPr>
          <p:cNvPr id="2074" name="shape2074"/>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075" name="shape2075"/>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roles and permissions matrix governs what a role may do in the solution; organisational modelling describes where the role sits. Permission versus position.</a:t>
            </a:r>
          </a:p>
        </p:txBody>
      </p:sp>
      <p:sp>
        <p:nvSpPr>
          <p:cNvPr id="2076" name="shape2076"/>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077" name="shape2077"/>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6.2 Define Future State</a:t>
            </a:r>
          </a:p>
        </p:txBody>
      </p:sp>
      <p:sp>
        <p:nvSpPr>
          <p:cNvPr id="2078" name="shape2078"/>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Roles and Permissions Matrix — blank template</a:t>
            </a:r>
          </a:p>
        </p:txBody>
      </p:sp>
      <p:sp>
        <p:nvSpPr>
          <p:cNvPr id="2079" name="shape2079"/>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Action →</a:t>
            </a:r>
          </a:p>
        </p:txBody>
      </p:sp>
      <p:sp>
        <p:nvSpPr>
          <p:cNvPr id="2080" name="shape2080"/>
          <p:cNvSpPr/>
          <p:nvPr/>
        </p:nvSpPr>
        <p:spPr>
          <a:xfrm>
            <a:off x="4892040"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Create</a:t>
            </a:r>
          </a:p>
        </p:txBody>
      </p:sp>
      <p:sp>
        <p:nvSpPr>
          <p:cNvPr id="2081" name="shape2081"/>
          <p:cNvSpPr/>
          <p:nvPr/>
        </p:nvSpPr>
        <p:spPr>
          <a:xfrm>
            <a:off x="6602654"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Approve</a:t>
            </a:r>
          </a:p>
        </p:txBody>
      </p:sp>
      <p:sp>
        <p:nvSpPr>
          <p:cNvPr id="2082" name="shape2082"/>
          <p:cNvSpPr/>
          <p:nvPr/>
        </p:nvSpPr>
        <p:spPr>
          <a:xfrm>
            <a:off x="8313268"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Amend</a:t>
            </a:r>
          </a:p>
        </p:txBody>
      </p:sp>
      <p:sp>
        <p:nvSpPr>
          <p:cNvPr id="2083" name="shape2083"/>
          <p:cNvSpPr/>
          <p:nvPr/>
        </p:nvSpPr>
        <p:spPr>
          <a:xfrm>
            <a:off x="10023881" y="1737360"/>
            <a:ext cx="1710614"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Delete</a:t>
            </a:r>
          </a:p>
        </p:txBody>
      </p:sp>
      <p:sp>
        <p:nvSpPr>
          <p:cNvPr id="2084" name="shape2084"/>
          <p:cNvSpPr/>
          <p:nvPr/>
        </p:nvSpPr>
        <p:spPr>
          <a:xfrm>
            <a:off x="3520440" y="20025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Grants officer</a:t>
            </a:r>
          </a:p>
        </p:txBody>
      </p:sp>
      <p:sp>
        <p:nvSpPr>
          <p:cNvPr id="2085" name="shape2085"/>
          <p:cNvSpPr/>
          <p:nvPr/>
        </p:nvSpPr>
        <p:spPr>
          <a:xfrm>
            <a:off x="4928616"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86" name="shape2086"/>
          <p:cNvSpPr/>
          <p:nvPr/>
        </p:nvSpPr>
        <p:spPr>
          <a:xfrm>
            <a:off x="6639230"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87" name="shape2087"/>
          <p:cNvSpPr/>
          <p:nvPr/>
        </p:nvSpPr>
        <p:spPr>
          <a:xfrm>
            <a:off x="8349844"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88" name="shape2088"/>
          <p:cNvSpPr/>
          <p:nvPr/>
        </p:nvSpPr>
        <p:spPr>
          <a:xfrm>
            <a:off x="10060457" y="20025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89" name="shape2089"/>
          <p:cNvSpPr/>
          <p:nvPr/>
        </p:nvSpPr>
        <p:spPr>
          <a:xfrm>
            <a:off x="3520440" y="32217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Finance officer</a:t>
            </a:r>
          </a:p>
        </p:txBody>
      </p:sp>
      <p:sp>
        <p:nvSpPr>
          <p:cNvPr id="2090" name="shape2090"/>
          <p:cNvSpPr/>
          <p:nvPr/>
        </p:nvSpPr>
        <p:spPr>
          <a:xfrm>
            <a:off x="4928616"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1" name="shape2091"/>
          <p:cNvSpPr/>
          <p:nvPr/>
        </p:nvSpPr>
        <p:spPr>
          <a:xfrm>
            <a:off x="6639230"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2" name="shape2092"/>
          <p:cNvSpPr/>
          <p:nvPr/>
        </p:nvSpPr>
        <p:spPr>
          <a:xfrm>
            <a:off x="8349844"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3" name="shape2093"/>
          <p:cNvSpPr/>
          <p:nvPr/>
        </p:nvSpPr>
        <p:spPr>
          <a:xfrm>
            <a:off x="10060457" y="32217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4" name="shape2094"/>
          <p:cNvSpPr/>
          <p:nvPr/>
        </p:nvSpPr>
        <p:spPr>
          <a:xfrm>
            <a:off x="3520440" y="4440936"/>
            <a:ext cx="1280160" cy="1146048"/>
          </a:xfrm>
          <a:prstGeom prst="rect">
            <a:avLst/>
          </a:prstGeom>
          <a:noFill/>
          <a:ln>
            <a:noFill/>
          </a:ln>
        </p:spPr>
        <p:txBody>
          <a:bodyPr wrap="square" anchor="ctr" lIns="54864" rIns="54864" tIns="27432" bIns="27432"/>
          <a:lstStyle/>
          <a:p>
            <a:pPr algn="r"/>
            <a:r>
              <a:rPr lang="en-AU" sz="900" b="1" dirty="0">
                <a:solidFill>
                  <a:srgbClr val="6B6A66"/>
                </a:solidFill>
                <a:latin typeface="Aptos"/>
              </a:rPr>
              <a:t>Team leader</a:t>
            </a:r>
          </a:p>
        </p:txBody>
      </p:sp>
      <p:sp>
        <p:nvSpPr>
          <p:cNvPr id="2095" name="shape2095"/>
          <p:cNvSpPr/>
          <p:nvPr/>
        </p:nvSpPr>
        <p:spPr>
          <a:xfrm>
            <a:off x="4928616"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6" name="shape2096"/>
          <p:cNvSpPr/>
          <p:nvPr/>
        </p:nvSpPr>
        <p:spPr>
          <a:xfrm>
            <a:off x="6639230"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7" name="shape2097"/>
          <p:cNvSpPr/>
          <p:nvPr/>
        </p:nvSpPr>
        <p:spPr>
          <a:xfrm>
            <a:off x="8349844"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8" name="shape2098"/>
          <p:cNvSpPr/>
          <p:nvPr/>
        </p:nvSpPr>
        <p:spPr>
          <a:xfrm>
            <a:off x="10060457" y="4440936"/>
            <a:ext cx="1637462" cy="11460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2099" name="shape2099"/>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Role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0" name="shape210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10.41  Scope Modelling</a:t>
            </a:r>
          </a:p>
        </p:txBody>
      </p:sp>
      <p:sp>
        <p:nvSpPr>
          <p:cNvPr id="2101" name="shape210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102" name="shape2102"/>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103" name="conn2103"/>
          <p:cNvCxnSpPr/>
          <p:nvPr/>
        </p:nvCxnSpPr>
        <p:spPr>
          <a:xfrm>
            <a:off x="457200" y="1078992"/>
            <a:ext cx="11277295" cy="1"/>
          </a:xfrm>
          <a:prstGeom prst="line">
            <a:avLst/>
          </a:prstGeom>
          <a:ln w="9525">
            <a:solidFill>
              <a:srgbClr val="D9D8D0"/>
            </a:solidFill>
          </a:ln>
        </p:spPr>
      </p:cxnSp>
      <p:sp>
        <p:nvSpPr>
          <p:cNvPr id="2104" name="shape210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105" name="shape210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10.41</a:t>
            </a:r>
          </a:p>
        </p:txBody>
      </p:sp>
      <p:sp>
        <p:nvSpPr>
          <p:cNvPr id="2106" name="shape210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107" name="shape2107"/>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Draws the boundary of the change: what is inside, what is outside, and what sits on the edge.</a:t>
            </a:r>
          </a:p>
        </p:txBody>
      </p:sp>
      <p:sp>
        <p:nvSpPr>
          <p:cNvPr id="2108" name="shape2108"/>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109" name="shape2109"/>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scope is contested, when the effort keeps absorbing adjacent work, or before any credible estimate can be given.</a:t>
            </a:r>
          </a:p>
        </p:txBody>
      </p:sp>
      <p:sp>
        <p:nvSpPr>
          <p:cNvPr id="2110" name="shape2110"/>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111" name="shape2111"/>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Scope modelling sets the boundary; interface analysis specifies what crosses it; functional decomposition breaks down what is inside. Boundary disputes are scope.</a:t>
            </a:r>
          </a:p>
        </p:txBody>
      </p:sp>
      <p:sp>
        <p:nvSpPr>
          <p:cNvPr id="2112" name="shape2112"/>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113" name="shape2113"/>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6.2 Define Future State · 6.4 Define Change Strategy · 7.4 Define Requirements Architecture</a:t>
            </a:r>
          </a:p>
        </p:txBody>
      </p:sp>
      <p:sp>
        <p:nvSpPr>
          <p:cNvPr id="2114" name="shape211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Licensing modernisation, after three informal absorptions</a:t>
            </a:r>
          </a:p>
        </p:txBody>
      </p:sp>
      <p:sp>
        <p:nvSpPr>
          <p:cNvPr id="2115" name="shape2115"/>
          <p:cNvSpPr/>
          <p:nvPr/>
        </p:nvSpPr>
        <p:spPr>
          <a:xfrm>
            <a:off x="3547872"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 SCOPE</a:t>
            </a:r>
          </a:p>
          <a:p>
            <a:pPr algn="l"/>
            <a:r>
              <a:rPr lang="en-AU" sz="800" dirty="0">
                <a:solidFill>
                  <a:srgbClr val="0B0B0B"/>
                </a:solidFill>
                <a:latin typeface="Aptos"/>
              </a:rPr>
              <a:t>• Licence application and renewal</a:t>
            </a:r>
          </a:p>
          <a:p>
            <a:pPr algn="l"/>
            <a:r>
              <a:rPr lang="en-AU" sz="800" dirty="0">
                <a:solidFill>
                  <a:srgbClr val="0B0B0B"/>
                </a:solidFill>
                <a:latin typeface="Aptos"/>
              </a:rPr>
              <a:t>• Eligibility assessment</a:t>
            </a:r>
          </a:p>
          <a:p>
            <a:pPr algn="l"/>
            <a:r>
              <a:rPr lang="en-AU" sz="800" dirty="0">
                <a:solidFill>
                  <a:srgbClr val="0B0B0B"/>
                </a:solidFill>
                <a:latin typeface="Aptos"/>
              </a:rPr>
              <a:t>• Fee calculation and payment</a:t>
            </a:r>
          </a:p>
          <a:p>
            <a:pPr algn="l"/>
            <a:r>
              <a:rPr lang="en-AU" sz="800" dirty="0">
                <a:solidFill>
                  <a:srgbClr val="0B0B0B"/>
                </a:solidFill>
                <a:latin typeface="Aptos"/>
              </a:rPr>
              <a:t>• Public register of licences</a:t>
            </a:r>
          </a:p>
        </p:txBody>
      </p:sp>
      <p:sp>
        <p:nvSpPr>
          <p:cNvPr id="2116" name="shape2116"/>
          <p:cNvSpPr/>
          <p:nvPr/>
        </p:nvSpPr>
        <p:spPr>
          <a:xfrm>
            <a:off x="6285890"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OUT OF SCOPE</a:t>
            </a:r>
          </a:p>
          <a:p>
            <a:pPr algn="l"/>
            <a:r>
              <a:rPr lang="en-AU" sz="800" dirty="0">
                <a:solidFill>
                  <a:srgbClr val="0B0B0B"/>
                </a:solidFill>
                <a:latin typeface="Aptos"/>
              </a:rPr>
              <a:t>• Complaints handling</a:t>
            </a:r>
          </a:p>
          <a:p>
            <a:pPr algn="l"/>
            <a:r>
              <a:rPr lang="en-AU" sz="800" dirty="0">
                <a:solidFill>
                  <a:srgbClr val="0B0B0B"/>
                </a:solidFill>
                <a:latin typeface="Aptos"/>
              </a:rPr>
              <a:t>• Inspections scheduling</a:t>
            </a:r>
          </a:p>
          <a:p>
            <a:pPr algn="l"/>
            <a:r>
              <a:rPr lang="en-AU" sz="800" dirty="0">
                <a:solidFill>
                  <a:srgbClr val="0B0B0B"/>
                </a:solidFill>
                <a:latin typeface="Aptos"/>
              </a:rPr>
              <a:t>• Prosecution case management</a:t>
            </a:r>
          </a:p>
          <a:p>
            <a:pPr algn="l"/>
            <a:r>
              <a:rPr lang="en-AU" sz="800" dirty="0">
                <a:solidFill>
                  <a:srgbClr val="0B0B0B"/>
                </a:solidFill>
                <a:latin typeface="Aptos"/>
              </a:rPr>
              <a:t>• Finance general ledger</a:t>
            </a:r>
          </a:p>
        </p:txBody>
      </p:sp>
      <p:sp>
        <p:nvSpPr>
          <p:cNvPr id="2117" name="shape2117"/>
          <p:cNvSpPr/>
          <p:nvPr/>
        </p:nvSpPr>
        <p:spPr>
          <a:xfrm>
            <a:off x="9023909"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ADJACENT — DECIDE BEFORE IT DRIFTS</a:t>
            </a:r>
          </a:p>
          <a:p>
            <a:pPr algn="l"/>
            <a:r>
              <a:rPr lang="en-AU" sz="800" dirty="0">
                <a:solidFill>
                  <a:srgbClr val="0B0B0B"/>
                </a:solidFill>
                <a:latin typeface="Aptos"/>
              </a:rPr>
              <a:t>• Inspection outcomes feeding eligibility</a:t>
            </a:r>
          </a:p>
          <a:p>
            <a:pPr algn="l"/>
            <a:r>
              <a:rPr lang="en-AU" sz="800" dirty="0">
                <a:solidFill>
                  <a:srgbClr val="0B0B0B"/>
                </a:solidFill>
                <a:latin typeface="Aptos"/>
              </a:rPr>
              <a:t>• Register data reused by complaints</a:t>
            </a:r>
          </a:p>
          <a:p>
            <a:pPr algn="l"/>
            <a:r>
              <a:rPr lang="en-AU" sz="800" dirty="0">
                <a:solidFill>
                  <a:srgbClr val="0B0B0B"/>
                </a:solidFill>
                <a:latin typeface="Aptos"/>
              </a:rPr>
              <a:t>• Shared identity for licence holders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8" name="shape2118"/>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10.41  Scope Modelling</a:t>
            </a:r>
          </a:p>
        </p:txBody>
      </p:sp>
      <p:sp>
        <p:nvSpPr>
          <p:cNvPr id="2119" name="shape2119"/>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120" name="shape2120"/>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121" name="conn2121"/>
          <p:cNvCxnSpPr/>
          <p:nvPr/>
        </p:nvCxnSpPr>
        <p:spPr>
          <a:xfrm>
            <a:off x="457200" y="1078992"/>
            <a:ext cx="11277295" cy="1"/>
          </a:xfrm>
          <a:prstGeom prst="line">
            <a:avLst/>
          </a:prstGeom>
          <a:ln w="9525">
            <a:solidFill>
              <a:srgbClr val="D9D8D0"/>
            </a:solidFill>
          </a:ln>
        </p:spPr>
      </p:cxnSp>
      <p:sp>
        <p:nvSpPr>
          <p:cNvPr id="2122" name="shape2122"/>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123" name="shape2123"/>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10.41</a:t>
            </a:r>
          </a:p>
        </p:txBody>
      </p:sp>
      <p:sp>
        <p:nvSpPr>
          <p:cNvPr id="2124" name="shape2124"/>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125" name="shape2125"/>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2126" name="shape2126"/>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127" name="shape2127"/>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Draws the boundary of the change: what is inside, what is outside, and what sits on the edge.</a:t>
            </a:r>
          </a:p>
        </p:txBody>
      </p:sp>
      <p:sp>
        <p:nvSpPr>
          <p:cNvPr id="2128" name="shape2128"/>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129" name="shape2129"/>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Scope modelling sets the boundary; interface analysis specifies what crosses it; functional decomposition breaks down what is inside. Boundary disputes are scope.</a:t>
            </a:r>
          </a:p>
        </p:txBody>
      </p:sp>
      <p:sp>
        <p:nvSpPr>
          <p:cNvPr id="2130" name="shape2130"/>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131" name="shape2131"/>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6.2 Define Future State · 6.4 Define Change Strategy · 7.4 Define Requirements Architecture</a:t>
            </a:r>
          </a:p>
        </p:txBody>
      </p:sp>
      <p:sp>
        <p:nvSpPr>
          <p:cNvPr id="2132" name="shape2132"/>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Scope Modelling — blank template</a:t>
            </a:r>
          </a:p>
        </p:txBody>
      </p:sp>
      <p:sp>
        <p:nvSpPr>
          <p:cNvPr id="2133" name="shape2133"/>
          <p:cNvSpPr/>
          <p:nvPr/>
        </p:nvSpPr>
        <p:spPr>
          <a:xfrm>
            <a:off x="3547872"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 SCOPE</a:t>
            </a:r>
          </a:p>
          <a:p>
            <a:pPr algn="l"/>
            <a:endParaRPr lang="en-AU" sz="1100"/>
          </a:p>
        </p:txBody>
      </p:sp>
      <p:sp>
        <p:nvSpPr>
          <p:cNvPr id="2134" name="shape2134"/>
          <p:cNvSpPr/>
          <p:nvPr/>
        </p:nvSpPr>
        <p:spPr>
          <a:xfrm>
            <a:off x="6285890"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OUT OF SCOPE</a:t>
            </a:r>
          </a:p>
          <a:p>
            <a:pPr algn="l"/>
            <a:endParaRPr lang="en-AU" sz="1100"/>
          </a:p>
        </p:txBody>
      </p:sp>
      <p:sp>
        <p:nvSpPr>
          <p:cNvPr id="2135" name="shape2135"/>
          <p:cNvSpPr/>
          <p:nvPr/>
        </p:nvSpPr>
        <p:spPr>
          <a:xfrm>
            <a:off x="9023909" y="1527048"/>
            <a:ext cx="268315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ADJACENT — DECIDE BEFORE IT DRIFTS</a:t>
            </a:r>
          </a:p>
          <a:p>
            <a:pPr algn="l"/>
            <a:endParaRPr lang="en-AU" sz="11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6" name="shape2136"/>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10.42  Sequence Diagrams</a:t>
            </a:r>
          </a:p>
        </p:txBody>
      </p:sp>
      <p:sp>
        <p:nvSpPr>
          <p:cNvPr id="2137" name="shape2137"/>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138" name="shape2138"/>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139" name="conn2139"/>
          <p:cNvCxnSpPr/>
          <p:nvPr/>
        </p:nvCxnSpPr>
        <p:spPr>
          <a:xfrm>
            <a:off x="457200" y="1078992"/>
            <a:ext cx="11277295" cy="1"/>
          </a:xfrm>
          <a:prstGeom prst="line">
            <a:avLst/>
          </a:prstGeom>
          <a:ln w="9525">
            <a:solidFill>
              <a:srgbClr val="D9D8D0"/>
            </a:solidFill>
          </a:ln>
        </p:spPr>
      </p:cxnSp>
      <p:sp>
        <p:nvSpPr>
          <p:cNvPr id="2140" name="shape2140"/>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141" name="shape2141"/>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10.42</a:t>
            </a:r>
          </a:p>
        </p:txBody>
      </p:sp>
      <p:sp>
        <p:nvSpPr>
          <p:cNvPr id="2142" name="shape2142"/>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143" name="shape2143"/>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Shows the ordered exchange of messages between participants over time to accomplish a specific interaction.</a:t>
            </a:r>
          </a:p>
        </p:txBody>
      </p:sp>
      <p:sp>
        <p:nvSpPr>
          <p:cNvPr id="2144" name="shape2144"/>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145" name="shape2145"/>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timing, ordering and the exact exchange between components decide whether the behaviour is correct.</a:t>
            </a:r>
          </a:p>
        </p:txBody>
      </p:sp>
      <p:sp>
        <p:nvSpPr>
          <p:cNvPr id="2146" name="shape2146"/>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147" name="shape2147"/>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Sequence diagrams order messages between components; process models order activities performed by people and systems; state models track what an object becomes. Messages, work, or status is the three-way split.</a:t>
            </a:r>
          </a:p>
        </p:txBody>
      </p:sp>
      <p:sp>
        <p:nvSpPr>
          <p:cNvPr id="2148" name="shape2148"/>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149" name="shape2149"/>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2150" name="shape2150"/>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The race that only appears under load</a:t>
            </a:r>
          </a:p>
        </p:txBody>
      </p:sp>
      <p:sp>
        <p:nvSpPr>
          <p:cNvPr id="2151" name="shape2151"/>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Load widens the window between the last two messages. It does not cause the fault.</a:t>
            </a:r>
          </a:p>
        </p:txBody>
      </p:sp>
      <p:sp>
        <p:nvSpPr>
          <p:cNvPr id="2152" name="shape2152"/>
          <p:cNvSpPr/>
          <p:nvPr/>
        </p:nvSpPr>
        <p:spPr>
          <a:xfrm>
            <a:off x="3520440"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Gateway</a:t>
            </a:r>
          </a:p>
        </p:txBody>
      </p:sp>
      <p:cxnSp>
        <p:nvCxnSpPr>
          <p:cNvPr id="2153" name="conn2153"/>
          <p:cNvCxnSpPr/>
          <p:nvPr/>
        </p:nvCxnSpPr>
        <p:spPr>
          <a:xfrm>
            <a:off x="4389120" y="1883664"/>
            <a:ext cx="1" cy="2377440"/>
          </a:xfrm>
          <a:prstGeom prst="line">
            <a:avLst/>
          </a:prstGeom>
          <a:ln w="6350">
            <a:solidFill>
              <a:srgbClr val="D9D8D0"/>
            </a:solidFill>
            <a:prstDash val="dash"/>
          </a:ln>
        </p:spPr>
      </p:cxnSp>
      <p:sp>
        <p:nvSpPr>
          <p:cNvPr id="2154" name="shape2154"/>
          <p:cNvSpPr/>
          <p:nvPr/>
        </p:nvSpPr>
        <p:spPr>
          <a:xfrm>
            <a:off x="5679338"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Authorisation</a:t>
            </a:r>
          </a:p>
        </p:txBody>
      </p:sp>
      <p:cxnSp>
        <p:nvCxnSpPr>
          <p:cNvPr id="2155" name="conn2155"/>
          <p:cNvCxnSpPr/>
          <p:nvPr/>
        </p:nvCxnSpPr>
        <p:spPr>
          <a:xfrm>
            <a:off x="6548018" y="1883664"/>
            <a:ext cx="1" cy="2377440"/>
          </a:xfrm>
          <a:prstGeom prst="line">
            <a:avLst/>
          </a:prstGeom>
          <a:ln w="6350">
            <a:solidFill>
              <a:srgbClr val="D9D8D0"/>
            </a:solidFill>
            <a:prstDash val="dash"/>
          </a:ln>
        </p:spPr>
      </p:cxnSp>
      <p:sp>
        <p:nvSpPr>
          <p:cNvPr id="2156" name="shape2156"/>
          <p:cNvSpPr/>
          <p:nvPr/>
        </p:nvSpPr>
        <p:spPr>
          <a:xfrm>
            <a:off x="7838237"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Fraud service</a:t>
            </a:r>
          </a:p>
        </p:txBody>
      </p:sp>
      <p:cxnSp>
        <p:nvCxnSpPr>
          <p:cNvPr id="2157" name="conn2157"/>
          <p:cNvCxnSpPr/>
          <p:nvPr/>
        </p:nvCxnSpPr>
        <p:spPr>
          <a:xfrm>
            <a:off x="8706917" y="1883664"/>
            <a:ext cx="1" cy="2377440"/>
          </a:xfrm>
          <a:prstGeom prst="line">
            <a:avLst/>
          </a:prstGeom>
          <a:ln w="6350">
            <a:solidFill>
              <a:srgbClr val="D9D8D0"/>
            </a:solidFill>
            <a:prstDash val="dash"/>
          </a:ln>
        </p:spPr>
      </p:cxnSp>
      <p:sp>
        <p:nvSpPr>
          <p:cNvPr id="2158" name="shape2158"/>
          <p:cNvSpPr/>
          <p:nvPr/>
        </p:nvSpPr>
        <p:spPr>
          <a:xfrm>
            <a:off x="9997135"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Ledger</a:t>
            </a:r>
          </a:p>
        </p:txBody>
      </p:sp>
      <p:cxnSp>
        <p:nvCxnSpPr>
          <p:cNvPr id="2159" name="conn2159"/>
          <p:cNvCxnSpPr/>
          <p:nvPr/>
        </p:nvCxnSpPr>
        <p:spPr>
          <a:xfrm>
            <a:off x="10865815" y="1883664"/>
            <a:ext cx="1" cy="2377440"/>
          </a:xfrm>
          <a:prstGeom prst="line">
            <a:avLst/>
          </a:prstGeom>
          <a:ln w="6350">
            <a:solidFill>
              <a:srgbClr val="D9D8D0"/>
            </a:solidFill>
            <a:prstDash val="dash"/>
          </a:ln>
        </p:spPr>
      </p:cxnSp>
      <p:cxnSp>
        <p:nvCxnSpPr>
          <p:cNvPr id="2160" name="conn2160"/>
          <p:cNvCxnSpPr/>
          <p:nvPr/>
        </p:nvCxnSpPr>
        <p:spPr>
          <a:xfrm>
            <a:off x="4389120" y="2276856"/>
            <a:ext cx="2158898" cy="1"/>
          </a:xfrm>
          <a:prstGeom prst="line">
            <a:avLst/>
          </a:prstGeom>
          <a:ln w="12700">
            <a:solidFill>
              <a:srgbClr val="C3C2B7"/>
            </a:solidFill>
            <a:tailEnd type="triangle" w="med" len="med"/>
          </a:ln>
        </p:spPr>
      </p:cxnSp>
      <p:sp>
        <p:nvSpPr>
          <p:cNvPr id="2161" name="shape2161"/>
          <p:cNvSpPr/>
          <p:nvPr/>
        </p:nvSpPr>
        <p:spPr>
          <a:xfrm>
            <a:off x="4389120" y="2020824"/>
            <a:ext cx="2158898" cy="219456"/>
          </a:xfrm>
          <a:prstGeom prst="rect">
            <a:avLst/>
          </a:prstGeom>
          <a:noFill/>
          <a:ln>
            <a:noFill/>
          </a:ln>
        </p:spPr>
        <p:txBody>
          <a:bodyPr wrap="square" anchor="ctr" lIns="54864" rIns="54864" tIns="27432" bIns="27432"/>
          <a:lstStyle/>
          <a:p>
            <a:pPr algn="ctr"/>
            <a:r>
              <a:rPr lang="en-AU" sz="800" dirty="0">
                <a:solidFill>
                  <a:srgbClr val="6B6A66"/>
                </a:solidFill>
                <a:latin typeface="Aptos"/>
              </a:rPr>
              <a:t>authorise(txn)</a:t>
            </a:r>
          </a:p>
        </p:txBody>
      </p:sp>
      <p:cxnSp>
        <p:nvCxnSpPr>
          <p:cNvPr id="2162" name="conn2162"/>
          <p:cNvCxnSpPr/>
          <p:nvPr/>
        </p:nvCxnSpPr>
        <p:spPr>
          <a:xfrm flipH="1">
            <a:off x="4389120" y="2697480"/>
            <a:ext cx="2158898" cy="1"/>
          </a:xfrm>
          <a:prstGeom prst="line">
            <a:avLst/>
          </a:prstGeom>
          <a:ln w="12700">
            <a:solidFill>
              <a:srgbClr val="C3C2B7"/>
            </a:solidFill>
            <a:prstDash val="dash"/>
            <a:tailEnd type="triangle" w="med" len="med"/>
          </a:ln>
        </p:spPr>
      </p:cxnSp>
      <p:sp>
        <p:nvSpPr>
          <p:cNvPr id="2163" name="shape2163"/>
          <p:cNvSpPr/>
          <p:nvPr/>
        </p:nvSpPr>
        <p:spPr>
          <a:xfrm>
            <a:off x="4389120" y="2441448"/>
            <a:ext cx="2158898" cy="219456"/>
          </a:xfrm>
          <a:prstGeom prst="rect">
            <a:avLst/>
          </a:prstGeom>
          <a:noFill/>
          <a:ln>
            <a:noFill/>
          </a:ln>
        </p:spPr>
        <p:txBody>
          <a:bodyPr wrap="square" anchor="ctr" lIns="54864" rIns="54864" tIns="27432" bIns="27432"/>
          <a:lstStyle/>
          <a:p>
            <a:pPr algn="ctr"/>
            <a:r>
              <a:rPr lang="en-AU" sz="800" dirty="0">
                <a:solidFill>
                  <a:srgbClr val="6B6A66"/>
                </a:solidFill>
                <a:latin typeface="Aptos"/>
              </a:rPr>
              <a:t>approved</a:t>
            </a:r>
          </a:p>
        </p:txBody>
      </p:sp>
      <p:cxnSp>
        <p:nvCxnSpPr>
          <p:cNvPr id="2164" name="conn2164"/>
          <p:cNvCxnSpPr/>
          <p:nvPr/>
        </p:nvCxnSpPr>
        <p:spPr>
          <a:xfrm>
            <a:off x="4389120" y="3118104"/>
            <a:ext cx="4317797" cy="1"/>
          </a:xfrm>
          <a:prstGeom prst="line">
            <a:avLst/>
          </a:prstGeom>
          <a:ln w="12700">
            <a:solidFill>
              <a:srgbClr val="C3C2B7"/>
            </a:solidFill>
            <a:prstDash val="dash"/>
            <a:tailEnd type="triangle" w="med" len="med"/>
          </a:ln>
        </p:spPr>
      </p:cxnSp>
      <p:sp>
        <p:nvSpPr>
          <p:cNvPr id="2165" name="shape2165"/>
          <p:cNvSpPr/>
          <p:nvPr/>
        </p:nvSpPr>
        <p:spPr>
          <a:xfrm>
            <a:off x="4389120" y="2862072"/>
            <a:ext cx="4317797" cy="219456"/>
          </a:xfrm>
          <a:prstGeom prst="rect">
            <a:avLst/>
          </a:prstGeom>
          <a:noFill/>
          <a:ln>
            <a:noFill/>
          </a:ln>
        </p:spPr>
        <p:txBody>
          <a:bodyPr wrap="square" anchor="ctr" lIns="54864" rIns="54864" tIns="27432" bIns="27432"/>
          <a:lstStyle/>
          <a:p>
            <a:pPr algn="ctr"/>
            <a:r>
              <a:rPr lang="en-AU" sz="800" dirty="0">
                <a:solidFill>
                  <a:srgbClr val="6B6A66"/>
                </a:solidFill>
                <a:latin typeface="Aptos"/>
              </a:rPr>
              <a:t>score(txn) — does not wait</a:t>
            </a:r>
          </a:p>
        </p:txBody>
      </p:sp>
      <p:cxnSp>
        <p:nvCxnSpPr>
          <p:cNvPr id="2166" name="conn2166"/>
          <p:cNvCxnSpPr/>
          <p:nvPr/>
        </p:nvCxnSpPr>
        <p:spPr>
          <a:xfrm>
            <a:off x="4389120" y="3538728"/>
            <a:ext cx="6476695" cy="1"/>
          </a:xfrm>
          <a:prstGeom prst="line">
            <a:avLst/>
          </a:prstGeom>
          <a:ln w="12700">
            <a:solidFill>
              <a:srgbClr val="C3C2B7"/>
            </a:solidFill>
            <a:tailEnd type="triangle" w="med" len="med"/>
          </a:ln>
        </p:spPr>
      </p:cxnSp>
      <p:sp>
        <p:nvSpPr>
          <p:cNvPr id="2167" name="shape2167"/>
          <p:cNvSpPr/>
          <p:nvPr/>
        </p:nvSpPr>
        <p:spPr>
          <a:xfrm>
            <a:off x="4389120" y="3282696"/>
            <a:ext cx="6476695" cy="219456"/>
          </a:xfrm>
          <a:prstGeom prst="rect">
            <a:avLst/>
          </a:prstGeom>
          <a:noFill/>
          <a:ln>
            <a:noFill/>
          </a:ln>
        </p:spPr>
        <p:txBody>
          <a:bodyPr wrap="square" anchor="ctr" lIns="54864" rIns="54864" tIns="27432" bIns="27432"/>
          <a:lstStyle/>
          <a:p>
            <a:pPr algn="ctr"/>
            <a:r>
              <a:rPr lang="en-AU" sz="800" dirty="0">
                <a:solidFill>
                  <a:srgbClr val="6B6A66"/>
                </a:solidFill>
                <a:latin typeface="Aptos"/>
              </a:rPr>
              <a:t>post(txn)</a:t>
            </a:r>
          </a:p>
        </p:txBody>
      </p:sp>
      <p:cxnSp>
        <p:nvCxnSpPr>
          <p:cNvPr id="2168" name="conn2168"/>
          <p:cNvCxnSpPr/>
          <p:nvPr/>
        </p:nvCxnSpPr>
        <p:spPr>
          <a:xfrm flipH="1">
            <a:off x="4389120" y="3959352"/>
            <a:ext cx="4317797" cy="1"/>
          </a:xfrm>
          <a:prstGeom prst="line">
            <a:avLst/>
          </a:prstGeom>
          <a:ln w="12700">
            <a:solidFill>
              <a:srgbClr val="D03B3B"/>
            </a:solidFill>
            <a:tailEnd type="triangle" w="med" len="med"/>
          </a:ln>
        </p:spPr>
      </p:cxnSp>
      <p:sp>
        <p:nvSpPr>
          <p:cNvPr id="2169" name="shape2169"/>
          <p:cNvSpPr/>
          <p:nvPr/>
        </p:nvSpPr>
        <p:spPr>
          <a:xfrm>
            <a:off x="4389120" y="3703320"/>
            <a:ext cx="4317797" cy="219456"/>
          </a:xfrm>
          <a:prstGeom prst="rect">
            <a:avLst/>
          </a:prstGeom>
          <a:noFill/>
          <a:ln>
            <a:noFill/>
          </a:ln>
        </p:spPr>
        <p:txBody>
          <a:bodyPr wrap="square" anchor="ctr" lIns="54864" rIns="54864" tIns="27432" bIns="27432"/>
          <a:lstStyle/>
          <a:p>
            <a:pPr algn="ctr"/>
            <a:r>
              <a:rPr lang="en-AU" sz="800" dirty="0">
                <a:solidFill>
                  <a:srgbClr val="D03B3B"/>
                </a:solidFill>
                <a:latin typeface="Aptos"/>
              </a:rPr>
              <a:t>decision arrives after posting</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 name="shape2170"/>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10.42  Sequence Diagrams</a:t>
            </a:r>
          </a:p>
        </p:txBody>
      </p:sp>
      <p:sp>
        <p:nvSpPr>
          <p:cNvPr id="2171" name="shape2171"/>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172" name="shape2172"/>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173" name="conn2173"/>
          <p:cNvCxnSpPr/>
          <p:nvPr/>
        </p:nvCxnSpPr>
        <p:spPr>
          <a:xfrm>
            <a:off x="457200" y="1078992"/>
            <a:ext cx="11277295" cy="1"/>
          </a:xfrm>
          <a:prstGeom prst="line">
            <a:avLst/>
          </a:prstGeom>
          <a:ln w="9525">
            <a:solidFill>
              <a:srgbClr val="D9D8D0"/>
            </a:solidFill>
          </a:ln>
        </p:spPr>
      </p:cxnSp>
      <p:sp>
        <p:nvSpPr>
          <p:cNvPr id="2174" name="shape2174"/>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175" name="shape2175"/>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10.42</a:t>
            </a:r>
          </a:p>
        </p:txBody>
      </p:sp>
      <p:sp>
        <p:nvSpPr>
          <p:cNvPr id="2176" name="shape2176"/>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177" name="shape2177"/>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Time runs down the page. Mark which calls block and which return later — that gap is where races live.</a:t>
            </a:r>
          </a:p>
        </p:txBody>
      </p:sp>
      <p:sp>
        <p:nvSpPr>
          <p:cNvPr id="2178" name="shape2178"/>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179" name="shape2179"/>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Shows the ordered exchange of messages between participants over time to accomplish a specific interaction.</a:t>
            </a:r>
          </a:p>
        </p:txBody>
      </p:sp>
      <p:sp>
        <p:nvSpPr>
          <p:cNvPr id="2180" name="shape2180"/>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181" name="shape2181"/>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Sequence diagrams order messages between components; process models order activities performed by people and systems; state models track what an object becomes. Messages, work, or status is the three-way split.</a:t>
            </a:r>
          </a:p>
        </p:txBody>
      </p:sp>
      <p:sp>
        <p:nvSpPr>
          <p:cNvPr id="2182" name="shape2182"/>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183" name="shape2183"/>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7.4 Define Requirements Architecture</a:t>
            </a:r>
          </a:p>
        </p:txBody>
      </p:sp>
      <p:sp>
        <p:nvSpPr>
          <p:cNvPr id="2184" name="shape2184"/>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Sequence Diagrams — blank template</a:t>
            </a:r>
          </a:p>
        </p:txBody>
      </p:sp>
      <p:sp>
        <p:nvSpPr>
          <p:cNvPr id="2185" name="shape2185"/>
          <p:cNvSpPr/>
          <p:nvPr/>
        </p:nvSpPr>
        <p:spPr>
          <a:xfrm>
            <a:off x="3520440"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Participant 1</a:t>
            </a:r>
          </a:p>
        </p:txBody>
      </p:sp>
      <p:cxnSp>
        <p:nvCxnSpPr>
          <p:cNvPr id="2186" name="conn2186"/>
          <p:cNvCxnSpPr/>
          <p:nvPr/>
        </p:nvCxnSpPr>
        <p:spPr>
          <a:xfrm>
            <a:off x="4389120" y="1883664"/>
            <a:ext cx="1" cy="2377440"/>
          </a:xfrm>
          <a:prstGeom prst="line">
            <a:avLst/>
          </a:prstGeom>
          <a:ln w="6350">
            <a:solidFill>
              <a:srgbClr val="D9D8D0"/>
            </a:solidFill>
            <a:prstDash val="dash"/>
          </a:ln>
        </p:spPr>
      </p:cxnSp>
      <p:sp>
        <p:nvSpPr>
          <p:cNvPr id="2187" name="shape2187"/>
          <p:cNvSpPr/>
          <p:nvPr/>
        </p:nvSpPr>
        <p:spPr>
          <a:xfrm>
            <a:off x="5679338"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Participant 2</a:t>
            </a:r>
          </a:p>
        </p:txBody>
      </p:sp>
      <p:cxnSp>
        <p:nvCxnSpPr>
          <p:cNvPr id="2188" name="conn2188"/>
          <p:cNvCxnSpPr/>
          <p:nvPr/>
        </p:nvCxnSpPr>
        <p:spPr>
          <a:xfrm>
            <a:off x="6548018" y="1883664"/>
            <a:ext cx="1" cy="2377440"/>
          </a:xfrm>
          <a:prstGeom prst="line">
            <a:avLst/>
          </a:prstGeom>
          <a:ln w="6350">
            <a:solidFill>
              <a:srgbClr val="D9D8D0"/>
            </a:solidFill>
            <a:prstDash val="dash"/>
          </a:ln>
        </p:spPr>
      </p:cxnSp>
      <p:sp>
        <p:nvSpPr>
          <p:cNvPr id="2189" name="shape2189"/>
          <p:cNvSpPr/>
          <p:nvPr/>
        </p:nvSpPr>
        <p:spPr>
          <a:xfrm>
            <a:off x="7838237"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Participant 3</a:t>
            </a:r>
          </a:p>
        </p:txBody>
      </p:sp>
      <p:cxnSp>
        <p:nvCxnSpPr>
          <p:cNvPr id="2190" name="conn2190"/>
          <p:cNvCxnSpPr/>
          <p:nvPr/>
        </p:nvCxnSpPr>
        <p:spPr>
          <a:xfrm>
            <a:off x="8706917" y="1883664"/>
            <a:ext cx="1" cy="2377440"/>
          </a:xfrm>
          <a:prstGeom prst="line">
            <a:avLst/>
          </a:prstGeom>
          <a:ln w="6350">
            <a:solidFill>
              <a:srgbClr val="D9D8D0"/>
            </a:solidFill>
            <a:prstDash val="dash"/>
          </a:ln>
        </p:spPr>
      </p:cxnSp>
      <p:sp>
        <p:nvSpPr>
          <p:cNvPr id="2191" name="shape2191"/>
          <p:cNvSpPr/>
          <p:nvPr/>
        </p:nvSpPr>
        <p:spPr>
          <a:xfrm>
            <a:off x="9997135" y="1499616"/>
            <a:ext cx="1737360" cy="38404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Participant 4</a:t>
            </a:r>
          </a:p>
        </p:txBody>
      </p:sp>
      <p:cxnSp>
        <p:nvCxnSpPr>
          <p:cNvPr id="2192" name="conn2192"/>
          <p:cNvCxnSpPr/>
          <p:nvPr/>
        </p:nvCxnSpPr>
        <p:spPr>
          <a:xfrm>
            <a:off x="10865815" y="1883664"/>
            <a:ext cx="1" cy="2377440"/>
          </a:xfrm>
          <a:prstGeom prst="line">
            <a:avLst/>
          </a:prstGeom>
          <a:ln w="6350">
            <a:solidFill>
              <a:srgbClr val="D9D8D0"/>
            </a:solidFill>
            <a:prstDash val="dash"/>
          </a:ln>
        </p:spPr>
      </p:cxnSp>
      <p:cxnSp>
        <p:nvCxnSpPr>
          <p:cNvPr id="2193" name="conn2193"/>
          <p:cNvCxnSpPr/>
          <p:nvPr/>
        </p:nvCxnSpPr>
        <p:spPr>
          <a:xfrm>
            <a:off x="4389120" y="2276856"/>
            <a:ext cx="2158898" cy="1"/>
          </a:xfrm>
          <a:prstGeom prst="line">
            <a:avLst/>
          </a:prstGeom>
          <a:ln w="12700">
            <a:solidFill>
              <a:srgbClr val="C3C2B7"/>
            </a:solidFill>
            <a:tailEnd type="triangle" w="med" len="med"/>
          </a:ln>
        </p:spPr>
      </p:cxnSp>
      <p:sp>
        <p:nvSpPr>
          <p:cNvPr id="2194" name="shape2194"/>
          <p:cNvSpPr/>
          <p:nvPr/>
        </p:nvSpPr>
        <p:spPr>
          <a:xfrm>
            <a:off x="4389120" y="2020824"/>
            <a:ext cx="2158898" cy="219456"/>
          </a:xfrm>
          <a:prstGeom prst="rect">
            <a:avLst/>
          </a:prstGeom>
          <a:noFill/>
          <a:ln>
            <a:noFill/>
          </a:ln>
        </p:spPr>
        <p:txBody>
          <a:bodyPr wrap="square" anchor="ctr" lIns="54864" rIns="54864" tIns="27432" bIns="27432"/>
          <a:lstStyle/>
          <a:p>
            <a:pPr algn="ctr"/>
            <a:endParaRPr lang="en-AU" sz="800"/>
          </a:p>
        </p:txBody>
      </p:sp>
      <p:cxnSp>
        <p:nvCxnSpPr>
          <p:cNvPr id="2195" name="conn2195"/>
          <p:cNvCxnSpPr/>
          <p:nvPr/>
        </p:nvCxnSpPr>
        <p:spPr>
          <a:xfrm flipH="1">
            <a:off x="4389120" y="2697480"/>
            <a:ext cx="2158898" cy="1"/>
          </a:xfrm>
          <a:prstGeom prst="line">
            <a:avLst/>
          </a:prstGeom>
          <a:ln w="12700">
            <a:solidFill>
              <a:srgbClr val="C3C2B7"/>
            </a:solidFill>
            <a:tailEnd type="triangle" w="med" len="med"/>
          </a:ln>
        </p:spPr>
      </p:cxnSp>
      <p:sp>
        <p:nvSpPr>
          <p:cNvPr id="2196" name="shape2196"/>
          <p:cNvSpPr/>
          <p:nvPr/>
        </p:nvSpPr>
        <p:spPr>
          <a:xfrm>
            <a:off x="4389120" y="2441448"/>
            <a:ext cx="2158898" cy="219456"/>
          </a:xfrm>
          <a:prstGeom prst="rect">
            <a:avLst/>
          </a:prstGeom>
          <a:noFill/>
          <a:ln>
            <a:noFill/>
          </a:ln>
        </p:spPr>
        <p:txBody>
          <a:bodyPr wrap="square" anchor="ctr" lIns="54864" rIns="54864" tIns="27432" bIns="27432"/>
          <a:lstStyle/>
          <a:p>
            <a:pPr algn="ctr"/>
            <a:endParaRPr lang="en-AU" sz="800"/>
          </a:p>
        </p:txBody>
      </p:sp>
      <p:cxnSp>
        <p:nvCxnSpPr>
          <p:cNvPr id="2197" name="conn2197"/>
          <p:cNvCxnSpPr/>
          <p:nvPr/>
        </p:nvCxnSpPr>
        <p:spPr>
          <a:xfrm>
            <a:off x="4389120" y="3118104"/>
            <a:ext cx="4317797" cy="1"/>
          </a:xfrm>
          <a:prstGeom prst="line">
            <a:avLst/>
          </a:prstGeom>
          <a:ln w="12700">
            <a:solidFill>
              <a:srgbClr val="C3C2B7"/>
            </a:solidFill>
            <a:tailEnd type="triangle" w="med" len="med"/>
          </a:ln>
        </p:spPr>
      </p:cxnSp>
      <p:sp>
        <p:nvSpPr>
          <p:cNvPr id="2198" name="shape2198"/>
          <p:cNvSpPr/>
          <p:nvPr/>
        </p:nvSpPr>
        <p:spPr>
          <a:xfrm>
            <a:off x="4389120" y="2862072"/>
            <a:ext cx="4317797" cy="219456"/>
          </a:xfrm>
          <a:prstGeom prst="rect">
            <a:avLst/>
          </a:prstGeom>
          <a:noFill/>
          <a:ln>
            <a:noFill/>
          </a:ln>
        </p:spPr>
        <p:txBody>
          <a:bodyPr wrap="square" anchor="ctr" lIns="54864" rIns="54864" tIns="27432" bIns="27432"/>
          <a:lstStyle/>
          <a:p>
            <a:pPr algn="ctr"/>
            <a:endParaRPr lang="en-AU" sz="800"/>
          </a:p>
        </p:txBody>
      </p:sp>
      <p:cxnSp>
        <p:nvCxnSpPr>
          <p:cNvPr id="2199" name="conn2199"/>
          <p:cNvCxnSpPr/>
          <p:nvPr/>
        </p:nvCxnSpPr>
        <p:spPr>
          <a:xfrm>
            <a:off x="4389120" y="3538728"/>
            <a:ext cx="6476695" cy="1"/>
          </a:xfrm>
          <a:prstGeom prst="line">
            <a:avLst/>
          </a:prstGeom>
          <a:ln w="12700">
            <a:solidFill>
              <a:srgbClr val="C3C2B7"/>
            </a:solidFill>
            <a:tailEnd type="triangle" w="med" len="med"/>
          </a:ln>
        </p:spPr>
      </p:cxnSp>
      <p:sp>
        <p:nvSpPr>
          <p:cNvPr id="2200" name="shape2200"/>
          <p:cNvSpPr/>
          <p:nvPr/>
        </p:nvSpPr>
        <p:spPr>
          <a:xfrm>
            <a:off x="4389120" y="3282696"/>
            <a:ext cx="6476695" cy="219456"/>
          </a:xfrm>
          <a:prstGeom prst="rect">
            <a:avLst/>
          </a:prstGeom>
          <a:noFill/>
          <a:ln>
            <a:noFill/>
          </a:ln>
        </p:spPr>
        <p:txBody>
          <a:bodyPr wrap="square" anchor="ctr" lIns="54864" rIns="54864" tIns="27432" bIns="27432"/>
          <a:lstStyle/>
          <a:p>
            <a:pPr algn="ctr"/>
            <a:endParaRPr lang="en-AU" sz="800"/>
          </a:p>
        </p:txBody>
      </p:sp>
      <p:cxnSp>
        <p:nvCxnSpPr>
          <p:cNvPr id="2201" name="conn2201"/>
          <p:cNvCxnSpPr/>
          <p:nvPr/>
        </p:nvCxnSpPr>
        <p:spPr>
          <a:xfrm flipH="1">
            <a:off x="4389120" y="3959352"/>
            <a:ext cx="4317797" cy="1"/>
          </a:xfrm>
          <a:prstGeom prst="line">
            <a:avLst/>
          </a:prstGeom>
          <a:ln w="12700">
            <a:solidFill>
              <a:srgbClr val="C3C2B7"/>
            </a:solidFill>
            <a:tailEnd type="triangle" w="med" len="med"/>
          </a:ln>
        </p:spPr>
      </p:cxnSp>
      <p:sp>
        <p:nvSpPr>
          <p:cNvPr id="2202" name="shape2202"/>
          <p:cNvSpPr/>
          <p:nvPr/>
        </p:nvSpPr>
        <p:spPr>
          <a:xfrm>
            <a:off x="4389120" y="3703320"/>
            <a:ext cx="4317797" cy="219456"/>
          </a:xfrm>
          <a:prstGeom prst="rect">
            <a:avLst/>
          </a:prstGeom>
          <a:noFill/>
          <a:ln>
            <a:noFill/>
          </a:ln>
        </p:spPr>
        <p:txBody>
          <a:bodyPr wrap="square" anchor="ctr" lIns="54864" rIns="54864" tIns="27432" bIns="27432"/>
          <a:lstStyle/>
          <a:p>
            <a:pPr algn="ctr"/>
            <a:endParaRPr lang="en-AU" sz="8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3" name="shape220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10.44  State Modelling</a:t>
            </a:r>
          </a:p>
        </p:txBody>
      </p:sp>
      <p:sp>
        <p:nvSpPr>
          <p:cNvPr id="2204" name="shape220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205" name="shape2205"/>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206" name="conn2206"/>
          <p:cNvCxnSpPr/>
          <p:nvPr/>
        </p:nvCxnSpPr>
        <p:spPr>
          <a:xfrm>
            <a:off x="457200" y="1078992"/>
            <a:ext cx="11277295" cy="1"/>
          </a:xfrm>
          <a:prstGeom prst="line">
            <a:avLst/>
          </a:prstGeom>
          <a:ln w="9525">
            <a:solidFill>
              <a:srgbClr val="D9D8D0"/>
            </a:solidFill>
          </a:ln>
        </p:spPr>
      </p:cxnSp>
      <p:sp>
        <p:nvSpPr>
          <p:cNvPr id="2207" name="shape220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208" name="shape220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10.44</a:t>
            </a:r>
          </a:p>
        </p:txBody>
      </p:sp>
      <p:sp>
        <p:nvSpPr>
          <p:cNvPr id="2209" name="shape220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210" name="shape2210"/>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Describes the states an object can occupy, the transitions between them and the events and conditions that permit each transition.</a:t>
            </a:r>
          </a:p>
        </p:txBody>
      </p:sp>
      <p:sp>
        <p:nvSpPr>
          <p:cNvPr id="2211" name="shape2211"/>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212" name="shape2212"/>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same object behaves differently depending on where it is in its life, and the rules about what may happen next are the requirement.</a:t>
            </a:r>
          </a:p>
        </p:txBody>
      </p:sp>
      <p:sp>
        <p:nvSpPr>
          <p:cNvPr id="2213" name="shape2213"/>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214" name="shape2214"/>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State modelling tracks what an object may become; process modelling tracks what people do. If the stem is full of statuses such as lodged, assessed, withdrawn, it is state.</a:t>
            </a:r>
          </a:p>
        </p:txBody>
      </p:sp>
      <p:sp>
        <p:nvSpPr>
          <p:cNvPr id="2215" name="shape2215"/>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216" name="shape2216"/>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a:t>
            </a:r>
          </a:p>
        </p:txBody>
      </p:sp>
      <p:sp>
        <p:nvSpPr>
          <p:cNvPr id="2217" name="shape221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Tribunal case — which statuses may follow which</a:t>
            </a:r>
          </a:p>
        </p:txBody>
      </p:sp>
      <p:sp>
        <p:nvSpPr>
          <p:cNvPr id="2218" name="shape2218"/>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Specifying the permitted transitions is what prevents the two disputes. Staff diligence was never going to.</a:t>
            </a:r>
          </a:p>
        </p:txBody>
      </p:sp>
      <p:cxnSp>
        <p:nvCxnSpPr>
          <p:cNvPr id="2219" name="conn2219"/>
          <p:cNvCxnSpPr/>
          <p:nvPr/>
        </p:nvCxnSpPr>
        <p:spPr>
          <a:xfrm>
            <a:off x="4493209" y="1728216"/>
            <a:ext cx="475488" cy="1"/>
          </a:xfrm>
          <a:prstGeom prst="line">
            <a:avLst/>
          </a:prstGeom>
          <a:ln w="12700">
            <a:solidFill>
              <a:srgbClr val="C3C2B7"/>
            </a:solidFill>
            <a:tailEnd type="triangle" w="med" len="med"/>
          </a:ln>
        </p:spPr>
      </p:cxnSp>
      <p:sp>
        <p:nvSpPr>
          <p:cNvPr id="2220" name="shape2220"/>
          <p:cNvSpPr/>
          <p:nvPr/>
        </p:nvSpPr>
        <p:spPr>
          <a:xfrm>
            <a:off x="4365193" y="1417320"/>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allocated</a:t>
            </a:r>
          </a:p>
        </p:txBody>
      </p:sp>
      <p:cxnSp>
        <p:nvCxnSpPr>
          <p:cNvPr id="2221" name="conn2221"/>
          <p:cNvCxnSpPr/>
          <p:nvPr/>
        </p:nvCxnSpPr>
        <p:spPr>
          <a:xfrm>
            <a:off x="5941466" y="1728216"/>
            <a:ext cx="475488" cy="1"/>
          </a:xfrm>
          <a:prstGeom prst="line">
            <a:avLst/>
          </a:prstGeom>
          <a:ln w="12700">
            <a:solidFill>
              <a:srgbClr val="C3C2B7"/>
            </a:solidFill>
            <a:tailEnd type="triangle" w="med" len="med"/>
          </a:ln>
        </p:spPr>
      </p:cxnSp>
      <p:sp>
        <p:nvSpPr>
          <p:cNvPr id="2222" name="shape2222"/>
          <p:cNvSpPr/>
          <p:nvPr/>
        </p:nvSpPr>
        <p:spPr>
          <a:xfrm>
            <a:off x="5813450" y="1417320"/>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listed</a:t>
            </a:r>
          </a:p>
        </p:txBody>
      </p:sp>
      <p:cxnSp>
        <p:nvCxnSpPr>
          <p:cNvPr id="2223" name="conn2223"/>
          <p:cNvCxnSpPr/>
          <p:nvPr/>
        </p:nvCxnSpPr>
        <p:spPr>
          <a:xfrm>
            <a:off x="7389724" y="1728216"/>
            <a:ext cx="475488" cy="1"/>
          </a:xfrm>
          <a:prstGeom prst="line">
            <a:avLst/>
          </a:prstGeom>
          <a:ln w="12700">
            <a:solidFill>
              <a:srgbClr val="C3C2B7"/>
            </a:solidFill>
            <a:tailEnd type="triangle" w="med" len="med"/>
          </a:ln>
        </p:spPr>
      </p:cxnSp>
      <p:sp>
        <p:nvSpPr>
          <p:cNvPr id="2224" name="shape2224"/>
          <p:cNvSpPr/>
          <p:nvPr/>
        </p:nvSpPr>
        <p:spPr>
          <a:xfrm>
            <a:off x="7261708" y="1417320"/>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heard</a:t>
            </a:r>
          </a:p>
        </p:txBody>
      </p:sp>
      <p:cxnSp>
        <p:nvCxnSpPr>
          <p:cNvPr id="2225" name="conn2225"/>
          <p:cNvCxnSpPr/>
          <p:nvPr/>
        </p:nvCxnSpPr>
        <p:spPr>
          <a:xfrm>
            <a:off x="8837981" y="1728216"/>
            <a:ext cx="475488" cy="1"/>
          </a:xfrm>
          <a:prstGeom prst="line">
            <a:avLst/>
          </a:prstGeom>
          <a:ln w="12700">
            <a:solidFill>
              <a:srgbClr val="C3C2B7"/>
            </a:solidFill>
            <a:tailEnd type="triangle" w="med" len="med"/>
          </a:ln>
        </p:spPr>
      </p:cxnSp>
      <p:sp>
        <p:nvSpPr>
          <p:cNvPr id="2226" name="shape2226"/>
          <p:cNvSpPr/>
          <p:nvPr/>
        </p:nvSpPr>
        <p:spPr>
          <a:xfrm>
            <a:off x="8709965" y="1417320"/>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determined</a:t>
            </a:r>
          </a:p>
        </p:txBody>
      </p:sp>
      <p:sp>
        <p:nvSpPr>
          <p:cNvPr id="2227" name="shape2227"/>
          <p:cNvSpPr/>
          <p:nvPr/>
        </p:nvSpPr>
        <p:spPr>
          <a:xfrm>
            <a:off x="3520440"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Lodged</a:t>
            </a:r>
          </a:p>
        </p:txBody>
      </p:sp>
      <p:sp>
        <p:nvSpPr>
          <p:cNvPr id="2228" name="shape2228"/>
          <p:cNvSpPr/>
          <p:nvPr/>
        </p:nvSpPr>
        <p:spPr>
          <a:xfrm>
            <a:off x="4968697"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Allocated</a:t>
            </a:r>
          </a:p>
        </p:txBody>
      </p:sp>
      <p:sp>
        <p:nvSpPr>
          <p:cNvPr id="2229" name="shape2229"/>
          <p:cNvSpPr/>
          <p:nvPr/>
        </p:nvSpPr>
        <p:spPr>
          <a:xfrm>
            <a:off x="6416954"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Listed</a:t>
            </a:r>
          </a:p>
        </p:txBody>
      </p:sp>
      <p:sp>
        <p:nvSpPr>
          <p:cNvPr id="2230" name="shape2230"/>
          <p:cNvSpPr/>
          <p:nvPr/>
        </p:nvSpPr>
        <p:spPr>
          <a:xfrm>
            <a:off x="7865212"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Reserved</a:t>
            </a:r>
          </a:p>
        </p:txBody>
      </p:sp>
      <p:sp>
        <p:nvSpPr>
          <p:cNvPr id="2231" name="shape2231"/>
          <p:cNvSpPr/>
          <p:nvPr/>
        </p:nvSpPr>
        <p:spPr>
          <a:xfrm>
            <a:off x="9313469" y="1499616"/>
            <a:ext cx="97276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Determined</a:t>
            </a:r>
          </a:p>
        </p:txBody>
      </p:sp>
      <p:sp>
        <p:nvSpPr>
          <p:cNvPr id="2232" name="shape2232"/>
          <p:cNvSpPr/>
          <p:nvPr/>
        </p:nvSpPr>
        <p:spPr>
          <a:xfrm>
            <a:off x="10761726" y="1499616"/>
            <a:ext cx="97276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Struck out</a:t>
            </a:r>
          </a:p>
        </p:txBody>
      </p:sp>
      <p:sp>
        <p:nvSpPr>
          <p:cNvPr id="2233" name="shape2233"/>
          <p:cNvSpPr/>
          <p:nvPr/>
        </p:nvSpPr>
        <p:spPr>
          <a:xfrm>
            <a:off x="3520440" y="2569464"/>
            <a:ext cx="8214055" cy="219456"/>
          </a:xfrm>
          <a:prstGeom prst="rect">
            <a:avLst/>
          </a:prstGeom>
          <a:noFill/>
          <a:ln>
            <a:noFill/>
          </a:ln>
        </p:spPr>
        <p:txBody>
          <a:bodyPr wrap="square" anchor="ctr" lIns="0" rIns="0" tIns="27432" bIns="27432"/>
          <a:lstStyle/>
          <a:p>
            <a:pPr algn="l"/>
            <a:r>
              <a:rPr lang="en-AU" sz="850" dirty="0">
                <a:solidFill>
                  <a:srgbClr val="6B6A66"/>
                </a:solidFill>
                <a:latin typeface="Aptos"/>
              </a:rPr>
              <a:t>↳ Reserved → Listed   adjourned, relisted</a:t>
            </a:r>
          </a:p>
        </p:txBody>
      </p:sp>
      <p:sp>
        <p:nvSpPr>
          <p:cNvPr id="2234" name="shape2234"/>
          <p:cNvSpPr/>
          <p:nvPr/>
        </p:nvSpPr>
        <p:spPr>
          <a:xfrm>
            <a:off x="3520440" y="2807208"/>
            <a:ext cx="8214055" cy="219456"/>
          </a:xfrm>
          <a:prstGeom prst="rect">
            <a:avLst/>
          </a:prstGeom>
          <a:noFill/>
          <a:ln>
            <a:noFill/>
          </a:ln>
        </p:spPr>
        <p:txBody>
          <a:bodyPr wrap="square" anchor="ctr" lIns="0" rIns="0" tIns="27432" bIns="27432"/>
          <a:lstStyle/>
          <a:p>
            <a:pPr algn="l"/>
            <a:r>
              <a:rPr lang="en-AU" sz="850" dirty="0">
                <a:solidFill>
                  <a:srgbClr val="6B6A66"/>
                </a:solidFill>
                <a:latin typeface="Aptos"/>
              </a:rPr>
              <a:t>↳ Allocated → Struck out   struck out</a:t>
            </a:r>
          </a:p>
        </p:txBody>
      </p:sp>
      <p:sp>
        <p:nvSpPr>
          <p:cNvPr id="2235" name="shape2235"/>
          <p:cNvSpPr/>
          <p:nvPr/>
        </p:nvSpPr>
        <p:spPr>
          <a:xfrm>
            <a:off x="3520440" y="3044952"/>
            <a:ext cx="8214055" cy="219456"/>
          </a:xfrm>
          <a:prstGeom prst="rect">
            <a:avLst/>
          </a:prstGeom>
          <a:noFill/>
          <a:ln>
            <a:noFill/>
          </a:ln>
        </p:spPr>
        <p:txBody>
          <a:bodyPr wrap="square" anchor="ctr" lIns="0" rIns="0" tIns="27432" bIns="27432"/>
          <a:lstStyle/>
          <a:p>
            <a:pPr algn="l"/>
            <a:r>
              <a:rPr lang="en-AU" sz="850" dirty="0">
                <a:solidFill>
                  <a:srgbClr val="D03B3B"/>
                </a:solidFill>
                <a:latin typeface="Aptos"/>
              </a:rPr>
              <a:t>✕ Determined → Listed   adjourned after determination</a:t>
            </a:r>
          </a:p>
        </p:txBody>
      </p:sp>
      <p:sp>
        <p:nvSpPr>
          <p:cNvPr id="2236" name="shape2236"/>
          <p:cNvSpPr/>
          <p:nvPr/>
        </p:nvSpPr>
        <p:spPr>
          <a:xfrm>
            <a:off x="3520440" y="3282696"/>
            <a:ext cx="8214055" cy="219456"/>
          </a:xfrm>
          <a:prstGeom prst="rect">
            <a:avLst/>
          </a:prstGeom>
          <a:noFill/>
          <a:ln>
            <a:noFill/>
          </a:ln>
        </p:spPr>
        <p:txBody>
          <a:bodyPr wrap="square" anchor="ctr" lIns="0" rIns="0" tIns="27432" bIns="27432"/>
          <a:lstStyle/>
          <a:p>
            <a:pPr algn="l"/>
            <a:r>
              <a:rPr lang="en-AU" sz="850" dirty="0">
                <a:solidFill>
                  <a:srgbClr val="D03B3B"/>
                </a:solidFill>
                <a:latin typeface="Aptos"/>
              </a:rPr>
              <a:t>✕ Struck out → Allocated   reinstated after strike out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7" name="shape2237"/>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10.44  State Modelling</a:t>
            </a:r>
          </a:p>
        </p:txBody>
      </p:sp>
      <p:sp>
        <p:nvSpPr>
          <p:cNvPr id="2238" name="shape2238"/>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239" name="shape2239"/>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240" name="conn2240"/>
          <p:cNvCxnSpPr/>
          <p:nvPr/>
        </p:nvCxnSpPr>
        <p:spPr>
          <a:xfrm>
            <a:off x="457200" y="1078992"/>
            <a:ext cx="11277295" cy="1"/>
          </a:xfrm>
          <a:prstGeom prst="line">
            <a:avLst/>
          </a:prstGeom>
          <a:ln w="9525">
            <a:solidFill>
              <a:srgbClr val="D9D8D0"/>
            </a:solidFill>
          </a:ln>
        </p:spPr>
      </p:cxnSp>
      <p:sp>
        <p:nvSpPr>
          <p:cNvPr id="2241" name="shape2241"/>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242" name="shape2242"/>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10.44</a:t>
            </a:r>
          </a:p>
        </p:txBody>
      </p:sp>
      <p:sp>
        <p:nvSpPr>
          <p:cNvPr id="2243" name="shape2243"/>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244" name="shape2244"/>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Name the event on every transition. Then ask which transitions are missing, and which should be forbidden.</a:t>
            </a:r>
          </a:p>
        </p:txBody>
      </p:sp>
      <p:sp>
        <p:nvSpPr>
          <p:cNvPr id="2245" name="shape2245"/>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246" name="shape2246"/>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Describes the states an object can occupy, the transitions between them and the events and conditions that permit each transition.</a:t>
            </a:r>
          </a:p>
        </p:txBody>
      </p:sp>
      <p:sp>
        <p:nvSpPr>
          <p:cNvPr id="2247" name="shape2247"/>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248" name="shape2248"/>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State modelling tracks what an object may become; process modelling tracks what people do. If the stem is full of statuses such as lodged, assessed, withdrawn, it is state.</a:t>
            </a:r>
          </a:p>
        </p:txBody>
      </p:sp>
      <p:sp>
        <p:nvSpPr>
          <p:cNvPr id="2249" name="shape2249"/>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250" name="shape2250"/>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6.1 Analyze Current State</a:t>
            </a:r>
          </a:p>
        </p:txBody>
      </p:sp>
      <p:sp>
        <p:nvSpPr>
          <p:cNvPr id="2251" name="shape2251"/>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State Modelling — blank template</a:t>
            </a:r>
          </a:p>
        </p:txBody>
      </p:sp>
      <p:cxnSp>
        <p:nvCxnSpPr>
          <p:cNvPr id="2252" name="conn2252"/>
          <p:cNvCxnSpPr/>
          <p:nvPr/>
        </p:nvCxnSpPr>
        <p:spPr>
          <a:xfrm>
            <a:off x="4493209" y="1728216"/>
            <a:ext cx="475488" cy="1"/>
          </a:xfrm>
          <a:prstGeom prst="line">
            <a:avLst/>
          </a:prstGeom>
          <a:ln w="12700">
            <a:solidFill>
              <a:srgbClr val="C3C2B7"/>
            </a:solidFill>
            <a:tailEnd type="triangle" w="med" len="med"/>
          </a:ln>
        </p:spPr>
      </p:cxnSp>
      <p:cxnSp>
        <p:nvCxnSpPr>
          <p:cNvPr id="2253" name="conn2253"/>
          <p:cNvCxnSpPr/>
          <p:nvPr/>
        </p:nvCxnSpPr>
        <p:spPr>
          <a:xfrm>
            <a:off x="5941466" y="1728216"/>
            <a:ext cx="475488" cy="1"/>
          </a:xfrm>
          <a:prstGeom prst="line">
            <a:avLst/>
          </a:prstGeom>
          <a:ln w="12700">
            <a:solidFill>
              <a:srgbClr val="C3C2B7"/>
            </a:solidFill>
            <a:tailEnd type="triangle" w="med" len="med"/>
          </a:ln>
        </p:spPr>
      </p:cxnSp>
      <p:cxnSp>
        <p:nvCxnSpPr>
          <p:cNvPr id="2254" name="conn2254"/>
          <p:cNvCxnSpPr/>
          <p:nvPr/>
        </p:nvCxnSpPr>
        <p:spPr>
          <a:xfrm>
            <a:off x="7389724" y="1728216"/>
            <a:ext cx="475488" cy="1"/>
          </a:xfrm>
          <a:prstGeom prst="line">
            <a:avLst/>
          </a:prstGeom>
          <a:ln w="12700">
            <a:solidFill>
              <a:srgbClr val="C3C2B7"/>
            </a:solidFill>
            <a:tailEnd type="triangle" w="med" len="med"/>
          </a:ln>
        </p:spPr>
      </p:cxnSp>
      <p:cxnSp>
        <p:nvCxnSpPr>
          <p:cNvPr id="2255" name="conn2255"/>
          <p:cNvCxnSpPr/>
          <p:nvPr/>
        </p:nvCxnSpPr>
        <p:spPr>
          <a:xfrm>
            <a:off x="8837981" y="1728216"/>
            <a:ext cx="475488" cy="1"/>
          </a:xfrm>
          <a:prstGeom prst="line">
            <a:avLst/>
          </a:prstGeom>
          <a:ln w="12700">
            <a:solidFill>
              <a:srgbClr val="C3C2B7"/>
            </a:solidFill>
            <a:tailEnd type="triangle" w="med" len="med"/>
          </a:ln>
        </p:spPr>
      </p:cxnSp>
      <p:sp>
        <p:nvSpPr>
          <p:cNvPr id="2256" name="shape2256"/>
          <p:cNvSpPr/>
          <p:nvPr/>
        </p:nvSpPr>
        <p:spPr>
          <a:xfrm>
            <a:off x="3520440"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State 1</a:t>
            </a:r>
          </a:p>
        </p:txBody>
      </p:sp>
      <p:sp>
        <p:nvSpPr>
          <p:cNvPr id="2257" name="shape2257"/>
          <p:cNvSpPr/>
          <p:nvPr/>
        </p:nvSpPr>
        <p:spPr>
          <a:xfrm>
            <a:off x="4968697"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State 2</a:t>
            </a:r>
          </a:p>
        </p:txBody>
      </p:sp>
      <p:sp>
        <p:nvSpPr>
          <p:cNvPr id="2258" name="shape2258"/>
          <p:cNvSpPr/>
          <p:nvPr/>
        </p:nvSpPr>
        <p:spPr>
          <a:xfrm>
            <a:off x="6416954"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State 3</a:t>
            </a:r>
          </a:p>
        </p:txBody>
      </p:sp>
      <p:sp>
        <p:nvSpPr>
          <p:cNvPr id="2259" name="shape2259"/>
          <p:cNvSpPr/>
          <p:nvPr/>
        </p:nvSpPr>
        <p:spPr>
          <a:xfrm>
            <a:off x="7865212" y="1499616"/>
            <a:ext cx="97276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State 4</a:t>
            </a:r>
          </a:p>
        </p:txBody>
      </p:sp>
      <p:sp>
        <p:nvSpPr>
          <p:cNvPr id="2260" name="shape2260"/>
          <p:cNvSpPr/>
          <p:nvPr/>
        </p:nvSpPr>
        <p:spPr>
          <a:xfrm>
            <a:off x="9313469" y="1499616"/>
            <a:ext cx="97276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State 5</a:t>
            </a:r>
          </a:p>
        </p:txBody>
      </p:sp>
      <p:sp>
        <p:nvSpPr>
          <p:cNvPr id="2261" name="shape2261"/>
          <p:cNvSpPr/>
          <p:nvPr/>
        </p:nvSpPr>
        <p:spPr>
          <a:xfrm>
            <a:off x="10761726" y="1499616"/>
            <a:ext cx="97276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State 6</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2" name="shape226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10.47  Use Cases and Scenarios</a:t>
            </a:r>
          </a:p>
        </p:txBody>
      </p:sp>
      <p:sp>
        <p:nvSpPr>
          <p:cNvPr id="2263" name="shape226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264" name="shape226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265" name="conn2265"/>
          <p:cNvCxnSpPr/>
          <p:nvPr/>
        </p:nvCxnSpPr>
        <p:spPr>
          <a:xfrm>
            <a:off x="457200" y="1078992"/>
            <a:ext cx="11277295" cy="1"/>
          </a:xfrm>
          <a:prstGeom prst="line">
            <a:avLst/>
          </a:prstGeom>
          <a:ln w="9525">
            <a:solidFill>
              <a:srgbClr val="D9D8D0"/>
            </a:solidFill>
          </a:ln>
        </p:spPr>
      </p:cxnSp>
      <p:sp>
        <p:nvSpPr>
          <p:cNvPr id="2266" name="shape226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267" name="shape226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10.47</a:t>
            </a:r>
          </a:p>
        </p:txBody>
      </p:sp>
      <p:sp>
        <p:nvSpPr>
          <p:cNvPr id="2268" name="shape226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269" name="shape226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Describes how an actor interacts with a solution to achieve a goal, including the main flow and the alternatives and exceptions.</a:t>
            </a:r>
          </a:p>
        </p:txBody>
      </p:sp>
      <p:sp>
        <p:nvSpPr>
          <p:cNvPr id="2270" name="shape227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271" name="shape227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the interaction between an actor and the solution, including everything that can go wrong in it, is the substance of the requirement.</a:t>
            </a:r>
          </a:p>
        </p:txBody>
      </p:sp>
      <p:sp>
        <p:nvSpPr>
          <p:cNvPr id="2272" name="shape227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273" name="shape227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use case is goal-oriented interaction with the solution; a process model is the flow of business work. Use cases carry alternate and exception flows, which is usually the discriminating detail in a stem.</a:t>
            </a:r>
          </a:p>
        </p:txBody>
      </p:sp>
      <p:sp>
        <p:nvSpPr>
          <p:cNvPr id="2274" name="shape227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275" name="shape227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7.3 Validate Requirements</a:t>
            </a:r>
          </a:p>
        </p:txBody>
      </p:sp>
      <p:sp>
        <p:nvSpPr>
          <p:cNvPr id="2276" name="shape227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Renew a licence online</a:t>
            </a:r>
          </a:p>
        </p:txBody>
      </p:sp>
      <p:sp>
        <p:nvSpPr>
          <p:cNvPr id="2277" name="shape227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Each oval carries a main flow plus its alternates and exceptions: expired card, resumed next day, suspended licence, payment timing out after the debit.</a:t>
            </a:r>
          </a:p>
        </p:txBody>
      </p:sp>
      <p:sp>
        <p:nvSpPr>
          <p:cNvPr id="2278" name="shape2278"/>
          <p:cNvSpPr/>
          <p:nvPr/>
        </p:nvSpPr>
        <p:spPr>
          <a:xfrm>
            <a:off x="6072988" y="1499616"/>
            <a:ext cx="3108960" cy="3017520"/>
          </a:xfrm>
          <a:prstGeom prst="rect">
            <a:avLst/>
          </a:prstGeom>
          <a:noFill/>
          <a:ln w="9525">
            <a:solidFill>
              <a:srgbClr val="C3C2B7"/>
            </a:solidFill>
            <a:prstDash val="dash"/>
          </a:ln>
        </p:spPr>
        <p:txBody>
          <a:bodyPr wrap="square" anchor="ctr" lIns="54864" rIns="54864" tIns="27432" bIns="27432"/>
          <a:lstStyle/>
          <a:p>
            <a:pPr algn="l"/>
            <a:endParaRPr lang="en-AU" sz="1100"/>
          </a:p>
        </p:txBody>
      </p:sp>
      <p:sp>
        <p:nvSpPr>
          <p:cNvPr id="2279" name="shape2279"/>
          <p:cNvSpPr/>
          <p:nvPr/>
        </p:nvSpPr>
        <p:spPr>
          <a:xfrm>
            <a:off x="6072988" y="1517904"/>
            <a:ext cx="3108960"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Licensing portal</a:t>
            </a:r>
          </a:p>
        </p:txBody>
      </p:sp>
      <p:sp>
        <p:nvSpPr>
          <p:cNvPr id="2280" name="shape2280"/>
          <p:cNvSpPr/>
          <p:nvPr/>
        </p:nvSpPr>
        <p:spPr>
          <a:xfrm>
            <a:off x="6301588" y="1792224"/>
            <a:ext cx="2651760" cy="566928"/>
          </a:xfrm>
          <a:prstGeom prst="ellipse">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Renew a licence</a:t>
            </a:r>
          </a:p>
        </p:txBody>
      </p:sp>
      <p:sp>
        <p:nvSpPr>
          <p:cNvPr id="2281" name="shape2281"/>
          <p:cNvSpPr/>
          <p:nvPr/>
        </p:nvSpPr>
        <p:spPr>
          <a:xfrm>
            <a:off x="6301588" y="2468880"/>
            <a:ext cx="2651760" cy="566928"/>
          </a:xfrm>
          <a:prstGeom prst="ellipse">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Pay renewal fee</a:t>
            </a:r>
          </a:p>
        </p:txBody>
      </p:sp>
      <p:sp>
        <p:nvSpPr>
          <p:cNvPr id="2282" name="shape2282"/>
          <p:cNvSpPr/>
          <p:nvPr/>
        </p:nvSpPr>
        <p:spPr>
          <a:xfrm>
            <a:off x="6301588" y="3145536"/>
            <a:ext cx="2651760" cy="566928"/>
          </a:xfrm>
          <a:prstGeom prst="ellipse">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Verify identity</a:t>
            </a:r>
          </a:p>
        </p:txBody>
      </p:sp>
      <p:sp>
        <p:nvSpPr>
          <p:cNvPr id="2283" name="shape2283"/>
          <p:cNvSpPr/>
          <p:nvPr/>
        </p:nvSpPr>
        <p:spPr>
          <a:xfrm>
            <a:off x="6301588" y="3822192"/>
            <a:ext cx="2651760" cy="566928"/>
          </a:xfrm>
          <a:prstGeom prst="ellipse">
            <a:avLst/>
          </a:prstGeom>
          <a:solidFill>
            <a:srgbClr val="FFFFFF"/>
          </a:solidFill>
          <a:ln w="9525">
            <a:solidFill>
              <a:srgbClr val="C3C2B7"/>
            </a:solidFill>
          </a:ln>
        </p:spPr>
        <p:txBody>
          <a:bodyPr wrap="square" anchor="ctr" lIns="54864" rIns="54864" tIns="27432" bIns="27432"/>
          <a:lstStyle/>
          <a:p>
            <a:pPr algn="ctr"/>
            <a:r>
              <a:rPr lang="en-AU" sz="900" dirty="0">
                <a:solidFill>
                  <a:srgbClr val="0B0B0B"/>
                </a:solidFill>
                <a:latin typeface="Aptos"/>
              </a:rPr>
              <a:t>Refuse renewal</a:t>
            </a:r>
          </a:p>
        </p:txBody>
      </p:sp>
      <p:sp>
        <p:nvSpPr>
          <p:cNvPr id="2284" name="shape2284"/>
          <p:cNvSpPr/>
          <p:nvPr/>
        </p:nvSpPr>
        <p:spPr>
          <a:xfrm>
            <a:off x="3520440" y="186537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Licence holder</a:t>
            </a:r>
          </a:p>
        </p:txBody>
      </p:sp>
      <p:sp>
        <p:nvSpPr>
          <p:cNvPr id="2285" name="shape2285"/>
          <p:cNvSpPr/>
          <p:nvPr/>
        </p:nvSpPr>
        <p:spPr>
          <a:xfrm>
            <a:off x="3520440" y="314553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Registry officer</a:t>
            </a:r>
          </a:p>
        </p:txBody>
      </p:sp>
      <p:sp>
        <p:nvSpPr>
          <p:cNvPr id="2286" name="shape2286"/>
          <p:cNvSpPr/>
          <p:nvPr/>
        </p:nvSpPr>
        <p:spPr>
          <a:xfrm>
            <a:off x="10362895" y="186537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Payment gateway</a:t>
            </a:r>
          </a:p>
        </p:txBody>
      </p:sp>
      <p:cxnSp>
        <p:nvCxnSpPr>
          <p:cNvPr id="2287" name="conn2287"/>
          <p:cNvCxnSpPr/>
          <p:nvPr/>
        </p:nvCxnSpPr>
        <p:spPr>
          <a:xfrm flipV="1">
            <a:off x="4892040" y="2075688"/>
            <a:ext cx="1272388" cy="36576"/>
          </a:xfrm>
          <a:prstGeom prst="line">
            <a:avLst/>
          </a:prstGeom>
          <a:ln w="6350">
            <a:solidFill>
              <a:srgbClr val="C3C2B7"/>
            </a:solidFill>
          </a:ln>
        </p:spPr>
      </p:cxnSp>
      <p:cxnSp>
        <p:nvCxnSpPr>
          <p:cNvPr id="2288" name="conn2288"/>
          <p:cNvCxnSpPr/>
          <p:nvPr/>
        </p:nvCxnSpPr>
        <p:spPr>
          <a:xfrm>
            <a:off x="4892040" y="2112264"/>
            <a:ext cx="1272388" cy="1316736"/>
          </a:xfrm>
          <a:prstGeom prst="line">
            <a:avLst/>
          </a:prstGeom>
          <a:ln w="6350">
            <a:solidFill>
              <a:srgbClr val="C3C2B7"/>
            </a:solidFill>
          </a:ln>
        </p:spPr>
      </p:cxnSp>
      <p:cxnSp>
        <p:nvCxnSpPr>
          <p:cNvPr id="2289" name="conn2289"/>
          <p:cNvCxnSpPr/>
          <p:nvPr/>
        </p:nvCxnSpPr>
        <p:spPr>
          <a:xfrm flipH="1">
            <a:off x="9090508" y="2112264"/>
            <a:ext cx="1272388" cy="640080"/>
          </a:xfrm>
          <a:prstGeom prst="line">
            <a:avLst/>
          </a:prstGeom>
          <a:ln w="6350">
            <a:solidFill>
              <a:srgbClr val="C3C2B7"/>
            </a:solidFill>
          </a:ln>
        </p:spPr>
      </p:cxnSp>
      <p:cxnSp>
        <p:nvCxnSpPr>
          <p:cNvPr id="2290" name="conn2290"/>
          <p:cNvCxnSpPr/>
          <p:nvPr/>
        </p:nvCxnSpPr>
        <p:spPr>
          <a:xfrm>
            <a:off x="4892040" y="3392424"/>
            <a:ext cx="1272388" cy="713232"/>
          </a:xfrm>
          <a:prstGeom prst="line">
            <a:avLst/>
          </a:prstGeom>
          <a:ln w="6350">
            <a:solidFill>
              <a:srgbClr val="C3C2B7"/>
            </a:solidFill>
          </a:ln>
        </p:spPr>
      </p:cxn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1" name="shape2291"/>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10.47  Use Cases and Scenarios</a:t>
            </a:r>
          </a:p>
        </p:txBody>
      </p:sp>
      <p:sp>
        <p:nvSpPr>
          <p:cNvPr id="2292" name="shape2292"/>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293" name="shape2293"/>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294" name="conn2294"/>
          <p:cNvCxnSpPr/>
          <p:nvPr/>
        </p:nvCxnSpPr>
        <p:spPr>
          <a:xfrm>
            <a:off x="457200" y="1078992"/>
            <a:ext cx="11277295" cy="1"/>
          </a:xfrm>
          <a:prstGeom prst="line">
            <a:avLst/>
          </a:prstGeom>
          <a:ln w="9525">
            <a:solidFill>
              <a:srgbClr val="D9D8D0"/>
            </a:solidFill>
          </a:ln>
        </p:spPr>
      </p:cxnSp>
      <p:sp>
        <p:nvSpPr>
          <p:cNvPr id="2295" name="shape2295"/>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296" name="shape2296"/>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10.47</a:t>
            </a:r>
          </a:p>
        </p:txBody>
      </p:sp>
      <p:sp>
        <p:nvSpPr>
          <p:cNvPr id="2297" name="shape2297"/>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298" name="shape2298"/>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Actors outside the boundary, goals inside it. If an oval is not a goal an actor would name, it is not a use case.</a:t>
            </a:r>
          </a:p>
        </p:txBody>
      </p:sp>
      <p:sp>
        <p:nvSpPr>
          <p:cNvPr id="2299" name="shape2299"/>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300" name="shape2300"/>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Describes how an actor interacts with a solution to achieve a goal, including the main flow and the alternatives and exceptions.</a:t>
            </a:r>
          </a:p>
        </p:txBody>
      </p:sp>
      <p:sp>
        <p:nvSpPr>
          <p:cNvPr id="2301" name="shape2301"/>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302" name="shape2302"/>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use case is goal-oriented interaction with the solution; a process model is the flow of business work. Use cases carry alternate and exception flows, which is usually the discriminating detail in a stem.</a:t>
            </a:r>
          </a:p>
        </p:txBody>
      </p:sp>
      <p:sp>
        <p:nvSpPr>
          <p:cNvPr id="2303" name="shape2303"/>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304" name="shape2304"/>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7.3 Validate Requirements</a:t>
            </a:r>
          </a:p>
        </p:txBody>
      </p:sp>
      <p:sp>
        <p:nvSpPr>
          <p:cNvPr id="2305" name="shape2305"/>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Use Cases and Scenarios — blank template</a:t>
            </a:r>
          </a:p>
        </p:txBody>
      </p:sp>
      <p:sp>
        <p:nvSpPr>
          <p:cNvPr id="2306" name="shape2306"/>
          <p:cNvSpPr/>
          <p:nvPr/>
        </p:nvSpPr>
        <p:spPr>
          <a:xfrm>
            <a:off x="6072988" y="1499616"/>
            <a:ext cx="3108960" cy="3017520"/>
          </a:xfrm>
          <a:prstGeom prst="rect">
            <a:avLst/>
          </a:prstGeom>
          <a:noFill/>
          <a:ln w="9525">
            <a:solidFill>
              <a:srgbClr val="C3C2B7"/>
            </a:solidFill>
            <a:prstDash val="dash"/>
          </a:ln>
        </p:spPr>
        <p:txBody>
          <a:bodyPr wrap="square" anchor="ctr" lIns="54864" rIns="54864" tIns="27432" bIns="27432"/>
          <a:lstStyle/>
          <a:p>
            <a:pPr algn="l"/>
            <a:endParaRPr lang="en-AU" sz="1100"/>
          </a:p>
        </p:txBody>
      </p:sp>
      <p:sp>
        <p:nvSpPr>
          <p:cNvPr id="2307" name="shape2307"/>
          <p:cNvSpPr/>
          <p:nvPr/>
        </p:nvSpPr>
        <p:spPr>
          <a:xfrm>
            <a:off x="6072988" y="1517904"/>
            <a:ext cx="3108960"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System</a:t>
            </a:r>
          </a:p>
        </p:txBody>
      </p:sp>
      <p:sp>
        <p:nvSpPr>
          <p:cNvPr id="2308" name="shape2308"/>
          <p:cNvSpPr/>
          <p:nvPr/>
        </p:nvSpPr>
        <p:spPr>
          <a:xfrm>
            <a:off x="6301588" y="1792224"/>
            <a:ext cx="2651760" cy="566928"/>
          </a:xfrm>
          <a:prstGeom prst="ellipse">
            <a:avLst/>
          </a:prstGeom>
          <a:solidFill>
            <a:srgbClr val="FFFFFF"/>
          </a:solidFill>
          <a:ln w="9525">
            <a:solidFill>
              <a:srgbClr val="C3C2B7"/>
            </a:solidFill>
          </a:ln>
        </p:spPr>
        <p:txBody>
          <a:bodyPr wrap="square" anchor="ctr" lIns="54864" rIns="54864" tIns="27432" bIns="27432"/>
          <a:lstStyle/>
          <a:p>
            <a:pPr algn="ctr"/>
            <a:endParaRPr lang="en-AU" sz="900"/>
          </a:p>
        </p:txBody>
      </p:sp>
      <p:sp>
        <p:nvSpPr>
          <p:cNvPr id="2309" name="shape2309"/>
          <p:cNvSpPr/>
          <p:nvPr/>
        </p:nvSpPr>
        <p:spPr>
          <a:xfrm>
            <a:off x="6301588" y="2468880"/>
            <a:ext cx="2651760" cy="566928"/>
          </a:xfrm>
          <a:prstGeom prst="ellipse">
            <a:avLst/>
          </a:prstGeom>
          <a:solidFill>
            <a:srgbClr val="FFFFFF"/>
          </a:solidFill>
          <a:ln w="9525">
            <a:solidFill>
              <a:srgbClr val="C3C2B7"/>
            </a:solidFill>
          </a:ln>
        </p:spPr>
        <p:txBody>
          <a:bodyPr wrap="square" anchor="ctr" lIns="54864" rIns="54864" tIns="27432" bIns="27432"/>
          <a:lstStyle/>
          <a:p>
            <a:pPr algn="ctr"/>
            <a:endParaRPr lang="en-AU" sz="900"/>
          </a:p>
        </p:txBody>
      </p:sp>
      <p:sp>
        <p:nvSpPr>
          <p:cNvPr id="2310" name="shape2310"/>
          <p:cNvSpPr/>
          <p:nvPr/>
        </p:nvSpPr>
        <p:spPr>
          <a:xfrm>
            <a:off x="6301588" y="3145536"/>
            <a:ext cx="2651760" cy="566928"/>
          </a:xfrm>
          <a:prstGeom prst="ellipse">
            <a:avLst/>
          </a:prstGeom>
          <a:solidFill>
            <a:srgbClr val="FFFFFF"/>
          </a:solidFill>
          <a:ln w="9525">
            <a:solidFill>
              <a:srgbClr val="C3C2B7"/>
            </a:solidFill>
          </a:ln>
        </p:spPr>
        <p:txBody>
          <a:bodyPr wrap="square" anchor="ctr" lIns="54864" rIns="54864" tIns="27432" bIns="27432"/>
          <a:lstStyle/>
          <a:p>
            <a:pPr algn="ctr"/>
            <a:endParaRPr lang="en-AU" sz="900"/>
          </a:p>
        </p:txBody>
      </p:sp>
      <p:sp>
        <p:nvSpPr>
          <p:cNvPr id="2311" name="shape2311"/>
          <p:cNvSpPr/>
          <p:nvPr/>
        </p:nvSpPr>
        <p:spPr>
          <a:xfrm>
            <a:off x="6301588" y="3822192"/>
            <a:ext cx="2651760" cy="566928"/>
          </a:xfrm>
          <a:prstGeom prst="ellipse">
            <a:avLst/>
          </a:prstGeom>
          <a:solidFill>
            <a:srgbClr val="FFFFFF"/>
          </a:solidFill>
          <a:ln w="9525">
            <a:solidFill>
              <a:srgbClr val="C3C2B7"/>
            </a:solidFill>
          </a:ln>
        </p:spPr>
        <p:txBody>
          <a:bodyPr wrap="square" anchor="ctr" lIns="54864" rIns="54864" tIns="27432" bIns="27432"/>
          <a:lstStyle/>
          <a:p>
            <a:pPr algn="ctr"/>
            <a:endParaRPr lang="en-AU" sz="900"/>
          </a:p>
        </p:txBody>
      </p:sp>
      <p:sp>
        <p:nvSpPr>
          <p:cNvPr id="2312" name="shape2312"/>
          <p:cNvSpPr/>
          <p:nvPr/>
        </p:nvSpPr>
        <p:spPr>
          <a:xfrm>
            <a:off x="3520440" y="186537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Actor</a:t>
            </a:r>
          </a:p>
        </p:txBody>
      </p:sp>
      <p:sp>
        <p:nvSpPr>
          <p:cNvPr id="2313" name="shape2313"/>
          <p:cNvSpPr/>
          <p:nvPr/>
        </p:nvSpPr>
        <p:spPr>
          <a:xfrm>
            <a:off x="3520440" y="314553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Actor</a:t>
            </a:r>
          </a:p>
        </p:txBody>
      </p:sp>
      <p:sp>
        <p:nvSpPr>
          <p:cNvPr id="2314" name="shape2314"/>
          <p:cNvSpPr/>
          <p:nvPr/>
        </p:nvSpPr>
        <p:spPr>
          <a:xfrm>
            <a:off x="10362895" y="1865376"/>
            <a:ext cx="1371600" cy="502920"/>
          </a:xfrm>
          <a:prstGeom prst="roundRect">
            <a:avLst>
              <a:gd name="adj" fmla="val 20000"/>
            </a:avLst>
          </a:prstGeom>
          <a:solidFill>
            <a:srgbClr val="F7F7F5"/>
          </a:solidFill>
          <a:ln w="9525">
            <a:solidFill>
              <a:srgbClr val="C3C2B7"/>
            </a:solidFill>
          </a:ln>
        </p:spPr>
        <p:txBody>
          <a:bodyPr wrap="square" anchor="ctr" lIns="54864" rIns="54864" tIns="27432" bIns="27432"/>
          <a:lstStyle/>
          <a:p>
            <a:pPr algn="ctr"/>
            <a:r>
              <a:rPr lang="en-AU" sz="850" dirty="0">
                <a:solidFill>
                  <a:srgbClr val="0B0B0B"/>
                </a:solidFill>
                <a:latin typeface="Aptos"/>
              </a:rPr>
              <a:t>Actor</a:t>
            </a:r>
          </a:p>
        </p:txBody>
      </p:sp>
      <p:cxnSp>
        <p:nvCxnSpPr>
          <p:cNvPr id="2315" name="conn2315"/>
          <p:cNvCxnSpPr/>
          <p:nvPr/>
        </p:nvCxnSpPr>
        <p:spPr>
          <a:xfrm flipV="1">
            <a:off x="4892040" y="2075688"/>
            <a:ext cx="1272388" cy="36576"/>
          </a:xfrm>
          <a:prstGeom prst="line">
            <a:avLst/>
          </a:prstGeom>
          <a:ln w="6350">
            <a:solidFill>
              <a:srgbClr val="C3C2B7"/>
            </a:solidFill>
          </a:ln>
        </p:spPr>
      </p:cxnSp>
      <p:cxnSp>
        <p:nvCxnSpPr>
          <p:cNvPr id="2316" name="conn2316"/>
          <p:cNvCxnSpPr/>
          <p:nvPr/>
        </p:nvCxnSpPr>
        <p:spPr>
          <a:xfrm>
            <a:off x="4892040" y="2112264"/>
            <a:ext cx="1272388" cy="1316736"/>
          </a:xfrm>
          <a:prstGeom prst="line">
            <a:avLst/>
          </a:prstGeom>
          <a:ln w="6350">
            <a:solidFill>
              <a:srgbClr val="C3C2B7"/>
            </a:solidFill>
          </a:ln>
        </p:spPr>
      </p:cxnSp>
      <p:cxnSp>
        <p:nvCxnSpPr>
          <p:cNvPr id="2317" name="conn2317"/>
          <p:cNvCxnSpPr/>
          <p:nvPr/>
        </p:nvCxnSpPr>
        <p:spPr>
          <a:xfrm flipH="1">
            <a:off x="9090508" y="2112264"/>
            <a:ext cx="1272388" cy="640080"/>
          </a:xfrm>
          <a:prstGeom prst="line">
            <a:avLst/>
          </a:prstGeom>
          <a:ln w="6350">
            <a:solidFill>
              <a:srgbClr val="C3C2B7"/>
            </a:solidFill>
          </a:ln>
        </p:spPr>
      </p:cxnSp>
      <p:cxnSp>
        <p:nvCxnSpPr>
          <p:cNvPr id="2318" name="conn2318"/>
          <p:cNvCxnSpPr/>
          <p:nvPr/>
        </p:nvCxnSpPr>
        <p:spPr>
          <a:xfrm>
            <a:off x="4892040" y="3392424"/>
            <a:ext cx="1272388" cy="713232"/>
          </a:xfrm>
          <a:prstGeom prst="line">
            <a:avLst/>
          </a:prstGeom>
          <a:ln w="6350">
            <a:solidFill>
              <a:srgbClr val="C3C2B7"/>
            </a:solidFill>
          </a:ln>
        </p:spPr>
      </p:cxn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9" name="shape2319"/>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10.48  User Stories</a:t>
            </a:r>
          </a:p>
        </p:txBody>
      </p:sp>
      <p:sp>
        <p:nvSpPr>
          <p:cNvPr id="2320" name="shape2320"/>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321" name="shape2321"/>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2322" name="conn2322"/>
          <p:cNvCxnSpPr/>
          <p:nvPr/>
        </p:nvCxnSpPr>
        <p:spPr>
          <a:xfrm>
            <a:off x="457200" y="1078992"/>
            <a:ext cx="11277295" cy="1"/>
          </a:xfrm>
          <a:prstGeom prst="line">
            <a:avLst/>
          </a:prstGeom>
          <a:ln w="9525">
            <a:solidFill>
              <a:srgbClr val="D9D8D0"/>
            </a:solidFill>
          </a:ln>
        </p:spPr>
      </p:cxnSp>
      <p:sp>
        <p:nvSpPr>
          <p:cNvPr id="2323" name="shape2323"/>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324" name="shape2324"/>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10.48</a:t>
            </a:r>
          </a:p>
        </p:txBody>
      </p:sp>
      <p:sp>
        <p:nvSpPr>
          <p:cNvPr id="2325" name="shape2325"/>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326" name="shape2326"/>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States a need briefly from the point of view of the person who has it, as a placeholder for the conversation that will refine it.</a:t>
            </a:r>
          </a:p>
        </p:txBody>
      </p:sp>
      <p:sp>
        <p:nvSpPr>
          <p:cNvPr id="2327" name="shape2327"/>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2328" name="shape2328"/>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on adaptive work where detail is deliberately deferred until the item is close to being built.</a:t>
            </a:r>
          </a:p>
        </p:txBody>
      </p:sp>
      <p:sp>
        <p:nvSpPr>
          <p:cNvPr id="2329" name="shape2329"/>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330" name="shape2330"/>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user story is a promise of a conversation with acceptance criteria attached; a use case is a complete specified interaction. A story written as a system instruction with no user and no value has stopped being a user story.</a:t>
            </a:r>
          </a:p>
        </p:txBody>
      </p:sp>
      <p:sp>
        <p:nvSpPr>
          <p:cNvPr id="2331" name="shape2331"/>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2332" name="shape2332"/>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5.3 Prioritize Requirements · 5.2 Maintain Requirements</a:t>
            </a:r>
          </a:p>
        </p:txBody>
      </p:sp>
      <p:sp>
        <p:nvSpPr>
          <p:cNvPr id="2333" name="shape2333"/>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Rewritten with a real role and a real benefit</a:t>
            </a:r>
          </a:p>
        </p:txBody>
      </p:sp>
      <p:graphicFrame>
        <p:nvGraphicFramePr>
          <p:cNvPr id="2334" name="table2334"/>
          <p:cNvGraphicFramePr>
            <a:graphicFrameLocks noGrp="1"/>
          </p:cNvGraphicFramePr>
          <p:nvPr/>
        </p:nvGraphicFramePr>
        <p:xfrm>
          <a:off x="3520440" y="1499616"/>
          <a:ext cx="8214055" cy="1152144"/>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900" b="1" dirty="0">
                          <a:solidFill>
                            <a:srgbClr val="FFFFFF"/>
                          </a:solidFill>
                          <a:latin typeface="Aptos"/>
                        </a:rPr>
                        <a:t>Before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After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Acceptance criterion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As a user I want the record saved to the audit table so that the record is saved to the audit table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As a compliance officer I want every eligibility override recorded so that I can evidence the decision at audit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Override shows who, when, prior value, reason. Immutable.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As a user I want a search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As a contact centre agent I want to find a member by surname and date of birth so that I can verify them inside the call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Returns within 2 s. Partial surname supported.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5" name="shape2335"/>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10.48  User Stories</a:t>
            </a:r>
          </a:p>
        </p:txBody>
      </p:sp>
      <p:sp>
        <p:nvSpPr>
          <p:cNvPr id="2336" name="shape2336"/>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Modelling and specification</a:t>
            </a:r>
          </a:p>
        </p:txBody>
      </p:sp>
      <p:sp>
        <p:nvSpPr>
          <p:cNvPr id="2337" name="shape2337"/>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338" name="conn2338"/>
          <p:cNvCxnSpPr/>
          <p:nvPr/>
        </p:nvCxnSpPr>
        <p:spPr>
          <a:xfrm>
            <a:off x="457200" y="1078992"/>
            <a:ext cx="11277295" cy="1"/>
          </a:xfrm>
          <a:prstGeom prst="line">
            <a:avLst/>
          </a:prstGeom>
          <a:ln w="9525">
            <a:solidFill>
              <a:srgbClr val="D9D8D0"/>
            </a:solidFill>
          </a:ln>
        </p:spPr>
      </p:cxnSp>
      <p:sp>
        <p:nvSpPr>
          <p:cNvPr id="2339" name="shape2339"/>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340" name="shape2340"/>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10.48</a:t>
            </a:r>
          </a:p>
        </p:txBody>
      </p:sp>
      <p:sp>
        <p:nvSpPr>
          <p:cNvPr id="2341" name="shape2341"/>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2342" name="shape2342"/>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One row per before.</a:t>
            </a:r>
          </a:p>
        </p:txBody>
      </p:sp>
      <p:sp>
        <p:nvSpPr>
          <p:cNvPr id="2343" name="shape2343"/>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2344" name="shape2344"/>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States a need briefly from the point of view of the person who has it, as a placeholder for the conversation that will refine it.</a:t>
            </a:r>
          </a:p>
        </p:txBody>
      </p:sp>
      <p:sp>
        <p:nvSpPr>
          <p:cNvPr id="2345" name="shape2345"/>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2346" name="shape2346"/>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A user story is a promise of a conversation with acceptance criteria attached; a use case is a complete specified interaction. A story written as a system instruction with no user and no value has stopped being a user story.</a:t>
            </a:r>
          </a:p>
        </p:txBody>
      </p:sp>
      <p:sp>
        <p:nvSpPr>
          <p:cNvPr id="2347" name="shape2347"/>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2348" name="shape2348"/>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7.1 Specify and Model Requirements · 5.3 Prioritize Requirements · 5.2 Maintain Requirements</a:t>
            </a:r>
          </a:p>
        </p:txBody>
      </p:sp>
      <p:sp>
        <p:nvSpPr>
          <p:cNvPr id="2349" name="shape2349"/>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User Stories — blank template</a:t>
            </a:r>
          </a:p>
        </p:txBody>
      </p:sp>
      <p:graphicFrame>
        <p:nvGraphicFramePr>
          <p:cNvPr id="2350" name="table2350"/>
          <p:cNvGraphicFramePr>
            <a:graphicFrameLocks noGrp="1"/>
          </p:cNvGraphicFramePr>
          <p:nvPr/>
        </p:nvGraphicFramePr>
        <p:xfrm>
          <a:off x="3520440" y="1499616"/>
          <a:ext cx="8214055" cy="3840480"/>
        </p:xfrm>
        <a:graphic>
          <a:graphicData uri="http://schemas.openxmlformats.org/drawingml/2006/table">
            <a:tbl>
              <a:tblPr firstRow="1" bandRow="1"/>
              <a:tblGrid>
                <a:gridCol w="2377440"/>
                <a:gridCol w="2918308"/>
                <a:gridCol w="2918308"/>
              </a:tblGrid>
              <a:tr h="384048">
                <a:tc>
                  <a:txBody>
                    <a:bodyPr wrap="square" anchor="ctr" lIns="64008" rIns="64008" tIns="27432" bIns="27432"/>
                    <a:lstStyle/>
                    <a:p>
                      <a:pPr algn="l"/>
                      <a:r>
                        <a:rPr lang="en-AU" sz="800" b="1" dirty="0">
                          <a:solidFill>
                            <a:srgbClr val="FFFFFF"/>
                          </a:solidFill>
                          <a:latin typeface="Aptos"/>
                        </a:rPr>
                        <a:t>Before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After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800" b="1" dirty="0">
                          <a:solidFill>
                            <a:srgbClr val="FFFFFF"/>
                          </a:solidFill>
                          <a:latin typeface="Aptos"/>
                        </a:rPr>
                        <a:t>Acceptance criterion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endParaRPr lang="en-AU" sz="800"/>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102</Slides>
</Properties>
</file>

<file path=docProps/core.xml><?xml version="1.0" encoding="utf-8"?>
<cp:coreProperties xmlns:cp="http://schemas.openxmlformats.org/package/2006/metadata/core-properties" xmlns:dc="http://purl.org/dc/elements/1.1/" xmlns:dcterms="http://purl.org/dc/terms/" xmlns:xsi="http://www.w3.org/2001/XMLSchema-instance">
  <dc:title>CBAP Technique Pack</dc:title>
  <dc:creator>Business Analyst Services</dc:creator>
  <cp:lastModifiedBy>Business Analyst Services</cp:lastModifiedBy>
</cp:coreProperties>
</file>